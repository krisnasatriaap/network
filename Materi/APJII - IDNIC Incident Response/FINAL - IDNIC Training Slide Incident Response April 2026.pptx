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1.jpg" ContentType="image/jpeg"/>
  <Override PartName="/ppt/notesSlides/notesSlide3.xml" ContentType="application/vnd.openxmlformats-officedocument.presentationml.notesSlide+xml"/>
  <Override PartName="/ppt/media/image72.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0"/>
  </p:notesMasterIdLst>
  <p:handoutMasterIdLst>
    <p:handoutMasterId r:id="rId151"/>
  </p:handoutMasterIdLst>
  <p:sldIdLst>
    <p:sldId id="257" r:id="rId3"/>
    <p:sldId id="259" r:id="rId4"/>
    <p:sldId id="258" r:id="rId5"/>
    <p:sldId id="260" r:id="rId6"/>
    <p:sldId id="261" r:id="rId7"/>
    <p:sldId id="903" r:id="rId8"/>
    <p:sldId id="1409" r:id="rId9"/>
    <p:sldId id="1410" r:id="rId10"/>
    <p:sldId id="1411" r:id="rId11"/>
    <p:sldId id="905" r:id="rId12"/>
    <p:sldId id="906" r:id="rId13"/>
    <p:sldId id="904" r:id="rId14"/>
    <p:sldId id="263" r:id="rId15"/>
    <p:sldId id="262" r:id="rId16"/>
    <p:sldId id="264" r:id="rId17"/>
    <p:sldId id="265" r:id="rId18"/>
    <p:sldId id="266" r:id="rId19"/>
    <p:sldId id="267" r:id="rId20"/>
    <p:sldId id="268" r:id="rId21"/>
    <p:sldId id="269" r:id="rId22"/>
    <p:sldId id="270" r:id="rId23"/>
    <p:sldId id="1408" r:id="rId24"/>
    <p:sldId id="806" r:id="rId25"/>
    <p:sldId id="807"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7" r:id="rId97"/>
    <p:sldId id="346"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2" r:id="rId142"/>
    <p:sldId id="393" r:id="rId143"/>
    <p:sldId id="394" r:id="rId144"/>
    <p:sldId id="395" r:id="rId145"/>
    <p:sldId id="391" r:id="rId146"/>
    <p:sldId id="396" r:id="rId147"/>
    <p:sldId id="398" r:id="rId148"/>
    <p:sldId id="397" r:id="rId1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10" autoAdjust="0"/>
    <p:restoredTop sz="93916" autoAdjust="0"/>
  </p:normalViewPr>
  <p:slideViewPr>
    <p:cSldViewPr snapToGrid="0">
      <p:cViewPr varScale="1">
        <p:scale>
          <a:sx n="88" d="100"/>
          <a:sy n="88" d="100"/>
        </p:scale>
        <p:origin x="525" y="37"/>
      </p:cViewPr>
      <p:guideLst/>
    </p:cSldViewPr>
  </p:slideViewPr>
  <p:notesTextViewPr>
    <p:cViewPr>
      <p:scale>
        <a:sx n="1" d="1"/>
        <a:sy n="1" d="1"/>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handoutMaster" Target="handoutMasters/handout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theme" Target="theme/theme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3A82F6-0B44-1F56-4150-EBA0A4E6E0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04CCF917-323A-6F77-42F3-61DCF86F65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F99B2E-246A-45AF-8CA9-E340686BD273}" type="datetimeFigureOut">
              <a:rPr lang="en-ID" smtClean="0"/>
              <a:t>15/04/2026</a:t>
            </a:fld>
            <a:endParaRPr lang="en-ID"/>
          </a:p>
        </p:txBody>
      </p:sp>
      <p:sp>
        <p:nvSpPr>
          <p:cNvPr id="4" name="Footer Placeholder 3">
            <a:extLst>
              <a:ext uri="{FF2B5EF4-FFF2-40B4-BE49-F238E27FC236}">
                <a16:creationId xmlns:a16="http://schemas.microsoft.com/office/drawing/2014/main" id="{F5989389-16FB-9D5E-CC19-71FCA7C719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01836662-B223-3B2A-2A87-3EEEDD90C8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0AC853-091B-48DB-8A36-94DA6AB33536}" type="slidenum">
              <a:rPr lang="en-ID" smtClean="0"/>
              <a:t>‹#›</a:t>
            </a:fld>
            <a:endParaRPr lang="en-ID"/>
          </a:p>
        </p:txBody>
      </p:sp>
    </p:spTree>
    <p:extLst>
      <p:ext uri="{BB962C8B-B14F-4D97-AF65-F5344CB8AC3E}">
        <p14:creationId xmlns:p14="http://schemas.microsoft.com/office/powerpoint/2010/main" val="11874280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D17C0-BC3E-4918-82E1-30C75579F902}" type="datetimeFigureOut">
              <a:rPr lang="en-ID" smtClean="0"/>
              <a:t>15/04/2026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15B0A-756A-4CEE-A7D4-97E8896C4F9F}" type="slidenum">
              <a:rPr lang="en-ID" smtClean="0"/>
              <a:t>‹#›</a:t>
            </a:fld>
            <a:endParaRPr lang="en-ID"/>
          </a:p>
        </p:txBody>
      </p:sp>
    </p:spTree>
    <p:extLst>
      <p:ext uri="{BB962C8B-B14F-4D97-AF65-F5344CB8AC3E}">
        <p14:creationId xmlns:p14="http://schemas.microsoft.com/office/powerpoint/2010/main" val="1998348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CyberSecurity</a:t>
            </a:r>
            <a:r>
              <a:rPr lang="en-US" dirty="0"/>
              <a:t> Incident dan Non-Cyber Security Incident </a:t>
            </a:r>
            <a:r>
              <a:rPr lang="en-US" dirty="0" err="1"/>
              <a:t>berbeda</a:t>
            </a:r>
            <a:r>
              <a:rPr lang="en-US" dirty="0"/>
              <a:t> </a:t>
            </a:r>
            <a:r>
              <a:rPr lang="en-US" dirty="0" err="1"/>
              <a:t>dalam</a:t>
            </a:r>
            <a:r>
              <a:rPr lang="en-US" dirty="0"/>
              <a:t> </a:t>
            </a:r>
            <a:r>
              <a:rPr lang="en-US" dirty="0" err="1"/>
              <a:t>outputnya</a:t>
            </a:r>
            <a:r>
              <a:rPr lang="en-US" dirty="0"/>
              <a:t>.</a:t>
            </a:r>
          </a:p>
          <a:p>
            <a:endParaRPr lang="en-US" dirty="0"/>
          </a:p>
          <a:p>
            <a:r>
              <a:rPr lang="en-US" dirty="0" err="1"/>
              <a:t>Terkadang</a:t>
            </a:r>
            <a:r>
              <a:rPr lang="en-US" dirty="0"/>
              <a:t> non-cyber security Incident </a:t>
            </a:r>
            <a:r>
              <a:rPr lang="en-US" dirty="0" err="1"/>
              <a:t>akan</a:t>
            </a:r>
            <a:r>
              <a:rPr lang="en-US" dirty="0"/>
              <a:t> </a:t>
            </a:r>
            <a:r>
              <a:rPr lang="en-US" dirty="0" err="1"/>
              <a:t>bersinggungan</a:t>
            </a:r>
            <a:r>
              <a:rPr lang="en-US" dirty="0"/>
              <a:t> </a:t>
            </a:r>
            <a:r>
              <a:rPr lang="en-US" dirty="0" err="1"/>
              <a:t>dengan</a:t>
            </a:r>
            <a:r>
              <a:rPr lang="en-US" dirty="0"/>
              <a:t> </a:t>
            </a:r>
            <a:r>
              <a:rPr lang="en-US" dirty="0" err="1"/>
              <a:t>adanya</a:t>
            </a:r>
            <a:r>
              <a:rPr lang="en-US" dirty="0"/>
              <a:t> </a:t>
            </a:r>
            <a:r>
              <a:rPr lang="en-US" dirty="0" err="1"/>
              <a:t>aktivitas</a:t>
            </a:r>
            <a:r>
              <a:rPr lang="en-US" dirty="0"/>
              <a:t> cyber security</a:t>
            </a:r>
          </a:p>
          <a:p>
            <a:endParaRPr lang="en-ID" dirty="0"/>
          </a:p>
        </p:txBody>
      </p:sp>
      <p:sp>
        <p:nvSpPr>
          <p:cNvPr id="4" name="Slide Number Placeholder 3"/>
          <p:cNvSpPr>
            <a:spLocks noGrp="1"/>
          </p:cNvSpPr>
          <p:nvPr>
            <p:ph type="sldNum" sz="quarter" idx="5"/>
          </p:nvPr>
        </p:nvSpPr>
        <p:spPr/>
        <p:txBody>
          <a:bodyPr/>
          <a:lstStyle/>
          <a:p>
            <a:fld id="{A7615B0A-756A-4CEE-A7D4-97E8896C4F9F}" type="slidenum">
              <a:rPr lang="en-ID" smtClean="0"/>
              <a:t>18</a:t>
            </a:fld>
            <a:endParaRPr lang="en-ID"/>
          </a:p>
        </p:txBody>
      </p:sp>
    </p:spTree>
    <p:extLst>
      <p:ext uri="{BB962C8B-B14F-4D97-AF65-F5344CB8AC3E}">
        <p14:creationId xmlns:p14="http://schemas.microsoft.com/office/powerpoint/2010/main" val="2715853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A7615B0A-756A-4CEE-A7D4-97E8896C4F9F}" type="slidenum">
              <a:rPr lang="en-ID" smtClean="0"/>
              <a:t>72</a:t>
            </a:fld>
            <a:endParaRPr lang="en-ID"/>
          </a:p>
        </p:txBody>
      </p:sp>
    </p:spTree>
    <p:extLst>
      <p:ext uri="{BB962C8B-B14F-4D97-AF65-F5344CB8AC3E}">
        <p14:creationId xmlns:p14="http://schemas.microsoft.com/office/powerpoint/2010/main" val="3867860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A7615B0A-756A-4CEE-A7D4-97E8896C4F9F}" type="slidenum">
              <a:rPr lang="en-ID" smtClean="0"/>
              <a:t>113</a:t>
            </a:fld>
            <a:endParaRPr lang="en-ID"/>
          </a:p>
        </p:txBody>
      </p:sp>
    </p:spTree>
    <p:extLst>
      <p:ext uri="{BB962C8B-B14F-4D97-AF65-F5344CB8AC3E}">
        <p14:creationId xmlns:p14="http://schemas.microsoft.com/office/powerpoint/2010/main" val="9258307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EAFA4-538B-24E6-8098-705B484F9284}"/>
              </a:ext>
            </a:extLst>
          </p:cNvPr>
          <p:cNvSpPr>
            <a:spLocks noGrp="1"/>
          </p:cNvSpPr>
          <p:nvPr>
            <p:ph type="ctrTitle"/>
          </p:nvPr>
        </p:nvSpPr>
        <p:spPr>
          <a:xfrm>
            <a:off x="1524000" y="1122363"/>
            <a:ext cx="9144000" cy="2387600"/>
          </a:xfrm>
        </p:spPr>
        <p:txBody>
          <a:bodyPr anchor="b"/>
          <a:lstStyle>
            <a:lvl1pPr algn="ctr">
              <a:defRPr sz="6000">
                <a:latin typeface="Georgia" panose="02040502050405020303" pitchFamily="18" charset="0"/>
              </a:defRPr>
            </a:lvl1pPr>
          </a:lstStyle>
          <a:p>
            <a:r>
              <a:rPr lang="en-US" dirty="0"/>
              <a:t>Click to edit Master title style</a:t>
            </a:r>
            <a:endParaRPr lang="en-ID" dirty="0"/>
          </a:p>
        </p:txBody>
      </p:sp>
      <p:sp>
        <p:nvSpPr>
          <p:cNvPr id="3" name="Subtitle 2">
            <a:extLst>
              <a:ext uri="{FF2B5EF4-FFF2-40B4-BE49-F238E27FC236}">
                <a16:creationId xmlns:a16="http://schemas.microsoft.com/office/drawing/2014/main" id="{79BF8C5A-DD84-5E57-9533-FF83822160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Tree>
    <p:extLst>
      <p:ext uri="{BB962C8B-B14F-4D97-AF65-F5344CB8AC3E}">
        <p14:creationId xmlns:p14="http://schemas.microsoft.com/office/powerpoint/2010/main" val="3077445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5C2D-F565-AC30-ACED-C5187FFE16D2}"/>
              </a:ext>
            </a:extLst>
          </p:cNvPr>
          <p:cNvSpPr>
            <a:spLocks noGrp="1"/>
          </p:cNvSpPr>
          <p:nvPr>
            <p:ph type="title"/>
          </p:nvPr>
        </p:nvSpPr>
        <p:spPr/>
        <p:txBody>
          <a:bodyPr>
            <a:normAutofit/>
          </a:bodyPr>
          <a:lstStyle>
            <a:lvl1pPr>
              <a:defRPr sz="2900" b="1"/>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6FB84EB5-2BBD-6222-6D17-1557D33B651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39108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2B38A-A830-979F-51C5-B5C145C8B135}"/>
              </a:ext>
            </a:extLst>
          </p:cNvPr>
          <p:cNvSpPr>
            <a:spLocks noGrp="1"/>
          </p:cNvSpPr>
          <p:nvPr>
            <p:ph type="title"/>
          </p:nvPr>
        </p:nvSpPr>
        <p:spPr>
          <a:xfrm>
            <a:off x="831850" y="1709738"/>
            <a:ext cx="10515600" cy="2852737"/>
          </a:xfrm>
        </p:spPr>
        <p:txBody>
          <a:bodyPr anchor="b">
            <a:normAutofit/>
          </a:bodyPr>
          <a:lstStyle>
            <a:lvl1pPr>
              <a:defRPr sz="5400"/>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814934BF-982C-8BDA-0F26-B6DB9DAA5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47428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6D86-293A-218B-7471-789C6019F29B}"/>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6E36A9F0-28E2-D44B-C5BD-E0BF60529E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33EED4C2-4D6C-1779-71FE-E17C010291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208434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851D0-7E4B-914C-1936-4388F8A61BE1}"/>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19D6BF0-BA14-49E7-0B21-8A535EDDC0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2938CA-13DC-79D0-230F-ED8B4ECD05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4F2804C-E0B2-B58B-5757-9A3E9CCCF5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A476F-E822-A151-37EF-D2C0BBB7D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962856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49493-11B6-053D-48A9-C3E131BBF5FF}"/>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Tree>
    <p:extLst>
      <p:ext uri="{BB962C8B-B14F-4D97-AF65-F5344CB8AC3E}">
        <p14:creationId xmlns:p14="http://schemas.microsoft.com/office/powerpoint/2010/main" val="1325217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25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3806F-26BF-491A-3B38-B7D923BB16F3}"/>
              </a:ext>
            </a:extLst>
          </p:cNvPr>
          <p:cNvSpPr>
            <a:spLocks noGrp="1"/>
          </p:cNvSpPr>
          <p:nvPr>
            <p:ph type="title"/>
          </p:nvPr>
        </p:nvSpPr>
        <p:spPr/>
        <p:txBody>
          <a:bodyPr>
            <a:normAutofit/>
          </a:bodyPr>
          <a:lstStyle>
            <a:lvl1pPr>
              <a:defRPr sz="2900"/>
            </a:lvl1pPr>
          </a:lstStyle>
          <a:p>
            <a:r>
              <a:rPr lang="en-US" dirty="0"/>
              <a:t>Click to edit Master title style</a:t>
            </a:r>
            <a:endParaRPr lang="en-ID" dirty="0"/>
          </a:p>
        </p:txBody>
      </p:sp>
    </p:spTree>
    <p:extLst>
      <p:ext uri="{BB962C8B-B14F-4D97-AF65-F5344CB8AC3E}">
        <p14:creationId xmlns:p14="http://schemas.microsoft.com/office/powerpoint/2010/main" val="1153726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E4A9-91F0-81A8-D5EB-B17A32638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7C54C029-36DE-BF9E-CFBD-4877AED30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1DAB7438-BA0C-0A3D-873B-766E84B1AA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743990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8546-A5A8-1904-431D-039925000A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FE193B0-B998-D44F-51A0-228102040B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E1FC93A2-ECEA-4D19-D218-B89E7EE15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29411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7651-B59C-62C2-C703-C636A70ACDE1}"/>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0DD56FD-75D0-BB50-5E42-75AA79EDD4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401334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D67674-1F79-2185-FED0-FFAA35E725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B3D2CC5-EB4D-FC4B-F82B-B4393130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189167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984A-2424-5C8A-C1AD-0BF13A52925A}"/>
              </a:ext>
            </a:extLst>
          </p:cNvPr>
          <p:cNvSpPr>
            <a:spLocks noGrp="1"/>
          </p:cNvSpPr>
          <p:nvPr>
            <p:ph type="ctrTitle"/>
          </p:nvPr>
        </p:nvSpPr>
        <p:spPr>
          <a:xfrm>
            <a:off x="1524000" y="1122363"/>
            <a:ext cx="9144000" cy="2387600"/>
          </a:xfrm>
        </p:spPr>
        <p:txBody>
          <a:bodyPr anchor="b">
            <a:normAutofit/>
          </a:bodyPr>
          <a:lstStyle>
            <a:lvl1pPr algn="ctr">
              <a:defRPr sz="5400">
                <a:latin typeface="Georgia" panose="02040502050405020303" pitchFamily="18" charset="0"/>
              </a:defRPr>
            </a:lvl1pPr>
          </a:lstStyle>
          <a:p>
            <a:r>
              <a:rPr lang="en-US" dirty="0"/>
              <a:t>Click to edit Master title style</a:t>
            </a:r>
            <a:endParaRPr lang="en-ID" dirty="0"/>
          </a:p>
        </p:txBody>
      </p:sp>
      <p:sp>
        <p:nvSpPr>
          <p:cNvPr id="3" name="Subtitle 2">
            <a:extLst>
              <a:ext uri="{FF2B5EF4-FFF2-40B4-BE49-F238E27FC236}">
                <a16:creationId xmlns:a16="http://schemas.microsoft.com/office/drawing/2014/main" id="{35EAB82A-32A0-1E8C-BFFB-EFA755429760}"/>
              </a:ext>
            </a:extLst>
          </p:cNvPr>
          <p:cNvSpPr>
            <a:spLocks noGrp="1"/>
          </p:cNvSpPr>
          <p:nvPr>
            <p:ph type="subTitle" idx="1"/>
          </p:nvPr>
        </p:nvSpPr>
        <p:spPr>
          <a:xfrm>
            <a:off x="1524000" y="3602038"/>
            <a:ext cx="9144000" cy="1655762"/>
          </a:xfrm>
        </p:spPr>
        <p:txBody>
          <a:bodyPr/>
          <a:lstStyle>
            <a:lvl1pPr marL="0" indent="0" algn="ctr">
              <a:buNone/>
              <a:defRPr sz="2400">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D" dirty="0"/>
          </a:p>
        </p:txBody>
      </p:sp>
    </p:spTree>
    <p:extLst>
      <p:ext uri="{BB962C8B-B14F-4D97-AF65-F5344CB8AC3E}">
        <p14:creationId xmlns:p14="http://schemas.microsoft.com/office/powerpoint/2010/main" val="1503494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C836-5F3C-514B-52A3-85F0A8E5C7BE}"/>
              </a:ext>
            </a:extLst>
          </p:cNvPr>
          <p:cNvSpPr>
            <a:spLocks noGrp="1"/>
          </p:cNvSpPr>
          <p:nvPr>
            <p:ph type="title"/>
          </p:nvPr>
        </p:nvSpPr>
        <p:spPr/>
        <p:txBody>
          <a:bodyPr>
            <a:normAutofit/>
          </a:bodyPr>
          <a:lstStyle>
            <a:lvl1pPr>
              <a:defRPr sz="2900">
                <a:latin typeface="Georgia" panose="02040502050405020303" pitchFamily="18" charset="0"/>
              </a:defRPr>
            </a:lvl1pPr>
          </a:lstStyle>
          <a:p>
            <a:r>
              <a:rPr lang="en-US" dirty="0"/>
              <a:t>Click to edit Master title style</a:t>
            </a:r>
            <a:endParaRPr lang="en-ID" dirty="0"/>
          </a:p>
        </p:txBody>
      </p:sp>
      <p:sp>
        <p:nvSpPr>
          <p:cNvPr id="3" name="Content Placeholder 2">
            <a:extLst>
              <a:ext uri="{FF2B5EF4-FFF2-40B4-BE49-F238E27FC236}">
                <a16:creationId xmlns:a16="http://schemas.microsoft.com/office/drawing/2014/main" id="{E536B611-365D-9434-EB52-EE497CDBCB88}"/>
              </a:ext>
            </a:extLst>
          </p:cNvPr>
          <p:cNvSpPr>
            <a:spLocks noGrp="1"/>
          </p:cNvSpPr>
          <p:nvPr>
            <p:ph idx="1"/>
          </p:nvPr>
        </p:nvSpPr>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280903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B5B1-5E61-08E2-BB6E-302AAB5DA9C6}"/>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6E4FBA33-5526-B40A-ED6F-6A0891DC70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47905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AADC5-2A48-4509-9FB9-FBD11E666997}"/>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C3D7B28-4AAD-5E81-FE53-FE4444F007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79FAF301-C0D2-E9BE-0340-B25C071931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2147325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676D-BBF6-3EBC-0555-1CA2014B4919}"/>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69D415D7-6880-7FF8-4BFF-5559AF49F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91C8CE-0ABA-35B9-75F0-C9DFD80308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0A78A93E-2564-0B40-124C-D121CC4F27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B4FE1E-3BEB-A345-CC09-84AFEE67F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7674445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DE13-F8F3-FC34-6011-F740B4F13548}"/>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668273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0795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60A39-A8EB-05E6-4A05-6F5E02CBD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EE442D4-1BF5-9F3F-05B1-4435632050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506E34FA-EFA9-DA51-3058-DFD8D0365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38141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F7D3-6FB5-5AD8-6C05-62A3D2C53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C1C430B8-926E-10A4-EBB8-5F4715540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8108D1F0-3D55-C311-B045-10CA5686C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05118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AAE5-508A-CBCC-7657-F57EBCDE27BD}"/>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F50D07D-1C8E-B9DE-BCC6-AA8A2A886C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160096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993214-5383-73B3-F624-17E20A128E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72C085D8-26CA-F9CD-CBEB-132F03A012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1794179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496FAE-8B7F-4AE9-70D2-8109289AB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738623BB-6464-5E64-F381-6CE9FB7DF3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120540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72"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3F3EB6-DF6C-B3D1-25BF-4073A908B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C24BD81E-4A60-8BBF-FA00-188EA868B1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697744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29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hreathunting.i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png"/><Relationship Id="rId7" Type="http://schemas.openxmlformats.org/officeDocument/2006/relationships/image" Target="../media/image15.emf"/><Relationship Id="rId12" Type="http://schemas.openxmlformats.org/officeDocument/2006/relationships/image" Target="../media/image20.emf"/><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emf"/><Relationship Id="rId11" Type="http://schemas.openxmlformats.org/officeDocument/2006/relationships/image" Target="../media/image19.emf"/><Relationship Id="rId5" Type="http://schemas.openxmlformats.org/officeDocument/2006/relationships/image" Target="../media/image13.emf"/><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1.emf"/><Relationship Id="rId7" Type="http://schemas.openxmlformats.org/officeDocument/2006/relationships/image" Target="../media/image25.emf"/><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cyber.gov.au/sites/default/files/2023-03/ACSC%20Cyber%20Incident%20Readiness%20Checklist_A4.pd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54.jpg"/><Relationship Id="rId3" Type="http://schemas.openxmlformats.org/officeDocument/2006/relationships/image" Target="../media/image49.jpg"/><Relationship Id="rId7" Type="http://schemas.openxmlformats.org/officeDocument/2006/relationships/image" Target="../media/image53.jpg"/><Relationship Id="rId2" Type="http://schemas.openxmlformats.org/officeDocument/2006/relationships/image" Target="../media/image48.jpg"/><Relationship Id="rId1" Type="http://schemas.openxmlformats.org/officeDocument/2006/relationships/slideLayout" Target="../slideLayouts/slideLayout2.xml"/><Relationship Id="rId6" Type="http://schemas.openxmlformats.org/officeDocument/2006/relationships/image" Target="../media/image52.jpg"/><Relationship Id="rId5" Type="http://schemas.openxmlformats.org/officeDocument/2006/relationships/image" Target="../media/image51.jpg"/><Relationship Id="rId4" Type="http://schemas.openxmlformats.org/officeDocument/2006/relationships/image" Target="../media/image50.jpg"/><Relationship Id="rId9" Type="http://schemas.openxmlformats.org/officeDocument/2006/relationships/image" Target="../media/image5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81F236-1F11-FEE9-A566-6B4FDD5E176B}"/>
              </a:ext>
            </a:extLst>
          </p:cNvPr>
          <p:cNvSpPr>
            <a:spLocks noGrp="1"/>
          </p:cNvSpPr>
          <p:nvPr>
            <p:ph type="ctrTitle"/>
          </p:nvPr>
        </p:nvSpPr>
        <p:spPr/>
        <p:txBody>
          <a:bodyPr>
            <a:normAutofit/>
          </a:bodyPr>
          <a:lstStyle/>
          <a:p>
            <a:pPr algn="l"/>
            <a:r>
              <a:rPr lang="en-GB" b="1">
                <a:solidFill>
                  <a:schemeClr val="bg1"/>
                </a:solidFill>
                <a:latin typeface="Georgia" panose="02040502050405020303" pitchFamily="18" charset="0"/>
                <a:ea typeface="Montserrat ExtraBold"/>
                <a:cs typeface="Montserrat ExtraBold"/>
                <a:sym typeface="Montserrat ExtraBold"/>
              </a:rPr>
              <a:t>APJII Training</a:t>
            </a:r>
            <a:br>
              <a:rPr lang="en-GB" b="1" dirty="0">
                <a:solidFill>
                  <a:schemeClr val="bg1"/>
                </a:solidFill>
                <a:latin typeface="Georgia" panose="02040502050405020303" pitchFamily="18" charset="0"/>
                <a:ea typeface="Montserrat ExtraBold"/>
                <a:cs typeface="Montserrat ExtraBold"/>
                <a:sym typeface="Montserrat ExtraBold"/>
              </a:rPr>
            </a:br>
            <a:r>
              <a:rPr lang="en-GB" b="1" dirty="0">
                <a:solidFill>
                  <a:schemeClr val="bg1"/>
                </a:solidFill>
                <a:latin typeface="Georgia" panose="02040502050405020303" pitchFamily="18" charset="0"/>
                <a:ea typeface="Montserrat ExtraBold"/>
                <a:cs typeface="Montserrat ExtraBold"/>
                <a:sym typeface="Montserrat ExtraBold"/>
              </a:rPr>
              <a:t>Incident Response </a:t>
            </a:r>
            <a:endParaRPr lang="en-ID" dirty="0">
              <a:solidFill>
                <a:schemeClr val="bg1"/>
              </a:solidFill>
              <a:latin typeface="Georgia" panose="02040502050405020303" pitchFamily="18" charset="0"/>
            </a:endParaRPr>
          </a:p>
        </p:txBody>
      </p:sp>
      <p:sp>
        <p:nvSpPr>
          <p:cNvPr id="6" name="Subtitle 5">
            <a:extLst>
              <a:ext uri="{FF2B5EF4-FFF2-40B4-BE49-F238E27FC236}">
                <a16:creationId xmlns:a16="http://schemas.microsoft.com/office/drawing/2014/main" id="{D3EA918C-6A43-91A9-B65D-2A193165CA7C}"/>
              </a:ext>
            </a:extLst>
          </p:cNvPr>
          <p:cNvSpPr>
            <a:spLocks noGrp="1"/>
          </p:cNvSpPr>
          <p:nvPr>
            <p:ph type="subTitle" idx="1"/>
          </p:nvPr>
        </p:nvSpPr>
        <p:spPr/>
        <p:txBody>
          <a:bodyPr>
            <a:normAutofit lnSpcReduction="10000"/>
          </a:bodyPr>
          <a:lstStyle/>
          <a:p>
            <a:pPr algn="l"/>
            <a:r>
              <a:rPr lang="nb-NO" b="1" dirty="0">
                <a:solidFill>
                  <a:schemeClr val="bg1"/>
                </a:solidFill>
                <a:ea typeface="Montserrat"/>
                <a:cs typeface="Montserrat"/>
                <a:sym typeface="Montserrat"/>
              </a:rPr>
              <a:t>15 April 2026</a:t>
            </a:r>
          </a:p>
          <a:p>
            <a:pPr algn="l"/>
            <a:endParaRPr lang="nb-NO" b="1" dirty="0">
              <a:solidFill>
                <a:schemeClr val="bg1"/>
              </a:solidFill>
              <a:ea typeface="Montserrat"/>
              <a:cs typeface="Montserrat"/>
              <a:sym typeface="Montserrat"/>
            </a:endParaRPr>
          </a:p>
          <a:p>
            <a:pPr algn="l"/>
            <a:r>
              <a:rPr lang="nb-NO" b="1" dirty="0">
                <a:solidFill>
                  <a:schemeClr val="bg1"/>
                </a:solidFill>
                <a:ea typeface="Montserrat"/>
                <a:cs typeface="Montserrat"/>
                <a:sym typeface="Montserrat"/>
              </a:rPr>
              <a:t>Digit Oktavianto</a:t>
            </a:r>
          </a:p>
          <a:p>
            <a:pPr algn="l"/>
            <a:r>
              <a:rPr lang="nb-NO" b="1" dirty="0">
                <a:solidFill>
                  <a:schemeClr val="bg1"/>
                </a:solidFill>
                <a:ea typeface="Montserrat"/>
                <a:cs typeface="Montserrat"/>
                <a:sym typeface="Montserrat"/>
                <a:hlinkClick r:id="rId2">
                  <a:extLst>
                    <a:ext uri="{A12FA001-AC4F-418D-AE19-62706E023703}">
                      <ahyp:hlinkClr xmlns:ahyp="http://schemas.microsoft.com/office/drawing/2018/hyperlinkcolor" val="tx"/>
                    </a:ext>
                  </a:extLst>
                </a:hlinkClick>
              </a:rPr>
              <a:t>https://threathunting.id</a:t>
            </a:r>
            <a:r>
              <a:rPr lang="nb-NO" b="1" dirty="0">
                <a:solidFill>
                  <a:schemeClr val="bg1"/>
                </a:solidFill>
                <a:ea typeface="Montserrat"/>
                <a:cs typeface="Montserrat"/>
                <a:sym typeface="Montserrat"/>
              </a:rPr>
              <a:t> </a:t>
            </a:r>
          </a:p>
          <a:p>
            <a:pPr algn="l"/>
            <a:endParaRPr lang="en-ID" dirty="0">
              <a:solidFill>
                <a:schemeClr val="bg1"/>
              </a:solidFill>
            </a:endParaRPr>
          </a:p>
        </p:txBody>
      </p:sp>
    </p:spTree>
    <p:extLst>
      <p:ext uri="{BB962C8B-B14F-4D97-AF65-F5344CB8AC3E}">
        <p14:creationId xmlns:p14="http://schemas.microsoft.com/office/powerpoint/2010/main" val="2017358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B0C5-2A7C-E4D8-8527-A5301547C1ED}"/>
              </a:ext>
            </a:extLst>
          </p:cNvPr>
          <p:cNvSpPr>
            <a:spLocks noGrp="1"/>
          </p:cNvSpPr>
          <p:nvPr>
            <p:ph type="title"/>
          </p:nvPr>
        </p:nvSpPr>
        <p:spPr/>
        <p:txBody>
          <a:bodyPr/>
          <a:lstStyle/>
          <a:p>
            <a:r>
              <a:rPr lang="en-GB" b="1" dirty="0"/>
              <a:t>Agenda</a:t>
            </a:r>
            <a:endParaRPr lang="en-ID" b="1" dirty="0"/>
          </a:p>
        </p:txBody>
      </p:sp>
      <p:sp>
        <p:nvSpPr>
          <p:cNvPr id="3" name="Content Placeholder 2">
            <a:extLst>
              <a:ext uri="{FF2B5EF4-FFF2-40B4-BE49-F238E27FC236}">
                <a16:creationId xmlns:a16="http://schemas.microsoft.com/office/drawing/2014/main" id="{37CF41CF-502B-8FDC-1E27-669BD2F31BEA}"/>
              </a:ext>
            </a:extLst>
          </p:cNvPr>
          <p:cNvSpPr>
            <a:spLocks noGrp="1"/>
          </p:cNvSpPr>
          <p:nvPr>
            <p:ph idx="1"/>
          </p:nvPr>
        </p:nvSpPr>
        <p:spPr/>
        <p:txBody>
          <a:bodyPr/>
          <a:lstStyle/>
          <a:p>
            <a:r>
              <a:rPr lang="en-GB" dirty="0"/>
              <a:t>Dwell Time in Cyber Security</a:t>
            </a:r>
          </a:p>
          <a:p>
            <a:r>
              <a:rPr lang="en-GB" dirty="0"/>
              <a:t>Log, Security Events, Alert, Incidents</a:t>
            </a:r>
          </a:p>
          <a:p>
            <a:r>
              <a:rPr lang="en-GB" dirty="0"/>
              <a:t>Introduction to DFIR</a:t>
            </a:r>
          </a:p>
          <a:p>
            <a:r>
              <a:rPr lang="en-GB" dirty="0"/>
              <a:t>Detection Engineering Core Process</a:t>
            </a:r>
          </a:p>
          <a:p>
            <a:r>
              <a:rPr lang="en-GB" dirty="0"/>
              <a:t>Log Sources and Telemetry</a:t>
            </a:r>
          </a:p>
          <a:p>
            <a:r>
              <a:rPr lang="en-GB" dirty="0"/>
              <a:t>Prioritization of Log Sources</a:t>
            </a:r>
          </a:p>
          <a:p>
            <a:r>
              <a:rPr lang="en-GB" dirty="0"/>
              <a:t>Network Security Incidents</a:t>
            </a:r>
          </a:p>
          <a:p>
            <a:endParaRPr lang="en-ID" dirty="0"/>
          </a:p>
        </p:txBody>
      </p:sp>
    </p:spTree>
    <p:extLst>
      <p:ext uri="{BB962C8B-B14F-4D97-AF65-F5344CB8AC3E}">
        <p14:creationId xmlns:p14="http://schemas.microsoft.com/office/powerpoint/2010/main" val="165828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AB541-DA72-6408-1188-80693D040662}"/>
              </a:ext>
            </a:extLst>
          </p:cNvPr>
          <p:cNvSpPr>
            <a:spLocks noGrp="1"/>
          </p:cNvSpPr>
          <p:nvPr>
            <p:ph type="title"/>
          </p:nvPr>
        </p:nvSpPr>
        <p:spPr/>
        <p:txBody>
          <a:bodyPr>
            <a:normAutofit/>
          </a:bodyPr>
          <a:lstStyle/>
          <a:p>
            <a:r>
              <a:rPr lang="id-ID" b="1" dirty="0"/>
              <a:t>Dwell Time</a:t>
            </a:r>
            <a:r>
              <a:rPr lang="en-US" b="1" dirty="0"/>
              <a:t> In Cyber Security</a:t>
            </a:r>
            <a:r>
              <a:rPr lang="id-ID" b="1" dirty="0"/>
              <a:t> </a:t>
            </a:r>
            <a:endParaRPr lang="en-ID" b="1" dirty="0"/>
          </a:p>
        </p:txBody>
      </p:sp>
      <p:pic>
        <p:nvPicPr>
          <p:cNvPr id="4" name="Picture 3">
            <a:extLst>
              <a:ext uri="{FF2B5EF4-FFF2-40B4-BE49-F238E27FC236}">
                <a16:creationId xmlns:a16="http://schemas.microsoft.com/office/drawing/2014/main" id="{3032FE46-B574-6F04-D09D-E1136F02252B}"/>
              </a:ext>
            </a:extLst>
          </p:cNvPr>
          <p:cNvPicPr>
            <a:picLocks noChangeAspect="1"/>
          </p:cNvPicPr>
          <p:nvPr/>
        </p:nvPicPr>
        <p:blipFill>
          <a:blip r:embed="rId2"/>
          <a:stretch>
            <a:fillRect/>
          </a:stretch>
        </p:blipFill>
        <p:spPr>
          <a:xfrm>
            <a:off x="933089" y="2018873"/>
            <a:ext cx="2422685" cy="2820254"/>
          </a:xfrm>
          <a:prstGeom prst="rect">
            <a:avLst/>
          </a:prstGeom>
        </p:spPr>
      </p:pic>
      <p:pic>
        <p:nvPicPr>
          <p:cNvPr id="8" name="Content Placeholder 7">
            <a:extLst>
              <a:ext uri="{FF2B5EF4-FFF2-40B4-BE49-F238E27FC236}">
                <a16:creationId xmlns:a16="http://schemas.microsoft.com/office/drawing/2014/main" id="{A2C3721D-D52B-59E6-34DC-05C6457B1878}"/>
              </a:ext>
            </a:extLst>
          </p:cNvPr>
          <p:cNvPicPr>
            <a:picLocks noGrp="1" noChangeAspect="1"/>
          </p:cNvPicPr>
          <p:nvPr>
            <p:ph idx="1"/>
          </p:nvPr>
        </p:nvPicPr>
        <p:blipFill>
          <a:blip r:embed="rId3"/>
          <a:stretch>
            <a:fillRect/>
          </a:stretch>
        </p:blipFill>
        <p:spPr>
          <a:xfrm>
            <a:off x="3934708" y="1435100"/>
            <a:ext cx="5866527" cy="4137026"/>
          </a:xfrm>
          <a:prstGeom prst="rect">
            <a:avLst/>
          </a:prstGeom>
        </p:spPr>
      </p:pic>
      <p:sp>
        <p:nvSpPr>
          <p:cNvPr id="9" name="TextBox 8">
            <a:extLst>
              <a:ext uri="{FF2B5EF4-FFF2-40B4-BE49-F238E27FC236}">
                <a16:creationId xmlns:a16="http://schemas.microsoft.com/office/drawing/2014/main" id="{1D0F1E75-6CE7-1A0D-8302-60879243A0DF}"/>
              </a:ext>
            </a:extLst>
          </p:cNvPr>
          <p:cNvSpPr txBox="1"/>
          <p:nvPr/>
        </p:nvSpPr>
        <p:spPr>
          <a:xfrm>
            <a:off x="5981700" y="5657850"/>
            <a:ext cx="3476625" cy="276999"/>
          </a:xfrm>
          <a:prstGeom prst="rect">
            <a:avLst/>
          </a:prstGeom>
          <a:noFill/>
        </p:spPr>
        <p:txBody>
          <a:bodyPr wrap="square" rtlCol="0">
            <a:spAutoFit/>
          </a:bodyPr>
          <a:lstStyle/>
          <a:p>
            <a:r>
              <a:rPr lang="en-GB" sz="1200" dirty="0"/>
              <a:t>Mandiant M-Trend Report 2026</a:t>
            </a:r>
            <a:endParaRPr lang="en-US" sz="1200" dirty="0"/>
          </a:p>
        </p:txBody>
      </p:sp>
    </p:spTree>
    <p:extLst>
      <p:ext uri="{BB962C8B-B14F-4D97-AF65-F5344CB8AC3E}">
        <p14:creationId xmlns:p14="http://schemas.microsoft.com/office/powerpoint/2010/main" val="63124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D13D-648E-7783-C466-388E6049CAB2}"/>
              </a:ext>
            </a:extLst>
          </p:cNvPr>
          <p:cNvSpPr>
            <a:spLocks noGrp="1"/>
          </p:cNvSpPr>
          <p:nvPr>
            <p:ph type="title"/>
          </p:nvPr>
        </p:nvSpPr>
        <p:spPr/>
        <p:txBody>
          <a:bodyPr/>
          <a:lstStyle/>
          <a:p>
            <a:r>
              <a:rPr lang="en-US" b="1" dirty="0"/>
              <a:t>Shifting Priority in Cyber Security</a:t>
            </a:r>
            <a:endParaRPr lang="en-ID" b="1" dirty="0"/>
          </a:p>
        </p:txBody>
      </p:sp>
      <p:pic>
        <p:nvPicPr>
          <p:cNvPr id="4" name="Content Placeholder 5">
            <a:extLst>
              <a:ext uri="{FF2B5EF4-FFF2-40B4-BE49-F238E27FC236}">
                <a16:creationId xmlns:a16="http://schemas.microsoft.com/office/drawing/2014/main" id="{8BAD10D7-DE00-6F13-2A25-91704C9A9BBC}"/>
              </a:ext>
            </a:extLst>
          </p:cNvPr>
          <p:cNvPicPr>
            <a:picLocks noGrp="1" noChangeAspect="1"/>
          </p:cNvPicPr>
          <p:nvPr>
            <p:ph idx="1"/>
          </p:nvPr>
        </p:nvPicPr>
        <p:blipFill>
          <a:blip r:embed="rId2"/>
          <a:stretch>
            <a:fillRect/>
          </a:stretch>
        </p:blipFill>
        <p:spPr>
          <a:xfrm>
            <a:off x="1419562" y="1825625"/>
            <a:ext cx="9352875" cy="4351338"/>
          </a:xfrm>
          <a:prstGeom prst="rect">
            <a:avLst/>
          </a:prstGeom>
        </p:spPr>
      </p:pic>
    </p:spTree>
    <p:extLst>
      <p:ext uri="{BB962C8B-B14F-4D97-AF65-F5344CB8AC3E}">
        <p14:creationId xmlns:p14="http://schemas.microsoft.com/office/powerpoint/2010/main" val="273236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re are two types of companies: those who have been hacked, and those who  don't yet know they have been hacked. - … | Picture quotes, Image quotes,  Cyber security">
            <a:extLst>
              <a:ext uri="{FF2B5EF4-FFF2-40B4-BE49-F238E27FC236}">
                <a16:creationId xmlns:a16="http://schemas.microsoft.com/office/drawing/2014/main" id="{FFD5748B-2B54-F99A-B7F5-54ACF752E4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781"/>
          <a:stretch/>
        </p:blipFill>
        <p:spPr bwMode="auto">
          <a:xfrm>
            <a:off x="1337683" y="965558"/>
            <a:ext cx="9516633" cy="5352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2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4DD8E-85F9-5BE0-D0F3-029DD0FF0AAC}"/>
              </a:ext>
            </a:extLst>
          </p:cNvPr>
          <p:cNvSpPr>
            <a:spLocks noGrp="1"/>
          </p:cNvSpPr>
          <p:nvPr>
            <p:ph type="title"/>
          </p:nvPr>
        </p:nvSpPr>
        <p:spPr/>
        <p:txBody>
          <a:bodyPr/>
          <a:lstStyle/>
          <a:p>
            <a:r>
              <a:rPr lang="en-GB" b="1" dirty="0"/>
              <a:t>Logs, Security Events, Alert, and Incidents</a:t>
            </a:r>
            <a:endParaRPr lang="en-US" b="1" dirty="0"/>
          </a:p>
        </p:txBody>
      </p:sp>
      <p:sp>
        <p:nvSpPr>
          <p:cNvPr id="3" name="Text Placeholder 2">
            <a:extLst>
              <a:ext uri="{FF2B5EF4-FFF2-40B4-BE49-F238E27FC236}">
                <a16:creationId xmlns:a16="http://schemas.microsoft.com/office/drawing/2014/main" id="{7B858EDE-AD39-1823-76EE-BCA078C4F52D}"/>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40280DE-AC0F-1CD1-AAA4-998DFAD5ABD9}"/>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dirty="0"/>
          </a:p>
        </p:txBody>
      </p:sp>
    </p:spTree>
    <p:extLst>
      <p:ext uri="{BB962C8B-B14F-4D97-AF65-F5344CB8AC3E}">
        <p14:creationId xmlns:p14="http://schemas.microsoft.com/office/powerpoint/2010/main" val="2839379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Logs</a:t>
            </a:r>
          </a:p>
        </p:txBody>
      </p:sp>
      <p:sp>
        <p:nvSpPr>
          <p:cNvPr id="3" name="Content Placeholder 2"/>
          <p:cNvSpPr>
            <a:spLocks noGrp="1"/>
          </p:cNvSpPr>
          <p:nvPr>
            <p:ph sz="quarter" idx="1"/>
          </p:nvPr>
        </p:nvSpPr>
        <p:spPr/>
        <p:txBody>
          <a:bodyPr>
            <a:normAutofit/>
          </a:bodyPr>
          <a:lstStyle/>
          <a:p>
            <a:r>
              <a:rPr lang="en-GB" b="1" spc="55" dirty="0">
                <a:latin typeface="+mj-lt"/>
                <a:cs typeface="Arial"/>
              </a:rPr>
              <a:t>Definition</a:t>
            </a:r>
            <a:r>
              <a:rPr lang="en-GB" spc="55" dirty="0">
                <a:latin typeface="+mj-lt"/>
                <a:cs typeface="Arial"/>
              </a:rPr>
              <a:t>: Logs are records of events generated by operating systems, applications, and other devices. They contain information about the activities and operations that have taken place within an IT environment.</a:t>
            </a:r>
          </a:p>
          <a:p>
            <a:r>
              <a:rPr lang="en-GB" b="1" spc="55" dirty="0">
                <a:latin typeface="+mj-lt"/>
                <a:cs typeface="Arial"/>
              </a:rPr>
              <a:t>Purpose: </a:t>
            </a:r>
            <a:r>
              <a:rPr lang="en-GB" spc="55" dirty="0">
                <a:latin typeface="+mj-lt"/>
                <a:cs typeface="Arial"/>
              </a:rPr>
              <a:t>Logs are used for monitoring system </a:t>
            </a:r>
            <a:r>
              <a:rPr lang="en-GB" spc="55" dirty="0" err="1">
                <a:latin typeface="+mj-lt"/>
                <a:cs typeface="Arial"/>
              </a:rPr>
              <a:t>behavior</a:t>
            </a:r>
            <a:r>
              <a:rPr lang="en-GB" spc="55" dirty="0">
                <a:latin typeface="+mj-lt"/>
                <a:cs typeface="Arial"/>
              </a:rPr>
              <a:t>, troubleshooting issues, and conducting forensic analysis.</a:t>
            </a:r>
          </a:p>
          <a:p>
            <a:r>
              <a:rPr lang="en-GB" b="1" spc="55" dirty="0">
                <a:latin typeface="+mj-lt"/>
                <a:cs typeface="Arial"/>
              </a:rPr>
              <a:t>Example: </a:t>
            </a:r>
            <a:r>
              <a:rPr lang="en-GB" spc="55" dirty="0">
                <a:latin typeface="+mj-lt"/>
                <a:cs typeface="Arial"/>
              </a:rPr>
              <a:t>A log entry might record a user login attempt, a file access, or an error message from an application.</a:t>
            </a:r>
            <a:endParaRPr lang="en-US" dirty="0">
              <a:latin typeface="+mj-lt"/>
            </a:endParaRPr>
          </a:p>
        </p:txBody>
      </p:sp>
      <p:sp>
        <p:nvSpPr>
          <p:cNvPr id="4" name="Date Placeholder 3">
            <a:extLst>
              <a:ext uri="{FF2B5EF4-FFF2-40B4-BE49-F238E27FC236}">
                <a16:creationId xmlns:a16="http://schemas.microsoft.com/office/drawing/2014/main" id="{E8D09AD7-1C15-4E6B-A78A-238B2DF3F94A}"/>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a:p>
        </p:txBody>
      </p:sp>
    </p:spTree>
    <p:extLst>
      <p:ext uri="{BB962C8B-B14F-4D97-AF65-F5344CB8AC3E}">
        <p14:creationId xmlns:p14="http://schemas.microsoft.com/office/powerpoint/2010/main" val="3477030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Security Events</a:t>
            </a:r>
          </a:p>
        </p:txBody>
      </p:sp>
      <p:sp>
        <p:nvSpPr>
          <p:cNvPr id="3" name="Content Placeholder 2"/>
          <p:cNvSpPr>
            <a:spLocks noGrp="1"/>
          </p:cNvSpPr>
          <p:nvPr>
            <p:ph sz="quarter" idx="1"/>
          </p:nvPr>
        </p:nvSpPr>
        <p:spPr/>
        <p:txBody>
          <a:bodyPr>
            <a:normAutofit/>
          </a:bodyPr>
          <a:lstStyle/>
          <a:p>
            <a:pPr marL="355600" indent="-342900">
              <a:spcBef>
                <a:spcPts val="1205"/>
              </a:spcBef>
              <a:tabLst>
                <a:tab pos="295275" algn="l"/>
                <a:tab pos="295910" algn="l"/>
              </a:tabLst>
            </a:pPr>
            <a:r>
              <a:rPr lang="en-GB" b="1" spc="55" dirty="0">
                <a:cs typeface="Arial"/>
              </a:rPr>
              <a:t>Definition</a:t>
            </a:r>
            <a:r>
              <a:rPr lang="en-GB" spc="55" dirty="0">
                <a:cs typeface="Arial"/>
              </a:rPr>
              <a:t>: Security events are specific occurrences identified within logs that may have security implications. They are events that are flagged as potentially relevant to security.</a:t>
            </a:r>
          </a:p>
          <a:p>
            <a:pPr marL="355600" indent="-342900">
              <a:spcBef>
                <a:spcPts val="1205"/>
              </a:spcBef>
              <a:tabLst>
                <a:tab pos="295275" algn="l"/>
                <a:tab pos="295910" algn="l"/>
              </a:tabLst>
            </a:pPr>
            <a:r>
              <a:rPr lang="en-GB" b="1" spc="55" dirty="0">
                <a:cs typeface="Arial"/>
              </a:rPr>
              <a:t>Purpose</a:t>
            </a:r>
            <a:r>
              <a:rPr lang="en-GB" spc="55" dirty="0">
                <a:cs typeface="Arial"/>
              </a:rPr>
              <a:t>: Security events help in identifying suspicious activities that might indicate a security threat or breach.</a:t>
            </a:r>
          </a:p>
          <a:p>
            <a:pPr marL="355600" indent="-342900">
              <a:spcBef>
                <a:spcPts val="1205"/>
              </a:spcBef>
              <a:tabLst>
                <a:tab pos="295275" algn="l"/>
                <a:tab pos="295910" algn="l"/>
              </a:tabLst>
            </a:pPr>
            <a:r>
              <a:rPr lang="en-GB" b="1" spc="55" dirty="0">
                <a:cs typeface="Arial"/>
              </a:rPr>
              <a:t>Example</a:t>
            </a:r>
            <a:r>
              <a:rPr lang="en-GB" spc="55" dirty="0">
                <a:cs typeface="Arial"/>
              </a:rPr>
              <a:t>: Multiple failed login attempts within a short period can be recorded as a security event.</a:t>
            </a:r>
            <a:endParaRPr lang="en-US" dirty="0"/>
          </a:p>
        </p:txBody>
      </p:sp>
      <p:sp>
        <p:nvSpPr>
          <p:cNvPr id="4" name="Date Placeholder 3">
            <a:extLst>
              <a:ext uri="{FF2B5EF4-FFF2-40B4-BE49-F238E27FC236}">
                <a16:creationId xmlns:a16="http://schemas.microsoft.com/office/drawing/2014/main" id="{8B649EE7-0D7B-4AA5-B256-87C64F468629}"/>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a:p>
        </p:txBody>
      </p:sp>
    </p:spTree>
    <p:extLst>
      <p:ext uri="{BB962C8B-B14F-4D97-AF65-F5344CB8AC3E}">
        <p14:creationId xmlns:p14="http://schemas.microsoft.com/office/powerpoint/2010/main" val="2074326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Security Events – Adverse Events</a:t>
            </a:r>
          </a:p>
        </p:txBody>
      </p:sp>
      <p:sp>
        <p:nvSpPr>
          <p:cNvPr id="3" name="Content Placeholder 2"/>
          <p:cNvSpPr>
            <a:spLocks noGrp="1"/>
          </p:cNvSpPr>
          <p:nvPr>
            <p:ph sz="quarter" idx="1"/>
          </p:nvPr>
        </p:nvSpPr>
        <p:spPr/>
        <p:txBody>
          <a:bodyPr>
            <a:normAutofit/>
          </a:bodyPr>
          <a:lstStyle/>
          <a:p>
            <a:pPr marL="355600" indent="-342900">
              <a:spcBef>
                <a:spcPts val="1205"/>
              </a:spcBef>
              <a:tabLst>
                <a:tab pos="295275" algn="l"/>
                <a:tab pos="295910" algn="l"/>
              </a:tabLst>
            </a:pPr>
            <a:r>
              <a:rPr lang="en-US" spc="55" dirty="0">
                <a:cs typeface="Arial"/>
              </a:rPr>
              <a:t>What?</a:t>
            </a:r>
            <a:endParaRPr lang="en-US" dirty="0">
              <a:cs typeface="Arial"/>
            </a:endParaRPr>
          </a:p>
          <a:p>
            <a:pPr marL="581025" lvl="1" indent="-285750">
              <a:lnSpc>
                <a:spcPct val="100000"/>
              </a:lnSpc>
              <a:spcBef>
                <a:spcPts val="960"/>
              </a:spcBef>
              <a:buFont typeface="Wingdings" panose="05000000000000000000" pitchFamily="2" charset="2"/>
              <a:buChar char="Ø"/>
              <a:tabLst>
                <a:tab pos="578485" algn="l"/>
                <a:tab pos="579120" algn="l"/>
              </a:tabLst>
            </a:pPr>
            <a:r>
              <a:rPr lang="en-US" sz="2800" spc="25" dirty="0">
                <a:cs typeface="Arial"/>
              </a:rPr>
              <a:t>Events </a:t>
            </a:r>
            <a:r>
              <a:rPr lang="en-US" sz="2800" spc="55" dirty="0">
                <a:cs typeface="Arial"/>
              </a:rPr>
              <a:t>with </a:t>
            </a:r>
            <a:r>
              <a:rPr lang="en-US" sz="2800" spc="-50" dirty="0">
                <a:cs typeface="Arial"/>
              </a:rPr>
              <a:t>a </a:t>
            </a:r>
            <a:r>
              <a:rPr lang="en-US" sz="2800" spc="35" dirty="0">
                <a:cs typeface="Arial"/>
              </a:rPr>
              <a:t>negative</a:t>
            </a:r>
            <a:r>
              <a:rPr lang="en-US" sz="2800" spc="120" dirty="0">
                <a:cs typeface="Arial"/>
              </a:rPr>
              <a:t> </a:t>
            </a:r>
            <a:r>
              <a:rPr lang="en-US" sz="2800" spc="65" dirty="0">
                <a:cs typeface="Arial"/>
              </a:rPr>
              <a:t>consequence</a:t>
            </a:r>
            <a:endParaRPr lang="en-US" sz="2800" dirty="0">
              <a:cs typeface="Arial"/>
            </a:endParaRPr>
          </a:p>
          <a:p>
            <a:pPr marL="355600" indent="-342900">
              <a:spcBef>
                <a:spcPts val="944"/>
              </a:spcBef>
              <a:tabLst>
                <a:tab pos="295275" algn="l"/>
                <a:tab pos="295910" algn="l"/>
              </a:tabLst>
            </a:pPr>
            <a:r>
              <a:rPr lang="en-US" spc="45" dirty="0">
                <a:cs typeface="Arial"/>
              </a:rPr>
              <a:t>Examples:</a:t>
            </a:r>
            <a:endParaRPr lang="en-US" dirty="0">
              <a:cs typeface="Arial"/>
            </a:endParaRPr>
          </a:p>
          <a:p>
            <a:pPr marL="581025" lvl="1" indent="-285750">
              <a:lnSpc>
                <a:spcPct val="100000"/>
              </a:lnSpc>
              <a:spcBef>
                <a:spcPts val="960"/>
              </a:spcBef>
              <a:buFont typeface="Wingdings" panose="05000000000000000000" pitchFamily="2" charset="2"/>
              <a:buChar char="Ø"/>
              <a:tabLst>
                <a:tab pos="578485" algn="l"/>
                <a:tab pos="579120" algn="l"/>
              </a:tabLst>
            </a:pPr>
            <a:r>
              <a:rPr lang="en-US" sz="2800" spc="40" dirty="0">
                <a:cs typeface="Arial"/>
              </a:rPr>
              <a:t>System</a:t>
            </a:r>
            <a:r>
              <a:rPr lang="en-US" sz="2800" spc="145" dirty="0">
                <a:cs typeface="Arial"/>
              </a:rPr>
              <a:t> </a:t>
            </a:r>
            <a:r>
              <a:rPr lang="en-US" sz="2800" spc="50" dirty="0">
                <a:cs typeface="Arial"/>
              </a:rPr>
              <a:t>crashes</a:t>
            </a:r>
            <a:endParaRPr lang="en-US" sz="2800" dirty="0">
              <a:cs typeface="Arial"/>
            </a:endParaRPr>
          </a:p>
          <a:p>
            <a:pPr marL="581025" lvl="1" indent="-285750">
              <a:lnSpc>
                <a:spcPct val="100000"/>
              </a:lnSpc>
              <a:spcBef>
                <a:spcPts val="950"/>
              </a:spcBef>
              <a:buFont typeface="Wingdings" panose="05000000000000000000" pitchFamily="2" charset="2"/>
              <a:buChar char="Ø"/>
              <a:tabLst>
                <a:tab pos="578485" algn="l"/>
                <a:tab pos="579120" algn="l"/>
              </a:tabLst>
            </a:pPr>
            <a:r>
              <a:rPr lang="en-US" sz="2800" spc="65" dirty="0">
                <a:cs typeface="Arial"/>
              </a:rPr>
              <a:t>Network packet</a:t>
            </a:r>
            <a:r>
              <a:rPr lang="en-US" sz="2800" spc="229" dirty="0">
                <a:cs typeface="Arial"/>
              </a:rPr>
              <a:t> </a:t>
            </a:r>
            <a:r>
              <a:rPr lang="en-US" sz="2800" spc="65" dirty="0">
                <a:cs typeface="Arial"/>
              </a:rPr>
              <a:t>floods</a:t>
            </a:r>
            <a:endParaRPr lang="en-US" sz="2800" dirty="0">
              <a:cs typeface="Arial"/>
            </a:endParaRPr>
          </a:p>
          <a:p>
            <a:pPr marL="581025" lvl="1" indent="-285750">
              <a:lnSpc>
                <a:spcPct val="100000"/>
              </a:lnSpc>
              <a:spcBef>
                <a:spcPts val="944"/>
              </a:spcBef>
              <a:buFont typeface="Wingdings" panose="05000000000000000000" pitchFamily="2" charset="2"/>
              <a:buChar char="Ø"/>
              <a:tabLst>
                <a:tab pos="578485" algn="l"/>
                <a:tab pos="579120" algn="l"/>
              </a:tabLst>
            </a:pPr>
            <a:r>
              <a:rPr lang="en-US" sz="2800" spc="45" dirty="0">
                <a:cs typeface="Arial"/>
              </a:rPr>
              <a:t>Unauthorized </a:t>
            </a:r>
            <a:r>
              <a:rPr lang="en-US" sz="2800" spc="15" dirty="0">
                <a:cs typeface="Arial"/>
              </a:rPr>
              <a:t>use </a:t>
            </a:r>
            <a:r>
              <a:rPr lang="en-US" sz="2800" spc="30" dirty="0">
                <a:cs typeface="Arial"/>
              </a:rPr>
              <a:t>of </a:t>
            </a:r>
            <a:r>
              <a:rPr lang="en-US" sz="2800" spc="45" dirty="0">
                <a:cs typeface="Arial"/>
              </a:rPr>
              <a:t>system</a:t>
            </a:r>
            <a:r>
              <a:rPr lang="en-US" sz="2800" spc="484" dirty="0">
                <a:cs typeface="Arial"/>
              </a:rPr>
              <a:t> </a:t>
            </a:r>
            <a:r>
              <a:rPr lang="en-US" sz="2800" spc="40" dirty="0">
                <a:cs typeface="Arial"/>
              </a:rPr>
              <a:t>privileges</a:t>
            </a:r>
            <a:endParaRPr lang="en-US" sz="2800" dirty="0">
              <a:cs typeface="Arial"/>
            </a:endParaRPr>
          </a:p>
          <a:p>
            <a:pPr marL="581025" lvl="1" indent="-285750">
              <a:lnSpc>
                <a:spcPct val="100000"/>
              </a:lnSpc>
              <a:spcBef>
                <a:spcPts val="944"/>
              </a:spcBef>
              <a:buFont typeface="Wingdings" panose="05000000000000000000" pitchFamily="2" charset="2"/>
              <a:buChar char="Ø"/>
              <a:tabLst>
                <a:tab pos="578485" algn="l"/>
                <a:tab pos="579120" algn="l"/>
              </a:tabLst>
            </a:pPr>
            <a:r>
              <a:rPr lang="en-US" sz="2800" spc="45" dirty="0">
                <a:cs typeface="Arial"/>
              </a:rPr>
              <a:t>Unauthorized </a:t>
            </a:r>
            <a:r>
              <a:rPr lang="en-US" sz="2800" spc="50" dirty="0">
                <a:cs typeface="Arial"/>
              </a:rPr>
              <a:t>access </a:t>
            </a:r>
            <a:r>
              <a:rPr lang="en-US" sz="2800" spc="65" dirty="0">
                <a:cs typeface="Arial"/>
              </a:rPr>
              <a:t>to </a:t>
            </a:r>
            <a:r>
              <a:rPr lang="en-US" sz="2800" spc="30" dirty="0">
                <a:cs typeface="Arial"/>
              </a:rPr>
              <a:t>sensitive</a:t>
            </a:r>
            <a:r>
              <a:rPr lang="en-US" sz="2800" spc="425" dirty="0">
                <a:cs typeface="Arial"/>
              </a:rPr>
              <a:t> </a:t>
            </a:r>
            <a:r>
              <a:rPr lang="en-US" sz="2800" spc="65" dirty="0">
                <a:cs typeface="Arial"/>
              </a:rPr>
              <a:t>data</a:t>
            </a:r>
            <a:endParaRPr lang="en-US" sz="2800" dirty="0">
              <a:cs typeface="Arial"/>
            </a:endParaRPr>
          </a:p>
          <a:p>
            <a:pPr marL="581025" lvl="1" indent="-285750">
              <a:lnSpc>
                <a:spcPct val="100000"/>
              </a:lnSpc>
              <a:spcBef>
                <a:spcPts val="950"/>
              </a:spcBef>
              <a:buFont typeface="Wingdings" panose="05000000000000000000" pitchFamily="2" charset="2"/>
              <a:buChar char="Ø"/>
              <a:tabLst>
                <a:tab pos="578485" algn="l"/>
                <a:tab pos="579120" algn="l"/>
              </a:tabLst>
            </a:pPr>
            <a:r>
              <a:rPr lang="en-US" sz="2800" spc="45" dirty="0">
                <a:cs typeface="Arial"/>
              </a:rPr>
              <a:t>Execution </a:t>
            </a:r>
            <a:r>
              <a:rPr lang="en-US" sz="2800" spc="30" dirty="0">
                <a:cs typeface="Arial"/>
              </a:rPr>
              <a:t>of </a:t>
            </a:r>
            <a:r>
              <a:rPr lang="en-US" sz="2800" spc="40" dirty="0">
                <a:cs typeface="Arial"/>
              </a:rPr>
              <a:t>malicious </a:t>
            </a:r>
            <a:r>
              <a:rPr lang="en-US" sz="2800" spc="70" dirty="0">
                <a:cs typeface="Arial"/>
              </a:rPr>
              <a:t>code </a:t>
            </a:r>
            <a:r>
              <a:rPr lang="en-US" sz="2800" spc="55" dirty="0">
                <a:cs typeface="Arial"/>
              </a:rPr>
              <a:t>that </a:t>
            </a:r>
            <a:r>
              <a:rPr lang="en-US" sz="2800" spc="50" dirty="0">
                <a:cs typeface="Arial"/>
              </a:rPr>
              <a:t>destroys</a:t>
            </a:r>
            <a:r>
              <a:rPr lang="en-US" sz="2800" spc="110" dirty="0">
                <a:cs typeface="Arial"/>
              </a:rPr>
              <a:t> </a:t>
            </a:r>
            <a:r>
              <a:rPr lang="en-US" sz="2800" spc="65" dirty="0">
                <a:cs typeface="Arial"/>
              </a:rPr>
              <a:t>data</a:t>
            </a:r>
            <a:endParaRPr lang="en-US" sz="2800" dirty="0">
              <a:cs typeface="Arial"/>
            </a:endParaRPr>
          </a:p>
          <a:p>
            <a:endParaRPr lang="en-US" dirty="0"/>
          </a:p>
        </p:txBody>
      </p:sp>
      <p:sp>
        <p:nvSpPr>
          <p:cNvPr id="4" name="Date Placeholder 3">
            <a:extLst>
              <a:ext uri="{FF2B5EF4-FFF2-40B4-BE49-F238E27FC236}">
                <a16:creationId xmlns:a16="http://schemas.microsoft.com/office/drawing/2014/main" id="{3F837E21-E874-4986-B2A2-76B5A01A2ED3}"/>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a:p>
        </p:txBody>
      </p:sp>
    </p:spTree>
    <p:extLst>
      <p:ext uri="{BB962C8B-B14F-4D97-AF65-F5344CB8AC3E}">
        <p14:creationId xmlns:p14="http://schemas.microsoft.com/office/powerpoint/2010/main" val="3708245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76FE97-543C-DC81-151A-95949A13590C}"/>
              </a:ext>
            </a:extLst>
          </p:cNvPr>
          <p:cNvSpPr>
            <a:spLocks noGrp="1"/>
          </p:cNvSpPr>
          <p:nvPr>
            <p:ph idx="1"/>
          </p:nvPr>
        </p:nvSpPr>
        <p:spPr/>
        <p:txBody>
          <a:bodyPr/>
          <a:lstStyle/>
          <a:p>
            <a:r>
              <a:rPr lang="en-GB" b="1" dirty="0"/>
              <a:t>Definition</a:t>
            </a:r>
            <a:r>
              <a:rPr lang="en-GB" dirty="0"/>
              <a:t>: Alerts are notifications generated by security systems when certain predefined conditions or thresholds related to security events are met. They serve as warnings to IT and security teams.</a:t>
            </a:r>
          </a:p>
          <a:p>
            <a:r>
              <a:rPr lang="en-GB" b="1" dirty="0"/>
              <a:t>Purpose</a:t>
            </a:r>
            <a:r>
              <a:rPr lang="en-GB" dirty="0"/>
              <a:t>: Alerts prompt immediate attention and action to potential security issues.</a:t>
            </a:r>
          </a:p>
          <a:p>
            <a:r>
              <a:rPr lang="en-GB" b="1" dirty="0"/>
              <a:t>Example</a:t>
            </a:r>
            <a:r>
              <a:rPr lang="en-GB" dirty="0"/>
              <a:t>: An alert might be triggered if a security event, like an unusual login attempt from a foreign IP address, occurs.</a:t>
            </a:r>
            <a:endParaRPr lang="en-US" dirty="0"/>
          </a:p>
        </p:txBody>
      </p:sp>
      <p:sp>
        <p:nvSpPr>
          <p:cNvPr id="3" name="Date Placeholder 2">
            <a:extLst>
              <a:ext uri="{FF2B5EF4-FFF2-40B4-BE49-F238E27FC236}">
                <a16:creationId xmlns:a16="http://schemas.microsoft.com/office/drawing/2014/main" id="{2F0345A6-B390-26FC-0100-C08C42749083}"/>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dirty="0"/>
          </a:p>
        </p:txBody>
      </p:sp>
      <p:sp>
        <p:nvSpPr>
          <p:cNvPr id="5" name="Title 4">
            <a:extLst>
              <a:ext uri="{FF2B5EF4-FFF2-40B4-BE49-F238E27FC236}">
                <a16:creationId xmlns:a16="http://schemas.microsoft.com/office/drawing/2014/main" id="{3F360BB1-08E4-8D9C-9DB5-6335A91E96C8}"/>
              </a:ext>
            </a:extLst>
          </p:cNvPr>
          <p:cNvSpPr>
            <a:spLocks noGrp="1"/>
          </p:cNvSpPr>
          <p:nvPr>
            <p:ph type="title"/>
          </p:nvPr>
        </p:nvSpPr>
        <p:spPr/>
        <p:txBody>
          <a:bodyPr>
            <a:normAutofit/>
          </a:bodyPr>
          <a:lstStyle/>
          <a:p>
            <a:r>
              <a:rPr lang="en-GB" b="1" dirty="0"/>
              <a:t>Alerts</a:t>
            </a:r>
            <a:endParaRPr lang="en-US" b="1" dirty="0"/>
          </a:p>
        </p:txBody>
      </p:sp>
    </p:spTree>
    <p:extLst>
      <p:ext uri="{BB962C8B-B14F-4D97-AF65-F5344CB8AC3E}">
        <p14:creationId xmlns:p14="http://schemas.microsoft.com/office/powerpoint/2010/main" val="3123526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25BBF0-9AE4-A046-F691-99307833CE3D}"/>
              </a:ext>
            </a:extLst>
          </p:cNvPr>
          <p:cNvSpPr>
            <a:spLocks noGrp="1"/>
          </p:cNvSpPr>
          <p:nvPr>
            <p:ph idx="1"/>
          </p:nvPr>
        </p:nvSpPr>
        <p:spPr/>
        <p:txBody>
          <a:bodyPr/>
          <a:lstStyle/>
          <a:p>
            <a:r>
              <a:rPr lang="en-GB" b="1" dirty="0"/>
              <a:t>Definition: </a:t>
            </a:r>
            <a:r>
              <a:rPr lang="en-GB" dirty="0"/>
              <a:t>Incidents are confirmed security breaches or attacks that require a response. They are escalated from security events that have been validated as actual threats.</a:t>
            </a:r>
          </a:p>
          <a:p>
            <a:r>
              <a:rPr lang="en-GB" b="1" dirty="0"/>
              <a:t>Purpose: </a:t>
            </a:r>
            <a:r>
              <a:rPr lang="en-GB" dirty="0"/>
              <a:t>Managing incidents involves investigation, mitigation, recovery, and lessons learned to prevent future occurrences.</a:t>
            </a:r>
          </a:p>
          <a:p>
            <a:r>
              <a:rPr lang="en-GB" b="1" dirty="0"/>
              <a:t>Example</a:t>
            </a:r>
            <a:r>
              <a:rPr lang="en-GB" dirty="0"/>
              <a:t>: A detected malware infection or a data breach is classified as an incident.</a:t>
            </a:r>
            <a:endParaRPr lang="en-US" dirty="0"/>
          </a:p>
        </p:txBody>
      </p:sp>
      <p:sp>
        <p:nvSpPr>
          <p:cNvPr id="3" name="Date Placeholder 2">
            <a:extLst>
              <a:ext uri="{FF2B5EF4-FFF2-40B4-BE49-F238E27FC236}">
                <a16:creationId xmlns:a16="http://schemas.microsoft.com/office/drawing/2014/main" id="{0CF102EF-8103-A833-F75B-3AAB587CECBD}"/>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dirty="0"/>
          </a:p>
        </p:txBody>
      </p:sp>
      <p:sp>
        <p:nvSpPr>
          <p:cNvPr id="5" name="Title 4">
            <a:extLst>
              <a:ext uri="{FF2B5EF4-FFF2-40B4-BE49-F238E27FC236}">
                <a16:creationId xmlns:a16="http://schemas.microsoft.com/office/drawing/2014/main" id="{51652B80-87CF-1F7B-058B-590897FFB0C5}"/>
              </a:ext>
            </a:extLst>
          </p:cNvPr>
          <p:cNvSpPr>
            <a:spLocks noGrp="1"/>
          </p:cNvSpPr>
          <p:nvPr>
            <p:ph type="title"/>
          </p:nvPr>
        </p:nvSpPr>
        <p:spPr/>
        <p:txBody>
          <a:bodyPr>
            <a:normAutofit/>
          </a:bodyPr>
          <a:lstStyle/>
          <a:p>
            <a:r>
              <a:rPr lang="en-GB" b="1" dirty="0"/>
              <a:t>Incidents</a:t>
            </a:r>
            <a:endParaRPr lang="en-US" b="1" dirty="0"/>
          </a:p>
        </p:txBody>
      </p:sp>
    </p:spTree>
    <p:extLst>
      <p:ext uri="{BB962C8B-B14F-4D97-AF65-F5344CB8AC3E}">
        <p14:creationId xmlns:p14="http://schemas.microsoft.com/office/powerpoint/2010/main" val="2197582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E83BF9-513C-76C9-1CEF-2F210C473A6B}"/>
              </a:ext>
            </a:extLst>
          </p:cNvPr>
          <p:cNvSpPr>
            <a:spLocks noGrp="1"/>
          </p:cNvSpPr>
          <p:nvPr>
            <p:ph idx="1"/>
          </p:nvPr>
        </p:nvSpPr>
        <p:spPr/>
        <p:txBody>
          <a:bodyPr>
            <a:normAutofit fontScale="92500" lnSpcReduction="10000"/>
          </a:bodyPr>
          <a:lstStyle/>
          <a:p>
            <a:r>
              <a:rPr lang="en-GB" b="1" dirty="0"/>
              <a:t>Logs </a:t>
            </a:r>
            <a:r>
              <a:rPr lang="en-GB" dirty="0"/>
              <a:t>are the raw data that record all activities within the system. They form the foundational data source for detecting security-related activities.</a:t>
            </a:r>
          </a:p>
          <a:p>
            <a:r>
              <a:rPr lang="en-GB" b="1" dirty="0"/>
              <a:t>Security Events </a:t>
            </a:r>
            <a:r>
              <a:rPr lang="en-GB" dirty="0"/>
              <a:t>are identified from logs when specific patterns or anomalies are recognized that might indicate a security concern.</a:t>
            </a:r>
          </a:p>
          <a:p>
            <a:r>
              <a:rPr lang="en-GB" b="1" dirty="0"/>
              <a:t>Alerts</a:t>
            </a:r>
            <a:r>
              <a:rPr lang="en-GB" dirty="0"/>
              <a:t> are generated based on security events to notify the relevant personnel about potential security issues requiring immediate attention.</a:t>
            </a:r>
          </a:p>
          <a:p>
            <a:r>
              <a:rPr lang="en-GB" b="1" dirty="0"/>
              <a:t>Incidents </a:t>
            </a:r>
            <a:r>
              <a:rPr lang="en-GB" dirty="0"/>
              <a:t>are confirmed security events that have been validated as real threats and need to be addressed through a structured response process.</a:t>
            </a:r>
            <a:endParaRPr lang="en-US" dirty="0"/>
          </a:p>
        </p:txBody>
      </p:sp>
      <p:sp>
        <p:nvSpPr>
          <p:cNvPr id="3" name="Date Placeholder 2">
            <a:extLst>
              <a:ext uri="{FF2B5EF4-FFF2-40B4-BE49-F238E27FC236}">
                <a16:creationId xmlns:a16="http://schemas.microsoft.com/office/drawing/2014/main" id="{E4F9EBB4-5AC9-624F-D271-E7AF1CFBF600}"/>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25/06/2024</a:t>
            </a:r>
            <a:endParaRPr lang="en-ID" dirty="0"/>
          </a:p>
        </p:txBody>
      </p:sp>
      <p:sp>
        <p:nvSpPr>
          <p:cNvPr id="5" name="Title 4">
            <a:extLst>
              <a:ext uri="{FF2B5EF4-FFF2-40B4-BE49-F238E27FC236}">
                <a16:creationId xmlns:a16="http://schemas.microsoft.com/office/drawing/2014/main" id="{579BD323-F4DD-B390-4053-D4C46247B268}"/>
              </a:ext>
            </a:extLst>
          </p:cNvPr>
          <p:cNvSpPr>
            <a:spLocks noGrp="1"/>
          </p:cNvSpPr>
          <p:nvPr>
            <p:ph type="title"/>
          </p:nvPr>
        </p:nvSpPr>
        <p:spPr/>
        <p:txBody>
          <a:bodyPr>
            <a:normAutofit/>
          </a:bodyPr>
          <a:lstStyle/>
          <a:p>
            <a:r>
              <a:rPr lang="en-GB" sz="2400" b="1" dirty="0"/>
              <a:t>Correlation Between Logs, Security Events, Alerts and Incidents</a:t>
            </a:r>
            <a:endParaRPr lang="en-US" sz="2400" b="1" dirty="0"/>
          </a:p>
        </p:txBody>
      </p:sp>
    </p:spTree>
    <p:extLst>
      <p:ext uri="{BB962C8B-B14F-4D97-AF65-F5344CB8AC3E}">
        <p14:creationId xmlns:p14="http://schemas.microsoft.com/office/powerpoint/2010/main" val="1137404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612FB-B12C-57D0-78FE-96F03AC339A6}"/>
              </a:ext>
            </a:extLst>
          </p:cNvPr>
          <p:cNvSpPr>
            <a:spLocks noGrp="1"/>
          </p:cNvSpPr>
          <p:nvPr>
            <p:ph type="title"/>
          </p:nvPr>
        </p:nvSpPr>
        <p:spPr/>
        <p:txBody>
          <a:bodyPr>
            <a:normAutofit/>
          </a:bodyPr>
          <a:lstStyle/>
          <a:p>
            <a:r>
              <a:rPr lang="en-GB" sz="5400" b="1" dirty="0">
                <a:latin typeface="Georgia" panose="02040502050405020303" pitchFamily="18" charset="0"/>
              </a:rPr>
              <a:t>Introduction to Digital Forensic and Incident Response</a:t>
            </a:r>
            <a:endParaRPr lang="en-ID" sz="5400" b="1" dirty="0">
              <a:latin typeface="Georgia" panose="02040502050405020303" pitchFamily="18" charset="0"/>
            </a:endParaRPr>
          </a:p>
        </p:txBody>
      </p:sp>
      <p:sp>
        <p:nvSpPr>
          <p:cNvPr id="3" name="Text Placeholder 2">
            <a:extLst>
              <a:ext uri="{FF2B5EF4-FFF2-40B4-BE49-F238E27FC236}">
                <a16:creationId xmlns:a16="http://schemas.microsoft.com/office/drawing/2014/main" id="{73323D32-B29A-E66D-661C-93D109BB9611}"/>
              </a:ext>
            </a:extLst>
          </p:cNvPr>
          <p:cNvSpPr>
            <a:spLocks noGrp="1"/>
          </p:cNvSpPr>
          <p:nvPr>
            <p:ph type="body" idx="1"/>
          </p:nvPr>
        </p:nvSpPr>
        <p:spPr/>
        <p:txBody>
          <a:bodyPr/>
          <a:lstStyle/>
          <a:p>
            <a:endParaRPr lang="en-ID" dirty="0"/>
          </a:p>
        </p:txBody>
      </p:sp>
    </p:spTree>
    <p:extLst>
      <p:ext uri="{BB962C8B-B14F-4D97-AF65-F5344CB8AC3E}">
        <p14:creationId xmlns:p14="http://schemas.microsoft.com/office/powerpoint/2010/main" val="89729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39EB-0C9F-D33A-28C2-B37837AAB8BA}"/>
              </a:ext>
            </a:extLst>
          </p:cNvPr>
          <p:cNvSpPr>
            <a:spLocks noGrp="1"/>
          </p:cNvSpPr>
          <p:nvPr>
            <p:ph type="title"/>
          </p:nvPr>
        </p:nvSpPr>
        <p:spPr/>
        <p:txBody>
          <a:bodyPr/>
          <a:lstStyle/>
          <a:p>
            <a:r>
              <a:rPr lang="en-GB" b="1" dirty="0"/>
              <a:t>Illustration of SOC Function</a:t>
            </a:r>
            <a:endParaRPr lang="en-ID" b="1" dirty="0"/>
          </a:p>
        </p:txBody>
      </p:sp>
      <p:pic>
        <p:nvPicPr>
          <p:cNvPr id="4" name="Google Shape;436;p58">
            <a:extLst>
              <a:ext uri="{FF2B5EF4-FFF2-40B4-BE49-F238E27FC236}">
                <a16:creationId xmlns:a16="http://schemas.microsoft.com/office/drawing/2014/main" id="{BDD985D1-2B36-816F-4BA4-52F244A6863C}"/>
              </a:ext>
            </a:extLst>
          </p:cNvPr>
          <p:cNvPicPr preferRelativeResize="0">
            <a:picLocks noGrp="1"/>
          </p:cNvPicPr>
          <p:nvPr>
            <p:ph idx="1"/>
          </p:nvPr>
        </p:nvPicPr>
        <p:blipFill rotWithShape="1">
          <a:blip r:embed="rId2">
            <a:alphaModFix/>
          </a:blip>
          <a:srcRect/>
          <a:stretch/>
        </p:blipFill>
        <p:spPr>
          <a:xfrm>
            <a:off x="1269347" y="1825625"/>
            <a:ext cx="9653306" cy="4351338"/>
          </a:xfrm>
          <a:prstGeom prst="rect">
            <a:avLst/>
          </a:prstGeom>
          <a:noFill/>
          <a:ln>
            <a:noFill/>
          </a:ln>
        </p:spPr>
      </p:pic>
    </p:spTree>
    <p:extLst>
      <p:ext uri="{BB962C8B-B14F-4D97-AF65-F5344CB8AC3E}">
        <p14:creationId xmlns:p14="http://schemas.microsoft.com/office/powerpoint/2010/main" val="151435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26E92-D390-C44B-BA87-7BA909BD0EF4}"/>
              </a:ext>
            </a:extLst>
          </p:cNvPr>
          <p:cNvSpPr>
            <a:spLocks noGrp="1"/>
          </p:cNvSpPr>
          <p:nvPr>
            <p:ph type="title"/>
          </p:nvPr>
        </p:nvSpPr>
        <p:spPr/>
        <p:txBody>
          <a:bodyPr/>
          <a:lstStyle/>
          <a:p>
            <a:r>
              <a:rPr lang="en-GB" b="1" dirty="0"/>
              <a:t>Incident Response</a:t>
            </a:r>
            <a:endParaRPr lang="en-ID" b="1" dirty="0"/>
          </a:p>
        </p:txBody>
      </p:sp>
      <p:sp>
        <p:nvSpPr>
          <p:cNvPr id="3" name="Content Placeholder 2">
            <a:extLst>
              <a:ext uri="{FF2B5EF4-FFF2-40B4-BE49-F238E27FC236}">
                <a16:creationId xmlns:a16="http://schemas.microsoft.com/office/drawing/2014/main" id="{506FBA9C-B4D2-7364-26EF-AF549E95CD76}"/>
              </a:ext>
            </a:extLst>
          </p:cNvPr>
          <p:cNvSpPr>
            <a:spLocks noGrp="1"/>
          </p:cNvSpPr>
          <p:nvPr>
            <p:ph idx="1"/>
          </p:nvPr>
        </p:nvSpPr>
        <p:spPr/>
        <p:txBody>
          <a:bodyPr>
            <a:normAutofit fontScale="92500" lnSpcReduction="20000"/>
          </a:bodyPr>
          <a:lstStyle/>
          <a:p>
            <a:r>
              <a:rPr lang="en-GB" dirty="0"/>
              <a:t>Incident response is the process of identifying, containing, eradicating, and recovering from security incidents in an organization.</a:t>
            </a:r>
          </a:p>
          <a:p>
            <a:r>
              <a:rPr lang="en-GB" dirty="0"/>
              <a:t>Objective of IR is to mitigate the immediate impact of an incident and restore normal operations as quickly as possible.</a:t>
            </a:r>
          </a:p>
          <a:p>
            <a:r>
              <a:rPr lang="en-GB" dirty="0"/>
              <a:t>Scope:</a:t>
            </a:r>
          </a:p>
          <a:p>
            <a:pPr lvl="1"/>
            <a:r>
              <a:rPr lang="en-GB" dirty="0"/>
              <a:t>Respond to incidents like ransomware, data breaches, or insider threats.</a:t>
            </a:r>
          </a:p>
          <a:p>
            <a:pPr lvl="1"/>
            <a:r>
              <a:rPr lang="en-GB" dirty="0"/>
              <a:t>Limit damage and prevent further compromise during an attack.</a:t>
            </a:r>
          </a:p>
          <a:p>
            <a:pPr lvl="1"/>
            <a:r>
              <a:rPr lang="en-GB" dirty="0"/>
              <a:t>Develop incident response plans, playbooks, and post-incident lessons learned.</a:t>
            </a:r>
          </a:p>
          <a:p>
            <a:r>
              <a:rPr lang="en-GB" dirty="0"/>
              <a:t>Methodology:</a:t>
            </a:r>
          </a:p>
          <a:p>
            <a:pPr lvl="1"/>
            <a:r>
              <a:rPr lang="en-GB" dirty="0"/>
              <a:t>Focused on rapid triage, containment, and remediation.</a:t>
            </a:r>
          </a:p>
          <a:p>
            <a:pPr lvl="1"/>
            <a:r>
              <a:rPr lang="en-GB" dirty="0"/>
              <a:t>Includes a proactive approach like monitoring, hunting, and preparation</a:t>
            </a:r>
            <a:endParaRPr lang="en-US" dirty="0"/>
          </a:p>
          <a:p>
            <a:endParaRPr lang="en-ID" dirty="0"/>
          </a:p>
        </p:txBody>
      </p:sp>
    </p:spTree>
    <p:extLst>
      <p:ext uri="{BB962C8B-B14F-4D97-AF65-F5344CB8AC3E}">
        <p14:creationId xmlns:p14="http://schemas.microsoft.com/office/powerpoint/2010/main" val="4086015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6799F-4A45-5ADC-5758-EB31D7562EAA}"/>
              </a:ext>
            </a:extLst>
          </p:cNvPr>
          <p:cNvSpPr>
            <a:spLocks noGrp="1"/>
          </p:cNvSpPr>
          <p:nvPr>
            <p:ph type="title"/>
          </p:nvPr>
        </p:nvSpPr>
        <p:spPr/>
        <p:txBody>
          <a:bodyPr/>
          <a:lstStyle/>
          <a:p>
            <a:r>
              <a:rPr lang="en-GB" dirty="0"/>
              <a:t>Digital Forensic</a:t>
            </a:r>
            <a:endParaRPr lang="en-ID" dirty="0"/>
          </a:p>
        </p:txBody>
      </p:sp>
      <p:sp>
        <p:nvSpPr>
          <p:cNvPr id="3" name="Content Placeholder 2">
            <a:extLst>
              <a:ext uri="{FF2B5EF4-FFF2-40B4-BE49-F238E27FC236}">
                <a16:creationId xmlns:a16="http://schemas.microsoft.com/office/drawing/2014/main" id="{CDAA3742-35DA-7D63-7598-90EBA3930B20}"/>
              </a:ext>
            </a:extLst>
          </p:cNvPr>
          <p:cNvSpPr>
            <a:spLocks noGrp="1"/>
          </p:cNvSpPr>
          <p:nvPr>
            <p:ph idx="1"/>
          </p:nvPr>
        </p:nvSpPr>
        <p:spPr/>
        <p:txBody>
          <a:bodyPr>
            <a:normAutofit fontScale="85000" lnSpcReduction="10000"/>
          </a:bodyPr>
          <a:lstStyle/>
          <a:p>
            <a:r>
              <a:rPr lang="en-GB" dirty="0"/>
              <a:t>Digital forensics focuses on the preservation, identification, extraction, analysis, and documentation of digital evidence in a structured and legally defensible manner.</a:t>
            </a:r>
          </a:p>
          <a:p>
            <a:r>
              <a:rPr lang="en-GB" dirty="0"/>
              <a:t>Objective of Digital Forensic to determine "what happened" in a system or network after an incident has occurred, often as part of legal investigations.</a:t>
            </a:r>
          </a:p>
          <a:p>
            <a:r>
              <a:rPr lang="en-GB" dirty="0"/>
              <a:t>Scope:</a:t>
            </a:r>
          </a:p>
          <a:p>
            <a:pPr lvl="1"/>
            <a:r>
              <a:rPr lang="en-GB" dirty="0"/>
              <a:t>Collect evidence from devices like computers, phones, servers, or cloud environments.</a:t>
            </a:r>
          </a:p>
          <a:p>
            <a:pPr lvl="1"/>
            <a:r>
              <a:rPr lang="en-GB" dirty="0" err="1"/>
              <a:t>Analyze</a:t>
            </a:r>
            <a:r>
              <a:rPr lang="en-GB" dirty="0"/>
              <a:t> malware, logs, and artifacts to reconstruct the timeline of events.</a:t>
            </a:r>
          </a:p>
          <a:p>
            <a:pPr lvl="1"/>
            <a:r>
              <a:rPr lang="en-GB" dirty="0"/>
              <a:t>Support legal cases by providing forensic reports and expert testimony.</a:t>
            </a:r>
          </a:p>
          <a:p>
            <a:r>
              <a:rPr lang="en-GB" dirty="0"/>
              <a:t>Methodology:</a:t>
            </a:r>
          </a:p>
          <a:p>
            <a:pPr lvl="1"/>
            <a:r>
              <a:rPr lang="en-GB" dirty="0"/>
              <a:t>Highly structured with strict adherence to chain-of-custody procedures.</a:t>
            </a:r>
          </a:p>
          <a:p>
            <a:pPr lvl="1"/>
            <a:r>
              <a:rPr lang="en-GB" dirty="0"/>
              <a:t>Goal-oriented towards producing evidence admissible in court.</a:t>
            </a:r>
            <a:endParaRPr lang="en-US" dirty="0"/>
          </a:p>
        </p:txBody>
      </p:sp>
    </p:spTree>
    <p:extLst>
      <p:ext uri="{BB962C8B-B14F-4D97-AF65-F5344CB8AC3E}">
        <p14:creationId xmlns:p14="http://schemas.microsoft.com/office/powerpoint/2010/main" val="1881253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CA609-F62C-2EBF-BC8F-788BEFC444F7}"/>
              </a:ext>
            </a:extLst>
          </p:cNvPr>
          <p:cNvSpPr>
            <a:spLocks noGrp="1"/>
          </p:cNvSpPr>
          <p:nvPr>
            <p:ph type="title"/>
          </p:nvPr>
        </p:nvSpPr>
        <p:spPr/>
        <p:txBody>
          <a:bodyPr/>
          <a:lstStyle/>
          <a:p>
            <a:r>
              <a:rPr lang="en-GB" dirty="0"/>
              <a:t>Between DF and IR</a:t>
            </a:r>
            <a:endParaRPr lang="en-ID" dirty="0"/>
          </a:p>
        </p:txBody>
      </p:sp>
      <p:sp>
        <p:nvSpPr>
          <p:cNvPr id="3" name="Content Placeholder 2">
            <a:extLst>
              <a:ext uri="{FF2B5EF4-FFF2-40B4-BE49-F238E27FC236}">
                <a16:creationId xmlns:a16="http://schemas.microsoft.com/office/drawing/2014/main" id="{E5481EA4-AB3F-5C12-5D20-A04247802D0F}"/>
              </a:ext>
            </a:extLst>
          </p:cNvPr>
          <p:cNvSpPr>
            <a:spLocks noGrp="1"/>
          </p:cNvSpPr>
          <p:nvPr>
            <p:ph idx="1"/>
          </p:nvPr>
        </p:nvSpPr>
        <p:spPr/>
        <p:txBody>
          <a:bodyPr>
            <a:normAutofit fontScale="92500" lnSpcReduction="20000"/>
          </a:bodyPr>
          <a:lstStyle/>
          <a:p>
            <a:pPr marL="0" indent="0" algn="just">
              <a:buNone/>
            </a:pPr>
            <a:r>
              <a:rPr lang="en-GB" sz="2400" dirty="0"/>
              <a:t>While digital forensics and incident response have distinct objectives and methodologies, they are complementary. The term </a:t>
            </a:r>
            <a:r>
              <a:rPr lang="en-GB" sz="2400" b="1" dirty="0"/>
              <a:t>DFIR (Digital Forensics and Incident Response)</a:t>
            </a:r>
            <a:r>
              <a:rPr lang="en-GB" sz="2400" dirty="0"/>
              <a:t> exists because in practical scenarios, the two functions often overlap significantly:</a:t>
            </a:r>
          </a:p>
          <a:p>
            <a:pPr marL="457200" indent="-457200" algn="just">
              <a:buFont typeface="+mj-lt"/>
              <a:buAutoNum type="arabicPeriod"/>
            </a:pPr>
            <a:r>
              <a:rPr lang="en-GB" sz="2400" b="1" dirty="0"/>
              <a:t>Incident Response Needs Forensics</a:t>
            </a:r>
            <a:r>
              <a:rPr lang="en-GB" sz="2400" dirty="0"/>
              <a:t>:</a:t>
            </a:r>
          </a:p>
          <a:p>
            <a:pPr lvl="1" algn="just"/>
            <a:r>
              <a:rPr lang="en-GB" dirty="0"/>
              <a:t>During an incident, forensic techniques are used to </a:t>
            </a:r>
            <a:r>
              <a:rPr lang="en-GB" dirty="0" err="1"/>
              <a:t>analyze</a:t>
            </a:r>
            <a:r>
              <a:rPr lang="en-GB" dirty="0"/>
              <a:t> logs, malware, or compromised systems.</a:t>
            </a:r>
          </a:p>
          <a:p>
            <a:pPr lvl="1" algn="just"/>
            <a:r>
              <a:rPr lang="en-GB" dirty="0"/>
              <a:t>Evidence collected helps IR teams understand the attack, identify its source, and determine its impact.</a:t>
            </a:r>
          </a:p>
          <a:p>
            <a:pPr marL="514350" indent="-514350" algn="just">
              <a:buFont typeface="+mj-lt"/>
              <a:buAutoNum type="arabicPeriod"/>
            </a:pPr>
            <a:r>
              <a:rPr lang="en-GB" sz="2400" b="1" dirty="0"/>
              <a:t>Forensics Needs Incident Response</a:t>
            </a:r>
            <a:r>
              <a:rPr lang="en-GB" sz="2400" dirty="0"/>
              <a:t>:</a:t>
            </a:r>
          </a:p>
          <a:p>
            <a:pPr lvl="1" algn="just"/>
            <a:r>
              <a:rPr lang="en-GB" dirty="0"/>
              <a:t>Forensic Investigators extend the works from analysis of IR Teams to digging deep more details into the incident case.</a:t>
            </a:r>
          </a:p>
          <a:p>
            <a:pPr lvl="1" algn="just"/>
            <a:r>
              <a:rPr lang="en-GB" dirty="0"/>
              <a:t>Forensic investigators often rely on IR teams to secure systems or networks before evidence collection.</a:t>
            </a:r>
          </a:p>
          <a:p>
            <a:pPr lvl="1" algn="just"/>
            <a:r>
              <a:rPr lang="en-GB" dirty="0"/>
              <a:t>A poorly handled response can lead to evidence tampering or loss</a:t>
            </a:r>
          </a:p>
          <a:p>
            <a:pPr algn="just"/>
            <a:endParaRPr lang="en-US" sz="2400" dirty="0"/>
          </a:p>
          <a:p>
            <a:pPr algn="just"/>
            <a:endParaRPr lang="en-ID" dirty="0"/>
          </a:p>
        </p:txBody>
      </p:sp>
    </p:spTree>
    <p:extLst>
      <p:ext uri="{BB962C8B-B14F-4D97-AF65-F5344CB8AC3E}">
        <p14:creationId xmlns:p14="http://schemas.microsoft.com/office/powerpoint/2010/main" val="1193778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E8EA-AEAF-5AC5-3F58-9D9F260DDB44}"/>
              </a:ext>
            </a:extLst>
          </p:cNvPr>
          <p:cNvSpPr>
            <a:spLocks noGrp="1"/>
          </p:cNvSpPr>
          <p:nvPr>
            <p:ph type="title"/>
          </p:nvPr>
        </p:nvSpPr>
        <p:spPr/>
        <p:txBody>
          <a:bodyPr/>
          <a:lstStyle/>
          <a:p>
            <a:r>
              <a:rPr lang="en-US" dirty="0"/>
              <a:t>Digital Forensic by Category</a:t>
            </a:r>
            <a:endParaRPr lang="en-ID" dirty="0"/>
          </a:p>
        </p:txBody>
      </p:sp>
      <p:pic>
        <p:nvPicPr>
          <p:cNvPr id="4" name="Content Placeholder 8">
            <a:extLst>
              <a:ext uri="{FF2B5EF4-FFF2-40B4-BE49-F238E27FC236}">
                <a16:creationId xmlns:a16="http://schemas.microsoft.com/office/drawing/2014/main" id="{72A59E7C-14AC-33E4-18FA-77AC846E96BE}"/>
              </a:ext>
            </a:extLst>
          </p:cNvPr>
          <p:cNvPicPr>
            <a:picLocks noGrp="1" noChangeAspect="1"/>
          </p:cNvPicPr>
          <p:nvPr>
            <p:ph idx="1"/>
          </p:nvPr>
        </p:nvPicPr>
        <p:blipFill>
          <a:blip r:embed="rId3"/>
          <a:stretch>
            <a:fillRect/>
          </a:stretch>
        </p:blipFill>
        <p:spPr>
          <a:xfrm>
            <a:off x="2381134" y="1825625"/>
            <a:ext cx="7429731" cy="4351338"/>
          </a:xfrm>
        </p:spPr>
      </p:pic>
    </p:spTree>
    <p:extLst>
      <p:ext uri="{BB962C8B-B14F-4D97-AF65-F5344CB8AC3E}">
        <p14:creationId xmlns:p14="http://schemas.microsoft.com/office/powerpoint/2010/main" val="555205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972E-814E-3801-F459-04E091D5267A}"/>
              </a:ext>
            </a:extLst>
          </p:cNvPr>
          <p:cNvSpPr>
            <a:spLocks noGrp="1"/>
          </p:cNvSpPr>
          <p:nvPr>
            <p:ph type="title"/>
          </p:nvPr>
        </p:nvSpPr>
        <p:spPr/>
        <p:txBody>
          <a:bodyPr/>
          <a:lstStyle/>
          <a:p>
            <a:r>
              <a:rPr lang="en-GB" dirty="0"/>
              <a:t>DFIR Investigation</a:t>
            </a:r>
            <a:endParaRPr lang="en-ID" dirty="0"/>
          </a:p>
        </p:txBody>
      </p:sp>
      <p:sp>
        <p:nvSpPr>
          <p:cNvPr id="3" name="Content Placeholder 2">
            <a:extLst>
              <a:ext uri="{FF2B5EF4-FFF2-40B4-BE49-F238E27FC236}">
                <a16:creationId xmlns:a16="http://schemas.microsoft.com/office/drawing/2014/main" id="{0F80FF0E-705E-13DA-75EC-17538F1284AD}"/>
              </a:ext>
            </a:extLst>
          </p:cNvPr>
          <p:cNvSpPr>
            <a:spLocks noGrp="1"/>
          </p:cNvSpPr>
          <p:nvPr>
            <p:ph idx="1"/>
          </p:nvPr>
        </p:nvSpPr>
        <p:spPr/>
        <p:txBody>
          <a:bodyPr/>
          <a:lstStyle/>
          <a:p>
            <a:endParaRPr lang="en-ID" dirty="0"/>
          </a:p>
        </p:txBody>
      </p:sp>
      <p:pic>
        <p:nvPicPr>
          <p:cNvPr id="4" name="Picture 3">
            <a:extLst>
              <a:ext uri="{FF2B5EF4-FFF2-40B4-BE49-F238E27FC236}">
                <a16:creationId xmlns:a16="http://schemas.microsoft.com/office/drawing/2014/main" id="{77F9298B-24D2-B6C8-5F0A-02E849A4324F}"/>
              </a:ext>
            </a:extLst>
          </p:cNvPr>
          <p:cNvPicPr>
            <a:picLocks noChangeAspect="1"/>
          </p:cNvPicPr>
          <p:nvPr/>
        </p:nvPicPr>
        <p:blipFill>
          <a:blip r:embed="rId2"/>
          <a:stretch>
            <a:fillRect/>
          </a:stretch>
        </p:blipFill>
        <p:spPr>
          <a:xfrm>
            <a:off x="4054046" y="2054599"/>
            <a:ext cx="3570514" cy="3393197"/>
          </a:xfrm>
          <a:prstGeom prst="rect">
            <a:avLst/>
          </a:prstGeom>
        </p:spPr>
      </p:pic>
      <p:pic>
        <p:nvPicPr>
          <p:cNvPr id="5" name="Picture 4">
            <a:extLst>
              <a:ext uri="{FF2B5EF4-FFF2-40B4-BE49-F238E27FC236}">
                <a16:creationId xmlns:a16="http://schemas.microsoft.com/office/drawing/2014/main" id="{92E3B459-8311-14F7-457C-D9FE0F6382BC}"/>
              </a:ext>
            </a:extLst>
          </p:cNvPr>
          <p:cNvPicPr>
            <a:picLocks noChangeAspect="1"/>
          </p:cNvPicPr>
          <p:nvPr/>
        </p:nvPicPr>
        <p:blipFill>
          <a:blip r:embed="rId3"/>
          <a:stretch>
            <a:fillRect/>
          </a:stretch>
        </p:blipFill>
        <p:spPr>
          <a:xfrm>
            <a:off x="5203795" y="1777694"/>
            <a:ext cx="1271016" cy="1271016"/>
          </a:xfrm>
          <a:prstGeom prst="rect">
            <a:avLst/>
          </a:prstGeom>
        </p:spPr>
      </p:pic>
      <p:grpSp>
        <p:nvGrpSpPr>
          <p:cNvPr id="6" name="Group 5">
            <a:extLst>
              <a:ext uri="{FF2B5EF4-FFF2-40B4-BE49-F238E27FC236}">
                <a16:creationId xmlns:a16="http://schemas.microsoft.com/office/drawing/2014/main" id="{EAACC107-9284-C9B9-EF69-5163BD9E0930}"/>
              </a:ext>
            </a:extLst>
          </p:cNvPr>
          <p:cNvGrpSpPr/>
          <p:nvPr/>
        </p:nvGrpSpPr>
        <p:grpSpPr>
          <a:xfrm>
            <a:off x="5382103" y="1956002"/>
            <a:ext cx="914400" cy="914400"/>
            <a:chOff x="2905523" y="2568908"/>
            <a:chExt cx="914400" cy="914400"/>
          </a:xfrm>
        </p:grpSpPr>
        <p:pic>
          <p:nvPicPr>
            <p:cNvPr id="7" name="Picture 6">
              <a:extLst>
                <a:ext uri="{FF2B5EF4-FFF2-40B4-BE49-F238E27FC236}">
                  <a16:creationId xmlns:a16="http://schemas.microsoft.com/office/drawing/2014/main" id="{74419F8E-664C-2505-D99E-3B1C9E1A985E}"/>
                </a:ext>
              </a:extLst>
            </p:cNvPr>
            <p:cNvPicPr>
              <a:picLocks noChangeAspect="1"/>
            </p:cNvPicPr>
            <p:nvPr/>
          </p:nvPicPr>
          <p:blipFill>
            <a:blip r:embed="rId4"/>
            <a:stretch>
              <a:fillRect/>
            </a:stretch>
          </p:blipFill>
          <p:spPr>
            <a:xfrm>
              <a:off x="2905523" y="2568908"/>
              <a:ext cx="914400" cy="914400"/>
            </a:xfrm>
            <a:prstGeom prst="rect">
              <a:avLst/>
            </a:prstGeom>
          </p:spPr>
        </p:pic>
        <p:sp>
          <p:nvSpPr>
            <p:cNvPr id="8" name="TextBox 9">
              <a:extLst>
                <a:ext uri="{FF2B5EF4-FFF2-40B4-BE49-F238E27FC236}">
                  <a16:creationId xmlns:a16="http://schemas.microsoft.com/office/drawing/2014/main" id="{95789C8A-EF42-09F5-1F45-86F62526A2A9}"/>
                </a:ext>
              </a:extLst>
            </p:cNvPr>
            <p:cNvSpPr txBox="1"/>
            <p:nvPr/>
          </p:nvSpPr>
          <p:spPr>
            <a:xfrm>
              <a:off x="3117765" y="2883821"/>
              <a:ext cx="505916" cy="526170"/>
            </a:xfrm>
            <a:prstGeom prst="rect">
              <a:avLst/>
            </a:prstGeom>
            <a:noFill/>
          </p:spPr>
          <p:txBody>
            <a:bodyPr wrap="square" lIns="0" tIns="0"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a:lnSpc>
                  <a:spcPts val="1250"/>
                </a:lnSpc>
              </a:pPr>
              <a:r>
                <a:rPr lang="en-US" sz="2000"/>
                <a:t>1” blue icon</a:t>
              </a:r>
            </a:p>
          </p:txBody>
        </p:sp>
      </p:grpSp>
      <p:pic>
        <p:nvPicPr>
          <p:cNvPr id="9" name="Picture 8">
            <a:extLst>
              <a:ext uri="{FF2B5EF4-FFF2-40B4-BE49-F238E27FC236}">
                <a16:creationId xmlns:a16="http://schemas.microsoft.com/office/drawing/2014/main" id="{E3CD1A8F-DA58-94C2-1133-4B73A165F7D0}"/>
              </a:ext>
            </a:extLst>
          </p:cNvPr>
          <p:cNvPicPr>
            <a:picLocks noChangeAspect="1"/>
          </p:cNvPicPr>
          <p:nvPr/>
        </p:nvPicPr>
        <p:blipFill>
          <a:blip r:embed="rId3"/>
          <a:stretch>
            <a:fillRect/>
          </a:stretch>
        </p:blipFill>
        <p:spPr>
          <a:xfrm>
            <a:off x="6675676" y="2853044"/>
            <a:ext cx="1271016" cy="1271016"/>
          </a:xfrm>
          <a:prstGeom prst="rect">
            <a:avLst/>
          </a:prstGeom>
        </p:spPr>
      </p:pic>
      <p:sp>
        <p:nvSpPr>
          <p:cNvPr id="10" name="TextBox 13">
            <a:extLst>
              <a:ext uri="{FF2B5EF4-FFF2-40B4-BE49-F238E27FC236}">
                <a16:creationId xmlns:a16="http://schemas.microsoft.com/office/drawing/2014/main" id="{300A045B-FDE1-BB04-F1B6-028D91A7D4E4}"/>
              </a:ext>
            </a:extLst>
          </p:cNvPr>
          <p:cNvSpPr txBox="1"/>
          <p:nvPr/>
        </p:nvSpPr>
        <p:spPr>
          <a:xfrm>
            <a:off x="7021283" y="3237329"/>
            <a:ext cx="581939" cy="692882"/>
          </a:xfrm>
          <a:prstGeom prst="rect">
            <a:avLst/>
          </a:prstGeom>
          <a:noFill/>
        </p:spPr>
        <p:txBody>
          <a:bodyPr wrap="square" lIns="0" tIns="0"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a:lnSpc>
                <a:spcPts val="1250"/>
              </a:lnSpc>
            </a:pPr>
            <a:r>
              <a:rPr lang="en-US" sz="2000"/>
              <a:t>1” </a:t>
            </a:r>
            <a:br>
              <a:rPr lang="en-US" sz="2000"/>
            </a:br>
            <a:r>
              <a:rPr lang="en-US" sz="2000"/>
              <a:t>orange icon</a:t>
            </a:r>
          </a:p>
        </p:txBody>
      </p:sp>
      <p:pic>
        <p:nvPicPr>
          <p:cNvPr id="11" name="Picture 10">
            <a:extLst>
              <a:ext uri="{FF2B5EF4-FFF2-40B4-BE49-F238E27FC236}">
                <a16:creationId xmlns:a16="http://schemas.microsoft.com/office/drawing/2014/main" id="{D751A475-73E5-41D8-B1BE-15DE707EEA60}"/>
              </a:ext>
            </a:extLst>
          </p:cNvPr>
          <p:cNvPicPr>
            <a:picLocks noChangeAspect="1"/>
          </p:cNvPicPr>
          <p:nvPr/>
        </p:nvPicPr>
        <p:blipFill>
          <a:blip r:embed="rId3"/>
          <a:stretch>
            <a:fillRect/>
          </a:stretch>
        </p:blipFill>
        <p:spPr>
          <a:xfrm>
            <a:off x="6131658" y="4611171"/>
            <a:ext cx="1271016" cy="1271016"/>
          </a:xfrm>
          <a:prstGeom prst="rect">
            <a:avLst/>
          </a:prstGeom>
        </p:spPr>
      </p:pic>
      <p:grpSp>
        <p:nvGrpSpPr>
          <p:cNvPr id="12" name="Group 11">
            <a:extLst>
              <a:ext uri="{FF2B5EF4-FFF2-40B4-BE49-F238E27FC236}">
                <a16:creationId xmlns:a16="http://schemas.microsoft.com/office/drawing/2014/main" id="{26959320-AD3F-4E96-0281-76ED1C2CBAF4}"/>
              </a:ext>
            </a:extLst>
          </p:cNvPr>
          <p:cNvGrpSpPr/>
          <p:nvPr/>
        </p:nvGrpSpPr>
        <p:grpSpPr>
          <a:xfrm>
            <a:off x="6309966" y="4789479"/>
            <a:ext cx="914400" cy="956704"/>
            <a:chOff x="5804171" y="2568908"/>
            <a:chExt cx="914400" cy="956704"/>
          </a:xfrm>
        </p:grpSpPr>
        <p:pic>
          <p:nvPicPr>
            <p:cNvPr id="13" name="Picture 12">
              <a:extLst>
                <a:ext uri="{FF2B5EF4-FFF2-40B4-BE49-F238E27FC236}">
                  <a16:creationId xmlns:a16="http://schemas.microsoft.com/office/drawing/2014/main" id="{509701B3-6476-E43E-83F5-64A5B7D973F7}"/>
                </a:ext>
              </a:extLst>
            </p:cNvPr>
            <p:cNvPicPr>
              <a:picLocks noChangeAspect="1"/>
            </p:cNvPicPr>
            <p:nvPr/>
          </p:nvPicPr>
          <p:blipFill>
            <a:blip r:embed="rId5"/>
            <a:stretch>
              <a:fillRect/>
            </a:stretch>
          </p:blipFill>
          <p:spPr>
            <a:xfrm>
              <a:off x="5804171" y="2568908"/>
              <a:ext cx="914400" cy="914400"/>
            </a:xfrm>
            <a:prstGeom prst="rect">
              <a:avLst/>
            </a:prstGeom>
          </p:spPr>
        </p:pic>
        <p:sp>
          <p:nvSpPr>
            <p:cNvPr id="14" name="TextBox 17">
              <a:extLst>
                <a:ext uri="{FF2B5EF4-FFF2-40B4-BE49-F238E27FC236}">
                  <a16:creationId xmlns:a16="http://schemas.microsoft.com/office/drawing/2014/main" id="{B47741E7-5542-8CCA-4FEB-D0E600802F01}"/>
                </a:ext>
              </a:extLst>
            </p:cNvPr>
            <p:cNvSpPr txBox="1"/>
            <p:nvPr/>
          </p:nvSpPr>
          <p:spPr>
            <a:xfrm>
              <a:off x="5913949" y="2832730"/>
              <a:ext cx="694844" cy="692882"/>
            </a:xfrm>
            <a:prstGeom prst="rect">
              <a:avLst/>
            </a:prstGeom>
            <a:noFill/>
          </p:spPr>
          <p:txBody>
            <a:bodyPr wrap="square" lIns="0" tIns="0"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a:lnSpc>
                  <a:spcPts val="1250"/>
                </a:lnSpc>
              </a:pPr>
              <a:r>
                <a:rPr lang="en-US" sz="2000"/>
                <a:t>1” yellow</a:t>
              </a:r>
              <a:br>
                <a:rPr lang="en-US" sz="2000"/>
              </a:br>
              <a:r>
                <a:rPr lang="en-US" sz="2000"/>
                <a:t>orange icon</a:t>
              </a:r>
            </a:p>
          </p:txBody>
        </p:sp>
      </p:grpSp>
      <p:pic>
        <p:nvPicPr>
          <p:cNvPr id="15" name="Picture 14">
            <a:extLst>
              <a:ext uri="{FF2B5EF4-FFF2-40B4-BE49-F238E27FC236}">
                <a16:creationId xmlns:a16="http://schemas.microsoft.com/office/drawing/2014/main" id="{D90F6C26-1506-1682-471F-5B65500F45EC}"/>
              </a:ext>
            </a:extLst>
          </p:cNvPr>
          <p:cNvPicPr>
            <a:picLocks noChangeAspect="1"/>
          </p:cNvPicPr>
          <p:nvPr/>
        </p:nvPicPr>
        <p:blipFill>
          <a:blip r:embed="rId3"/>
          <a:stretch>
            <a:fillRect/>
          </a:stretch>
        </p:blipFill>
        <p:spPr>
          <a:xfrm>
            <a:off x="4323329" y="4645099"/>
            <a:ext cx="1271016" cy="1271016"/>
          </a:xfrm>
          <a:prstGeom prst="rect">
            <a:avLst/>
          </a:prstGeom>
        </p:spPr>
      </p:pic>
      <p:grpSp>
        <p:nvGrpSpPr>
          <p:cNvPr id="16" name="Group 15">
            <a:extLst>
              <a:ext uri="{FF2B5EF4-FFF2-40B4-BE49-F238E27FC236}">
                <a16:creationId xmlns:a16="http://schemas.microsoft.com/office/drawing/2014/main" id="{09174C9F-96EE-E684-8219-E7774169781F}"/>
              </a:ext>
            </a:extLst>
          </p:cNvPr>
          <p:cNvGrpSpPr/>
          <p:nvPr/>
        </p:nvGrpSpPr>
        <p:grpSpPr>
          <a:xfrm>
            <a:off x="4501637" y="4823407"/>
            <a:ext cx="914400" cy="914400"/>
            <a:chOff x="7253495" y="2568908"/>
            <a:chExt cx="914400" cy="914400"/>
          </a:xfrm>
        </p:grpSpPr>
        <p:pic>
          <p:nvPicPr>
            <p:cNvPr id="17" name="Picture 16">
              <a:extLst>
                <a:ext uri="{FF2B5EF4-FFF2-40B4-BE49-F238E27FC236}">
                  <a16:creationId xmlns:a16="http://schemas.microsoft.com/office/drawing/2014/main" id="{2786337D-DD09-6B23-A4D7-6AC9FFB9FD78}"/>
                </a:ext>
              </a:extLst>
            </p:cNvPr>
            <p:cNvPicPr>
              <a:picLocks noChangeAspect="1"/>
            </p:cNvPicPr>
            <p:nvPr/>
          </p:nvPicPr>
          <p:blipFill>
            <a:blip r:embed="rId6"/>
            <a:stretch>
              <a:fillRect/>
            </a:stretch>
          </p:blipFill>
          <p:spPr>
            <a:xfrm>
              <a:off x="7253495" y="2568908"/>
              <a:ext cx="914400" cy="914400"/>
            </a:xfrm>
            <a:prstGeom prst="rect">
              <a:avLst/>
            </a:prstGeom>
          </p:spPr>
        </p:pic>
        <p:sp>
          <p:nvSpPr>
            <p:cNvPr id="18" name="TextBox 21">
              <a:extLst>
                <a:ext uri="{FF2B5EF4-FFF2-40B4-BE49-F238E27FC236}">
                  <a16:creationId xmlns:a16="http://schemas.microsoft.com/office/drawing/2014/main" id="{3383E5C1-2345-DFAF-59CC-6D6FE641849A}"/>
                </a:ext>
              </a:extLst>
            </p:cNvPr>
            <p:cNvSpPr txBox="1"/>
            <p:nvPr/>
          </p:nvSpPr>
          <p:spPr>
            <a:xfrm>
              <a:off x="7363273" y="2776040"/>
              <a:ext cx="694844" cy="526170"/>
            </a:xfrm>
            <a:prstGeom prst="rect">
              <a:avLst/>
            </a:prstGeom>
            <a:noFill/>
          </p:spPr>
          <p:txBody>
            <a:bodyPr wrap="square" lIns="0" tIns="0"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a:lnSpc>
                  <a:spcPts val="1250"/>
                </a:lnSpc>
              </a:pPr>
              <a:r>
                <a:rPr lang="en-US" sz="2000"/>
                <a:t>1” </a:t>
              </a:r>
              <a:br>
                <a:rPr lang="en-US" sz="2000"/>
              </a:br>
              <a:r>
                <a:rPr lang="en-US" sz="2000"/>
                <a:t>yellow</a:t>
              </a:r>
              <a:br>
                <a:rPr lang="en-US" sz="2000"/>
              </a:br>
              <a:r>
                <a:rPr lang="en-US" sz="2000"/>
                <a:t>icon</a:t>
              </a:r>
            </a:p>
          </p:txBody>
        </p:sp>
      </p:grpSp>
      <p:pic>
        <p:nvPicPr>
          <p:cNvPr id="19" name="Picture 18">
            <a:extLst>
              <a:ext uri="{FF2B5EF4-FFF2-40B4-BE49-F238E27FC236}">
                <a16:creationId xmlns:a16="http://schemas.microsoft.com/office/drawing/2014/main" id="{C09C9355-E61A-E89D-9DC0-C6008F5392A5}"/>
              </a:ext>
            </a:extLst>
          </p:cNvPr>
          <p:cNvPicPr>
            <a:picLocks noChangeAspect="1"/>
          </p:cNvPicPr>
          <p:nvPr/>
        </p:nvPicPr>
        <p:blipFill>
          <a:blip r:embed="rId3"/>
          <a:stretch>
            <a:fillRect/>
          </a:stretch>
        </p:blipFill>
        <p:spPr>
          <a:xfrm>
            <a:off x="3741825" y="2853044"/>
            <a:ext cx="1271016" cy="1271016"/>
          </a:xfrm>
          <a:prstGeom prst="rect">
            <a:avLst/>
          </a:prstGeom>
        </p:spPr>
      </p:pic>
      <p:grpSp>
        <p:nvGrpSpPr>
          <p:cNvPr id="20" name="Group 19">
            <a:extLst>
              <a:ext uri="{FF2B5EF4-FFF2-40B4-BE49-F238E27FC236}">
                <a16:creationId xmlns:a16="http://schemas.microsoft.com/office/drawing/2014/main" id="{3F41DC3D-BCBA-165F-5E3F-B04F742B9E66}"/>
              </a:ext>
            </a:extLst>
          </p:cNvPr>
          <p:cNvGrpSpPr/>
          <p:nvPr/>
        </p:nvGrpSpPr>
        <p:grpSpPr>
          <a:xfrm>
            <a:off x="3920133" y="3031351"/>
            <a:ext cx="914400" cy="914400"/>
            <a:chOff x="8702819" y="2568907"/>
            <a:chExt cx="914400" cy="914400"/>
          </a:xfrm>
        </p:grpSpPr>
        <p:pic>
          <p:nvPicPr>
            <p:cNvPr id="21" name="Picture 20">
              <a:extLst>
                <a:ext uri="{FF2B5EF4-FFF2-40B4-BE49-F238E27FC236}">
                  <a16:creationId xmlns:a16="http://schemas.microsoft.com/office/drawing/2014/main" id="{3A846453-3EE6-8CE6-E9B5-705933AE9CC9}"/>
                </a:ext>
              </a:extLst>
            </p:cNvPr>
            <p:cNvPicPr>
              <a:picLocks noChangeAspect="1"/>
            </p:cNvPicPr>
            <p:nvPr/>
          </p:nvPicPr>
          <p:blipFill>
            <a:blip r:embed="rId7"/>
            <a:stretch>
              <a:fillRect/>
            </a:stretch>
          </p:blipFill>
          <p:spPr>
            <a:xfrm>
              <a:off x="8702819" y="2568907"/>
              <a:ext cx="914400" cy="914400"/>
            </a:xfrm>
            <a:prstGeom prst="rect">
              <a:avLst/>
            </a:prstGeom>
          </p:spPr>
        </p:pic>
        <p:sp>
          <p:nvSpPr>
            <p:cNvPr id="22" name="TextBox 25">
              <a:extLst>
                <a:ext uri="{FF2B5EF4-FFF2-40B4-BE49-F238E27FC236}">
                  <a16:creationId xmlns:a16="http://schemas.microsoft.com/office/drawing/2014/main" id="{B0FF8D05-7641-0BD2-12E8-F9424AD3DEFC}"/>
                </a:ext>
              </a:extLst>
            </p:cNvPr>
            <p:cNvSpPr txBox="1"/>
            <p:nvPr/>
          </p:nvSpPr>
          <p:spPr>
            <a:xfrm>
              <a:off x="8812597" y="2776040"/>
              <a:ext cx="694844" cy="526170"/>
            </a:xfrm>
            <a:prstGeom prst="rect">
              <a:avLst/>
            </a:prstGeom>
            <a:noFill/>
          </p:spPr>
          <p:txBody>
            <a:bodyPr wrap="square" lIns="0" tIns="0"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a:lnSpc>
                  <a:spcPts val="1250"/>
                </a:lnSpc>
              </a:pPr>
              <a:r>
                <a:rPr lang="en-US" sz="2000"/>
                <a:t>1” </a:t>
              </a:r>
              <a:br>
                <a:rPr lang="en-US" sz="2000"/>
              </a:br>
              <a:r>
                <a:rPr lang="en-US" sz="2000"/>
                <a:t>grey</a:t>
              </a:r>
              <a:br>
                <a:rPr lang="en-US" sz="2000"/>
              </a:br>
              <a:r>
                <a:rPr lang="en-US" sz="2000"/>
                <a:t>icon</a:t>
              </a:r>
            </a:p>
          </p:txBody>
        </p:sp>
      </p:grpSp>
      <p:sp>
        <p:nvSpPr>
          <p:cNvPr id="23" name="object 520">
            <a:extLst>
              <a:ext uri="{FF2B5EF4-FFF2-40B4-BE49-F238E27FC236}">
                <a16:creationId xmlns:a16="http://schemas.microsoft.com/office/drawing/2014/main" id="{825F0A35-BE87-2B80-C1FA-A73B5C2F6A4D}"/>
              </a:ext>
            </a:extLst>
          </p:cNvPr>
          <p:cNvSpPr txBox="1"/>
          <p:nvPr/>
        </p:nvSpPr>
        <p:spPr>
          <a:xfrm>
            <a:off x="4292185" y="5964902"/>
            <a:ext cx="1362320" cy="320598"/>
          </a:xfrm>
          <a:prstGeom prst="rect">
            <a:avLst/>
          </a:prstGeom>
        </p:spPr>
        <p:txBody>
          <a:bodyPr vert="horz" wrap="square" lIns="0" tIns="12697"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defTabSz="607831">
              <a:defRPr/>
            </a:pPr>
            <a:r>
              <a:rPr lang="en-US" sz="2000" b="1" dirty="0">
                <a:latin typeface="Georgia" panose="02040502050405020303" pitchFamily="18" charset="0"/>
              </a:rPr>
              <a:t>Answer</a:t>
            </a:r>
          </a:p>
        </p:txBody>
      </p:sp>
      <p:sp>
        <p:nvSpPr>
          <p:cNvPr id="24" name="object 520">
            <a:extLst>
              <a:ext uri="{FF2B5EF4-FFF2-40B4-BE49-F238E27FC236}">
                <a16:creationId xmlns:a16="http://schemas.microsoft.com/office/drawing/2014/main" id="{4E7D9535-D437-C2F7-6BC0-1CC20E61EC8C}"/>
              </a:ext>
            </a:extLst>
          </p:cNvPr>
          <p:cNvSpPr txBox="1"/>
          <p:nvPr/>
        </p:nvSpPr>
        <p:spPr>
          <a:xfrm>
            <a:off x="6109036" y="5964902"/>
            <a:ext cx="1568113" cy="320598"/>
          </a:xfrm>
          <a:prstGeom prst="rect">
            <a:avLst/>
          </a:prstGeom>
        </p:spPr>
        <p:txBody>
          <a:bodyPr vert="horz" wrap="square" lIns="0" tIns="12697"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defTabSz="607831">
              <a:defRPr/>
            </a:pPr>
            <a:r>
              <a:rPr lang="en-US" sz="2000" b="1" dirty="0">
                <a:latin typeface="Georgia" panose="02040502050405020303" pitchFamily="18" charset="0"/>
              </a:rPr>
              <a:t>Hypothesis</a:t>
            </a:r>
          </a:p>
        </p:txBody>
      </p:sp>
      <p:sp>
        <p:nvSpPr>
          <p:cNvPr id="25" name="object 520">
            <a:extLst>
              <a:ext uri="{FF2B5EF4-FFF2-40B4-BE49-F238E27FC236}">
                <a16:creationId xmlns:a16="http://schemas.microsoft.com/office/drawing/2014/main" id="{3F7A814B-7DF6-38FF-1ED7-4271063EC1F8}"/>
              </a:ext>
            </a:extLst>
          </p:cNvPr>
          <p:cNvSpPr txBox="1"/>
          <p:nvPr/>
        </p:nvSpPr>
        <p:spPr>
          <a:xfrm>
            <a:off x="4896205" y="1401468"/>
            <a:ext cx="1715575" cy="320598"/>
          </a:xfrm>
          <a:prstGeom prst="rect">
            <a:avLst/>
          </a:prstGeom>
        </p:spPr>
        <p:txBody>
          <a:bodyPr vert="horz" wrap="square" lIns="0" tIns="12697"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defTabSz="607831">
              <a:defRPr/>
            </a:pPr>
            <a:r>
              <a:rPr lang="en-US" sz="2000" b="1" dirty="0">
                <a:latin typeface="Georgia" panose="02040502050405020303" pitchFamily="18" charset="0"/>
              </a:rPr>
              <a:t>Observation</a:t>
            </a:r>
          </a:p>
        </p:txBody>
      </p:sp>
      <p:sp>
        <p:nvSpPr>
          <p:cNvPr id="26" name="object 520">
            <a:extLst>
              <a:ext uri="{FF2B5EF4-FFF2-40B4-BE49-F238E27FC236}">
                <a16:creationId xmlns:a16="http://schemas.microsoft.com/office/drawing/2014/main" id="{0D0987E1-BB01-F1EF-3CB9-44C1D76CF841}"/>
              </a:ext>
            </a:extLst>
          </p:cNvPr>
          <p:cNvSpPr txBox="1"/>
          <p:nvPr/>
        </p:nvSpPr>
        <p:spPr>
          <a:xfrm>
            <a:off x="2176463" y="3233358"/>
            <a:ext cx="1493002" cy="320598"/>
          </a:xfrm>
          <a:prstGeom prst="rect">
            <a:avLst/>
          </a:prstGeom>
        </p:spPr>
        <p:txBody>
          <a:bodyPr vert="horz" wrap="square" lIns="0" tIns="12697"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r" defTabSz="607831">
              <a:defRPr/>
            </a:pPr>
            <a:r>
              <a:rPr lang="en-US" sz="2000" b="1" dirty="0">
                <a:latin typeface="Georgia" panose="02040502050405020303" pitchFamily="18" charset="0"/>
              </a:rPr>
              <a:t>Conclusion</a:t>
            </a:r>
          </a:p>
        </p:txBody>
      </p:sp>
      <p:sp>
        <p:nvSpPr>
          <p:cNvPr id="27" name="object 520">
            <a:extLst>
              <a:ext uri="{FF2B5EF4-FFF2-40B4-BE49-F238E27FC236}">
                <a16:creationId xmlns:a16="http://schemas.microsoft.com/office/drawing/2014/main" id="{6EB8B519-AA22-3D16-A6E8-79526F5A7601}"/>
              </a:ext>
            </a:extLst>
          </p:cNvPr>
          <p:cNvSpPr txBox="1"/>
          <p:nvPr/>
        </p:nvSpPr>
        <p:spPr>
          <a:xfrm>
            <a:off x="8013290" y="3247385"/>
            <a:ext cx="1271015" cy="320598"/>
          </a:xfrm>
          <a:prstGeom prst="rect">
            <a:avLst/>
          </a:prstGeom>
        </p:spPr>
        <p:txBody>
          <a:bodyPr vert="horz" wrap="square" lIns="0" tIns="12697" rIns="0" bIns="0" rtlCol="0">
            <a:sp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defTabSz="607831">
              <a:defRPr/>
            </a:pPr>
            <a:r>
              <a:rPr lang="en-US" sz="2000" b="1" dirty="0">
                <a:latin typeface="Georgia" panose="02040502050405020303" pitchFamily="18" charset="0"/>
              </a:rPr>
              <a:t>Question</a:t>
            </a:r>
          </a:p>
        </p:txBody>
      </p:sp>
      <p:sp>
        <p:nvSpPr>
          <p:cNvPr id="28" name="object 516">
            <a:extLst>
              <a:ext uri="{FF2B5EF4-FFF2-40B4-BE49-F238E27FC236}">
                <a16:creationId xmlns:a16="http://schemas.microsoft.com/office/drawing/2014/main" id="{DD4D4A49-01E8-C94A-AB5E-0323CD6C5BB3}"/>
              </a:ext>
            </a:extLst>
          </p:cNvPr>
          <p:cNvSpPr txBox="1"/>
          <p:nvPr/>
        </p:nvSpPr>
        <p:spPr>
          <a:xfrm>
            <a:off x="5035398" y="3500135"/>
            <a:ext cx="1618939" cy="972583"/>
          </a:xfrm>
          <a:prstGeom prst="rect">
            <a:avLst/>
          </a:prstGeom>
        </p:spPr>
        <p:txBody>
          <a:bodyPr vert="horz" wrap="square" lIns="0" tIns="12697" rIns="0" bIns="0" rtlCol="0" anchor="ctr" anchorCtr="0">
            <a:noAutofit/>
          </a:bodyPr>
          <a:lstStyle>
            <a:defPPr>
              <a:defRPr lang="en-US"/>
            </a:defPPr>
            <a:lvl1pPr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1pPr>
            <a:lvl2pPr marL="608013" indent="-1508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2pPr>
            <a:lvl3pPr marL="1217613" indent="-3032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3pPr>
            <a:lvl4pPr marL="1827213" indent="-4556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4pPr>
            <a:lvl5pPr marL="2436813" indent="-608013" algn="l" defTabSz="608013" rtl="0" fontAlgn="base">
              <a:spcBef>
                <a:spcPct val="0"/>
              </a:spcBef>
              <a:spcAft>
                <a:spcPct val="0"/>
              </a:spcAft>
              <a:defRPr sz="2400"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Calibri" panose="020F0502020204030204" pitchFamily="34" charset="0"/>
                <a:ea typeface="ＭＳ Ｐゴシック" panose="020B0600070205080204" pitchFamily="34" charset="-128"/>
                <a:cs typeface="+mn-cs"/>
              </a:defRPr>
            </a:lvl9pPr>
          </a:lstStyle>
          <a:p>
            <a:pPr algn="ctr" defTabSz="607831">
              <a:lnSpc>
                <a:spcPts val="1899"/>
              </a:lnSpc>
              <a:defRPr/>
            </a:pPr>
            <a:r>
              <a:rPr lang="en-US" sz="1800" b="1" dirty="0">
                <a:solidFill>
                  <a:schemeClr val="bg1"/>
                </a:solidFill>
                <a:latin typeface="Georgia" panose="02040502050405020303" pitchFamily="18" charset="0"/>
              </a:rPr>
              <a:t>DFIR Investigation</a:t>
            </a:r>
          </a:p>
        </p:txBody>
      </p:sp>
      <p:pic>
        <p:nvPicPr>
          <p:cNvPr id="29" name="Picture 28">
            <a:extLst>
              <a:ext uri="{FF2B5EF4-FFF2-40B4-BE49-F238E27FC236}">
                <a16:creationId xmlns:a16="http://schemas.microsoft.com/office/drawing/2014/main" id="{77FFBB4F-2849-BED5-9B28-07991FB988C6}"/>
              </a:ext>
            </a:extLst>
          </p:cNvPr>
          <p:cNvPicPr>
            <a:picLocks noChangeAspect="1"/>
          </p:cNvPicPr>
          <p:nvPr/>
        </p:nvPicPr>
        <p:blipFill>
          <a:blip r:embed="rId8"/>
          <a:stretch>
            <a:fillRect/>
          </a:stretch>
        </p:blipFill>
        <p:spPr>
          <a:xfrm>
            <a:off x="6873718" y="3031351"/>
            <a:ext cx="914400" cy="914400"/>
          </a:xfrm>
          <a:prstGeom prst="rect">
            <a:avLst/>
          </a:prstGeom>
        </p:spPr>
      </p:pic>
      <p:pic>
        <p:nvPicPr>
          <p:cNvPr id="30" name="Picture 29">
            <a:extLst>
              <a:ext uri="{FF2B5EF4-FFF2-40B4-BE49-F238E27FC236}">
                <a16:creationId xmlns:a16="http://schemas.microsoft.com/office/drawing/2014/main" id="{10F201B2-5725-EB95-0BEF-22B56BD9A56C}"/>
              </a:ext>
            </a:extLst>
          </p:cNvPr>
          <p:cNvPicPr>
            <a:picLocks noChangeAspect="1"/>
          </p:cNvPicPr>
          <p:nvPr/>
        </p:nvPicPr>
        <p:blipFill>
          <a:blip r:embed="rId9"/>
          <a:stretch>
            <a:fillRect/>
          </a:stretch>
        </p:blipFill>
        <p:spPr>
          <a:xfrm>
            <a:off x="4501637" y="4823407"/>
            <a:ext cx="914479" cy="914479"/>
          </a:xfrm>
          <a:prstGeom prst="rect">
            <a:avLst/>
          </a:prstGeom>
        </p:spPr>
      </p:pic>
      <p:pic>
        <p:nvPicPr>
          <p:cNvPr id="31" name="Picture 30">
            <a:extLst>
              <a:ext uri="{FF2B5EF4-FFF2-40B4-BE49-F238E27FC236}">
                <a16:creationId xmlns:a16="http://schemas.microsoft.com/office/drawing/2014/main" id="{8B07AFD7-2ABE-2B1A-B8E6-467048F2A27A}"/>
              </a:ext>
            </a:extLst>
          </p:cNvPr>
          <p:cNvPicPr>
            <a:picLocks noChangeAspect="1"/>
          </p:cNvPicPr>
          <p:nvPr/>
        </p:nvPicPr>
        <p:blipFill>
          <a:blip r:embed="rId10"/>
          <a:stretch>
            <a:fillRect/>
          </a:stretch>
        </p:blipFill>
        <p:spPr>
          <a:xfrm>
            <a:off x="5382102" y="1946649"/>
            <a:ext cx="914400" cy="914400"/>
          </a:xfrm>
          <a:prstGeom prst="rect">
            <a:avLst/>
          </a:prstGeom>
        </p:spPr>
      </p:pic>
      <p:pic>
        <p:nvPicPr>
          <p:cNvPr id="32" name="Picture 31">
            <a:extLst>
              <a:ext uri="{FF2B5EF4-FFF2-40B4-BE49-F238E27FC236}">
                <a16:creationId xmlns:a16="http://schemas.microsoft.com/office/drawing/2014/main" id="{E3B80C12-7A18-8C33-10B6-26476EA1CCDA}"/>
              </a:ext>
            </a:extLst>
          </p:cNvPr>
          <p:cNvPicPr>
            <a:picLocks noChangeAspect="1"/>
          </p:cNvPicPr>
          <p:nvPr/>
        </p:nvPicPr>
        <p:blipFill>
          <a:blip r:embed="rId11"/>
          <a:stretch>
            <a:fillRect/>
          </a:stretch>
        </p:blipFill>
        <p:spPr>
          <a:xfrm>
            <a:off x="3911213" y="3031272"/>
            <a:ext cx="914400" cy="914400"/>
          </a:xfrm>
          <a:prstGeom prst="rect">
            <a:avLst/>
          </a:prstGeom>
        </p:spPr>
      </p:pic>
      <p:pic>
        <p:nvPicPr>
          <p:cNvPr id="33" name="Picture 32">
            <a:extLst>
              <a:ext uri="{FF2B5EF4-FFF2-40B4-BE49-F238E27FC236}">
                <a16:creationId xmlns:a16="http://schemas.microsoft.com/office/drawing/2014/main" id="{76191299-F543-F5B8-54C0-9D046A59B7E5}"/>
              </a:ext>
            </a:extLst>
          </p:cNvPr>
          <p:cNvPicPr>
            <a:picLocks noChangeAspect="1"/>
          </p:cNvPicPr>
          <p:nvPr/>
        </p:nvPicPr>
        <p:blipFill>
          <a:blip r:embed="rId12"/>
          <a:stretch>
            <a:fillRect/>
          </a:stretch>
        </p:blipFill>
        <p:spPr>
          <a:xfrm>
            <a:off x="6307849" y="4789479"/>
            <a:ext cx="914400" cy="914400"/>
          </a:xfrm>
          <a:prstGeom prst="rect">
            <a:avLst/>
          </a:prstGeom>
        </p:spPr>
      </p:pic>
    </p:spTree>
    <p:extLst>
      <p:ext uri="{BB962C8B-B14F-4D97-AF65-F5344CB8AC3E}">
        <p14:creationId xmlns:p14="http://schemas.microsoft.com/office/powerpoint/2010/main" val="2050317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60262-2EF2-3C58-CAFB-383EEE5F4543}"/>
              </a:ext>
            </a:extLst>
          </p:cNvPr>
          <p:cNvSpPr>
            <a:spLocks noGrp="1"/>
          </p:cNvSpPr>
          <p:nvPr>
            <p:ph type="title"/>
          </p:nvPr>
        </p:nvSpPr>
        <p:spPr/>
        <p:txBody>
          <a:bodyPr/>
          <a:lstStyle/>
          <a:p>
            <a:r>
              <a:rPr lang="en-US" sz="3200" dirty="0"/>
              <a:t>Investigator Mindset</a:t>
            </a:r>
            <a:endParaRPr lang="en-ID" dirty="0"/>
          </a:p>
        </p:txBody>
      </p:sp>
      <p:pic>
        <p:nvPicPr>
          <p:cNvPr id="11" name="Picture 10">
            <a:extLst>
              <a:ext uri="{FF2B5EF4-FFF2-40B4-BE49-F238E27FC236}">
                <a16:creationId xmlns:a16="http://schemas.microsoft.com/office/drawing/2014/main" id="{5400EC35-DF88-6ED7-F2BE-1B46484E9D14}"/>
              </a:ext>
            </a:extLst>
          </p:cNvPr>
          <p:cNvPicPr>
            <a:picLocks noChangeAspect="1"/>
          </p:cNvPicPr>
          <p:nvPr/>
        </p:nvPicPr>
        <p:blipFill>
          <a:blip r:embed="rId2"/>
          <a:stretch>
            <a:fillRect/>
          </a:stretch>
        </p:blipFill>
        <p:spPr>
          <a:xfrm>
            <a:off x="956027" y="1527412"/>
            <a:ext cx="924429" cy="924429"/>
          </a:xfrm>
          <a:prstGeom prst="rect">
            <a:avLst/>
          </a:prstGeom>
        </p:spPr>
      </p:pic>
      <p:pic>
        <p:nvPicPr>
          <p:cNvPr id="15" name="Picture 14">
            <a:extLst>
              <a:ext uri="{FF2B5EF4-FFF2-40B4-BE49-F238E27FC236}">
                <a16:creationId xmlns:a16="http://schemas.microsoft.com/office/drawing/2014/main" id="{35FD1DD7-08FF-2AE4-A99F-B324E5893E6E}"/>
              </a:ext>
            </a:extLst>
          </p:cNvPr>
          <p:cNvPicPr>
            <a:picLocks noChangeAspect="1"/>
          </p:cNvPicPr>
          <p:nvPr/>
        </p:nvPicPr>
        <p:blipFill>
          <a:blip r:embed="rId2"/>
          <a:stretch>
            <a:fillRect/>
          </a:stretch>
        </p:blipFill>
        <p:spPr>
          <a:xfrm>
            <a:off x="969860" y="2518404"/>
            <a:ext cx="910596" cy="910596"/>
          </a:xfrm>
          <a:prstGeom prst="rect">
            <a:avLst/>
          </a:prstGeom>
        </p:spPr>
      </p:pic>
      <p:pic>
        <p:nvPicPr>
          <p:cNvPr id="19" name="Picture 18">
            <a:extLst>
              <a:ext uri="{FF2B5EF4-FFF2-40B4-BE49-F238E27FC236}">
                <a16:creationId xmlns:a16="http://schemas.microsoft.com/office/drawing/2014/main" id="{7176062F-469D-428E-561C-3AC0204A7F94}"/>
              </a:ext>
            </a:extLst>
          </p:cNvPr>
          <p:cNvPicPr>
            <a:picLocks noChangeAspect="1"/>
          </p:cNvPicPr>
          <p:nvPr/>
        </p:nvPicPr>
        <p:blipFill>
          <a:blip r:embed="rId2"/>
          <a:stretch>
            <a:fillRect/>
          </a:stretch>
        </p:blipFill>
        <p:spPr>
          <a:xfrm>
            <a:off x="969860" y="3495564"/>
            <a:ext cx="910596" cy="910596"/>
          </a:xfrm>
          <a:prstGeom prst="rect">
            <a:avLst/>
          </a:prstGeom>
        </p:spPr>
      </p:pic>
      <p:pic>
        <p:nvPicPr>
          <p:cNvPr id="23" name="Picture 22">
            <a:extLst>
              <a:ext uri="{FF2B5EF4-FFF2-40B4-BE49-F238E27FC236}">
                <a16:creationId xmlns:a16="http://schemas.microsoft.com/office/drawing/2014/main" id="{E4E7C4EE-77A3-9F46-930A-16AD019DA80B}"/>
              </a:ext>
            </a:extLst>
          </p:cNvPr>
          <p:cNvPicPr>
            <a:picLocks noChangeAspect="1"/>
          </p:cNvPicPr>
          <p:nvPr/>
        </p:nvPicPr>
        <p:blipFill>
          <a:blip r:embed="rId2"/>
          <a:stretch>
            <a:fillRect/>
          </a:stretch>
        </p:blipFill>
        <p:spPr>
          <a:xfrm>
            <a:off x="969860" y="4472724"/>
            <a:ext cx="910596" cy="910596"/>
          </a:xfrm>
          <a:prstGeom prst="rect">
            <a:avLst/>
          </a:prstGeom>
        </p:spPr>
      </p:pic>
      <p:pic>
        <p:nvPicPr>
          <p:cNvPr id="27" name="Picture 26">
            <a:extLst>
              <a:ext uri="{FF2B5EF4-FFF2-40B4-BE49-F238E27FC236}">
                <a16:creationId xmlns:a16="http://schemas.microsoft.com/office/drawing/2014/main" id="{B58C3BE6-576E-F3D0-500E-A6946C1A0A36}"/>
              </a:ext>
            </a:extLst>
          </p:cNvPr>
          <p:cNvPicPr>
            <a:picLocks noChangeAspect="1"/>
          </p:cNvPicPr>
          <p:nvPr/>
        </p:nvPicPr>
        <p:blipFill>
          <a:blip r:embed="rId2"/>
          <a:stretch>
            <a:fillRect/>
          </a:stretch>
        </p:blipFill>
        <p:spPr>
          <a:xfrm>
            <a:off x="969860" y="5449884"/>
            <a:ext cx="924429" cy="924429"/>
          </a:xfrm>
          <a:prstGeom prst="rect">
            <a:avLst/>
          </a:prstGeom>
        </p:spPr>
      </p:pic>
      <p:pic>
        <p:nvPicPr>
          <p:cNvPr id="31" name="Picture 30">
            <a:extLst>
              <a:ext uri="{FF2B5EF4-FFF2-40B4-BE49-F238E27FC236}">
                <a16:creationId xmlns:a16="http://schemas.microsoft.com/office/drawing/2014/main" id="{1F820C8A-257F-BC04-9A60-8920A0D5295D}"/>
              </a:ext>
            </a:extLst>
          </p:cNvPr>
          <p:cNvPicPr>
            <a:picLocks noChangeAspect="1"/>
          </p:cNvPicPr>
          <p:nvPr/>
        </p:nvPicPr>
        <p:blipFill>
          <a:blip r:embed="rId3"/>
          <a:stretch>
            <a:fillRect/>
          </a:stretch>
        </p:blipFill>
        <p:spPr>
          <a:xfrm>
            <a:off x="1042886" y="1614271"/>
            <a:ext cx="750710" cy="750710"/>
          </a:xfrm>
          <a:prstGeom prst="rect">
            <a:avLst/>
          </a:prstGeom>
        </p:spPr>
      </p:pic>
      <p:pic>
        <p:nvPicPr>
          <p:cNvPr id="32" name="Picture 31">
            <a:extLst>
              <a:ext uri="{FF2B5EF4-FFF2-40B4-BE49-F238E27FC236}">
                <a16:creationId xmlns:a16="http://schemas.microsoft.com/office/drawing/2014/main" id="{06917105-B067-F2F5-C4B4-65B0B7D3120A}"/>
              </a:ext>
            </a:extLst>
          </p:cNvPr>
          <p:cNvPicPr>
            <a:picLocks noChangeAspect="1"/>
          </p:cNvPicPr>
          <p:nvPr/>
        </p:nvPicPr>
        <p:blipFill>
          <a:blip r:embed="rId4"/>
          <a:stretch>
            <a:fillRect/>
          </a:stretch>
        </p:blipFill>
        <p:spPr>
          <a:xfrm>
            <a:off x="1087712" y="5574860"/>
            <a:ext cx="724834" cy="724834"/>
          </a:xfrm>
          <a:prstGeom prst="rect">
            <a:avLst/>
          </a:prstGeom>
        </p:spPr>
      </p:pic>
      <p:pic>
        <p:nvPicPr>
          <p:cNvPr id="33" name="Picture 32">
            <a:extLst>
              <a:ext uri="{FF2B5EF4-FFF2-40B4-BE49-F238E27FC236}">
                <a16:creationId xmlns:a16="http://schemas.microsoft.com/office/drawing/2014/main" id="{DF692147-2B49-356A-F6CD-05568FA9E7B5}"/>
              </a:ext>
            </a:extLst>
          </p:cNvPr>
          <p:cNvPicPr>
            <a:picLocks noChangeAspect="1"/>
          </p:cNvPicPr>
          <p:nvPr/>
        </p:nvPicPr>
        <p:blipFill>
          <a:blip r:embed="rId5"/>
          <a:stretch>
            <a:fillRect/>
          </a:stretch>
        </p:blipFill>
        <p:spPr>
          <a:xfrm>
            <a:off x="1042886" y="2630148"/>
            <a:ext cx="736732" cy="736732"/>
          </a:xfrm>
          <a:prstGeom prst="rect">
            <a:avLst/>
          </a:prstGeom>
        </p:spPr>
      </p:pic>
      <p:pic>
        <p:nvPicPr>
          <p:cNvPr id="34" name="Picture 33">
            <a:extLst>
              <a:ext uri="{FF2B5EF4-FFF2-40B4-BE49-F238E27FC236}">
                <a16:creationId xmlns:a16="http://schemas.microsoft.com/office/drawing/2014/main" id="{6D38DA15-B7A7-99E5-0851-9EBEF88B5563}"/>
              </a:ext>
            </a:extLst>
          </p:cNvPr>
          <p:cNvPicPr>
            <a:picLocks noChangeAspect="1"/>
          </p:cNvPicPr>
          <p:nvPr/>
        </p:nvPicPr>
        <p:blipFill>
          <a:blip r:embed="rId6"/>
          <a:stretch>
            <a:fillRect/>
          </a:stretch>
        </p:blipFill>
        <p:spPr>
          <a:xfrm>
            <a:off x="1087712" y="3603919"/>
            <a:ext cx="674891" cy="674891"/>
          </a:xfrm>
          <a:prstGeom prst="rect">
            <a:avLst/>
          </a:prstGeom>
        </p:spPr>
      </p:pic>
      <p:pic>
        <p:nvPicPr>
          <p:cNvPr id="35" name="Picture 34">
            <a:extLst>
              <a:ext uri="{FF2B5EF4-FFF2-40B4-BE49-F238E27FC236}">
                <a16:creationId xmlns:a16="http://schemas.microsoft.com/office/drawing/2014/main" id="{A55B7195-887D-C3CA-BE6D-FCED75F7F07F}"/>
              </a:ext>
            </a:extLst>
          </p:cNvPr>
          <p:cNvPicPr>
            <a:picLocks noChangeAspect="1"/>
          </p:cNvPicPr>
          <p:nvPr/>
        </p:nvPicPr>
        <p:blipFill>
          <a:blip r:embed="rId7"/>
          <a:stretch>
            <a:fillRect/>
          </a:stretch>
        </p:blipFill>
        <p:spPr>
          <a:xfrm>
            <a:off x="1072488" y="4589258"/>
            <a:ext cx="677527" cy="677527"/>
          </a:xfrm>
          <a:prstGeom prst="rect">
            <a:avLst/>
          </a:prstGeom>
        </p:spPr>
      </p:pic>
      <p:sp>
        <p:nvSpPr>
          <p:cNvPr id="38" name="Rectangle 37">
            <a:extLst>
              <a:ext uri="{FF2B5EF4-FFF2-40B4-BE49-F238E27FC236}">
                <a16:creationId xmlns:a16="http://schemas.microsoft.com/office/drawing/2014/main" id="{A13B7903-7BA9-A7B7-2DB9-D9BF8DBAE655}"/>
              </a:ext>
            </a:extLst>
          </p:cNvPr>
          <p:cNvSpPr/>
          <p:nvPr/>
        </p:nvSpPr>
        <p:spPr>
          <a:xfrm>
            <a:off x="2222190" y="1675299"/>
            <a:ext cx="8999950" cy="400110"/>
          </a:xfrm>
          <a:prstGeom prst="rect">
            <a:avLst/>
          </a:prstGeom>
        </p:spPr>
        <p:txBody>
          <a:bodyPr wrap="square" anchor="ctr" anchorCtr="0">
            <a:spAutoFit/>
          </a:bodyPr>
          <a:lstStyle/>
          <a:p>
            <a:r>
              <a:rPr lang="en-US" sz="2000" dirty="0">
                <a:latin typeface="Georgia" panose="02040502050405020303" pitchFamily="18" charset="0"/>
              </a:rPr>
              <a:t>Create a hypothesis </a:t>
            </a:r>
          </a:p>
        </p:txBody>
      </p:sp>
      <p:sp>
        <p:nvSpPr>
          <p:cNvPr id="39" name="Rectangle 38">
            <a:extLst>
              <a:ext uri="{FF2B5EF4-FFF2-40B4-BE49-F238E27FC236}">
                <a16:creationId xmlns:a16="http://schemas.microsoft.com/office/drawing/2014/main" id="{7CC33893-5DCB-85D5-C750-9481D0724B6B}"/>
              </a:ext>
            </a:extLst>
          </p:cNvPr>
          <p:cNvSpPr/>
          <p:nvPr/>
        </p:nvSpPr>
        <p:spPr>
          <a:xfrm>
            <a:off x="2222190" y="2602333"/>
            <a:ext cx="8999950" cy="400110"/>
          </a:xfrm>
          <a:prstGeom prst="rect">
            <a:avLst/>
          </a:prstGeom>
        </p:spPr>
        <p:txBody>
          <a:bodyPr wrap="square" anchor="ctr" anchorCtr="0">
            <a:spAutoFit/>
          </a:bodyPr>
          <a:lstStyle/>
          <a:p>
            <a:r>
              <a:rPr lang="en-US" sz="2000" dirty="0">
                <a:latin typeface="Georgia" panose="02040502050405020303" pitchFamily="18" charset="0"/>
              </a:rPr>
              <a:t>Understand what evidence you need to prove it</a:t>
            </a:r>
          </a:p>
        </p:txBody>
      </p:sp>
      <p:sp>
        <p:nvSpPr>
          <p:cNvPr id="40" name="Rectangle 39">
            <a:extLst>
              <a:ext uri="{FF2B5EF4-FFF2-40B4-BE49-F238E27FC236}">
                <a16:creationId xmlns:a16="http://schemas.microsoft.com/office/drawing/2014/main" id="{15A89B75-7D7B-0CDC-9A7D-91E3CD0FE200}"/>
              </a:ext>
            </a:extLst>
          </p:cNvPr>
          <p:cNvSpPr/>
          <p:nvPr/>
        </p:nvSpPr>
        <p:spPr>
          <a:xfrm>
            <a:off x="2222190" y="3576849"/>
            <a:ext cx="8999950" cy="400110"/>
          </a:xfrm>
          <a:prstGeom prst="rect">
            <a:avLst/>
          </a:prstGeom>
        </p:spPr>
        <p:txBody>
          <a:bodyPr wrap="square" anchor="ctr" anchorCtr="0">
            <a:spAutoFit/>
          </a:bodyPr>
          <a:lstStyle/>
          <a:p>
            <a:r>
              <a:rPr lang="en-US" sz="2000" dirty="0">
                <a:latin typeface="Georgia" panose="02040502050405020303" pitchFamily="18" charset="0"/>
              </a:rPr>
              <a:t>Determine if the evidence is attainable</a:t>
            </a:r>
          </a:p>
        </p:txBody>
      </p:sp>
      <p:sp>
        <p:nvSpPr>
          <p:cNvPr id="41" name="Rectangle 40">
            <a:extLst>
              <a:ext uri="{FF2B5EF4-FFF2-40B4-BE49-F238E27FC236}">
                <a16:creationId xmlns:a16="http://schemas.microsoft.com/office/drawing/2014/main" id="{D1E1587E-00F4-DE71-E4FB-70E887E470E7}"/>
              </a:ext>
            </a:extLst>
          </p:cNvPr>
          <p:cNvSpPr/>
          <p:nvPr/>
        </p:nvSpPr>
        <p:spPr>
          <a:xfrm>
            <a:off x="2222190" y="4637486"/>
            <a:ext cx="8999950" cy="400110"/>
          </a:xfrm>
          <a:prstGeom prst="rect">
            <a:avLst/>
          </a:prstGeom>
        </p:spPr>
        <p:txBody>
          <a:bodyPr wrap="square" anchor="ctr" anchorCtr="0">
            <a:spAutoFit/>
          </a:bodyPr>
          <a:lstStyle/>
          <a:p>
            <a:r>
              <a:rPr lang="en-US" sz="2000">
                <a:latin typeface="Georgia" panose="02040502050405020303" pitchFamily="18" charset="0"/>
              </a:rPr>
              <a:t>Review and analyze the evidence</a:t>
            </a:r>
          </a:p>
        </p:txBody>
      </p:sp>
      <p:sp>
        <p:nvSpPr>
          <p:cNvPr id="42" name="Rectangle 41">
            <a:extLst>
              <a:ext uri="{FF2B5EF4-FFF2-40B4-BE49-F238E27FC236}">
                <a16:creationId xmlns:a16="http://schemas.microsoft.com/office/drawing/2014/main" id="{539A9AB5-F0D3-73E1-6836-C26446F91EE8}"/>
              </a:ext>
            </a:extLst>
          </p:cNvPr>
          <p:cNvSpPr/>
          <p:nvPr/>
        </p:nvSpPr>
        <p:spPr>
          <a:xfrm>
            <a:off x="2222190" y="5625418"/>
            <a:ext cx="8999950" cy="400110"/>
          </a:xfrm>
          <a:prstGeom prst="rect">
            <a:avLst/>
          </a:prstGeom>
        </p:spPr>
        <p:txBody>
          <a:bodyPr wrap="square" anchor="ctr" anchorCtr="0">
            <a:spAutoFit/>
          </a:bodyPr>
          <a:lstStyle/>
          <a:p>
            <a:r>
              <a:rPr lang="en-US" sz="2000" dirty="0">
                <a:latin typeface="Georgia" panose="02040502050405020303" pitchFamily="18" charset="0"/>
              </a:rPr>
              <a:t>Confirm if your hypothesis is correct, incorrect, or unable to be determined</a:t>
            </a:r>
          </a:p>
        </p:txBody>
      </p:sp>
    </p:spTree>
    <p:extLst>
      <p:ext uri="{BB962C8B-B14F-4D97-AF65-F5344CB8AC3E}">
        <p14:creationId xmlns:p14="http://schemas.microsoft.com/office/powerpoint/2010/main" val="2377956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D1057-A786-5552-B678-64FFA3531A00}"/>
              </a:ext>
            </a:extLst>
          </p:cNvPr>
          <p:cNvSpPr>
            <a:spLocks noGrp="1"/>
          </p:cNvSpPr>
          <p:nvPr>
            <p:ph type="title"/>
          </p:nvPr>
        </p:nvSpPr>
        <p:spPr/>
        <p:txBody>
          <a:bodyPr/>
          <a:lstStyle/>
          <a:p>
            <a:r>
              <a:rPr lang="en-US" dirty="0"/>
              <a:t>Analysis Process in Cyber Investigation	</a:t>
            </a:r>
            <a:endParaRPr lang="en-ID" dirty="0"/>
          </a:p>
        </p:txBody>
      </p:sp>
      <p:sp>
        <p:nvSpPr>
          <p:cNvPr id="3" name="Content Placeholder 2">
            <a:extLst>
              <a:ext uri="{FF2B5EF4-FFF2-40B4-BE49-F238E27FC236}">
                <a16:creationId xmlns:a16="http://schemas.microsoft.com/office/drawing/2014/main" id="{736D8247-F45D-00A5-51E8-D5E4816B21DE}"/>
              </a:ext>
            </a:extLst>
          </p:cNvPr>
          <p:cNvSpPr>
            <a:spLocks noGrp="1"/>
          </p:cNvSpPr>
          <p:nvPr>
            <p:ph idx="1"/>
          </p:nvPr>
        </p:nvSpPr>
        <p:spPr/>
        <p:txBody>
          <a:bodyPr/>
          <a:lstStyle/>
          <a:p>
            <a:r>
              <a:rPr lang="en-US" dirty="0"/>
              <a:t>Understanding OS, Applications, Network.</a:t>
            </a:r>
          </a:p>
          <a:p>
            <a:r>
              <a:rPr lang="en-US" dirty="0"/>
              <a:t>Evidence Created</a:t>
            </a:r>
          </a:p>
          <a:p>
            <a:pPr lvl="1"/>
            <a:r>
              <a:rPr lang="en-US" dirty="0"/>
              <a:t>User Generated Activity</a:t>
            </a:r>
          </a:p>
          <a:p>
            <a:pPr lvl="1"/>
            <a:r>
              <a:rPr lang="en-US" dirty="0"/>
              <a:t>System Activity</a:t>
            </a:r>
          </a:p>
          <a:p>
            <a:r>
              <a:rPr lang="en-US" dirty="0"/>
              <a:t>Analytical Thinking</a:t>
            </a:r>
          </a:p>
          <a:p>
            <a:r>
              <a:rPr lang="en-US" dirty="0"/>
              <a:t>Problem Solving Skills</a:t>
            </a:r>
          </a:p>
          <a:p>
            <a:r>
              <a:rPr lang="en-US" dirty="0"/>
              <a:t>Require Analysis</a:t>
            </a:r>
          </a:p>
          <a:p>
            <a:pPr lvl="1"/>
            <a:r>
              <a:rPr lang="en-US" dirty="0"/>
              <a:t>Not only doing the data extraction</a:t>
            </a:r>
          </a:p>
          <a:p>
            <a:pPr lvl="1"/>
            <a:r>
              <a:rPr lang="en-US" dirty="0"/>
              <a:t>5W, 1H</a:t>
            </a:r>
            <a:endParaRPr lang="en-ID" dirty="0"/>
          </a:p>
          <a:p>
            <a:endParaRPr lang="en-ID" dirty="0"/>
          </a:p>
        </p:txBody>
      </p:sp>
    </p:spTree>
    <p:extLst>
      <p:ext uri="{BB962C8B-B14F-4D97-AF65-F5344CB8AC3E}">
        <p14:creationId xmlns:p14="http://schemas.microsoft.com/office/powerpoint/2010/main" val="4005557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19DD-884A-985C-42E3-084A6DB76A92}"/>
              </a:ext>
            </a:extLst>
          </p:cNvPr>
          <p:cNvSpPr>
            <a:spLocks noGrp="1"/>
          </p:cNvSpPr>
          <p:nvPr>
            <p:ph type="title"/>
          </p:nvPr>
        </p:nvSpPr>
        <p:spPr/>
        <p:txBody>
          <a:bodyPr/>
          <a:lstStyle/>
          <a:p>
            <a:r>
              <a:rPr lang="en-GB" b="1" dirty="0"/>
              <a:t>Importance of Incident Response</a:t>
            </a:r>
            <a:endParaRPr lang="en-US" b="1" dirty="0"/>
          </a:p>
        </p:txBody>
      </p:sp>
      <p:sp>
        <p:nvSpPr>
          <p:cNvPr id="3" name="Text Placeholder 2">
            <a:extLst>
              <a:ext uri="{FF2B5EF4-FFF2-40B4-BE49-F238E27FC236}">
                <a16:creationId xmlns:a16="http://schemas.microsoft.com/office/drawing/2014/main" id="{A4A9F061-B0D2-B2B6-60B7-1BDF36A3FA9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5884A512-EC4D-F13A-9863-09943E625746}"/>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29/7/2024</a:t>
            </a:r>
            <a:endParaRPr lang="en-ID"/>
          </a:p>
        </p:txBody>
      </p:sp>
      <p:sp>
        <p:nvSpPr>
          <p:cNvPr id="5" name="Footer Placeholder 4">
            <a:extLst>
              <a:ext uri="{FF2B5EF4-FFF2-40B4-BE49-F238E27FC236}">
                <a16:creationId xmlns:a16="http://schemas.microsoft.com/office/drawing/2014/main" id="{C289DEEF-89EC-1BD3-9A89-0FD775A84107}"/>
              </a:ext>
            </a:extLst>
          </p:cNvPr>
          <p:cNvSpPr>
            <a:spLocks noGrp="1"/>
          </p:cNvSpPr>
          <p:nvPr>
            <p:ph type="ftr" sz="quarter" idx="11"/>
          </p:nvPr>
        </p:nvSpPr>
        <p:spPr>
          <a:xfrm>
            <a:off x="4054046" y="6439395"/>
            <a:ext cx="4114800" cy="221109"/>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D"/>
              <a:t>https://threathunting.id</a:t>
            </a:r>
          </a:p>
        </p:txBody>
      </p:sp>
    </p:spTree>
    <p:extLst>
      <p:ext uri="{BB962C8B-B14F-4D97-AF65-F5344CB8AC3E}">
        <p14:creationId xmlns:p14="http://schemas.microsoft.com/office/powerpoint/2010/main" val="2814111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559C6F-F6B7-0988-AB7B-BDDD57F478F7}"/>
              </a:ext>
            </a:extLst>
          </p:cNvPr>
          <p:cNvSpPr>
            <a:spLocks noGrp="1"/>
          </p:cNvSpPr>
          <p:nvPr>
            <p:ph idx="1"/>
          </p:nvPr>
        </p:nvSpPr>
        <p:spPr>
          <a:xfrm>
            <a:off x="410862" y="1138870"/>
            <a:ext cx="5435866" cy="4997602"/>
          </a:xfrm>
        </p:spPr>
        <p:txBody>
          <a:bodyPr/>
          <a:lstStyle/>
          <a:p>
            <a:r>
              <a:rPr lang="en-US" dirty="0"/>
              <a:t>Cyber attacks are here to stay (new normal)</a:t>
            </a:r>
          </a:p>
          <a:p>
            <a:r>
              <a:rPr lang="en-US" dirty="0"/>
              <a:t>Without any plans and workflow, it would be hard to detect and prevent cyber intrusions</a:t>
            </a:r>
          </a:p>
          <a:p>
            <a:r>
              <a:rPr lang="en-US" dirty="0"/>
              <a:t>FAANG, Big Tech, Startup, SBE, Government, </a:t>
            </a:r>
            <a:r>
              <a:rPr lang="en-US" dirty="0" err="1"/>
              <a:t>etc</a:t>
            </a:r>
            <a:r>
              <a:rPr lang="en-US" dirty="0"/>
              <a:t> can all be hacked. It’s just a matter of when</a:t>
            </a:r>
          </a:p>
        </p:txBody>
      </p:sp>
      <p:sp>
        <p:nvSpPr>
          <p:cNvPr id="3" name="Date Placeholder 2">
            <a:extLst>
              <a:ext uri="{FF2B5EF4-FFF2-40B4-BE49-F238E27FC236}">
                <a16:creationId xmlns:a16="http://schemas.microsoft.com/office/drawing/2014/main" id="{0DC82697-6119-0294-C4F2-89A8A7A3C02C}"/>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29/7/2024</a:t>
            </a:r>
            <a:endParaRPr lang="en-ID"/>
          </a:p>
        </p:txBody>
      </p:sp>
      <p:sp>
        <p:nvSpPr>
          <p:cNvPr id="4" name="Footer Placeholder 3">
            <a:extLst>
              <a:ext uri="{FF2B5EF4-FFF2-40B4-BE49-F238E27FC236}">
                <a16:creationId xmlns:a16="http://schemas.microsoft.com/office/drawing/2014/main" id="{398A7F8D-2478-9881-9897-4F45531A013D}"/>
              </a:ext>
            </a:extLst>
          </p:cNvPr>
          <p:cNvSpPr>
            <a:spLocks noGrp="1"/>
          </p:cNvSpPr>
          <p:nvPr>
            <p:ph type="ftr" sz="quarter" idx="11"/>
          </p:nvPr>
        </p:nvSpPr>
        <p:spPr>
          <a:xfrm>
            <a:off x="4054046" y="6439395"/>
            <a:ext cx="4114800" cy="221109"/>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D"/>
              <a:t>https://threathunting.id</a:t>
            </a:r>
          </a:p>
        </p:txBody>
      </p:sp>
      <p:sp>
        <p:nvSpPr>
          <p:cNvPr id="5" name="Title 4">
            <a:extLst>
              <a:ext uri="{FF2B5EF4-FFF2-40B4-BE49-F238E27FC236}">
                <a16:creationId xmlns:a16="http://schemas.microsoft.com/office/drawing/2014/main" id="{BEF9AB4A-C950-DA4D-6A95-4D2847B3FD19}"/>
              </a:ext>
            </a:extLst>
          </p:cNvPr>
          <p:cNvSpPr>
            <a:spLocks noGrp="1"/>
          </p:cNvSpPr>
          <p:nvPr>
            <p:ph type="title"/>
          </p:nvPr>
        </p:nvSpPr>
        <p:spPr>
          <a:xfrm>
            <a:off x="514350" y="58746"/>
            <a:ext cx="10515600" cy="1325563"/>
          </a:xfrm>
        </p:spPr>
        <p:txBody>
          <a:bodyPr>
            <a:normAutofit/>
          </a:bodyPr>
          <a:lstStyle/>
          <a:p>
            <a:r>
              <a:rPr lang="en-US" dirty="0"/>
              <a:t>Why It is Important?</a:t>
            </a:r>
            <a:endParaRPr lang="en-ID" dirty="0"/>
          </a:p>
        </p:txBody>
      </p:sp>
      <p:pic>
        <p:nvPicPr>
          <p:cNvPr id="7" name="object 24">
            <a:extLst>
              <a:ext uri="{FF2B5EF4-FFF2-40B4-BE49-F238E27FC236}">
                <a16:creationId xmlns:a16="http://schemas.microsoft.com/office/drawing/2014/main" id="{B1E9CBD6-08F5-C535-A068-D82DD350BDD6}"/>
              </a:ext>
            </a:extLst>
          </p:cNvPr>
          <p:cNvPicPr/>
          <p:nvPr/>
        </p:nvPicPr>
        <p:blipFill>
          <a:blip r:embed="rId2" cstate="print"/>
          <a:stretch>
            <a:fillRect/>
          </a:stretch>
        </p:blipFill>
        <p:spPr>
          <a:xfrm>
            <a:off x="5846728" y="1577524"/>
            <a:ext cx="5594428" cy="3140273"/>
          </a:xfrm>
          <a:prstGeom prst="rect">
            <a:avLst/>
          </a:prstGeom>
        </p:spPr>
      </p:pic>
    </p:spTree>
    <p:extLst>
      <p:ext uri="{BB962C8B-B14F-4D97-AF65-F5344CB8AC3E}">
        <p14:creationId xmlns:p14="http://schemas.microsoft.com/office/powerpoint/2010/main" val="899495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95B224-D4E4-77E9-AD89-D52AB06ED575}"/>
              </a:ext>
            </a:extLst>
          </p:cNvPr>
          <p:cNvSpPr>
            <a:spLocks noGrp="1"/>
          </p:cNvSpPr>
          <p:nvPr>
            <p:ph idx="1"/>
          </p:nvPr>
        </p:nvSpPr>
        <p:spPr/>
        <p:txBody>
          <a:bodyPr/>
          <a:lstStyle/>
          <a:p>
            <a:pPr marL="0" indent="0">
              <a:buNone/>
            </a:pPr>
            <a:r>
              <a:rPr lang="en-ID" sz="2800" b="1" spc="-80" dirty="0">
                <a:solidFill>
                  <a:srgbClr val="000000"/>
                </a:solidFill>
              </a:rPr>
              <a:t>Incident</a:t>
            </a:r>
            <a:r>
              <a:rPr lang="en-ID" sz="2800" b="1" spc="-160" dirty="0">
                <a:solidFill>
                  <a:srgbClr val="000000"/>
                </a:solidFill>
              </a:rPr>
              <a:t> </a:t>
            </a:r>
            <a:r>
              <a:rPr lang="en-ID" sz="2800" b="1" spc="-10" dirty="0">
                <a:solidFill>
                  <a:srgbClr val="000000"/>
                </a:solidFill>
              </a:rPr>
              <a:t>Response </a:t>
            </a:r>
            <a:r>
              <a:rPr lang="en-ID" sz="2800" spc="-10" dirty="0">
                <a:solidFill>
                  <a:srgbClr val="000000"/>
                </a:solidFill>
              </a:rPr>
              <a:t>is the process of detecting and </a:t>
            </a:r>
            <a:r>
              <a:rPr lang="en-ID" sz="2800" spc="-10" dirty="0" err="1">
                <a:solidFill>
                  <a:srgbClr val="000000"/>
                </a:solidFill>
              </a:rPr>
              <a:t>analyzing</a:t>
            </a:r>
            <a:r>
              <a:rPr lang="en-ID" sz="2800" spc="-10" dirty="0">
                <a:solidFill>
                  <a:srgbClr val="000000"/>
                </a:solidFill>
              </a:rPr>
              <a:t> incidents and limiting </a:t>
            </a:r>
            <a:r>
              <a:rPr lang="en-ID" sz="2800" spc="-10" dirty="0" err="1">
                <a:solidFill>
                  <a:srgbClr val="000000"/>
                </a:solidFill>
              </a:rPr>
              <a:t>incident;s</a:t>
            </a:r>
            <a:r>
              <a:rPr lang="en-ID" sz="2800" spc="-10" dirty="0">
                <a:solidFill>
                  <a:srgbClr val="000000"/>
                </a:solidFill>
              </a:rPr>
              <a:t> effect</a:t>
            </a:r>
          </a:p>
          <a:p>
            <a:pPr marL="0" indent="0">
              <a:buNone/>
            </a:pPr>
            <a:endParaRPr lang="en-ID" spc="-10" dirty="0">
              <a:solidFill>
                <a:srgbClr val="000000"/>
              </a:solidFill>
            </a:endParaRPr>
          </a:p>
          <a:p>
            <a:r>
              <a:rPr lang="en-ID" spc="-10" dirty="0">
                <a:solidFill>
                  <a:srgbClr val="000000"/>
                </a:solidFill>
              </a:rPr>
              <a:t>Critical systems down</a:t>
            </a:r>
          </a:p>
          <a:p>
            <a:r>
              <a:rPr lang="en-ID" spc="-10" dirty="0">
                <a:solidFill>
                  <a:srgbClr val="000000"/>
                </a:solidFill>
              </a:rPr>
              <a:t>Lost or stolen laptops, </a:t>
            </a:r>
            <a:r>
              <a:rPr lang="en-ID" spc="-10" dirty="0" err="1">
                <a:solidFill>
                  <a:srgbClr val="000000"/>
                </a:solidFill>
              </a:rPr>
              <a:t>cellphones</a:t>
            </a:r>
            <a:endParaRPr lang="en-ID" spc="-10" dirty="0">
              <a:solidFill>
                <a:srgbClr val="000000"/>
              </a:solidFill>
            </a:endParaRPr>
          </a:p>
          <a:p>
            <a:r>
              <a:rPr lang="en-ID" spc="-10" dirty="0">
                <a:solidFill>
                  <a:srgbClr val="000000"/>
                </a:solidFill>
              </a:rPr>
              <a:t>Suspected insider threat</a:t>
            </a:r>
          </a:p>
          <a:p>
            <a:r>
              <a:rPr lang="en-ID" spc="-10" dirty="0">
                <a:solidFill>
                  <a:srgbClr val="000000"/>
                </a:solidFill>
              </a:rPr>
              <a:t>External threat actors</a:t>
            </a:r>
          </a:p>
          <a:p>
            <a:r>
              <a:rPr lang="en-ID" spc="-10" dirty="0">
                <a:solidFill>
                  <a:srgbClr val="000000"/>
                </a:solidFill>
              </a:rPr>
              <a:t>Ransomware, Web shell, etc.</a:t>
            </a:r>
            <a:endParaRPr lang="en-ID" dirty="0"/>
          </a:p>
        </p:txBody>
      </p:sp>
      <p:sp>
        <p:nvSpPr>
          <p:cNvPr id="3" name="Date Placeholder 2">
            <a:extLst>
              <a:ext uri="{FF2B5EF4-FFF2-40B4-BE49-F238E27FC236}">
                <a16:creationId xmlns:a16="http://schemas.microsoft.com/office/drawing/2014/main" id="{5FAC53BE-4E03-141C-AFE3-A1369E6E8062}"/>
              </a:ext>
            </a:extLst>
          </p:cNvPr>
          <p:cNvSpPr>
            <a:spLocks noGrp="1"/>
          </p:cNvSpPr>
          <p:nvPr>
            <p:ph type="dt" sz="half" idx="10"/>
          </p:nvPr>
        </p:nvSpPr>
        <p:spPr>
          <a:xfrm>
            <a:off x="395416" y="6432036"/>
            <a:ext cx="1122406" cy="213750"/>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29/7/2024</a:t>
            </a:r>
            <a:endParaRPr lang="en-ID"/>
          </a:p>
        </p:txBody>
      </p:sp>
      <p:sp>
        <p:nvSpPr>
          <p:cNvPr id="4" name="Footer Placeholder 3">
            <a:extLst>
              <a:ext uri="{FF2B5EF4-FFF2-40B4-BE49-F238E27FC236}">
                <a16:creationId xmlns:a16="http://schemas.microsoft.com/office/drawing/2014/main" id="{B3F54704-B437-C6A7-3417-EB49599287AB}"/>
              </a:ext>
            </a:extLst>
          </p:cNvPr>
          <p:cNvSpPr>
            <a:spLocks noGrp="1"/>
          </p:cNvSpPr>
          <p:nvPr>
            <p:ph type="ftr" sz="quarter" idx="11"/>
          </p:nvPr>
        </p:nvSpPr>
        <p:spPr>
          <a:xfrm>
            <a:off x="4054046" y="6439395"/>
            <a:ext cx="4114800" cy="221109"/>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D"/>
              <a:t>https://threathunting.id</a:t>
            </a:r>
          </a:p>
        </p:txBody>
      </p:sp>
      <p:sp>
        <p:nvSpPr>
          <p:cNvPr id="5" name="Title 4">
            <a:extLst>
              <a:ext uri="{FF2B5EF4-FFF2-40B4-BE49-F238E27FC236}">
                <a16:creationId xmlns:a16="http://schemas.microsoft.com/office/drawing/2014/main" id="{F590BD56-82D3-FCF1-EBBC-4210ECA54E69}"/>
              </a:ext>
            </a:extLst>
          </p:cNvPr>
          <p:cNvSpPr>
            <a:spLocks noGrp="1"/>
          </p:cNvSpPr>
          <p:nvPr>
            <p:ph type="title"/>
          </p:nvPr>
        </p:nvSpPr>
        <p:spPr/>
        <p:txBody>
          <a:bodyPr>
            <a:normAutofit/>
          </a:bodyPr>
          <a:lstStyle/>
          <a:p>
            <a:r>
              <a:rPr lang="en-US" dirty="0"/>
              <a:t>Why It is Important?</a:t>
            </a:r>
            <a:endParaRPr lang="en-ID" dirty="0"/>
          </a:p>
        </p:txBody>
      </p:sp>
      <p:grpSp>
        <p:nvGrpSpPr>
          <p:cNvPr id="6" name="object 11">
            <a:extLst>
              <a:ext uri="{FF2B5EF4-FFF2-40B4-BE49-F238E27FC236}">
                <a16:creationId xmlns:a16="http://schemas.microsoft.com/office/drawing/2014/main" id="{716F68A5-B1DC-3255-8169-BDBB8CBB3831}"/>
              </a:ext>
            </a:extLst>
          </p:cNvPr>
          <p:cNvGrpSpPr/>
          <p:nvPr/>
        </p:nvGrpSpPr>
        <p:grpSpPr>
          <a:xfrm>
            <a:off x="6552988" y="2547611"/>
            <a:ext cx="5052911" cy="3400920"/>
            <a:chOff x="5282704" y="2581478"/>
            <a:chExt cx="5052911" cy="3400920"/>
          </a:xfrm>
        </p:grpSpPr>
        <p:sp>
          <p:nvSpPr>
            <p:cNvPr id="8" name="object 13">
              <a:extLst>
                <a:ext uri="{FF2B5EF4-FFF2-40B4-BE49-F238E27FC236}">
                  <a16:creationId xmlns:a16="http://schemas.microsoft.com/office/drawing/2014/main" id="{7F9DFEE4-6AB1-4656-1E73-8C9EB399D841}"/>
                </a:ext>
              </a:extLst>
            </p:cNvPr>
            <p:cNvSpPr/>
            <p:nvPr/>
          </p:nvSpPr>
          <p:spPr>
            <a:xfrm>
              <a:off x="7376515" y="2581478"/>
              <a:ext cx="2959100" cy="2397760"/>
            </a:xfrm>
            <a:custGeom>
              <a:avLst/>
              <a:gdLst/>
              <a:ahLst/>
              <a:cxnLst/>
              <a:rect l="l" t="t" r="r" b="b"/>
              <a:pathLst>
                <a:path w="2959100" h="2397760">
                  <a:moveTo>
                    <a:pt x="1728736" y="1673517"/>
                  </a:moveTo>
                  <a:lnTo>
                    <a:pt x="1229817" y="1673517"/>
                  </a:lnTo>
                  <a:lnTo>
                    <a:pt x="1229817" y="1867585"/>
                  </a:lnTo>
                  <a:lnTo>
                    <a:pt x="1728736" y="1867585"/>
                  </a:lnTo>
                  <a:lnTo>
                    <a:pt x="1728736" y="1673517"/>
                  </a:lnTo>
                  <a:close/>
                </a:path>
                <a:path w="2959100" h="2397760">
                  <a:moveTo>
                    <a:pt x="2528227" y="2359469"/>
                  </a:moveTo>
                  <a:lnTo>
                    <a:pt x="474116" y="2359469"/>
                  </a:lnTo>
                  <a:lnTo>
                    <a:pt x="474116" y="2397366"/>
                  </a:lnTo>
                  <a:lnTo>
                    <a:pt x="2528227" y="2397366"/>
                  </a:lnTo>
                  <a:lnTo>
                    <a:pt x="2528227" y="2359469"/>
                  </a:lnTo>
                  <a:close/>
                </a:path>
                <a:path w="2959100" h="2397760">
                  <a:moveTo>
                    <a:pt x="2529929" y="2347607"/>
                  </a:moveTo>
                  <a:lnTo>
                    <a:pt x="2508656" y="2330094"/>
                  </a:lnTo>
                  <a:lnTo>
                    <a:pt x="2318512" y="2171077"/>
                  </a:lnTo>
                  <a:lnTo>
                    <a:pt x="2273617" y="2134108"/>
                  </a:lnTo>
                  <a:lnTo>
                    <a:pt x="2241334" y="2108263"/>
                  </a:lnTo>
                  <a:lnTo>
                    <a:pt x="2227465" y="2098522"/>
                  </a:lnTo>
                  <a:lnTo>
                    <a:pt x="774954" y="2098522"/>
                  </a:lnTo>
                  <a:lnTo>
                    <a:pt x="728764" y="2134108"/>
                  </a:lnTo>
                  <a:lnTo>
                    <a:pt x="683856" y="2171077"/>
                  </a:lnTo>
                  <a:lnTo>
                    <a:pt x="632104" y="2214156"/>
                  </a:lnTo>
                  <a:lnTo>
                    <a:pt x="493661" y="2330094"/>
                  </a:lnTo>
                  <a:lnTo>
                    <a:pt x="472376" y="2347607"/>
                  </a:lnTo>
                  <a:lnTo>
                    <a:pt x="2529929" y="2347607"/>
                  </a:lnTo>
                  <a:close/>
                </a:path>
                <a:path w="2959100" h="2397760">
                  <a:moveTo>
                    <a:pt x="2958706" y="56845"/>
                  </a:moveTo>
                  <a:lnTo>
                    <a:pt x="2954197" y="34785"/>
                  </a:lnTo>
                  <a:lnTo>
                    <a:pt x="2941955" y="16713"/>
                  </a:lnTo>
                  <a:lnTo>
                    <a:pt x="2923844" y="4495"/>
                  </a:lnTo>
                  <a:lnTo>
                    <a:pt x="2901746" y="0"/>
                  </a:lnTo>
                  <a:lnTo>
                    <a:pt x="56946" y="0"/>
                  </a:lnTo>
                  <a:lnTo>
                    <a:pt x="34836" y="4495"/>
                  </a:lnTo>
                  <a:lnTo>
                    <a:pt x="16738" y="16713"/>
                  </a:lnTo>
                  <a:lnTo>
                    <a:pt x="4495" y="34785"/>
                  </a:lnTo>
                  <a:lnTo>
                    <a:pt x="0" y="56845"/>
                  </a:lnTo>
                  <a:lnTo>
                    <a:pt x="0" y="1600784"/>
                  </a:lnTo>
                  <a:lnTo>
                    <a:pt x="4495" y="1622844"/>
                  </a:lnTo>
                  <a:lnTo>
                    <a:pt x="16738" y="1640928"/>
                  </a:lnTo>
                  <a:lnTo>
                    <a:pt x="34836" y="1653159"/>
                  </a:lnTo>
                  <a:lnTo>
                    <a:pt x="56946" y="1657642"/>
                  </a:lnTo>
                  <a:lnTo>
                    <a:pt x="2901746" y="1657642"/>
                  </a:lnTo>
                  <a:lnTo>
                    <a:pt x="2923844" y="1653159"/>
                  </a:lnTo>
                  <a:lnTo>
                    <a:pt x="2941955" y="1640928"/>
                  </a:lnTo>
                  <a:lnTo>
                    <a:pt x="2954197" y="1622844"/>
                  </a:lnTo>
                  <a:lnTo>
                    <a:pt x="2958706" y="1600784"/>
                  </a:lnTo>
                  <a:lnTo>
                    <a:pt x="2958706" y="56845"/>
                  </a:lnTo>
                  <a:close/>
                </a:path>
              </a:pathLst>
            </a:custGeom>
            <a:solidFill>
              <a:srgbClr val="C20000"/>
            </a:solidFill>
          </p:spPr>
          <p:txBody>
            <a:bodyPr wrap="square" lIns="0" tIns="0" rIns="0" bIns="0" rtlCol="0"/>
            <a:lstStyle/>
            <a:p>
              <a:endParaRPr/>
            </a:p>
          </p:txBody>
        </p:sp>
        <p:sp>
          <p:nvSpPr>
            <p:cNvPr id="9" name="object 14">
              <a:extLst>
                <a:ext uri="{FF2B5EF4-FFF2-40B4-BE49-F238E27FC236}">
                  <a16:creationId xmlns:a16="http://schemas.microsoft.com/office/drawing/2014/main" id="{E22CBE6C-FE86-8FF3-FAB1-6ECDE6F400BF}"/>
                </a:ext>
              </a:extLst>
            </p:cNvPr>
            <p:cNvSpPr/>
            <p:nvPr/>
          </p:nvSpPr>
          <p:spPr>
            <a:xfrm>
              <a:off x="7450086" y="2669032"/>
              <a:ext cx="2811780" cy="1369060"/>
            </a:xfrm>
            <a:custGeom>
              <a:avLst/>
              <a:gdLst/>
              <a:ahLst/>
              <a:cxnLst/>
              <a:rect l="l" t="t" r="r" b="b"/>
              <a:pathLst>
                <a:path w="2811779" h="1369060">
                  <a:moveTo>
                    <a:pt x="2811513" y="1368717"/>
                  </a:moveTo>
                  <a:lnTo>
                    <a:pt x="0" y="1368717"/>
                  </a:lnTo>
                  <a:lnTo>
                    <a:pt x="0" y="0"/>
                  </a:lnTo>
                  <a:lnTo>
                    <a:pt x="2811513" y="0"/>
                  </a:lnTo>
                  <a:lnTo>
                    <a:pt x="2811513" y="1368717"/>
                  </a:lnTo>
                  <a:close/>
                </a:path>
              </a:pathLst>
            </a:custGeom>
            <a:solidFill>
              <a:srgbClr val="FFFFFF"/>
            </a:solidFill>
          </p:spPr>
          <p:txBody>
            <a:bodyPr wrap="square" lIns="0" tIns="0" rIns="0" bIns="0" rtlCol="0"/>
            <a:lstStyle/>
            <a:p>
              <a:endParaRPr dirty="0"/>
            </a:p>
          </p:txBody>
        </p:sp>
        <p:sp>
          <p:nvSpPr>
            <p:cNvPr id="10" name="object 15">
              <a:extLst>
                <a:ext uri="{FF2B5EF4-FFF2-40B4-BE49-F238E27FC236}">
                  <a16:creationId xmlns:a16="http://schemas.microsoft.com/office/drawing/2014/main" id="{D80511EB-138A-3EA3-112B-03B1E83EE3C5}"/>
                </a:ext>
              </a:extLst>
            </p:cNvPr>
            <p:cNvSpPr/>
            <p:nvPr/>
          </p:nvSpPr>
          <p:spPr>
            <a:xfrm>
              <a:off x="8484045" y="2827832"/>
              <a:ext cx="744220" cy="1746885"/>
            </a:xfrm>
            <a:custGeom>
              <a:avLst/>
              <a:gdLst/>
              <a:ahLst/>
              <a:cxnLst/>
              <a:rect l="l" t="t" r="r" b="b"/>
              <a:pathLst>
                <a:path w="744220" h="1746885">
                  <a:moveTo>
                    <a:pt x="663638" y="1016876"/>
                  </a:moveTo>
                  <a:lnTo>
                    <a:pt x="646607" y="997508"/>
                  </a:lnTo>
                  <a:lnTo>
                    <a:pt x="610196" y="985139"/>
                  </a:lnTo>
                  <a:lnTo>
                    <a:pt x="564349" y="975194"/>
                  </a:lnTo>
                  <a:lnTo>
                    <a:pt x="519239" y="960932"/>
                  </a:lnTo>
                  <a:lnTo>
                    <a:pt x="474370" y="943394"/>
                  </a:lnTo>
                  <a:lnTo>
                    <a:pt x="465277" y="939406"/>
                  </a:lnTo>
                  <a:lnTo>
                    <a:pt x="485178" y="931367"/>
                  </a:lnTo>
                  <a:lnTo>
                    <a:pt x="519709" y="916978"/>
                  </a:lnTo>
                  <a:lnTo>
                    <a:pt x="552513" y="907770"/>
                  </a:lnTo>
                  <a:lnTo>
                    <a:pt x="593242" y="900861"/>
                  </a:lnTo>
                  <a:lnTo>
                    <a:pt x="631952" y="893368"/>
                  </a:lnTo>
                  <a:lnTo>
                    <a:pt x="658710" y="882434"/>
                  </a:lnTo>
                  <a:lnTo>
                    <a:pt x="663549" y="865149"/>
                  </a:lnTo>
                  <a:lnTo>
                    <a:pt x="636536" y="838644"/>
                  </a:lnTo>
                  <a:lnTo>
                    <a:pt x="625182" y="820686"/>
                  </a:lnTo>
                  <a:lnTo>
                    <a:pt x="618769" y="797280"/>
                  </a:lnTo>
                  <a:lnTo>
                    <a:pt x="609231" y="779830"/>
                  </a:lnTo>
                  <a:lnTo>
                    <a:pt x="588479" y="779754"/>
                  </a:lnTo>
                  <a:lnTo>
                    <a:pt x="548436" y="808431"/>
                  </a:lnTo>
                  <a:lnTo>
                    <a:pt x="527519" y="824801"/>
                  </a:lnTo>
                  <a:lnTo>
                    <a:pt x="504875" y="838542"/>
                  </a:lnTo>
                  <a:lnTo>
                    <a:pt x="480834" y="850353"/>
                  </a:lnTo>
                  <a:lnTo>
                    <a:pt x="407098" y="881303"/>
                  </a:lnTo>
                  <a:lnTo>
                    <a:pt x="371792" y="897280"/>
                  </a:lnTo>
                  <a:lnTo>
                    <a:pt x="336499" y="881303"/>
                  </a:lnTo>
                  <a:lnTo>
                    <a:pt x="262775" y="850353"/>
                  </a:lnTo>
                  <a:lnTo>
                    <a:pt x="238721" y="838542"/>
                  </a:lnTo>
                  <a:lnTo>
                    <a:pt x="216077" y="824801"/>
                  </a:lnTo>
                  <a:lnTo>
                    <a:pt x="195160" y="808431"/>
                  </a:lnTo>
                  <a:lnTo>
                    <a:pt x="155105" y="779754"/>
                  </a:lnTo>
                  <a:lnTo>
                    <a:pt x="134353" y="779830"/>
                  </a:lnTo>
                  <a:lnTo>
                    <a:pt x="124815" y="797280"/>
                  </a:lnTo>
                  <a:lnTo>
                    <a:pt x="118402" y="820686"/>
                  </a:lnTo>
                  <a:lnTo>
                    <a:pt x="107061" y="838644"/>
                  </a:lnTo>
                  <a:lnTo>
                    <a:pt x="80060" y="865149"/>
                  </a:lnTo>
                  <a:lnTo>
                    <a:pt x="84912" y="882434"/>
                  </a:lnTo>
                  <a:lnTo>
                    <a:pt x="111671" y="893368"/>
                  </a:lnTo>
                  <a:lnTo>
                    <a:pt x="150380" y="900861"/>
                  </a:lnTo>
                  <a:lnTo>
                    <a:pt x="191096" y="907770"/>
                  </a:lnTo>
                  <a:lnTo>
                    <a:pt x="223888" y="916978"/>
                  </a:lnTo>
                  <a:lnTo>
                    <a:pt x="258406" y="931367"/>
                  </a:lnTo>
                  <a:lnTo>
                    <a:pt x="278307" y="939419"/>
                  </a:lnTo>
                  <a:lnTo>
                    <a:pt x="269240" y="943394"/>
                  </a:lnTo>
                  <a:lnTo>
                    <a:pt x="224370" y="960932"/>
                  </a:lnTo>
                  <a:lnTo>
                    <a:pt x="179260" y="975194"/>
                  </a:lnTo>
                  <a:lnTo>
                    <a:pt x="133451" y="985139"/>
                  </a:lnTo>
                  <a:lnTo>
                    <a:pt x="97002" y="997508"/>
                  </a:lnTo>
                  <a:lnTo>
                    <a:pt x="79959" y="1016876"/>
                  </a:lnTo>
                  <a:lnTo>
                    <a:pt x="82473" y="1038860"/>
                  </a:lnTo>
                  <a:lnTo>
                    <a:pt x="104724" y="1059116"/>
                  </a:lnTo>
                  <a:lnTo>
                    <a:pt x="116357" y="1066012"/>
                  </a:lnTo>
                  <a:lnTo>
                    <a:pt x="122809" y="1071867"/>
                  </a:lnTo>
                  <a:lnTo>
                    <a:pt x="126860" y="1079703"/>
                  </a:lnTo>
                  <a:lnTo>
                    <a:pt x="134048" y="1101026"/>
                  </a:lnTo>
                  <a:lnTo>
                    <a:pt x="138010" y="1108570"/>
                  </a:lnTo>
                  <a:lnTo>
                    <a:pt x="144665" y="1111199"/>
                  </a:lnTo>
                  <a:lnTo>
                    <a:pt x="157289" y="1112304"/>
                  </a:lnTo>
                  <a:lnTo>
                    <a:pt x="172351" y="1107351"/>
                  </a:lnTo>
                  <a:lnTo>
                    <a:pt x="188747" y="1097140"/>
                  </a:lnTo>
                  <a:lnTo>
                    <a:pt x="205384" y="1082433"/>
                  </a:lnTo>
                  <a:lnTo>
                    <a:pt x="221589" y="1064539"/>
                  </a:lnTo>
                  <a:lnTo>
                    <a:pt x="233756" y="1050366"/>
                  </a:lnTo>
                  <a:lnTo>
                    <a:pt x="247713" y="1037666"/>
                  </a:lnTo>
                  <a:lnTo>
                    <a:pt x="269278" y="1024229"/>
                  </a:lnTo>
                  <a:lnTo>
                    <a:pt x="316039" y="1001699"/>
                  </a:lnTo>
                  <a:lnTo>
                    <a:pt x="371792" y="977620"/>
                  </a:lnTo>
                  <a:lnTo>
                    <a:pt x="427545" y="1001699"/>
                  </a:lnTo>
                  <a:lnTo>
                    <a:pt x="474319" y="1024229"/>
                  </a:lnTo>
                  <a:lnTo>
                    <a:pt x="495871" y="1037666"/>
                  </a:lnTo>
                  <a:lnTo>
                    <a:pt x="509828" y="1050366"/>
                  </a:lnTo>
                  <a:lnTo>
                    <a:pt x="521995" y="1064539"/>
                  </a:lnTo>
                  <a:lnTo>
                    <a:pt x="538213" y="1082433"/>
                  </a:lnTo>
                  <a:lnTo>
                    <a:pt x="554837" y="1097140"/>
                  </a:lnTo>
                  <a:lnTo>
                    <a:pt x="571233" y="1107351"/>
                  </a:lnTo>
                  <a:lnTo>
                    <a:pt x="586295" y="1112304"/>
                  </a:lnTo>
                  <a:lnTo>
                    <a:pt x="598932" y="1111199"/>
                  </a:lnTo>
                  <a:lnTo>
                    <a:pt x="605586" y="1108570"/>
                  </a:lnTo>
                  <a:lnTo>
                    <a:pt x="609549" y="1101026"/>
                  </a:lnTo>
                  <a:lnTo>
                    <a:pt x="616750" y="1079703"/>
                  </a:lnTo>
                  <a:lnTo>
                    <a:pt x="620776" y="1071867"/>
                  </a:lnTo>
                  <a:lnTo>
                    <a:pt x="627240" y="1066012"/>
                  </a:lnTo>
                  <a:lnTo>
                    <a:pt x="638873" y="1059116"/>
                  </a:lnTo>
                  <a:lnTo>
                    <a:pt x="661111" y="1038860"/>
                  </a:lnTo>
                  <a:lnTo>
                    <a:pt x="663638" y="1016876"/>
                  </a:lnTo>
                  <a:close/>
                </a:path>
                <a:path w="744220" h="1746885">
                  <a:moveTo>
                    <a:pt x="673519" y="230987"/>
                  </a:moveTo>
                  <a:lnTo>
                    <a:pt x="667397" y="181165"/>
                  </a:lnTo>
                  <a:lnTo>
                    <a:pt x="650963" y="137388"/>
                  </a:lnTo>
                  <a:lnTo>
                    <a:pt x="625538" y="99644"/>
                  </a:lnTo>
                  <a:lnTo>
                    <a:pt x="592480" y="67932"/>
                  </a:lnTo>
                  <a:lnTo>
                    <a:pt x="564184" y="48844"/>
                  </a:lnTo>
                  <a:lnTo>
                    <a:pt x="564184" y="402348"/>
                  </a:lnTo>
                  <a:lnTo>
                    <a:pt x="563702" y="439051"/>
                  </a:lnTo>
                  <a:lnTo>
                    <a:pt x="555739" y="478650"/>
                  </a:lnTo>
                  <a:lnTo>
                    <a:pt x="541388" y="514718"/>
                  </a:lnTo>
                  <a:lnTo>
                    <a:pt x="521728" y="540854"/>
                  </a:lnTo>
                  <a:lnTo>
                    <a:pt x="497878" y="550621"/>
                  </a:lnTo>
                  <a:lnTo>
                    <a:pt x="493217" y="550519"/>
                  </a:lnTo>
                  <a:lnTo>
                    <a:pt x="465099" y="540918"/>
                  </a:lnTo>
                  <a:lnTo>
                    <a:pt x="452462" y="520280"/>
                  </a:lnTo>
                  <a:lnTo>
                    <a:pt x="450900" y="515594"/>
                  </a:lnTo>
                  <a:lnTo>
                    <a:pt x="445122" y="498398"/>
                  </a:lnTo>
                  <a:lnTo>
                    <a:pt x="432892" y="485076"/>
                  </a:lnTo>
                  <a:lnTo>
                    <a:pt x="413143" y="472655"/>
                  </a:lnTo>
                  <a:lnTo>
                    <a:pt x="413143" y="598068"/>
                  </a:lnTo>
                  <a:lnTo>
                    <a:pt x="408139" y="616000"/>
                  </a:lnTo>
                  <a:lnTo>
                    <a:pt x="403961" y="627519"/>
                  </a:lnTo>
                  <a:lnTo>
                    <a:pt x="398589" y="636981"/>
                  </a:lnTo>
                  <a:lnTo>
                    <a:pt x="390080" y="642912"/>
                  </a:lnTo>
                  <a:lnTo>
                    <a:pt x="376491" y="643775"/>
                  </a:lnTo>
                  <a:lnTo>
                    <a:pt x="375831" y="625513"/>
                  </a:lnTo>
                  <a:lnTo>
                    <a:pt x="375462" y="586676"/>
                  </a:lnTo>
                  <a:lnTo>
                    <a:pt x="375386" y="538924"/>
                  </a:lnTo>
                  <a:lnTo>
                    <a:pt x="375589" y="515594"/>
                  </a:lnTo>
                  <a:lnTo>
                    <a:pt x="382422" y="525119"/>
                  </a:lnTo>
                  <a:lnTo>
                    <a:pt x="388683" y="538924"/>
                  </a:lnTo>
                  <a:lnTo>
                    <a:pt x="394373" y="552970"/>
                  </a:lnTo>
                  <a:lnTo>
                    <a:pt x="399453" y="563219"/>
                  </a:lnTo>
                  <a:lnTo>
                    <a:pt x="408139" y="575945"/>
                  </a:lnTo>
                  <a:lnTo>
                    <a:pt x="412927" y="586130"/>
                  </a:lnTo>
                  <a:lnTo>
                    <a:pt x="413143" y="598068"/>
                  </a:lnTo>
                  <a:lnTo>
                    <a:pt x="413143" y="472655"/>
                  </a:lnTo>
                  <a:lnTo>
                    <a:pt x="410527" y="471004"/>
                  </a:lnTo>
                  <a:lnTo>
                    <a:pt x="414274" y="455180"/>
                  </a:lnTo>
                  <a:lnTo>
                    <a:pt x="432308" y="439534"/>
                  </a:lnTo>
                  <a:lnTo>
                    <a:pt x="452793" y="425945"/>
                  </a:lnTo>
                  <a:lnTo>
                    <a:pt x="473964" y="409536"/>
                  </a:lnTo>
                  <a:lnTo>
                    <a:pt x="488353" y="395122"/>
                  </a:lnTo>
                  <a:lnTo>
                    <a:pt x="499186" y="383044"/>
                  </a:lnTo>
                  <a:lnTo>
                    <a:pt x="509739" y="373659"/>
                  </a:lnTo>
                  <a:lnTo>
                    <a:pt x="538289" y="363245"/>
                  </a:lnTo>
                  <a:lnTo>
                    <a:pt x="556069" y="374942"/>
                  </a:lnTo>
                  <a:lnTo>
                    <a:pt x="564184" y="402348"/>
                  </a:lnTo>
                  <a:lnTo>
                    <a:pt x="564184" y="48844"/>
                  </a:lnTo>
                  <a:lnTo>
                    <a:pt x="508711" y="22644"/>
                  </a:lnTo>
                  <a:lnTo>
                    <a:pt x="460667" y="9055"/>
                  </a:lnTo>
                  <a:lnTo>
                    <a:pt x="410298" y="1511"/>
                  </a:lnTo>
                  <a:lnTo>
                    <a:pt x="384657" y="0"/>
                  </a:lnTo>
                  <a:lnTo>
                    <a:pt x="368236" y="0"/>
                  </a:lnTo>
                  <a:lnTo>
                    <a:pt x="368236" y="538924"/>
                  </a:lnTo>
                  <a:lnTo>
                    <a:pt x="368160" y="586676"/>
                  </a:lnTo>
                  <a:lnTo>
                    <a:pt x="367766" y="625513"/>
                  </a:lnTo>
                  <a:lnTo>
                    <a:pt x="367106" y="643775"/>
                  </a:lnTo>
                  <a:lnTo>
                    <a:pt x="353491" y="642912"/>
                  </a:lnTo>
                  <a:lnTo>
                    <a:pt x="344970" y="636981"/>
                  </a:lnTo>
                  <a:lnTo>
                    <a:pt x="339585" y="627519"/>
                  </a:lnTo>
                  <a:lnTo>
                    <a:pt x="335407" y="616000"/>
                  </a:lnTo>
                  <a:lnTo>
                    <a:pt x="330428" y="598068"/>
                  </a:lnTo>
                  <a:lnTo>
                    <a:pt x="330657" y="586130"/>
                  </a:lnTo>
                  <a:lnTo>
                    <a:pt x="335432" y="575945"/>
                  </a:lnTo>
                  <a:lnTo>
                    <a:pt x="344144" y="563219"/>
                  </a:lnTo>
                  <a:lnTo>
                    <a:pt x="349211" y="552970"/>
                  </a:lnTo>
                  <a:lnTo>
                    <a:pt x="350164" y="550621"/>
                  </a:lnTo>
                  <a:lnTo>
                    <a:pt x="354901" y="538924"/>
                  </a:lnTo>
                  <a:lnTo>
                    <a:pt x="361162" y="525119"/>
                  </a:lnTo>
                  <a:lnTo>
                    <a:pt x="368007" y="515594"/>
                  </a:lnTo>
                  <a:lnTo>
                    <a:pt x="368236" y="538924"/>
                  </a:lnTo>
                  <a:lnTo>
                    <a:pt x="368236" y="0"/>
                  </a:lnTo>
                  <a:lnTo>
                    <a:pt x="358940" y="0"/>
                  </a:lnTo>
                  <a:lnTo>
                    <a:pt x="333298" y="1511"/>
                  </a:lnTo>
                  <a:lnTo>
                    <a:pt x="333108" y="1536"/>
                  </a:lnTo>
                  <a:lnTo>
                    <a:pt x="333108" y="471004"/>
                  </a:lnTo>
                  <a:lnTo>
                    <a:pt x="310756" y="485076"/>
                  </a:lnTo>
                  <a:lnTo>
                    <a:pt x="298488" y="498398"/>
                  </a:lnTo>
                  <a:lnTo>
                    <a:pt x="291134" y="520280"/>
                  </a:lnTo>
                  <a:lnTo>
                    <a:pt x="278485" y="540918"/>
                  </a:lnTo>
                  <a:lnTo>
                    <a:pt x="250380" y="550519"/>
                  </a:lnTo>
                  <a:lnTo>
                    <a:pt x="245719" y="550621"/>
                  </a:lnTo>
                  <a:lnTo>
                    <a:pt x="221843" y="540854"/>
                  </a:lnTo>
                  <a:lnTo>
                    <a:pt x="202171" y="514718"/>
                  </a:lnTo>
                  <a:lnTo>
                    <a:pt x="187820" y="478650"/>
                  </a:lnTo>
                  <a:lnTo>
                    <a:pt x="179857" y="439051"/>
                  </a:lnTo>
                  <a:lnTo>
                    <a:pt x="179387" y="402348"/>
                  </a:lnTo>
                  <a:lnTo>
                    <a:pt x="187502" y="374942"/>
                  </a:lnTo>
                  <a:lnTo>
                    <a:pt x="205295" y="363245"/>
                  </a:lnTo>
                  <a:lnTo>
                    <a:pt x="233857" y="373659"/>
                  </a:lnTo>
                  <a:lnTo>
                    <a:pt x="244398" y="383044"/>
                  </a:lnTo>
                  <a:lnTo>
                    <a:pt x="255244" y="395122"/>
                  </a:lnTo>
                  <a:lnTo>
                    <a:pt x="269621" y="409536"/>
                  </a:lnTo>
                  <a:lnTo>
                    <a:pt x="290817" y="425945"/>
                  </a:lnTo>
                  <a:lnTo>
                    <a:pt x="311289" y="439534"/>
                  </a:lnTo>
                  <a:lnTo>
                    <a:pt x="329336" y="455180"/>
                  </a:lnTo>
                  <a:lnTo>
                    <a:pt x="333108" y="471004"/>
                  </a:lnTo>
                  <a:lnTo>
                    <a:pt x="333108" y="1536"/>
                  </a:lnTo>
                  <a:lnTo>
                    <a:pt x="282930" y="9055"/>
                  </a:lnTo>
                  <a:lnTo>
                    <a:pt x="234886" y="22644"/>
                  </a:lnTo>
                  <a:lnTo>
                    <a:pt x="190512" y="42265"/>
                  </a:lnTo>
                  <a:lnTo>
                    <a:pt x="151130" y="67932"/>
                  </a:lnTo>
                  <a:lnTo>
                    <a:pt x="118059" y="99644"/>
                  </a:lnTo>
                  <a:lnTo>
                    <a:pt x="92646" y="137388"/>
                  </a:lnTo>
                  <a:lnTo>
                    <a:pt x="76225" y="181165"/>
                  </a:lnTo>
                  <a:lnTo>
                    <a:pt x="70104" y="230987"/>
                  </a:lnTo>
                  <a:lnTo>
                    <a:pt x="71323" y="258165"/>
                  </a:lnTo>
                  <a:lnTo>
                    <a:pt x="83172" y="317042"/>
                  </a:lnTo>
                  <a:lnTo>
                    <a:pt x="108661" y="381952"/>
                  </a:lnTo>
                  <a:lnTo>
                    <a:pt x="126949" y="416674"/>
                  </a:lnTo>
                  <a:lnTo>
                    <a:pt x="137795" y="442442"/>
                  </a:lnTo>
                  <a:lnTo>
                    <a:pt x="142608" y="466991"/>
                  </a:lnTo>
                  <a:lnTo>
                    <a:pt x="145973" y="492455"/>
                  </a:lnTo>
                  <a:lnTo>
                    <a:pt x="152450" y="520954"/>
                  </a:lnTo>
                  <a:lnTo>
                    <a:pt x="166052" y="545414"/>
                  </a:lnTo>
                  <a:lnTo>
                    <a:pt x="185381" y="566381"/>
                  </a:lnTo>
                  <a:lnTo>
                    <a:pt x="203644" y="586676"/>
                  </a:lnTo>
                  <a:lnTo>
                    <a:pt x="214020" y="609155"/>
                  </a:lnTo>
                  <a:lnTo>
                    <a:pt x="219786" y="625513"/>
                  </a:lnTo>
                  <a:lnTo>
                    <a:pt x="223367" y="649427"/>
                  </a:lnTo>
                  <a:lnTo>
                    <a:pt x="225831" y="673950"/>
                  </a:lnTo>
                  <a:lnTo>
                    <a:pt x="228257" y="692150"/>
                  </a:lnTo>
                  <a:lnTo>
                    <a:pt x="243370" y="733196"/>
                  </a:lnTo>
                  <a:lnTo>
                    <a:pt x="267550" y="765124"/>
                  </a:lnTo>
                  <a:lnTo>
                    <a:pt x="298526" y="787920"/>
                  </a:lnTo>
                  <a:lnTo>
                    <a:pt x="371792" y="806157"/>
                  </a:lnTo>
                  <a:lnTo>
                    <a:pt x="409562" y="801598"/>
                  </a:lnTo>
                  <a:lnTo>
                    <a:pt x="476034" y="765124"/>
                  </a:lnTo>
                  <a:lnTo>
                    <a:pt x="500214" y="733196"/>
                  </a:lnTo>
                  <a:lnTo>
                    <a:pt x="515340" y="692150"/>
                  </a:lnTo>
                  <a:lnTo>
                    <a:pt x="520230" y="649427"/>
                  </a:lnTo>
                  <a:lnTo>
                    <a:pt x="521068" y="643775"/>
                  </a:lnTo>
                  <a:lnTo>
                    <a:pt x="539940" y="586676"/>
                  </a:lnTo>
                  <a:lnTo>
                    <a:pt x="572731" y="550621"/>
                  </a:lnTo>
                  <a:lnTo>
                    <a:pt x="577532" y="545414"/>
                  </a:lnTo>
                  <a:lnTo>
                    <a:pt x="591146" y="520954"/>
                  </a:lnTo>
                  <a:lnTo>
                    <a:pt x="597611" y="492455"/>
                  </a:lnTo>
                  <a:lnTo>
                    <a:pt x="600976" y="467004"/>
                  </a:lnTo>
                  <a:lnTo>
                    <a:pt x="605802" y="442468"/>
                  </a:lnTo>
                  <a:lnTo>
                    <a:pt x="616699" y="416674"/>
                  </a:lnTo>
                  <a:lnTo>
                    <a:pt x="634961" y="381952"/>
                  </a:lnTo>
                  <a:lnTo>
                    <a:pt x="643153" y="363245"/>
                  </a:lnTo>
                  <a:lnTo>
                    <a:pt x="649490" y="348742"/>
                  </a:lnTo>
                  <a:lnTo>
                    <a:pt x="660450" y="317042"/>
                  </a:lnTo>
                  <a:lnTo>
                    <a:pt x="667994" y="286842"/>
                  </a:lnTo>
                  <a:lnTo>
                    <a:pt x="672287" y="258165"/>
                  </a:lnTo>
                  <a:lnTo>
                    <a:pt x="673519" y="230987"/>
                  </a:lnTo>
                  <a:close/>
                </a:path>
                <a:path w="744220" h="1746885">
                  <a:moveTo>
                    <a:pt x="743597" y="1746846"/>
                  </a:moveTo>
                  <a:lnTo>
                    <a:pt x="624928" y="1638947"/>
                  </a:lnTo>
                  <a:lnTo>
                    <a:pt x="118668" y="1638947"/>
                  </a:lnTo>
                  <a:lnTo>
                    <a:pt x="0" y="1746846"/>
                  </a:lnTo>
                  <a:lnTo>
                    <a:pt x="743597" y="1746846"/>
                  </a:lnTo>
                  <a:close/>
                </a:path>
              </a:pathLst>
            </a:custGeom>
            <a:solidFill>
              <a:srgbClr val="C20000"/>
            </a:solidFill>
          </p:spPr>
          <p:txBody>
            <a:bodyPr wrap="square" lIns="0" tIns="0" rIns="0" bIns="0" rtlCol="0"/>
            <a:lstStyle/>
            <a:p>
              <a:endParaRPr/>
            </a:p>
          </p:txBody>
        </p:sp>
        <p:pic>
          <p:nvPicPr>
            <p:cNvPr id="11" name="object 16">
              <a:extLst>
                <a:ext uri="{FF2B5EF4-FFF2-40B4-BE49-F238E27FC236}">
                  <a16:creationId xmlns:a16="http://schemas.microsoft.com/office/drawing/2014/main" id="{C6C311CD-0C63-4910-A8B0-FAA870D28D7C}"/>
                </a:ext>
              </a:extLst>
            </p:cNvPr>
            <p:cNvPicPr/>
            <p:nvPr/>
          </p:nvPicPr>
          <p:blipFill>
            <a:blip r:embed="rId2" cstate="print"/>
            <a:stretch>
              <a:fillRect/>
            </a:stretch>
          </p:blipFill>
          <p:spPr>
            <a:xfrm>
              <a:off x="5282704" y="2582570"/>
              <a:ext cx="3157042" cy="3082518"/>
            </a:xfrm>
            <a:prstGeom prst="rect">
              <a:avLst/>
            </a:prstGeom>
          </p:spPr>
        </p:pic>
        <p:pic>
          <p:nvPicPr>
            <p:cNvPr id="12" name="object 17">
              <a:extLst>
                <a:ext uri="{FF2B5EF4-FFF2-40B4-BE49-F238E27FC236}">
                  <a16:creationId xmlns:a16="http://schemas.microsoft.com/office/drawing/2014/main" id="{4DF2BFEB-47A6-1D53-3871-1043D77DD566}"/>
                </a:ext>
              </a:extLst>
            </p:cNvPr>
            <p:cNvPicPr/>
            <p:nvPr/>
          </p:nvPicPr>
          <p:blipFill>
            <a:blip r:embed="rId3" cstate="print"/>
            <a:stretch>
              <a:fillRect/>
            </a:stretch>
          </p:blipFill>
          <p:spPr>
            <a:xfrm>
              <a:off x="6513169" y="5638546"/>
              <a:ext cx="2200414" cy="343852"/>
            </a:xfrm>
            <a:prstGeom prst="rect">
              <a:avLst/>
            </a:prstGeom>
          </p:spPr>
        </p:pic>
        <p:pic>
          <p:nvPicPr>
            <p:cNvPr id="13" name="object 18">
              <a:extLst>
                <a:ext uri="{FF2B5EF4-FFF2-40B4-BE49-F238E27FC236}">
                  <a16:creationId xmlns:a16="http://schemas.microsoft.com/office/drawing/2014/main" id="{F904A286-0D88-DD0F-8F7C-6C269CCF1E18}"/>
                </a:ext>
              </a:extLst>
            </p:cNvPr>
            <p:cNvPicPr/>
            <p:nvPr/>
          </p:nvPicPr>
          <p:blipFill>
            <a:blip r:embed="rId4" cstate="print"/>
            <a:stretch>
              <a:fillRect/>
            </a:stretch>
          </p:blipFill>
          <p:spPr>
            <a:xfrm>
              <a:off x="6562297" y="3602482"/>
              <a:ext cx="2045490" cy="1891055"/>
            </a:xfrm>
            <a:prstGeom prst="rect">
              <a:avLst/>
            </a:prstGeom>
          </p:spPr>
        </p:pic>
      </p:grpSp>
    </p:spTree>
    <p:extLst>
      <p:ext uri="{BB962C8B-B14F-4D97-AF65-F5344CB8AC3E}">
        <p14:creationId xmlns:p14="http://schemas.microsoft.com/office/powerpoint/2010/main" val="2913033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23346-2457-E30C-65D5-9D0A592553C7}"/>
              </a:ext>
            </a:extLst>
          </p:cNvPr>
          <p:cNvSpPr>
            <a:spLocks noGrp="1"/>
          </p:cNvSpPr>
          <p:nvPr>
            <p:ph type="title"/>
          </p:nvPr>
        </p:nvSpPr>
        <p:spPr/>
        <p:txBody>
          <a:bodyPr/>
          <a:lstStyle/>
          <a:p>
            <a:r>
              <a:rPr lang="en-US" dirty="0"/>
              <a:t>Need for DFIR</a:t>
            </a:r>
            <a:endParaRPr lang="en-ID" dirty="0"/>
          </a:p>
        </p:txBody>
      </p:sp>
      <p:sp>
        <p:nvSpPr>
          <p:cNvPr id="3" name="Content Placeholder 2">
            <a:extLst>
              <a:ext uri="{FF2B5EF4-FFF2-40B4-BE49-F238E27FC236}">
                <a16:creationId xmlns:a16="http://schemas.microsoft.com/office/drawing/2014/main" id="{16D944DB-0524-A490-E15F-87DAAA94F63B}"/>
              </a:ext>
            </a:extLst>
          </p:cNvPr>
          <p:cNvSpPr>
            <a:spLocks noGrp="1"/>
          </p:cNvSpPr>
          <p:nvPr>
            <p:ph idx="1"/>
          </p:nvPr>
        </p:nvSpPr>
        <p:spPr/>
        <p:txBody>
          <a:bodyPr>
            <a:normAutofit fontScale="92500" lnSpcReduction="20000"/>
          </a:bodyPr>
          <a:lstStyle/>
          <a:p>
            <a:r>
              <a:rPr lang="en-US" dirty="0"/>
              <a:t>Attacks frequently compromise personal and business data, and it is critical to respond quickly and effectively when security breaches occur. </a:t>
            </a:r>
          </a:p>
          <a:p>
            <a:r>
              <a:rPr lang="en-US" dirty="0"/>
              <a:t>The concept of computer security incident response has become widely accepted and implemented. One of the benefits of having an incident response capability is </a:t>
            </a:r>
            <a:r>
              <a:rPr lang="en-US" b="1" dirty="0"/>
              <a:t>that it supports responding to incidents systematically</a:t>
            </a:r>
            <a:r>
              <a:rPr lang="en-US" dirty="0"/>
              <a:t> (i.e., following a consistent incident handling methodology) so that the appropriate actions are taken. </a:t>
            </a:r>
          </a:p>
          <a:p>
            <a:r>
              <a:rPr lang="en-US" dirty="0"/>
              <a:t>Incident response helps personnel to </a:t>
            </a:r>
            <a:r>
              <a:rPr lang="en-US" b="1" dirty="0"/>
              <a:t>minimize loss or theft of information and disruption of services </a:t>
            </a:r>
            <a:r>
              <a:rPr lang="en-US" dirty="0"/>
              <a:t>caused by incidents. </a:t>
            </a:r>
          </a:p>
          <a:p>
            <a:r>
              <a:rPr lang="en-US" dirty="0"/>
              <a:t>The ability to use information gained during incident handling to </a:t>
            </a:r>
            <a:r>
              <a:rPr lang="en-US" b="1" dirty="0"/>
              <a:t>better prepare for handling future incidents </a:t>
            </a:r>
            <a:r>
              <a:rPr lang="en-US" dirty="0"/>
              <a:t>and to provide stronger protection for systems and data </a:t>
            </a:r>
          </a:p>
          <a:p>
            <a:endParaRPr lang="en-ID" dirty="0"/>
          </a:p>
        </p:txBody>
      </p:sp>
    </p:spTree>
    <p:extLst>
      <p:ext uri="{BB962C8B-B14F-4D97-AF65-F5344CB8AC3E}">
        <p14:creationId xmlns:p14="http://schemas.microsoft.com/office/powerpoint/2010/main" val="2009641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02FB-F521-8471-D451-FA5ABA449678}"/>
              </a:ext>
            </a:extLst>
          </p:cNvPr>
          <p:cNvSpPr>
            <a:spLocks noGrp="1"/>
          </p:cNvSpPr>
          <p:nvPr>
            <p:ph type="title"/>
          </p:nvPr>
        </p:nvSpPr>
        <p:spPr/>
        <p:txBody>
          <a:bodyPr/>
          <a:lstStyle/>
          <a:p>
            <a:r>
              <a:rPr lang="en-US" dirty="0"/>
              <a:t>Goals of an DFIR Plan </a:t>
            </a:r>
            <a:endParaRPr lang="en-ID" dirty="0"/>
          </a:p>
        </p:txBody>
      </p:sp>
      <p:sp>
        <p:nvSpPr>
          <p:cNvPr id="3" name="Content Placeholder 2">
            <a:extLst>
              <a:ext uri="{FF2B5EF4-FFF2-40B4-BE49-F238E27FC236}">
                <a16:creationId xmlns:a16="http://schemas.microsoft.com/office/drawing/2014/main" id="{588E8F2C-7621-D3CF-01E0-FF5653B87865}"/>
              </a:ext>
            </a:extLst>
          </p:cNvPr>
          <p:cNvSpPr>
            <a:spLocks noGrp="1"/>
          </p:cNvSpPr>
          <p:nvPr>
            <p:ph idx="1"/>
          </p:nvPr>
        </p:nvSpPr>
        <p:spPr/>
        <p:txBody>
          <a:bodyPr/>
          <a:lstStyle/>
          <a:p>
            <a:r>
              <a:rPr lang="en-US" dirty="0"/>
              <a:t>Verify that an incident has occurred</a:t>
            </a:r>
          </a:p>
          <a:p>
            <a:r>
              <a:rPr lang="en-US" dirty="0"/>
              <a:t>Maintain or restore Business Continuity</a:t>
            </a:r>
          </a:p>
          <a:p>
            <a:r>
              <a:rPr lang="en-US" dirty="0"/>
              <a:t>Reduce the impact of the incident</a:t>
            </a:r>
          </a:p>
          <a:p>
            <a:r>
              <a:rPr lang="en-US" dirty="0"/>
              <a:t>Determine attack vectors and how the incident occurred</a:t>
            </a:r>
          </a:p>
          <a:p>
            <a:r>
              <a:rPr lang="en-US" dirty="0"/>
              <a:t>Prevent future attacks/incidents</a:t>
            </a:r>
          </a:p>
          <a:p>
            <a:r>
              <a:rPr lang="en-US" dirty="0"/>
              <a:t>Improve the organization’s security posture</a:t>
            </a:r>
          </a:p>
          <a:p>
            <a:r>
              <a:rPr lang="en-US" dirty="0"/>
              <a:t>Keep management informed and follow proper chain of command procedures</a:t>
            </a:r>
          </a:p>
        </p:txBody>
      </p:sp>
    </p:spTree>
    <p:extLst>
      <p:ext uri="{BB962C8B-B14F-4D97-AF65-F5344CB8AC3E}">
        <p14:creationId xmlns:p14="http://schemas.microsoft.com/office/powerpoint/2010/main" val="3549985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F9942F-DD69-3FA0-A3AC-E6BCCE452D5E}"/>
              </a:ext>
            </a:extLst>
          </p:cNvPr>
          <p:cNvSpPr>
            <a:spLocks noGrp="1"/>
          </p:cNvSpPr>
          <p:nvPr>
            <p:ph type="title"/>
          </p:nvPr>
        </p:nvSpPr>
        <p:spPr/>
        <p:txBody>
          <a:bodyPr/>
          <a:lstStyle/>
          <a:p>
            <a:r>
              <a:rPr lang="en-GB" b="1" dirty="0"/>
              <a:t>DFIR Life Cycle</a:t>
            </a:r>
            <a:endParaRPr lang="en-ID" b="1" dirty="0"/>
          </a:p>
        </p:txBody>
      </p:sp>
      <p:sp>
        <p:nvSpPr>
          <p:cNvPr id="5" name="Text Placeholder 4">
            <a:extLst>
              <a:ext uri="{FF2B5EF4-FFF2-40B4-BE49-F238E27FC236}">
                <a16:creationId xmlns:a16="http://schemas.microsoft.com/office/drawing/2014/main" id="{BD8F06CC-5AE8-F978-34E3-9A2439B546D7}"/>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281702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C58FB-69A5-17A2-F262-AE4680BC5C9B}"/>
              </a:ext>
            </a:extLst>
          </p:cNvPr>
          <p:cNvSpPr>
            <a:spLocks noGrp="1"/>
          </p:cNvSpPr>
          <p:nvPr>
            <p:ph type="title"/>
          </p:nvPr>
        </p:nvSpPr>
        <p:spPr/>
        <p:txBody>
          <a:bodyPr/>
          <a:lstStyle/>
          <a:p>
            <a:r>
              <a:rPr lang="en-GB" dirty="0"/>
              <a:t>DFIR Life Cycle</a:t>
            </a:r>
            <a:endParaRPr lang="en-ID" dirty="0"/>
          </a:p>
        </p:txBody>
      </p:sp>
      <p:pic>
        <p:nvPicPr>
          <p:cNvPr id="4" name="Content Placeholder 5" descr="A picture containing shirt&#10;&#10;Description automatically generated">
            <a:extLst>
              <a:ext uri="{FF2B5EF4-FFF2-40B4-BE49-F238E27FC236}">
                <a16:creationId xmlns:a16="http://schemas.microsoft.com/office/drawing/2014/main" id="{BEB0B783-8CF0-C0B4-7186-F671E5507470}"/>
              </a:ext>
            </a:extLst>
          </p:cNvPr>
          <p:cNvPicPr>
            <a:picLocks noGrp="1" noChangeAspect="1"/>
          </p:cNvPicPr>
          <p:nvPr>
            <p:ph idx="1"/>
          </p:nvPr>
        </p:nvPicPr>
        <p:blipFill rotWithShape="1">
          <a:blip r:embed="rId2"/>
          <a:srcRect t="18306" b="23466"/>
          <a:stretch/>
        </p:blipFill>
        <p:spPr>
          <a:xfrm>
            <a:off x="838200" y="2299113"/>
            <a:ext cx="10515600" cy="3404362"/>
          </a:xfrm>
          <a:prstGeom prst="rect">
            <a:avLst/>
          </a:prstGeom>
        </p:spPr>
      </p:pic>
    </p:spTree>
    <p:extLst>
      <p:ext uri="{BB962C8B-B14F-4D97-AF65-F5344CB8AC3E}">
        <p14:creationId xmlns:p14="http://schemas.microsoft.com/office/powerpoint/2010/main" val="4141054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AB0D1DCD-0301-7F22-E6EA-6A5526DED21F}"/>
              </a:ext>
            </a:extLst>
          </p:cNvPr>
          <p:cNvCxnSpPr>
            <a:cxnSpLocks/>
          </p:cNvCxnSpPr>
          <p:nvPr/>
        </p:nvCxnSpPr>
        <p:spPr>
          <a:xfrm>
            <a:off x="450607" y="4443386"/>
            <a:ext cx="11098282" cy="0"/>
          </a:xfrm>
          <a:prstGeom prst="line">
            <a:avLst/>
          </a:prstGeom>
          <a:ln w="15875" cmpd="sng">
            <a:solidFill>
              <a:srgbClr val="8E8E8E"/>
            </a:solidFill>
            <a:prstDash val="sysDot"/>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95DEE2B4-B10B-FC84-C493-719204F5E60E}"/>
              </a:ext>
            </a:extLst>
          </p:cNvPr>
          <p:cNvSpPr>
            <a:spLocks noGrp="1"/>
          </p:cNvSpPr>
          <p:nvPr>
            <p:ph type="title"/>
          </p:nvPr>
        </p:nvSpPr>
        <p:spPr/>
        <p:txBody>
          <a:bodyPr/>
          <a:lstStyle/>
          <a:p>
            <a:r>
              <a:rPr lang="en-GB" dirty="0"/>
              <a:t>Digital Forensic and Incident Response </a:t>
            </a:r>
            <a:endParaRPr lang="en-ID" dirty="0"/>
          </a:p>
        </p:txBody>
      </p:sp>
      <p:sp>
        <p:nvSpPr>
          <p:cNvPr id="6" name="Content Placeholder 5">
            <a:extLst>
              <a:ext uri="{FF2B5EF4-FFF2-40B4-BE49-F238E27FC236}">
                <a16:creationId xmlns:a16="http://schemas.microsoft.com/office/drawing/2014/main" id="{1524B6BE-1272-B664-A15D-CFAB1FC475D9}"/>
              </a:ext>
            </a:extLst>
          </p:cNvPr>
          <p:cNvSpPr>
            <a:spLocks noGrp="1"/>
          </p:cNvSpPr>
          <p:nvPr>
            <p:ph idx="1"/>
          </p:nvPr>
        </p:nvSpPr>
        <p:spPr/>
        <p:txBody>
          <a:bodyPr/>
          <a:lstStyle/>
          <a:p>
            <a:pPr marL="0" indent="0" algn="ctr">
              <a:buNone/>
            </a:pPr>
            <a:r>
              <a:rPr lang="en-US" b="1" dirty="0"/>
              <a:t>Using one does not mean you don’t need the other</a:t>
            </a:r>
          </a:p>
          <a:p>
            <a:pPr marL="0" indent="0" algn="ctr">
              <a:buNone/>
            </a:pPr>
            <a:endParaRPr lang="en-ID" dirty="0"/>
          </a:p>
        </p:txBody>
      </p:sp>
      <p:pic>
        <p:nvPicPr>
          <p:cNvPr id="10" name="Picture 9">
            <a:extLst>
              <a:ext uri="{FF2B5EF4-FFF2-40B4-BE49-F238E27FC236}">
                <a16:creationId xmlns:a16="http://schemas.microsoft.com/office/drawing/2014/main" id="{2DACC6AF-BDE3-26A5-E916-AC3D0B170404}"/>
              </a:ext>
            </a:extLst>
          </p:cNvPr>
          <p:cNvPicPr>
            <a:picLocks noChangeAspect="1"/>
          </p:cNvPicPr>
          <p:nvPr/>
        </p:nvPicPr>
        <p:blipFill>
          <a:blip r:embed="rId2"/>
          <a:srcRect/>
          <a:stretch/>
        </p:blipFill>
        <p:spPr>
          <a:xfrm>
            <a:off x="3394810" y="2607971"/>
            <a:ext cx="5402379" cy="3568992"/>
          </a:xfrm>
          <a:prstGeom prst="rect">
            <a:avLst/>
          </a:prstGeom>
        </p:spPr>
      </p:pic>
      <p:sp>
        <p:nvSpPr>
          <p:cNvPr id="11" name="object 516">
            <a:extLst>
              <a:ext uri="{FF2B5EF4-FFF2-40B4-BE49-F238E27FC236}">
                <a16:creationId xmlns:a16="http://schemas.microsoft.com/office/drawing/2014/main" id="{8350C558-0266-F442-1ED2-2073AF84B085}"/>
              </a:ext>
            </a:extLst>
          </p:cNvPr>
          <p:cNvSpPr txBox="1"/>
          <p:nvPr/>
        </p:nvSpPr>
        <p:spPr>
          <a:xfrm>
            <a:off x="4376605" y="3906176"/>
            <a:ext cx="1278320" cy="972583"/>
          </a:xfrm>
          <a:prstGeom prst="rect">
            <a:avLst/>
          </a:prstGeom>
        </p:spPr>
        <p:txBody>
          <a:bodyPr vert="horz" wrap="square" lIns="0" tIns="12697" rIns="0" bIns="0" rtlCol="0" anchor="ctr" anchorCtr="0">
            <a:noAutofit/>
          </a:bodyPr>
          <a:lstStyle/>
          <a:p>
            <a:pPr algn="ctr" defTabSz="607831">
              <a:lnSpc>
                <a:spcPts val="1899"/>
              </a:lnSpc>
              <a:defRPr/>
            </a:pPr>
            <a:r>
              <a:rPr lang="en-US" sz="1999" b="1" dirty="0">
                <a:latin typeface="Georgia" panose="02040502050405020303" pitchFamily="18" charset="0"/>
              </a:rPr>
              <a:t>Triage</a:t>
            </a:r>
          </a:p>
        </p:txBody>
      </p:sp>
      <p:sp>
        <p:nvSpPr>
          <p:cNvPr id="12" name="object 516">
            <a:extLst>
              <a:ext uri="{FF2B5EF4-FFF2-40B4-BE49-F238E27FC236}">
                <a16:creationId xmlns:a16="http://schemas.microsoft.com/office/drawing/2014/main" id="{6B1253B2-DF00-F0F7-353C-A1BA0716EE5F}"/>
              </a:ext>
            </a:extLst>
          </p:cNvPr>
          <p:cNvSpPr txBox="1"/>
          <p:nvPr/>
        </p:nvSpPr>
        <p:spPr>
          <a:xfrm>
            <a:off x="6537077" y="4029726"/>
            <a:ext cx="1278320" cy="849033"/>
          </a:xfrm>
          <a:prstGeom prst="rect">
            <a:avLst/>
          </a:prstGeom>
        </p:spPr>
        <p:txBody>
          <a:bodyPr vert="horz" wrap="square" lIns="0" tIns="12697" rIns="0" bIns="0" rtlCol="0" anchor="ctr" anchorCtr="0">
            <a:noAutofit/>
          </a:bodyPr>
          <a:lstStyle/>
          <a:p>
            <a:pPr algn="ctr" defTabSz="607831">
              <a:lnSpc>
                <a:spcPts val="1899"/>
              </a:lnSpc>
              <a:defRPr/>
            </a:pPr>
            <a:r>
              <a:rPr lang="en-US" sz="1999" b="1" dirty="0">
                <a:latin typeface="Georgia" panose="02040502050405020303" pitchFamily="18" charset="0"/>
              </a:rPr>
              <a:t>Full Disk</a:t>
            </a:r>
          </a:p>
        </p:txBody>
      </p:sp>
      <p:sp>
        <p:nvSpPr>
          <p:cNvPr id="14" name="object 520">
            <a:extLst>
              <a:ext uri="{FF2B5EF4-FFF2-40B4-BE49-F238E27FC236}">
                <a16:creationId xmlns:a16="http://schemas.microsoft.com/office/drawing/2014/main" id="{EBFAEA86-D8CE-68F0-1B5D-256166E28B47}"/>
              </a:ext>
            </a:extLst>
          </p:cNvPr>
          <p:cNvSpPr txBox="1"/>
          <p:nvPr/>
        </p:nvSpPr>
        <p:spPr>
          <a:xfrm>
            <a:off x="377863" y="2910633"/>
            <a:ext cx="2875958" cy="1397816"/>
          </a:xfrm>
          <a:prstGeom prst="rect">
            <a:avLst/>
          </a:prstGeom>
        </p:spPr>
        <p:txBody>
          <a:bodyPr vert="horz" wrap="square" lIns="0" tIns="12697" rIns="0" bIns="0" rtlCol="0" anchor="b" anchorCtr="0">
            <a:spAutoFit/>
          </a:bodyPr>
          <a:lstStyle/>
          <a:p>
            <a:pPr defTabSz="607831">
              <a:defRPr/>
            </a:pPr>
            <a:r>
              <a:rPr lang="en-US" b="1" dirty="0">
                <a:latin typeface="Georgia" panose="02040502050405020303" pitchFamily="18" charset="0"/>
              </a:rPr>
              <a:t>Incident Response</a:t>
            </a:r>
          </a:p>
          <a:p>
            <a:pPr marL="285750" indent="-285750" defTabSz="607831">
              <a:buFont typeface="Arial" panose="020B0604020202020204" pitchFamily="34" charset="0"/>
              <a:buChar char="•"/>
              <a:defRPr/>
            </a:pPr>
            <a:r>
              <a:rPr lang="en-US" dirty="0">
                <a:latin typeface="Georgia" panose="02040502050405020303" pitchFamily="18" charset="0"/>
              </a:rPr>
              <a:t>Assess system to identify leads or suspicious activity</a:t>
            </a:r>
          </a:p>
          <a:p>
            <a:pPr marL="285750" indent="-285750" defTabSz="607831">
              <a:buFont typeface="Arial" panose="020B0604020202020204" pitchFamily="34" charset="0"/>
              <a:buChar char="•"/>
              <a:defRPr/>
            </a:pPr>
            <a:r>
              <a:rPr lang="en-US" dirty="0">
                <a:latin typeface="Georgia" panose="02040502050405020303" pitchFamily="18" charset="0"/>
              </a:rPr>
              <a:t>May impact live systems</a:t>
            </a:r>
          </a:p>
        </p:txBody>
      </p:sp>
      <p:sp>
        <p:nvSpPr>
          <p:cNvPr id="15" name="object 520">
            <a:extLst>
              <a:ext uri="{FF2B5EF4-FFF2-40B4-BE49-F238E27FC236}">
                <a16:creationId xmlns:a16="http://schemas.microsoft.com/office/drawing/2014/main" id="{FFDD70DA-C2DF-613D-82A2-0D52E0DF7BE6}"/>
              </a:ext>
            </a:extLst>
          </p:cNvPr>
          <p:cNvSpPr txBox="1"/>
          <p:nvPr/>
        </p:nvSpPr>
        <p:spPr>
          <a:xfrm>
            <a:off x="8938178" y="4443386"/>
            <a:ext cx="2994052" cy="1674814"/>
          </a:xfrm>
          <a:prstGeom prst="rect">
            <a:avLst/>
          </a:prstGeom>
        </p:spPr>
        <p:txBody>
          <a:bodyPr vert="horz" wrap="square" lIns="0" tIns="12697" rIns="0" bIns="0" rtlCol="0" anchor="b" anchorCtr="0">
            <a:spAutoFit/>
          </a:bodyPr>
          <a:lstStyle/>
          <a:p>
            <a:pPr defTabSz="607831">
              <a:defRPr/>
            </a:pPr>
            <a:r>
              <a:rPr lang="en-US" b="1" dirty="0">
                <a:latin typeface="Georgia" panose="02040502050405020303" pitchFamily="18" charset="0"/>
              </a:rPr>
              <a:t>Digital Forensics</a:t>
            </a:r>
          </a:p>
          <a:p>
            <a:pPr marL="285750" indent="-285750" defTabSz="607831">
              <a:buFont typeface="Arial" panose="020B0604020202020204" pitchFamily="34" charset="0"/>
              <a:buChar char="•"/>
              <a:defRPr/>
            </a:pPr>
            <a:r>
              <a:rPr lang="en-US" dirty="0">
                <a:latin typeface="Georgia" panose="02040502050405020303" pitchFamily="18" charset="0"/>
              </a:rPr>
              <a:t>Thoroughly investigate available data on a system </a:t>
            </a:r>
          </a:p>
          <a:p>
            <a:pPr marL="285750" indent="-285750" defTabSz="607831">
              <a:buFont typeface="Arial" panose="020B0604020202020204" pitchFamily="34" charset="0"/>
              <a:buChar char="•"/>
              <a:defRPr/>
            </a:pPr>
            <a:r>
              <a:rPr lang="en-US" dirty="0">
                <a:latin typeface="Georgia" panose="02040502050405020303" pitchFamily="18" charset="0"/>
              </a:rPr>
              <a:t>Should not impact live systems, but could require downtime</a:t>
            </a:r>
          </a:p>
        </p:txBody>
      </p:sp>
    </p:spTree>
    <p:extLst>
      <p:ext uri="{BB962C8B-B14F-4D97-AF65-F5344CB8AC3E}">
        <p14:creationId xmlns:p14="http://schemas.microsoft.com/office/powerpoint/2010/main" val="2318580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27A92-1891-616C-6CAB-2E9F56C935D5}"/>
              </a:ext>
            </a:extLst>
          </p:cNvPr>
          <p:cNvSpPr>
            <a:spLocks noGrp="1"/>
          </p:cNvSpPr>
          <p:nvPr>
            <p:ph type="title"/>
          </p:nvPr>
        </p:nvSpPr>
        <p:spPr/>
        <p:txBody>
          <a:bodyPr/>
          <a:lstStyle/>
          <a:p>
            <a:r>
              <a:rPr lang="en-US" sz="3200" dirty="0"/>
              <a:t>DFIR &gt;&lt; Threat Hunting &gt;&lt; Detection Engineering &gt;&lt; Malware Analysis</a:t>
            </a:r>
            <a:endParaRPr lang="en-ID" dirty="0"/>
          </a:p>
        </p:txBody>
      </p:sp>
      <p:pic>
        <p:nvPicPr>
          <p:cNvPr id="4" name="Content Placeholder 6">
            <a:extLst>
              <a:ext uri="{FF2B5EF4-FFF2-40B4-BE49-F238E27FC236}">
                <a16:creationId xmlns:a16="http://schemas.microsoft.com/office/drawing/2014/main" id="{83149CB4-1632-7C97-4341-0C359C93FD74}"/>
              </a:ext>
            </a:extLst>
          </p:cNvPr>
          <p:cNvPicPr>
            <a:picLocks noGrp="1" noChangeAspect="1"/>
          </p:cNvPicPr>
          <p:nvPr>
            <p:ph idx="1"/>
          </p:nvPr>
        </p:nvPicPr>
        <p:blipFill>
          <a:blip r:embed="rId2"/>
          <a:stretch>
            <a:fillRect/>
          </a:stretch>
        </p:blipFill>
        <p:spPr>
          <a:xfrm>
            <a:off x="1521714" y="1825625"/>
            <a:ext cx="9148572" cy="4351338"/>
          </a:xfrm>
        </p:spPr>
      </p:pic>
      <p:sp>
        <p:nvSpPr>
          <p:cNvPr id="5" name="TextBox 4">
            <a:extLst>
              <a:ext uri="{FF2B5EF4-FFF2-40B4-BE49-F238E27FC236}">
                <a16:creationId xmlns:a16="http://schemas.microsoft.com/office/drawing/2014/main" id="{4B516B03-42B1-3418-3335-267C786EDDD7}"/>
              </a:ext>
            </a:extLst>
          </p:cNvPr>
          <p:cNvSpPr txBox="1"/>
          <p:nvPr/>
        </p:nvSpPr>
        <p:spPr>
          <a:xfrm>
            <a:off x="145323" y="5915892"/>
            <a:ext cx="1859940" cy="457974"/>
          </a:xfrm>
          <a:prstGeom prst="rect">
            <a:avLst/>
          </a:prstGeom>
          <a:noFill/>
        </p:spPr>
        <p:txBody>
          <a:bodyPr wrap="square" rtlCol="0">
            <a:spAutoFit/>
          </a:bodyPr>
          <a:lstStyle/>
          <a:p>
            <a:r>
              <a:rPr lang="en-US" sz="1200" dirty="0">
                <a:latin typeface="Georgia" panose="02040502050405020303" pitchFamily="18" charset="0"/>
              </a:rPr>
              <a:t>SANS Threat </a:t>
            </a:r>
          </a:p>
          <a:p>
            <a:r>
              <a:rPr lang="en-US" sz="1200" dirty="0">
                <a:latin typeface="Georgia" panose="02040502050405020303" pitchFamily="18" charset="0"/>
              </a:rPr>
              <a:t>Hunting Summit 2020</a:t>
            </a:r>
            <a:endParaRPr lang="en-ID" sz="1200" dirty="0">
              <a:latin typeface="Georgia" panose="02040502050405020303" pitchFamily="18" charset="0"/>
            </a:endParaRPr>
          </a:p>
        </p:txBody>
      </p:sp>
    </p:spTree>
    <p:extLst>
      <p:ext uri="{BB962C8B-B14F-4D97-AF65-F5344CB8AC3E}">
        <p14:creationId xmlns:p14="http://schemas.microsoft.com/office/powerpoint/2010/main" val="2294552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1BF6-8924-58BA-37A1-A3C939895DF3}"/>
              </a:ext>
            </a:extLst>
          </p:cNvPr>
          <p:cNvSpPr>
            <a:spLocks noGrp="1"/>
          </p:cNvSpPr>
          <p:nvPr>
            <p:ph type="title"/>
          </p:nvPr>
        </p:nvSpPr>
        <p:spPr/>
        <p:txBody>
          <a:bodyPr/>
          <a:lstStyle/>
          <a:p>
            <a:r>
              <a:rPr lang="en-GB" dirty="0"/>
              <a:t>Finding Evil</a:t>
            </a:r>
            <a:endParaRPr lang="en-ID" dirty="0"/>
          </a:p>
        </p:txBody>
      </p:sp>
      <p:sp>
        <p:nvSpPr>
          <p:cNvPr id="3" name="Content Placeholder 2">
            <a:extLst>
              <a:ext uri="{FF2B5EF4-FFF2-40B4-BE49-F238E27FC236}">
                <a16:creationId xmlns:a16="http://schemas.microsoft.com/office/drawing/2014/main" id="{729D7E25-8902-4A0F-80DB-0552F69BC925}"/>
              </a:ext>
            </a:extLst>
          </p:cNvPr>
          <p:cNvSpPr>
            <a:spLocks noGrp="1"/>
          </p:cNvSpPr>
          <p:nvPr>
            <p:ph idx="1"/>
          </p:nvPr>
        </p:nvSpPr>
        <p:spPr/>
        <p:txBody>
          <a:bodyPr/>
          <a:lstStyle/>
          <a:p>
            <a:r>
              <a:rPr lang="en-US" sz="2400" dirty="0">
                <a:solidFill>
                  <a:schemeClr val="tx1"/>
                </a:solidFill>
              </a:rPr>
              <a:t>Malicious behavior may not always be identified before IR is engaged.</a:t>
            </a:r>
          </a:p>
          <a:p>
            <a:r>
              <a:rPr lang="en-US" sz="2400" dirty="0">
                <a:solidFill>
                  <a:schemeClr val="tx1"/>
                </a:solidFill>
              </a:rPr>
              <a:t>A baseline of expected activity will make it easier to identify suspicious behaviors</a:t>
            </a:r>
          </a:p>
          <a:p>
            <a:r>
              <a:rPr lang="en-US" sz="2400" dirty="0">
                <a:solidFill>
                  <a:schemeClr val="tx1"/>
                </a:solidFill>
              </a:rPr>
              <a:t>Common indicators:</a:t>
            </a:r>
          </a:p>
          <a:p>
            <a:pPr lvl="1"/>
            <a:endParaRPr lang="en-US" dirty="0"/>
          </a:p>
          <a:p>
            <a:pPr lvl="1"/>
            <a:endParaRPr lang="en-US" dirty="0"/>
          </a:p>
          <a:p>
            <a:pPr lvl="1"/>
            <a:endParaRPr lang="en-US" dirty="0"/>
          </a:p>
          <a:p>
            <a:pPr lvl="1"/>
            <a:endParaRPr lang="en-US" dirty="0"/>
          </a:p>
          <a:p>
            <a:r>
              <a:rPr lang="en-US" sz="2400" dirty="0">
                <a:solidFill>
                  <a:schemeClr val="tx1"/>
                </a:solidFill>
              </a:rPr>
              <a:t>Use the hypothesis approach to set end points. There will likely be several paths to follow. Note them down, but finish your current hypothesis</a:t>
            </a:r>
          </a:p>
        </p:txBody>
      </p:sp>
      <p:grpSp>
        <p:nvGrpSpPr>
          <p:cNvPr id="4" name="Group 3">
            <a:extLst>
              <a:ext uri="{FF2B5EF4-FFF2-40B4-BE49-F238E27FC236}">
                <a16:creationId xmlns:a16="http://schemas.microsoft.com/office/drawing/2014/main" id="{ADAAF445-F9BF-8B6A-1E37-652266069B8E}"/>
              </a:ext>
            </a:extLst>
          </p:cNvPr>
          <p:cNvGrpSpPr/>
          <p:nvPr/>
        </p:nvGrpSpPr>
        <p:grpSpPr>
          <a:xfrm>
            <a:off x="838200" y="3746274"/>
            <a:ext cx="1669576" cy="1001745"/>
            <a:chOff x="1325" y="278773"/>
            <a:chExt cx="1669576" cy="1001745"/>
          </a:xfrm>
          <a:solidFill>
            <a:srgbClr val="002060"/>
          </a:solidFill>
        </p:grpSpPr>
        <p:sp>
          <p:nvSpPr>
            <p:cNvPr id="20" name="Rectangle 19">
              <a:extLst>
                <a:ext uri="{FF2B5EF4-FFF2-40B4-BE49-F238E27FC236}">
                  <a16:creationId xmlns:a16="http://schemas.microsoft.com/office/drawing/2014/main" id="{3FF8153A-3418-E4A6-B1A0-B7A08A0D88E8}"/>
                </a:ext>
              </a:extLst>
            </p:cNvPr>
            <p:cNvSpPr/>
            <p:nvPr/>
          </p:nvSpPr>
          <p:spPr>
            <a:xfrm>
              <a:off x="1325"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1" name="TextBox 20">
              <a:extLst>
                <a:ext uri="{FF2B5EF4-FFF2-40B4-BE49-F238E27FC236}">
                  <a16:creationId xmlns:a16="http://schemas.microsoft.com/office/drawing/2014/main" id="{3EE64146-5CD3-62E6-0206-81EF9F1AF3A6}"/>
                </a:ext>
              </a:extLst>
            </p:cNvPr>
            <p:cNvSpPr txBox="1"/>
            <p:nvPr/>
          </p:nvSpPr>
          <p:spPr>
            <a:xfrm>
              <a:off x="1325"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Rogue Connections</a:t>
              </a:r>
            </a:p>
          </p:txBody>
        </p:sp>
      </p:grpSp>
      <p:grpSp>
        <p:nvGrpSpPr>
          <p:cNvPr id="5" name="Group 4">
            <a:extLst>
              <a:ext uri="{FF2B5EF4-FFF2-40B4-BE49-F238E27FC236}">
                <a16:creationId xmlns:a16="http://schemas.microsoft.com/office/drawing/2014/main" id="{C6CEC7A5-70E6-9285-4839-E581A6EB1841}"/>
              </a:ext>
            </a:extLst>
          </p:cNvPr>
          <p:cNvGrpSpPr/>
          <p:nvPr/>
        </p:nvGrpSpPr>
        <p:grpSpPr>
          <a:xfrm>
            <a:off x="2674734" y="3746274"/>
            <a:ext cx="1669576" cy="1001745"/>
            <a:chOff x="1837859" y="278773"/>
            <a:chExt cx="1669576" cy="1001745"/>
          </a:xfrm>
          <a:solidFill>
            <a:srgbClr val="002060"/>
          </a:solidFill>
        </p:grpSpPr>
        <p:sp>
          <p:nvSpPr>
            <p:cNvPr id="18" name="Rectangle 17">
              <a:extLst>
                <a:ext uri="{FF2B5EF4-FFF2-40B4-BE49-F238E27FC236}">
                  <a16:creationId xmlns:a16="http://schemas.microsoft.com/office/drawing/2014/main" id="{6E07E60C-0C99-BCB5-B510-2EC7D7E1DB1F}"/>
                </a:ext>
              </a:extLst>
            </p:cNvPr>
            <p:cNvSpPr/>
            <p:nvPr/>
          </p:nvSpPr>
          <p:spPr>
            <a:xfrm>
              <a:off x="1837859"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9" name="TextBox 18">
              <a:extLst>
                <a:ext uri="{FF2B5EF4-FFF2-40B4-BE49-F238E27FC236}">
                  <a16:creationId xmlns:a16="http://schemas.microsoft.com/office/drawing/2014/main" id="{C1CA9E79-43C7-CDEC-AA0E-040D6B62B254}"/>
                </a:ext>
              </a:extLst>
            </p:cNvPr>
            <p:cNvSpPr txBox="1"/>
            <p:nvPr/>
          </p:nvSpPr>
          <p:spPr>
            <a:xfrm>
              <a:off x="1837859"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Unusual Processes</a:t>
              </a:r>
            </a:p>
          </p:txBody>
        </p:sp>
      </p:grpSp>
      <p:grpSp>
        <p:nvGrpSpPr>
          <p:cNvPr id="6" name="Group 5">
            <a:extLst>
              <a:ext uri="{FF2B5EF4-FFF2-40B4-BE49-F238E27FC236}">
                <a16:creationId xmlns:a16="http://schemas.microsoft.com/office/drawing/2014/main" id="{1B9FCCB7-3332-F144-E1F7-E6A7120EF8F2}"/>
              </a:ext>
            </a:extLst>
          </p:cNvPr>
          <p:cNvGrpSpPr/>
          <p:nvPr/>
        </p:nvGrpSpPr>
        <p:grpSpPr>
          <a:xfrm>
            <a:off x="4511268" y="3746274"/>
            <a:ext cx="1669576" cy="1001745"/>
            <a:chOff x="3674393" y="278773"/>
            <a:chExt cx="1669576" cy="1001745"/>
          </a:xfrm>
          <a:solidFill>
            <a:srgbClr val="002060"/>
          </a:solidFill>
        </p:grpSpPr>
        <p:sp>
          <p:nvSpPr>
            <p:cNvPr id="16" name="Rectangle 15">
              <a:extLst>
                <a:ext uri="{FF2B5EF4-FFF2-40B4-BE49-F238E27FC236}">
                  <a16:creationId xmlns:a16="http://schemas.microsoft.com/office/drawing/2014/main" id="{8D4676DC-04EB-EE46-3B6B-7012E15C6A3C}"/>
                </a:ext>
              </a:extLst>
            </p:cNvPr>
            <p:cNvSpPr/>
            <p:nvPr/>
          </p:nvSpPr>
          <p:spPr>
            <a:xfrm>
              <a:off x="3674393"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7" name="TextBox 16">
              <a:extLst>
                <a:ext uri="{FF2B5EF4-FFF2-40B4-BE49-F238E27FC236}">
                  <a16:creationId xmlns:a16="http://schemas.microsoft.com/office/drawing/2014/main" id="{D5767903-655B-A2C2-9ED7-41E715F481A1}"/>
                </a:ext>
              </a:extLst>
            </p:cNvPr>
            <p:cNvSpPr txBox="1"/>
            <p:nvPr/>
          </p:nvSpPr>
          <p:spPr>
            <a:xfrm>
              <a:off x="3674393"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Unusual Services</a:t>
              </a:r>
            </a:p>
          </p:txBody>
        </p:sp>
      </p:grpSp>
      <p:grpSp>
        <p:nvGrpSpPr>
          <p:cNvPr id="7" name="Group 6">
            <a:extLst>
              <a:ext uri="{FF2B5EF4-FFF2-40B4-BE49-F238E27FC236}">
                <a16:creationId xmlns:a16="http://schemas.microsoft.com/office/drawing/2014/main" id="{68CF5F67-7FBC-21F8-B018-DA9B37707903}"/>
              </a:ext>
            </a:extLst>
          </p:cNvPr>
          <p:cNvGrpSpPr/>
          <p:nvPr/>
        </p:nvGrpSpPr>
        <p:grpSpPr>
          <a:xfrm>
            <a:off x="6347802" y="3746274"/>
            <a:ext cx="1669576" cy="1001745"/>
            <a:chOff x="5510927" y="278773"/>
            <a:chExt cx="1669576" cy="1001745"/>
          </a:xfrm>
          <a:solidFill>
            <a:srgbClr val="002060"/>
          </a:solidFill>
        </p:grpSpPr>
        <p:sp>
          <p:nvSpPr>
            <p:cNvPr id="14" name="Rectangle 13">
              <a:extLst>
                <a:ext uri="{FF2B5EF4-FFF2-40B4-BE49-F238E27FC236}">
                  <a16:creationId xmlns:a16="http://schemas.microsoft.com/office/drawing/2014/main" id="{3E7DA37E-3510-8714-59FA-0E6CA325C0F5}"/>
                </a:ext>
              </a:extLst>
            </p:cNvPr>
            <p:cNvSpPr/>
            <p:nvPr/>
          </p:nvSpPr>
          <p:spPr>
            <a:xfrm>
              <a:off x="5510927"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5" name="TextBox 14">
              <a:extLst>
                <a:ext uri="{FF2B5EF4-FFF2-40B4-BE49-F238E27FC236}">
                  <a16:creationId xmlns:a16="http://schemas.microsoft.com/office/drawing/2014/main" id="{1F78F38E-AB23-5D0A-5EE0-59B78FCE42CE}"/>
                </a:ext>
              </a:extLst>
            </p:cNvPr>
            <p:cNvSpPr txBox="1"/>
            <p:nvPr/>
          </p:nvSpPr>
          <p:spPr>
            <a:xfrm>
              <a:off x="5510927"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Rogue Accounts</a:t>
              </a:r>
            </a:p>
          </p:txBody>
        </p:sp>
      </p:grpSp>
      <p:grpSp>
        <p:nvGrpSpPr>
          <p:cNvPr id="8" name="Group 7">
            <a:extLst>
              <a:ext uri="{FF2B5EF4-FFF2-40B4-BE49-F238E27FC236}">
                <a16:creationId xmlns:a16="http://schemas.microsoft.com/office/drawing/2014/main" id="{04988827-2086-21B5-5599-4F4968C42433}"/>
              </a:ext>
            </a:extLst>
          </p:cNvPr>
          <p:cNvGrpSpPr/>
          <p:nvPr/>
        </p:nvGrpSpPr>
        <p:grpSpPr>
          <a:xfrm>
            <a:off x="8184336" y="3746274"/>
            <a:ext cx="1669576" cy="1001745"/>
            <a:chOff x="7347461" y="278773"/>
            <a:chExt cx="1669576" cy="1001745"/>
          </a:xfrm>
          <a:solidFill>
            <a:srgbClr val="002060"/>
          </a:solidFill>
        </p:grpSpPr>
        <p:sp>
          <p:nvSpPr>
            <p:cNvPr id="12" name="Rectangle 11">
              <a:extLst>
                <a:ext uri="{FF2B5EF4-FFF2-40B4-BE49-F238E27FC236}">
                  <a16:creationId xmlns:a16="http://schemas.microsoft.com/office/drawing/2014/main" id="{B6A27564-A713-4859-042E-27F6E9CDC557}"/>
                </a:ext>
              </a:extLst>
            </p:cNvPr>
            <p:cNvSpPr/>
            <p:nvPr/>
          </p:nvSpPr>
          <p:spPr>
            <a:xfrm>
              <a:off x="7347461"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 name="TextBox 12">
              <a:extLst>
                <a:ext uri="{FF2B5EF4-FFF2-40B4-BE49-F238E27FC236}">
                  <a16:creationId xmlns:a16="http://schemas.microsoft.com/office/drawing/2014/main" id="{338942AA-57B4-D32B-4BE4-5CE1EFDA8836}"/>
                </a:ext>
              </a:extLst>
            </p:cNvPr>
            <p:cNvSpPr txBox="1"/>
            <p:nvPr/>
          </p:nvSpPr>
          <p:spPr>
            <a:xfrm>
              <a:off x="7347461"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Unusual Files</a:t>
              </a:r>
            </a:p>
          </p:txBody>
        </p:sp>
      </p:grpSp>
      <p:grpSp>
        <p:nvGrpSpPr>
          <p:cNvPr id="9" name="Group 8">
            <a:extLst>
              <a:ext uri="{FF2B5EF4-FFF2-40B4-BE49-F238E27FC236}">
                <a16:creationId xmlns:a16="http://schemas.microsoft.com/office/drawing/2014/main" id="{1AA218B5-6E63-F5D6-9352-87E53C20DF23}"/>
              </a:ext>
            </a:extLst>
          </p:cNvPr>
          <p:cNvGrpSpPr/>
          <p:nvPr/>
        </p:nvGrpSpPr>
        <p:grpSpPr>
          <a:xfrm>
            <a:off x="10020870" y="3746274"/>
            <a:ext cx="1669576" cy="1001745"/>
            <a:chOff x="9183995" y="278773"/>
            <a:chExt cx="1669576" cy="1001745"/>
          </a:xfrm>
          <a:solidFill>
            <a:srgbClr val="002060"/>
          </a:solidFill>
        </p:grpSpPr>
        <p:sp>
          <p:nvSpPr>
            <p:cNvPr id="10" name="Rectangle 9">
              <a:extLst>
                <a:ext uri="{FF2B5EF4-FFF2-40B4-BE49-F238E27FC236}">
                  <a16:creationId xmlns:a16="http://schemas.microsoft.com/office/drawing/2014/main" id="{53E50D13-3339-55DA-8686-42B058777FFE}"/>
                </a:ext>
              </a:extLst>
            </p:cNvPr>
            <p:cNvSpPr/>
            <p:nvPr/>
          </p:nvSpPr>
          <p:spPr>
            <a:xfrm>
              <a:off x="9183995" y="278773"/>
              <a:ext cx="1669576" cy="1001745"/>
            </a:xfrm>
            <a:prstGeom prst="rect">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1" name="TextBox 10">
              <a:extLst>
                <a:ext uri="{FF2B5EF4-FFF2-40B4-BE49-F238E27FC236}">
                  <a16:creationId xmlns:a16="http://schemas.microsoft.com/office/drawing/2014/main" id="{29E9DBA2-9D58-B8DC-0471-29A0BC350C58}"/>
                </a:ext>
              </a:extLst>
            </p:cNvPr>
            <p:cNvSpPr txBox="1"/>
            <p:nvPr/>
          </p:nvSpPr>
          <p:spPr>
            <a:xfrm>
              <a:off x="9183995" y="278773"/>
              <a:ext cx="1669576" cy="100174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Georgia" panose="02040502050405020303" pitchFamily="18" charset="0"/>
                </a:rPr>
                <a:t>Persistence Mechanism</a:t>
              </a:r>
            </a:p>
          </p:txBody>
        </p:sp>
      </p:grpSp>
    </p:spTree>
    <p:extLst>
      <p:ext uri="{BB962C8B-B14F-4D97-AF65-F5344CB8AC3E}">
        <p14:creationId xmlns:p14="http://schemas.microsoft.com/office/powerpoint/2010/main" val="542424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2AA6A6-5454-62CA-2721-5BF8D84EA252}"/>
              </a:ext>
            </a:extLst>
          </p:cNvPr>
          <p:cNvSpPr>
            <a:spLocks noGrp="1"/>
          </p:cNvSpPr>
          <p:nvPr>
            <p:ph type="title"/>
          </p:nvPr>
        </p:nvSpPr>
        <p:spPr/>
        <p:txBody>
          <a:bodyPr/>
          <a:lstStyle/>
          <a:p>
            <a:r>
              <a:rPr lang="en-GB" b="1" dirty="0"/>
              <a:t>Why ISPs Are a Prime Target</a:t>
            </a:r>
            <a:endParaRPr lang="en-ID" b="1" dirty="0"/>
          </a:p>
        </p:txBody>
      </p:sp>
      <p:sp>
        <p:nvSpPr>
          <p:cNvPr id="5" name="Text Placeholder 4">
            <a:extLst>
              <a:ext uri="{FF2B5EF4-FFF2-40B4-BE49-F238E27FC236}">
                <a16:creationId xmlns:a16="http://schemas.microsoft.com/office/drawing/2014/main" id="{96A3DEF9-293E-3A97-25B1-1E192742F02B}"/>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3730441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4248-E600-C8CE-3B1B-0EFAC9EBF91E}"/>
              </a:ext>
            </a:extLst>
          </p:cNvPr>
          <p:cNvSpPr>
            <a:spLocks noGrp="1"/>
          </p:cNvSpPr>
          <p:nvPr>
            <p:ph type="title"/>
          </p:nvPr>
        </p:nvSpPr>
        <p:spPr/>
        <p:txBody>
          <a:bodyPr/>
          <a:lstStyle/>
          <a:p>
            <a:r>
              <a:rPr lang="en-GB" dirty="0"/>
              <a:t>What Makes ISPs Uniquely Valuable to Attackers</a:t>
            </a:r>
            <a:endParaRPr lang="en-ID" dirty="0"/>
          </a:p>
        </p:txBody>
      </p:sp>
      <p:sp>
        <p:nvSpPr>
          <p:cNvPr id="3" name="Content Placeholder 2">
            <a:extLst>
              <a:ext uri="{FF2B5EF4-FFF2-40B4-BE49-F238E27FC236}">
                <a16:creationId xmlns:a16="http://schemas.microsoft.com/office/drawing/2014/main" id="{CBA99982-7E20-B4CC-B600-5EC04115438F}"/>
              </a:ext>
            </a:extLst>
          </p:cNvPr>
          <p:cNvSpPr>
            <a:spLocks noGrp="1"/>
          </p:cNvSpPr>
          <p:nvPr>
            <p:ph idx="1"/>
          </p:nvPr>
        </p:nvSpPr>
        <p:spPr/>
        <p:txBody>
          <a:bodyPr>
            <a:normAutofit fontScale="77500" lnSpcReduction="20000"/>
          </a:bodyPr>
          <a:lstStyle/>
          <a:p>
            <a:r>
              <a:rPr lang="en-GB" dirty="0"/>
              <a:t>ISPs control the backbone of internet — DNS, BGP routing, and bandwidth for millions of downstream customers</a:t>
            </a:r>
          </a:p>
          <a:p>
            <a:r>
              <a:rPr lang="en-GB" dirty="0"/>
              <a:t>Compromise one ISP = simultaneous surveillance or disruption of millions of users' traffic and metadata</a:t>
            </a:r>
          </a:p>
          <a:p>
            <a:r>
              <a:rPr lang="en-GB" dirty="0"/>
              <a:t>ISPs house Lawful Intercept (LI/CALEA) systems — court-authorized wiretap portals — prime nation-state target</a:t>
            </a:r>
          </a:p>
          <a:p>
            <a:r>
              <a:rPr lang="en-GB" dirty="0"/>
              <a:t>BGP routing tables and peering agreements give attackers power to globally redirect internet traffic</a:t>
            </a:r>
          </a:p>
          <a:p>
            <a:r>
              <a:rPr lang="en-GB" dirty="0"/>
              <a:t>ISP networks commonly run legacy equipment (SOHO routers, older IOS versions) with delayed patch cycles</a:t>
            </a:r>
          </a:p>
          <a:p>
            <a:r>
              <a:rPr lang="en-GB" dirty="0"/>
              <a:t>Subscriber databases contain PII for millions: name, address, payment data, usage history</a:t>
            </a:r>
          </a:p>
          <a:p>
            <a:r>
              <a:rPr lang="en-GB" dirty="0"/>
              <a:t>ISPs are supply-chain entry points — compromise one ISP to reach corporate clients, government, hospitals</a:t>
            </a:r>
          </a:p>
          <a:p>
            <a:endParaRPr lang="en-ID" dirty="0"/>
          </a:p>
        </p:txBody>
      </p:sp>
    </p:spTree>
    <p:extLst>
      <p:ext uri="{BB962C8B-B14F-4D97-AF65-F5344CB8AC3E}">
        <p14:creationId xmlns:p14="http://schemas.microsoft.com/office/powerpoint/2010/main" val="1719329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C2C80-2BBE-E844-6183-8F2C5259C417}"/>
              </a:ext>
            </a:extLst>
          </p:cNvPr>
          <p:cNvSpPr>
            <a:spLocks noGrp="1"/>
          </p:cNvSpPr>
          <p:nvPr>
            <p:ph type="title"/>
          </p:nvPr>
        </p:nvSpPr>
        <p:spPr/>
        <p:txBody>
          <a:bodyPr/>
          <a:lstStyle/>
          <a:p>
            <a:r>
              <a:rPr lang="en-GB" dirty="0"/>
              <a:t>ISP Threat Landscape — By the Numbers (2024-2025)</a:t>
            </a:r>
            <a:endParaRPr lang="en-ID" dirty="0"/>
          </a:p>
        </p:txBody>
      </p:sp>
      <p:sp>
        <p:nvSpPr>
          <p:cNvPr id="3" name="Content Placeholder 2">
            <a:extLst>
              <a:ext uri="{FF2B5EF4-FFF2-40B4-BE49-F238E27FC236}">
                <a16:creationId xmlns:a16="http://schemas.microsoft.com/office/drawing/2014/main" id="{9F918FAA-3E14-2CB1-6FB9-0023BC555AEE}"/>
              </a:ext>
            </a:extLst>
          </p:cNvPr>
          <p:cNvSpPr>
            <a:spLocks noGrp="1"/>
          </p:cNvSpPr>
          <p:nvPr>
            <p:ph idx="1"/>
          </p:nvPr>
        </p:nvSpPr>
        <p:spPr/>
        <p:txBody>
          <a:bodyPr/>
          <a:lstStyle/>
          <a:p>
            <a:endParaRPr lang="en-ID" dirty="0"/>
          </a:p>
        </p:txBody>
      </p:sp>
      <p:sp>
        <p:nvSpPr>
          <p:cNvPr id="4" name="Stat0">
            <a:extLst>
              <a:ext uri="{FF2B5EF4-FFF2-40B4-BE49-F238E27FC236}">
                <a16:creationId xmlns:a16="http://schemas.microsoft.com/office/drawing/2014/main" id="{4295FBAB-DB5F-661E-B3B9-8B59B5B2F01D}"/>
              </a:ext>
            </a:extLst>
          </p:cNvPr>
          <p:cNvSpPr txBox="1"/>
          <p:nvPr/>
        </p:nvSpPr>
        <p:spPr>
          <a:xfrm>
            <a:off x="1524000" y="1825625"/>
            <a:ext cx="2057400" cy="3962400"/>
          </a:xfrm>
          <a:prstGeom prst="rect">
            <a:avLst/>
          </a:prstGeom>
          <a:solidFill>
            <a:srgbClr val="D9EAF7"/>
          </a:solidFill>
          <a:ln w="25400">
            <a:solidFill>
              <a:srgbClr val="1F78C1"/>
            </a:solidFill>
          </a:ln>
        </p:spPr>
        <p:txBody>
          <a:bodyPr wrap="square" lIns="91440" tIns="182880" rIns="91440" bIns="91440" anchor="t">
            <a:normAutofit/>
          </a:bodyPr>
          <a:lstStyle/>
          <a:p>
            <a:pPr algn="ctr"/>
            <a:r>
              <a:rPr lang="en-GB" sz="5400" b="1" dirty="0">
                <a:solidFill>
                  <a:srgbClr val="1F78C1"/>
                </a:solidFill>
                <a:latin typeface="Georgia" panose="02040502050405020303" pitchFamily="18" charset="0"/>
              </a:rPr>
              <a:t>200+</a:t>
            </a:r>
          </a:p>
          <a:p>
            <a:pPr algn="ctr"/>
            <a:r>
              <a:rPr lang="en-GB" sz="1200" dirty="0">
                <a:latin typeface="Georgia" panose="02040502050405020303" pitchFamily="18" charset="0"/>
              </a:rPr>
              <a:t>Orgs in 80+ countries compromised by Salt Typhoon (China/MSS APT) — FBI August 2025</a:t>
            </a:r>
          </a:p>
        </p:txBody>
      </p:sp>
      <p:sp>
        <p:nvSpPr>
          <p:cNvPr id="5" name="Stat1">
            <a:extLst>
              <a:ext uri="{FF2B5EF4-FFF2-40B4-BE49-F238E27FC236}">
                <a16:creationId xmlns:a16="http://schemas.microsoft.com/office/drawing/2014/main" id="{7E16DFF3-D8FF-3B84-4250-1C6986F2CE1F}"/>
              </a:ext>
            </a:extLst>
          </p:cNvPr>
          <p:cNvSpPr txBox="1"/>
          <p:nvPr/>
        </p:nvSpPr>
        <p:spPr>
          <a:xfrm>
            <a:off x="3810000" y="1825625"/>
            <a:ext cx="2057400" cy="3962400"/>
          </a:xfrm>
          <a:prstGeom prst="rect">
            <a:avLst/>
          </a:prstGeom>
          <a:solidFill>
            <a:srgbClr val="FCE4D6"/>
          </a:solidFill>
          <a:ln w="25400">
            <a:solidFill>
              <a:srgbClr val="C00000"/>
            </a:solidFill>
          </a:ln>
        </p:spPr>
        <p:txBody>
          <a:bodyPr wrap="square" lIns="91440" tIns="182880" rIns="91440" bIns="91440" anchor="t">
            <a:normAutofit/>
          </a:bodyPr>
          <a:lstStyle/>
          <a:p>
            <a:pPr algn="ctr"/>
            <a:r>
              <a:rPr lang="en-GB" sz="5400" b="1" dirty="0">
                <a:solidFill>
                  <a:srgbClr val="C00000"/>
                </a:solidFill>
                <a:latin typeface="Georgia" panose="02040502050405020303" pitchFamily="18" charset="0"/>
              </a:rPr>
              <a:t>49%</a:t>
            </a:r>
          </a:p>
          <a:p>
            <a:pPr algn="ctr"/>
            <a:r>
              <a:rPr lang="en-GB" sz="1200" dirty="0">
                <a:latin typeface="Georgia" panose="02040502050405020303" pitchFamily="18" charset="0"/>
              </a:rPr>
              <a:t>Of a single US ISP's modems permanently destroyed in 72 hrs — Pumpkin Eclipse, Oct 2023</a:t>
            </a:r>
          </a:p>
        </p:txBody>
      </p:sp>
      <p:sp>
        <p:nvSpPr>
          <p:cNvPr id="6" name="Stat2">
            <a:extLst>
              <a:ext uri="{FF2B5EF4-FFF2-40B4-BE49-F238E27FC236}">
                <a16:creationId xmlns:a16="http://schemas.microsoft.com/office/drawing/2014/main" id="{D3E20F2D-2249-1B39-9732-10434B499EDB}"/>
              </a:ext>
            </a:extLst>
          </p:cNvPr>
          <p:cNvSpPr txBox="1"/>
          <p:nvPr/>
        </p:nvSpPr>
        <p:spPr>
          <a:xfrm>
            <a:off x="6096000" y="1825625"/>
            <a:ext cx="2057400" cy="3962400"/>
          </a:xfrm>
          <a:prstGeom prst="rect">
            <a:avLst/>
          </a:prstGeom>
          <a:solidFill>
            <a:srgbClr val="E2EFDA"/>
          </a:solidFill>
          <a:ln w="25400">
            <a:solidFill>
              <a:srgbClr val="375623"/>
            </a:solidFill>
          </a:ln>
        </p:spPr>
        <p:txBody>
          <a:bodyPr wrap="square" lIns="91440" tIns="182880" rIns="91440" bIns="91440" anchor="t">
            <a:normAutofit/>
          </a:bodyPr>
          <a:lstStyle/>
          <a:p>
            <a:pPr algn="ctr"/>
            <a:r>
              <a:rPr lang="en-GB" sz="5400" b="1" dirty="0">
                <a:solidFill>
                  <a:srgbClr val="375623"/>
                </a:solidFill>
                <a:latin typeface="Georgia" panose="02040502050405020303" pitchFamily="18" charset="0"/>
              </a:rPr>
              <a:t>~2 Yrs</a:t>
            </a:r>
          </a:p>
          <a:p>
            <a:pPr algn="ctr"/>
            <a:r>
              <a:rPr lang="en-GB" sz="1200" dirty="0">
                <a:latin typeface="Georgia" panose="02040502050405020303" pitchFamily="18" charset="0"/>
              </a:rPr>
              <a:t>Estimated dwell time of Salt Typhoon inside US telecom networks before detection</a:t>
            </a:r>
          </a:p>
        </p:txBody>
      </p:sp>
      <p:sp>
        <p:nvSpPr>
          <p:cNvPr id="7" name="Stat3">
            <a:extLst>
              <a:ext uri="{FF2B5EF4-FFF2-40B4-BE49-F238E27FC236}">
                <a16:creationId xmlns:a16="http://schemas.microsoft.com/office/drawing/2014/main" id="{BC7CFE0C-524E-621F-A339-73CE1DF0E0EC}"/>
              </a:ext>
            </a:extLst>
          </p:cNvPr>
          <p:cNvSpPr txBox="1"/>
          <p:nvPr/>
        </p:nvSpPr>
        <p:spPr>
          <a:xfrm>
            <a:off x="8382000" y="1825625"/>
            <a:ext cx="2057400" cy="3962400"/>
          </a:xfrm>
          <a:prstGeom prst="rect">
            <a:avLst/>
          </a:prstGeom>
          <a:solidFill>
            <a:srgbClr val="FFF2CC"/>
          </a:solidFill>
          <a:ln w="25400">
            <a:solidFill>
              <a:srgbClr val="7F3F00"/>
            </a:solidFill>
          </a:ln>
        </p:spPr>
        <p:txBody>
          <a:bodyPr wrap="square" lIns="91440" tIns="182880" rIns="91440" bIns="91440" anchor="t">
            <a:normAutofit/>
          </a:bodyPr>
          <a:lstStyle/>
          <a:p>
            <a:pPr algn="ctr"/>
            <a:r>
              <a:rPr lang="en-GB" sz="5400" b="1" dirty="0">
                <a:solidFill>
                  <a:srgbClr val="7F3F00"/>
                </a:solidFill>
                <a:latin typeface="Georgia" panose="02040502050405020303" pitchFamily="18" charset="0"/>
              </a:rPr>
              <a:t>$449M</a:t>
            </a:r>
          </a:p>
          <a:p>
            <a:pPr algn="ctr"/>
            <a:r>
              <a:rPr lang="en-GB" sz="1200" dirty="0">
                <a:latin typeface="Georgia" panose="02040502050405020303" pitchFamily="18" charset="0"/>
              </a:rPr>
              <a:t>Paid to ransomware groups targeting ISPs &amp; hosting providers in H1 2023 alone</a:t>
            </a:r>
          </a:p>
        </p:txBody>
      </p:sp>
      <p:sp>
        <p:nvSpPr>
          <p:cNvPr id="8" name="Source">
            <a:extLst>
              <a:ext uri="{FF2B5EF4-FFF2-40B4-BE49-F238E27FC236}">
                <a16:creationId xmlns:a16="http://schemas.microsoft.com/office/drawing/2014/main" id="{54B546A0-E726-C6A3-9047-614E372B48E1}"/>
              </a:ext>
            </a:extLst>
          </p:cNvPr>
          <p:cNvSpPr txBox="1"/>
          <p:nvPr/>
        </p:nvSpPr>
        <p:spPr>
          <a:xfrm>
            <a:off x="1447800" y="6011900"/>
            <a:ext cx="8839200" cy="300000"/>
          </a:xfrm>
          <a:prstGeom prst="rect">
            <a:avLst/>
          </a:prstGeom>
          <a:noFill/>
        </p:spPr>
        <p:txBody>
          <a:bodyPr>
            <a:normAutofit/>
          </a:bodyPr>
          <a:lstStyle/>
          <a:p>
            <a:pPr algn="ctr"/>
            <a:r>
              <a:rPr lang="en-GB" sz="900" i="1" dirty="0">
                <a:solidFill>
                  <a:srgbClr val="7F7F7F"/>
                </a:solidFill>
                <a:latin typeface="Georgia" panose="02040502050405020303" pitchFamily="18" charset="0"/>
              </a:rPr>
              <a:t>Sources: FBI August 2025, Lumen Black Lotus Labs, Mandiant M-Trends 2024, Cybersecurity Ventures</a:t>
            </a:r>
          </a:p>
        </p:txBody>
      </p:sp>
    </p:spTree>
    <p:extLst>
      <p:ext uri="{BB962C8B-B14F-4D97-AF65-F5344CB8AC3E}">
        <p14:creationId xmlns:p14="http://schemas.microsoft.com/office/powerpoint/2010/main" val="899152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327F-2C78-FC8F-7C8C-74D403B202CE}"/>
              </a:ext>
            </a:extLst>
          </p:cNvPr>
          <p:cNvSpPr>
            <a:spLocks noGrp="1"/>
          </p:cNvSpPr>
          <p:nvPr>
            <p:ph type="title"/>
          </p:nvPr>
        </p:nvSpPr>
        <p:spPr/>
        <p:txBody>
          <a:bodyPr/>
          <a:lstStyle/>
          <a:p>
            <a:r>
              <a:rPr lang="en-GB" dirty="0"/>
              <a:t>ISP Attack Surface — What Attackers Target</a:t>
            </a:r>
            <a:endParaRPr lang="en-ID" dirty="0"/>
          </a:p>
        </p:txBody>
      </p:sp>
      <p:sp>
        <p:nvSpPr>
          <p:cNvPr id="3" name="Content Placeholder 2">
            <a:extLst>
              <a:ext uri="{FF2B5EF4-FFF2-40B4-BE49-F238E27FC236}">
                <a16:creationId xmlns:a16="http://schemas.microsoft.com/office/drawing/2014/main" id="{5CDA8830-259E-5AD4-4898-1CD66D2937C6}"/>
              </a:ext>
            </a:extLst>
          </p:cNvPr>
          <p:cNvSpPr>
            <a:spLocks noGrp="1"/>
          </p:cNvSpPr>
          <p:nvPr>
            <p:ph idx="1"/>
          </p:nvPr>
        </p:nvSpPr>
        <p:spPr/>
        <p:txBody>
          <a:bodyPr>
            <a:normAutofit fontScale="77500" lnSpcReduction="20000"/>
          </a:bodyPr>
          <a:lstStyle/>
          <a:p>
            <a:r>
              <a:rPr lang="en-GB" dirty="0"/>
              <a:t>Network Infrastructure: Core routers (Cisco IOS XE / Juniper / Nokia SR OS), BGP speakers, edge devices</a:t>
            </a:r>
          </a:p>
          <a:p>
            <a:r>
              <a:rPr lang="en-GB" dirty="0"/>
              <a:t>DNS Infrastructure: Authoritative &amp; recursive resolvers — DNS cache poisoning, zone tampering, amplification</a:t>
            </a:r>
          </a:p>
          <a:p>
            <a:r>
              <a:rPr lang="en-GB" dirty="0"/>
              <a:t>Lawful Intercept Systems (CALEA/IRI): Sensitive portals for law enforcement — prime APT persistence target</a:t>
            </a:r>
          </a:p>
          <a:p>
            <a:r>
              <a:rPr lang="en-GB" dirty="0"/>
              <a:t>CPE &amp; SOHO Devices: Customer modems, ONTs, home routers — botnet recruitment &amp; mass destruction</a:t>
            </a:r>
          </a:p>
          <a:p>
            <a:r>
              <a:rPr lang="en-GB" dirty="0"/>
              <a:t>OSS/BSS Systems: Billing, subscriber management, CRM — subscriber data theft, ransomware targets</a:t>
            </a:r>
          </a:p>
          <a:p>
            <a:r>
              <a:rPr lang="en-GB" dirty="0"/>
              <a:t>NOC/SOC Staff Accounts: VPN, jump hosts, monitoring consoles, RADIUS — credential theft vectors</a:t>
            </a:r>
          </a:p>
          <a:p>
            <a:r>
              <a:rPr lang="en-GB" dirty="0"/>
              <a:t>Internet Exchange Peering: BGP peering sessions at IXPs — route manipulation, traffic interception</a:t>
            </a:r>
          </a:p>
        </p:txBody>
      </p:sp>
    </p:spTree>
    <p:extLst>
      <p:ext uri="{BB962C8B-B14F-4D97-AF65-F5344CB8AC3E}">
        <p14:creationId xmlns:p14="http://schemas.microsoft.com/office/powerpoint/2010/main" val="618258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1DBA-123E-D7DD-3F98-3C8597502080}"/>
              </a:ext>
            </a:extLst>
          </p:cNvPr>
          <p:cNvSpPr>
            <a:spLocks noGrp="1"/>
          </p:cNvSpPr>
          <p:nvPr>
            <p:ph type="title"/>
          </p:nvPr>
        </p:nvSpPr>
        <p:spPr/>
        <p:txBody>
          <a:bodyPr/>
          <a:lstStyle/>
          <a:p>
            <a:r>
              <a:rPr lang="en-US" b="1" dirty="0">
                <a:ea typeface="Calibri" pitchFamily="34" charset="-122"/>
                <a:cs typeface="Calibri" pitchFamily="34" charset="-120"/>
              </a:rPr>
              <a:t>Threat Actor Categories Targeting ISPs</a:t>
            </a:r>
            <a:endParaRPr lang="en-ID" b="1" dirty="0"/>
          </a:p>
        </p:txBody>
      </p:sp>
      <p:sp>
        <p:nvSpPr>
          <p:cNvPr id="3" name="Content Placeholder 2">
            <a:extLst>
              <a:ext uri="{FF2B5EF4-FFF2-40B4-BE49-F238E27FC236}">
                <a16:creationId xmlns:a16="http://schemas.microsoft.com/office/drawing/2014/main" id="{49F17B46-EC7D-1514-96C9-6D2F068E6095}"/>
              </a:ext>
            </a:extLst>
          </p:cNvPr>
          <p:cNvSpPr>
            <a:spLocks noGrp="1"/>
          </p:cNvSpPr>
          <p:nvPr>
            <p:ph sz="half" idx="1"/>
          </p:nvPr>
        </p:nvSpPr>
        <p:spPr/>
        <p:txBody>
          <a:bodyPr>
            <a:normAutofit fontScale="77500" lnSpcReduction="20000"/>
          </a:bodyPr>
          <a:lstStyle/>
          <a:p>
            <a:pPr marL="0" indent="0" algn="just">
              <a:buNone/>
            </a:pPr>
            <a:r>
              <a:rPr lang="en-US" b="1" dirty="0">
                <a:ea typeface="Calibri" pitchFamily="34" charset="-122"/>
                <a:cs typeface="Calibri" pitchFamily="34" charset="-120"/>
              </a:rPr>
              <a:t>Nation-State / APT Groups</a:t>
            </a:r>
            <a:endParaRPr lang="en-US" b="1" dirty="0"/>
          </a:p>
          <a:p>
            <a:pPr algn="just"/>
            <a:r>
              <a:rPr lang="en-US" dirty="0">
                <a:ea typeface="Calibri" pitchFamily="34" charset="-122"/>
                <a:cs typeface="Calibri" pitchFamily="34" charset="-120"/>
              </a:rPr>
              <a:t>Salt Typhoon (China/MSS) — US &amp; global ISP espionage, LI system compromise</a:t>
            </a:r>
            <a:endParaRPr lang="en-US" dirty="0"/>
          </a:p>
          <a:p>
            <a:pPr algn="just"/>
            <a:r>
              <a:rPr lang="en-US" dirty="0">
                <a:ea typeface="Calibri" pitchFamily="34" charset="-122"/>
                <a:cs typeface="Calibri" pitchFamily="34" charset="-120"/>
              </a:rPr>
              <a:t>Volt Typhoon (China) — Pre-position in critical infra for future disruption</a:t>
            </a:r>
          </a:p>
          <a:p>
            <a:pPr algn="just"/>
            <a:r>
              <a:rPr lang="en-US" b="1" dirty="0">
                <a:ea typeface="Calibri" pitchFamily="34" charset="-122"/>
                <a:cs typeface="Calibri" pitchFamily="34" charset="-120"/>
              </a:rPr>
              <a:t> </a:t>
            </a:r>
            <a:r>
              <a:rPr lang="en-US" dirty="0">
                <a:ea typeface="Calibri" pitchFamily="34" charset="-122"/>
                <a:cs typeface="Calibri" pitchFamily="34" charset="-120"/>
              </a:rPr>
              <a:t>Sandworm (Russia) — Destructive attacks on Ukraine telecom (</a:t>
            </a:r>
            <a:r>
              <a:rPr lang="en-US" dirty="0" err="1">
                <a:ea typeface="Calibri" pitchFamily="34" charset="-122"/>
                <a:cs typeface="Calibri" pitchFamily="34" charset="-120"/>
              </a:rPr>
              <a:t>Ukrtelecom</a:t>
            </a:r>
            <a:r>
              <a:rPr lang="en-US" dirty="0">
                <a:ea typeface="Calibri" pitchFamily="34" charset="-122"/>
                <a:cs typeface="Calibri" pitchFamily="34" charset="-120"/>
              </a:rPr>
              <a:t> 2022)</a:t>
            </a:r>
          </a:p>
          <a:p>
            <a:pPr algn="just"/>
            <a:r>
              <a:rPr lang="en-US" dirty="0">
                <a:ea typeface="Calibri" pitchFamily="34" charset="-122"/>
                <a:cs typeface="Calibri" pitchFamily="34" charset="-120"/>
              </a:rPr>
              <a:t>Lazarus Group (DPRK) — Financial theft via ISP-hosted services</a:t>
            </a:r>
          </a:p>
          <a:p>
            <a:pPr algn="just"/>
            <a:r>
              <a:rPr lang="en-US" dirty="0">
                <a:ea typeface="Calibri" pitchFamily="34" charset="-122"/>
                <a:cs typeface="Calibri" pitchFamily="34" charset="-120"/>
              </a:rPr>
              <a:t>Targets: Core routing, subscriber data, lawful intercept</a:t>
            </a:r>
            <a:endParaRPr lang="en-US" dirty="0"/>
          </a:p>
          <a:p>
            <a:endParaRPr lang="en-ID" dirty="0"/>
          </a:p>
        </p:txBody>
      </p:sp>
      <p:sp>
        <p:nvSpPr>
          <p:cNvPr id="4" name="Content Placeholder 3">
            <a:extLst>
              <a:ext uri="{FF2B5EF4-FFF2-40B4-BE49-F238E27FC236}">
                <a16:creationId xmlns:a16="http://schemas.microsoft.com/office/drawing/2014/main" id="{2CDBAF68-7D5C-AA78-74EE-81071A3C2708}"/>
              </a:ext>
            </a:extLst>
          </p:cNvPr>
          <p:cNvSpPr>
            <a:spLocks noGrp="1"/>
          </p:cNvSpPr>
          <p:nvPr>
            <p:ph sz="half" idx="2"/>
          </p:nvPr>
        </p:nvSpPr>
        <p:spPr/>
        <p:txBody>
          <a:bodyPr>
            <a:normAutofit fontScale="77500" lnSpcReduction="20000"/>
          </a:bodyPr>
          <a:lstStyle/>
          <a:p>
            <a:pPr marL="0" indent="0" algn="just">
              <a:buNone/>
            </a:pPr>
            <a:r>
              <a:rPr lang="en-US" b="1" dirty="0">
                <a:ea typeface="Calibri" pitchFamily="34" charset="-122"/>
                <a:cs typeface="Calibri" pitchFamily="34" charset="-120"/>
              </a:rPr>
              <a:t>Criminal &amp; Hacktivist Groups</a:t>
            </a:r>
            <a:endParaRPr lang="en-US" b="1" dirty="0"/>
          </a:p>
          <a:p>
            <a:pPr algn="just"/>
            <a:r>
              <a:rPr lang="en-US" dirty="0">
                <a:ea typeface="Calibri" pitchFamily="34" charset="-122"/>
                <a:cs typeface="Calibri" pitchFamily="34" charset="-120"/>
              </a:rPr>
              <a:t>Ransomware gangs (</a:t>
            </a:r>
            <a:r>
              <a:rPr lang="en-US" dirty="0" err="1">
                <a:ea typeface="Calibri" pitchFamily="34" charset="-122"/>
                <a:cs typeface="Calibri" pitchFamily="34" charset="-120"/>
              </a:rPr>
              <a:t>LockBit</a:t>
            </a:r>
            <a:r>
              <a:rPr lang="en-US" dirty="0">
                <a:ea typeface="Calibri" pitchFamily="34" charset="-122"/>
                <a:cs typeface="Calibri" pitchFamily="34" charset="-120"/>
              </a:rPr>
              <a:t>, Black Basta) — Encrypt OSS/BSS, demand ransom</a:t>
            </a:r>
            <a:endParaRPr lang="en-US" dirty="0"/>
          </a:p>
          <a:p>
            <a:pPr algn="just"/>
            <a:r>
              <a:rPr lang="en-US" dirty="0">
                <a:ea typeface="Calibri" pitchFamily="34" charset="-122"/>
                <a:cs typeface="Calibri" pitchFamily="34" charset="-120"/>
              </a:rPr>
              <a:t>DDoS-for-hire: Carpet bombing ISP infrastructure for extortion</a:t>
            </a:r>
            <a:endParaRPr lang="en-US" dirty="0"/>
          </a:p>
          <a:p>
            <a:pPr algn="just"/>
            <a:r>
              <a:rPr lang="en-US" dirty="0">
                <a:ea typeface="Calibri" pitchFamily="34" charset="-122"/>
                <a:cs typeface="Calibri" pitchFamily="34" charset="-120"/>
              </a:rPr>
              <a:t>Hacktivists: BGP route leaks, website defacement, data dumps</a:t>
            </a:r>
            <a:endParaRPr lang="en-US" dirty="0"/>
          </a:p>
          <a:p>
            <a:pPr algn="just"/>
            <a:r>
              <a:rPr lang="en-US" dirty="0">
                <a:ea typeface="Calibri" pitchFamily="34" charset="-122"/>
                <a:cs typeface="Calibri" pitchFamily="34" charset="-120"/>
              </a:rPr>
              <a:t>Insider threats: NOC staff with privileged access</a:t>
            </a:r>
            <a:endParaRPr lang="en-US" dirty="0"/>
          </a:p>
          <a:p>
            <a:pPr algn="just"/>
            <a:r>
              <a:rPr lang="en-US" dirty="0">
                <a:ea typeface="Calibri" pitchFamily="34" charset="-122"/>
                <a:cs typeface="Calibri" pitchFamily="34" charset="-120"/>
              </a:rPr>
              <a:t>Motivations: Financial gain, disruption, ideological</a:t>
            </a:r>
            <a:endParaRPr lang="en-US" dirty="0"/>
          </a:p>
          <a:p>
            <a:endParaRPr lang="en-ID" dirty="0"/>
          </a:p>
        </p:txBody>
      </p:sp>
    </p:spTree>
    <p:extLst>
      <p:ext uri="{BB962C8B-B14F-4D97-AF65-F5344CB8AC3E}">
        <p14:creationId xmlns:p14="http://schemas.microsoft.com/office/powerpoint/2010/main" val="303740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228550-C7B6-E5B9-3385-0AEA8CD1D8BE}"/>
              </a:ext>
            </a:extLst>
          </p:cNvPr>
          <p:cNvSpPr>
            <a:spLocks noGrp="1"/>
          </p:cNvSpPr>
          <p:nvPr>
            <p:ph type="title"/>
          </p:nvPr>
        </p:nvSpPr>
        <p:spPr/>
        <p:txBody>
          <a:bodyPr>
            <a:normAutofit/>
          </a:bodyPr>
          <a:lstStyle/>
          <a:p>
            <a:pPr>
              <a:lnSpc>
                <a:spcPct val="100000"/>
              </a:lnSpc>
            </a:pPr>
            <a:r>
              <a:rPr lang="en-US" sz="2800" dirty="0">
                <a:ea typeface="Calibri" pitchFamily="34" charset="-122"/>
                <a:cs typeface="Calibri" pitchFamily="34" charset="-120"/>
              </a:rPr>
              <a:t>Case Study: Salt Typhoon — </a:t>
            </a:r>
            <a:br>
              <a:rPr lang="en-US" sz="2800" dirty="0">
                <a:ea typeface="Calibri" pitchFamily="34" charset="-122"/>
                <a:cs typeface="Calibri" pitchFamily="34" charset="-120"/>
              </a:rPr>
            </a:br>
            <a:r>
              <a:rPr lang="en-US" sz="2800" dirty="0">
                <a:ea typeface="Calibri" pitchFamily="34" charset="-122"/>
                <a:cs typeface="Calibri" pitchFamily="34" charset="-120"/>
              </a:rPr>
              <a:t>Global Telecom &amp; ISP Espionage (2024–2025)</a:t>
            </a:r>
            <a:endParaRPr lang="en-ID" sz="2800" dirty="0"/>
          </a:p>
        </p:txBody>
      </p:sp>
      <p:sp>
        <p:nvSpPr>
          <p:cNvPr id="6" name="Content Placeholder 5">
            <a:extLst>
              <a:ext uri="{FF2B5EF4-FFF2-40B4-BE49-F238E27FC236}">
                <a16:creationId xmlns:a16="http://schemas.microsoft.com/office/drawing/2014/main" id="{E17EE878-4C6D-D999-6958-0A3BCBC14A53}"/>
              </a:ext>
            </a:extLst>
          </p:cNvPr>
          <p:cNvSpPr>
            <a:spLocks noGrp="1"/>
          </p:cNvSpPr>
          <p:nvPr>
            <p:ph idx="1"/>
          </p:nvPr>
        </p:nvSpPr>
        <p:spPr/>
        <p:txBody>
          <a:bodyPr/>
          <a:lstStyle/>
          <a:p>
            <a:endParaRPr lang="en-ID" dirty="0"/>
          </a:p>
        </p:txBody>
      </p:sp>
      <p:sp>
        <p:nvSpPr>
          <p:cNvPr id="7" name="Rectangle: Rounded Corners 6">
            <a:extLst>
              <a:ext uri="{FF2B5EF4-FFF2-40B4-BE49-F238E27FC236}">
                <a16:creationId xmlns:a16="http://schemas.microsoft.com/office/drawing/2014/main" id="{0F58B5E0-4D81-B7DF-86A2-0254F6C57CD9}"/>
              </a:ext>
            </a:extLst>
          </p:cNvPr>
          <p:cNvSpPr/>
          <p:nvPr/>
        </p:nvSpPr>
        <p:spPr>
          <a:xfrm>
            <a:off x="410862" y="1747671"/>
            <a:ext cx="5054138" cy="2218016"/>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WHAT HAPPENED</a:t>
            </a:r>
            <a:endParaRPr lang="en-US" sz="1600" dirty="0">
              <a:solidFill>
                <a:schemeClr val="bg1"/>
              </a:solidFill>
              <a:latin typeface="Georgia" panose="02040502050405020303" pitchFamily="18" charset="0"/>
            </a:endParaRPr>
          </a:p>
          <a:p>
            <a:r>
              <a:rPr lang="en-US" sz="1600" dirty="0">
                <a:solidFill>
                  <a:schemeClr val="bg1"/>
                </a:solidFill>
                <a:latin typeface="Georgia" panose="02040502050405020303" pitchFamily="18" charset="0"/>
                <a:ea typeface="Calibri" pitchFamily="34" charset="-122"/>
                <a:cs typeface="Calibri" pitchFamily="34" charset="-120"/>
              </a:rPr>
              <a:t>Chinese state-sponsored APT (MSS) infiltrated AT&amp;T, Verizon, T-Mobile, Lumen, Windstream + 8 other US telecoms. 200+ orgs across 80 countries compromised. Undetected for up to 2 years.</a:t>
            </a:r>
            <a:endParaRPr lang="en-US" sz="1600" dirty="0">
              <a:solidFill>
                <a:schemeClr val="bg1"/>
              </a:solidFill>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8" name="Rectangle: Rounded Corners 7">
            <a:extLst>
              <a:ext uri="{FF2B5EF4-FFF2-40B4-BE49-F238E27FC236}">
                <a16:creationId xmlns:a16="http://schemas.microsoft.com/office/drawing/2014/main" id="{A23B8FFF-2158-7730-C428-872FCD727717}"/>
              </a:ext>
            </a:extLst>
          </p:cNvPr>
          <p:cNvSpPr/>
          <p:nvPr/>
        </p:nvSpPr>
        <p:spPr>
          <a:xfrm>
            <a:off x="6237317" y="1747671"/>
            <a:ext cx="5054138" cy="2218016"/>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HOW IT WAS DONE</a:t>
            </a:r>
            <a:endParaRPr lang="en-US" sz="1600" dirty="0">
              <a:solidFill>
                <a:schemeClr val="bg1"/>
              </a:solidFill>
              <a:latin typeface="Georgia" panose="02040502050405020303" pitchFamily="18" charset="0"/>
            </a:endParaRPr>
          </a:p>
          <a:p>
            <a:r>
              <a:rPr lang="en-US" sz="1600" dirty="0">
                <a:solidFill>
                  <a:schemeClr val="bg1"/>
                </a:solidFill>
                <a:latin typeface="Georgia" panose="02040502050405020303" pitchFamily="18" charset="0"/>
                <a:ea typeface="Calibri" pitchFamily="34" charset="-122"/>
                <a:cs typeface="Calibri" pitchFamily="34" charset="-120"/>
              </a:rPr>
              <a:t>Initial access via stolen credentials &amp; CVE on Cisco routers. Lateral movement through network. Modified ACLs, created hidden accounts. Deployed Demodex rootkit. Compromised Lawful Intercept systems to wiretap targets.</a:t>
            </a:r>
            <a:endParaRPr lang="en-US" sz="1600" dirty="0">
              <a:solidFill>
                <a:schemeClr val="bg1"/>
              </a:solidFill>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9" name="Rectangle: Rounded Corners 8">
            <a:extLst>
              <a:ext uri="{FF2B5EF4-FFF2-40B4-BE49-F238E27FC236}">
                <a16:creationId xmlns:a16="http://schemas.microsoft.com/office/drawing/2014/main" id="{7ECEC4F4-726D-AED4-F763-37119318F3A7}"/>
              </a:ext>
            </a:extLst>
          </p:cNvPr>
          <p:cNvSpPr/>
          <p:nvPr/>
        </p:nvSpPr>
        <p:spPr>
          <a:xfrm>
            <a:off x="410862" y="4033155"/>
            <a:ext cx="5054138" cy="2218016"/>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IMPACT</a:t>
            </a:r>
            <a:endParaRPr lang="en-US" sz="1600" dirty="0">
              <a:solidFill>
                <a:schemeClr val="bg1"/>
              </a:solidFill>
              <a:latin typeface="Georgia" panose="02040502050405020303" pitchFamily="18" charset="0"/>
            </a:endParaRPr>
          </a:p>
          <a:p>
            <a:r>
              <a:rPr lang="en-US" sz="1600" dirty="0">
                <a:solidFill>
                  <a:schemeClr val="bg1"/>
                </a:solidFill>
                <a:latin typeface="Georgia" panose="02040502050405020303" pitchFamily="18" charset="0"/>
                <a:ea typeface="Calibri" pitchFamily="34" charset="-122"/>
                <a:cs typeface="Calibri" pitchFamily="34" charset="-120"/>
              </a:rPr>
              <a:t>Millions of call records exfiltrated. Audio of political figures intercepted. LI systems (law enforcement wiretap portals) fully compromised. Dwell time: ~2 years. FBI bounty: $10M. Sanctions imposed Jan 2025.</a:t>
            </a:r>
            <a:endParaRPr lang="en-US" sz="1600" dirty="0">
              <a:solidFill>
                <a:schemeClr val="bg1"/>
              </a:solidFill>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10" name="Rectangle: Rounded Corners 9">
            <a:extLst>
              <a:ext uri="{FF2B5EF4-FFF2-40B4-BE49-F238E27FC236}">
                <a16:creationId xmlns:a16="http://schemas.microsoft.com/office/drawing/2014/main" id="{16B3768E-19FA-DA59-2FD4-FE3C401335E1}"/>
              </a:ext>
            </a:extLst>
          </p:cNvPr>
          <p:cNvSpPr/>
          <p:nvPr/>
        </p:nvSpPr>
        <p:spPr>
          <a:xfrm>
            <a:off x="6237317" y="4033155"/>
            <a:ext cx="5054138" cy="2218016"/>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IR LESSON FOR ISP</a:t>
            </a:r>
            <a:endParaRPr lang="en-US" sz="1600" dirty="0">
              <a:solidFill>
                <a:schemeClr val="bg1"/>
              </a:solidFill>
              <a:latin typeface="Georgia" panose="02040502050405020303" pitchFamily="18" charset="0"/>
            </a:endParaRPr>
          </a:p>
          <a:p>
            <a:r>
              <a:rPr lang="en-US" sz="1600" dirty="0">
                <a:solidFill>
                  <a:schemeClr val="bg1"/>
                </a:solidFill>
                <a:latin typeface="Georgia" panose="02040502050405020303" pitchFamily="18" charset="0"/>
                <a:ea typeface="Calibri" pitchFamily="34" charset="-122"/>
                <a:cs typeface="Calibri" pitchFamily="34" charset="-120"/>
              </a:rPr>
              <a:t>ISPs must treat LI systems as crown jewels. Implement continuous network traffic analysis. Validate all BGP neighbors. Audit privileged accounts regularly. Enforce MFA on all NOC/admin access. Monitor Cisco device configurations for unauthorized changes.</a:t>
            </a:r>
            <a:endParaRPr lang="en-US" sz="1600" dirty="0">
              <a:solidFill>
                <a:schemeClr val="bg1"/>
              </a:solidFill>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4039569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7CD1A-8E49-5216-D36C-644D3CB698B5}"/>
              </a:ext>
            </a:extLst>
          </p:cNvPr>
          <p:cNvSpPr>
            <a:spLocks noGrp="1"/>
          </p:cNvSpPr>
          <p:nvPr>
            <p:ph type="title"/>
          </p:nvPr>
        </p:nvSpPr>
        <p:spPr/>
        <p:txBody>
          <a:bodyPr>
            <a:normAutofit/>
          </a:bodyPr>
          <a:lstStyle/>
          <a:p>
            <a:r>
              <a:rPr lang="en-US" sz="2800" dirty="0">
                <a:ea typeface="Calibri" pitchFamily="34" charset="-122"/>
                <a:cs typeface="Calibri" pitchFamily="34" charset="-120"/>
              </a:rPr>
              <a:t>Case Study: Operation Pumpkin Eclipse — </a:t>
            </a:r>
            <a:br>
              <a:rPr lang="en-US" sz="2800" dirty="0">
                <a:ea typeface="Calibri" pitchFamily="34" charset="-122"/>
                <a:cs typeface="Calibri" pitchFamily="34" charset="-120"/>
              </a:rPr>
            </a:br>
            <a:r>
              <a:rPr lang="en-US" sz="2800" dirty="0">
                <a:ea typeface="Calibri" pitchFamily="34" charset="-122"/>
                <a:cs typeface="Calibri" pitchFamily="34" charset="-120"/>
              </a:rPr>
              <a:t>600,000 Routers Destroyed (Oct 2023)</a:t>
            </a:r>
            <a:endParaRPr lang="en-ID" sz="2800" dirty="0"/>
          </a:p>
        </p:txBody>
      </p:sp>
      <p:sp>
        <p:nvSpPr>
          <p:cNvPr id="3" name="Content Placeholder 2">
            <a:extLst>
              <a:ext uri="{FF2B5EF4-FFF2-40B4-BE49-F238E27FC236}">
                <a16:creationId xmlns:a16="http://schemas.microsoft.com/office/drawing/2014/main" id="{51780169-9DC4-B6BD-DEA0-2E24B87DAE68}"/>
              </a:ext>
            </a:extLst>
          </p:cNvPr>
          <p:cNvSpPr>
            <a:spLocks noGrp="1"/>
          </p:cNvSpPr>
          <p:nvPr>
            <p:ph idx="1"/>
          </p:nvPr>
        </p:nvSpPr>
        <p:spPr/>
        <p:txBody>
          <a:bodyPr/>
          <a:lstStyle/>
          <a:p>
            <a:endParaRPr lang="en-ID" dirty="0"/>
          </a:p>
        </p:txBody>
      </p:sp>
      <p:sp>
        <p:nvSpPr>
          <p:cNvPr id="4" name="Rectangle: Rounded Corners 3">
            <a:extLst>
              <a:ext uri="{FF2B5EF4-FFF2-40B4-BE49-F238E27FC236}">
                <a16:creationId xmlns:a16="http://schemas.microsoft.com/office/drawing/2014/main" id="{22A015EB-A1D4-557E-C3F6-7083141A472E}"/>
              </a:ext>
            </a:extLst>
          </p:cNvPr>
          <p:cNvSpPr/>
          <p:nvPr/>
        </p:nvSpPr>
        <p:spPr>
          <a:xfrm>
            <a:off x="410862" y="1825625"/>
            <a:ext cx="5054138" cy="2121763"/>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WHAT HAPPENED</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A single US ISP (believed to be Windstream) had 600,000+ customer modems (</a:t>
            </a:r>
            <a:r>
              <a:rPr lang="en-US" sz="1600" dirty="0" err="1">
                <a:solidFill>
                  <a:srgbClr val="F1F5F9"/>
                </a:solidFill>
                <a:latin typeface="Georgia" panose="02040502050405020303" pitchFamily="18" charset="0"/>
                <a:ea typeface="Calibri" pitchFamily="34" charset="-122"/>
                <a:cs typeface="Calibri" pitchFamily="34" charset="-120"/>
              </a:rPr>
              <a:t>ActionTec</a:t>
            </a:r>
            <a:r>
              <a:rPr lang="en-US" sz="1600" dirty="0">
                <a:solidFill>
                  <a:srgbClr val="F1F5F9"/>
                </a:solidFill>
                <a:latin typeface="Georgia" panose="02040502050405020303" pitchFamily="18" charset="0"/>
                <a:ea typeface="Calibri" pitchFamily="34" charset="-122"/>
                <a:cs typeface="Calibri" pitchFamily="34" charset="-120"/>
              </a:rPr>
              <a:t> T3200/T3260, </a:t>
            </a:r>
            <a:r>
              <a:rPr lang="en-US" sz="1600" dirty="0" err="1">
                <a:solidFill>
                  <a:srgbClr val="F1F5F9"/>
                </a:solidFill>
                <a:latin typeface="Georgia" panose="02040502050405020303" pitchFamily="18" charset="0"/>
                <a:ea typeface="Calibri" pitchFamily="34" charset="-122"/>
                <a:cs typeface="Calibri" pitchFamily="34" charset="-120"/>
              </a:rPr>
              <a:t>Sagemcom</a:t>
            </a:r>
            <a:r>
              <a:rPr lang="en-US" sz="1600" dirty="0">
                <a:solidFill>
                  <a:srgbClr val="F1F5F9"/>
                </a:solidFill>
                <a:latin typeface="Georgia" panose="02040502050405020303" pitchFamily="18" charset="0"/>
                <a:ea typeface="Calibri" pitchFamily="34" charset="-122"/>
                <a:cs typeface="Calibri" pitchFamily="34" charset="-120"/>
              </a:rPr>
              <a:t>) permanently bricked over a 72-hour window. 49% of their ASN's modems were destroyed.</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5" name="Rectangle: Rounded Corners 4">
            <a:extLst>
              <a:ext uri="{FF2B5EF4-FFF2-40B4-BE49-F238E27FC236}">
                <a16:creationId xmlns:a16="http://schemas.microsoft.com/office/drawing/2014/main" id="{4B3DC31F-5EDB-AF83-C795-BB9E74E1440F}"/>
              </a:ext>
            </a:extLst>
          </p:cNvPr>
          <p:cNvSpPr/>
          <p:nvPr/>
        </p:nvSpPr>
        <p:spPr>
          <a:xfrm>
            <a:off x="6237317" y="1825625"/>
            <a:ext cx="5054138" cy="2121763"/>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HOW IT WAS DONE</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Attackers used </a:t>
            </a:r>
            <a:r>
              <a:rPr lang="en-US" sz="1600" dirty="0" err="1">
                <a:solidFill>
                  <a:srgbClr val="F1F5F9"/>
                </a:solidFill>
                <a:latin typeface="Georgia" panose="02040502050405020303" pitchFamily="18" charset="0"/>
                <a:ea typeface="Calibri" pitchFamily="34" charset="-122"/>
                <a:cs typeface="Calibri" pitchFamily="34" charset="-120"/>
              </a:rPr>
              <a:t>Chalubo</a:t>
            </a:r>
            <a:r>
              <a:rPr lang="en-US" sz="1600" dirty="0">
                <a:solidFill>
                  <a:srgbClr val="F1F5F9"/>
                </a:solidFill>
                <a:latin typeface="Georgia" panose="02040502050405020303" pitchFamily="18" charset="0"/>
                <a:ea typeface="Calibri" pitchFamily="34" charset="-122"/>
                <a:cs typeface="Calibri" pitchFamily="34" charset="-120"/>
              </a:rPr>
              <a:t> RAT (commodity malware). Delivered malicious firmware update that deleted operational code. Devices displayed 'steady red light' and required full hardware replacement. No financial demand made — purely destructive.</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6" name="Rectangle: Rounded Corners 5">
            <a:extLst>
              <a:ext uri="{FF2B5EF4-FFF2-40B4-BE49-F238E27FC236}">
                <a16:creationId xmlns:a16="http://schemas.microsoft.com/office/drawing/2014/main" id="{0E7B75D8-068F-8EB2-501A-3EF9152B70BE}"/>
              </a:ext>
            </a:extLst>
          </p:cNvPr>
          <p:cNvSpPr/>
          <p:nvPr/>
        </p:nvSpPr>
        <p:spPr>
          <a:xfrm>
            <a:off x="410862" y="4129408"/>
            <a:ext cx="5054138" cy="212176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IMPACT</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Hundreds of thousands of customers lost internet service. Hardware had to be physically replaced at scale. Rural communities (primary customers) were disproportionately impacted. No attribution confirmed.</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7" name="Rectangle: Rounded Corners 6">
            <a:extLst>
              <a:ext uri="{FF2B5EF4-FFF2-40B4-BE49-F238E27FC236}">
                <a16:creationId xmlns:a16="http://schemas.microsoft.com/office/drawing/2014/main" id="{23B83A6D-56E6-71B4-6C34-4F36DEF67E5C}"/>
              </a:ext>
            </a:extLst>
          </p:cNvPr>
          <p:cNvSpPr/>
          <p:nvPr/>
        </p:nvSpPr>
        <p:spPr>
          <a:xfrm>
            <a:off x="6237317" y="4129408"/>
            <a:ext cx="5054138" cy="2121763"/>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IR LESSON FOR ISP</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ISPs must sign/verify firmware updates cryptographically. Implement CPE management platforms with anomaly detection. Maintain rapid replacement stock for scale-incident scenarios. Monitor TR-069/CWMP traffic for unauthorized commands to CPE fleet.</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949976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0F7C2-517B-8E83-DB12-80ED7B3C9118}"/>
              </a:ext>
            </a:extLst>
          </p:cNvPr>
          <p:cNvSpPr>
            <a:spLocks noGrp="1"/>
          </p:cNvSpPr>
          <p:nvPr>
            <p:ph type="title"/>
          </p:nvPr>
        </p:nvSpPr>
        <p:spPr/>
        <p:txBody>
          <a:bodyPr>
            <a:normAutofit/>
          </a:bodyPr>
          <a:lstStyle/>
          <a:p>
            <a:r>
              <a:rPr lang="en-US" sz="2800" dirty="0">
                <a:ea typeface="Calibri" pitchFamily="34" charset="-122"/>
                <a:cs typeface="Calibri" pitchFamily="34" charset="-120"/>
              </a:rPr>
              <a:t>Case Study: </a:t>
            </a:r>
            <a:r>
              <a:rPr lang="en-US" sz="2800" dirty="0" err="1">
                <a:ea typeface="Calibri" pitchFamily="34" charset="-122"/>
                <a:cs typeface="Calibri" pitchFamily="34" charset="-120"/>
              </a:rPr>
              <a:t>StormBamboo</a:t>
            </a:r>
            <a:r>
              <a:rPr lang="en-US" sz="2800" dirty="0">
                <a:ea typeface="Calibri" pitchFamily="34" charset="-122"/>
                <a:cs typeface="Calibri" pitchFamily="34" charset="-120"/>
              </a:rPr>
              <a:t> — </a:t>
            </a:r>
            <a:br>
              <a:rPr lang="en-US" sz="2800" dirty="0">
                <a:ea typeface="Calibri" pitchFamily="34" charset="-122"/>
                <a:cs typeface="Calibri" pitchFamily="34" charset="-120"/>
              </a:rPr>
            </a:br>
            <a:r>
              <a:rPr lang="en-US" sz="2800" dirty="0">
                <a:ea typeface="Calibri" pitchFamily="34" charset="-122"/>
                <a:cs typeface="Calibri" pitchFamily="34" charset="-120"/>
              </a:rPr>
              <a:t>DNS Poisoning at ISP Level (2023)</a:t>
            </a:r>
            <a:endParaRPr lang="en-ID" sz="2800" dirty="0"/>
          </a:p>
        </p:txBody>
      </p:sp>
      <p:sp>
        <p:nvSpPr>
          <p:cNvPr id="3" name="Content Placeholder 2">
            <a:extLst>
              <a:ext uri="{FF2B5EF4-FFF2-40B4-BE49-F238E27FC236}">
                <a16:creationId xmlns:a16="http://schemas.microsoft.com/office/drawing/2014/main" id="{A1BC9BED-B6DA-A312-2C94-8787E9991800}"/>
              </a:ext>
            </a:extLst>
          </p:cNvPr>
          <p:cNvSpPr>
            <a:spLocks noGrp="1"/>
          </p:cNvSpPr>
          <p:nvPr>
            <p:ph idx="1"/>
          </p:nvPr>
        </p:nvSpPr>
        <p:spPr/>
        <p:txBody>
          <a:bodyPr/>
          <a:lstStyle/>
          <a:p>
            <a:endParaRPr lang="en-ID" dirty="0"/>
          </a:p>
        </p:txBody>
      </p:sp>
      <p:sp>
        <p:nvSpPr>
          <p:cNvPr id="4" name="Rectangle: Rounded Corners 3">
            <a:extLst>
              <a:ext uri="{FF2B5EF4-FFF2-40B4-BE49-F238E27FC236}">
                <a16:creationId xmlns:a16="http://schemas.microsoft.com/office/drawing/2014/main" id="{3D0A7666-76D5-53EA-FA63-6594DD181414}"/>
              </a:ext>
            </a:extLst>
          </p:cNvPr>
          <p:cNvSpPr/>
          <p:nvPr/>
        </p:nvSpPr>
        <p:spPr>
          <a:xfrm>
            <a:off x="410862" y="1690688"/>
            <a:ext cx="5054138" cy="2234058"/>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WHAT HAPPENED</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APT group </a:t>
            </a:r>
            <a:r>
              <a:rPr lang="en-US" sz="1600" dirty="0" err="1">
                <a:solidFill>
                  <a:srgbClr val="F1F5F9"/>
                </a:solidFill>
                <a:latin typeface="Georgia" panose="02040502050405020303" pitchFamily="18" charset="0"/>
                <a:ea typeface="Calibri" pitchFamily="34" charset="-122"/>
                <a:cs typeface="Calibri" pitchFamily="34" charset="-120"/>
              </a:rPr>
              <a:t>StormBamboo</a:t>
            </a:r>
            <a:r>
              <a:rPr lang="en-US" sz="1600" dirty="0">
                <a:solidFill>
                  <a:srgbClr val="F1F5F9"/>
                </a:solidFill>
                <a:latin typeface="Georgia" panose="02040502050405020303" pitchFamily="18" charset="0"/>
                <a:ea typeface="Calibri" pitchFamily="34" charset="-122"/>
                <a:cs typeface="Calibri" pitchFamily="34" charset="-120"/>
              </a:rPr>
              <a:t> (linked to </a:t>
            </a:r>
            <a:r>
              <a:rPr lang="en-US" sz="1600" dirty="0" err="1">
                <a:solidFill>
                  <a:srgbClr val="F1F5F9"/>
                </a:solidFill>
                <a:latin typeface="Georgia" panose="02040502050405020303" pitchFamily="18" charset="0"/>
                <a:ea typeface="Calibri" pitchFamily="34" charset="-122"/>
                <a:cs typeface="Calibri" pitchFamily="34" charset="-120"/>
              </a:rPr>
              <a:t>Daggerfly</a:t>
            </a:r>
            <a:r>
              <a:rPr lang="en-US" sz="1600" dirty="0">
                <a:solidFill>
                  <a:srgbClr val="F1F5F9"/>
                </a:solidFill>
                <a:latin typeface="Georgia" panose="02040502050405020303" pitchFamily="18" charset="0"/>
                <a:ea typeface="Calibri" pitchFamily="34" charset="-122"/>
                <a:cs typeface="Calibri" pitchFamily="34" charset="-120"/>
              </a:rPr>
              <a:t>/China) compromised an unnamed ISP and poisoned DNS responses at the infrastructure level. Software update requests from customers were redirected to attacker-controlled servers.</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5" name="Rectangle: Rounded Corners 4">
            <a:extLst>
              <a:ext uri="{FF2B5EF4-FFF2-40B4-BE49-F238E27FC236}">
                <a16:creationId xmlns:a16="http://schemas.microsoft.com/office/drawing/2014/main" id="{D4FEFA81-E811-0930-6A71-F72B2CBB8EE1}"/>
              </a:ext>
            </a:extLst>
          </p:cNvPr>
          <p:cNvSpPr/>
          <p:nvPr/>
        </p:nvSpPr>
        <p:spPr>
          <a:xfrm>
            <a:off x="6237317" y="1690688"/>
            <a:ext cx="5054138" cy="2234058"/>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HOW IT WAS DONE</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Attackers gained access to ISP DNS resolver infrastructure. Modified DNS responses for legitimate software update domains. Pushed MACMA (macOS) and POCOSTICK/</a:t>
            </a:r>
            <a:r>
              <a:rPr lang="en-US" sz="1600" dirty="0" err="1">
                <a:solidFill>
                  <a:srgbClr val="F1F5F9"/>
                </a:solidFill>
                <a:latin typeface="Georgia" panose="02040502050405020303" pitchFamily="18" charset="0"/>
                <a:ea typeface="Calibri" pitchFamily="34" charset="-122"/>
                <a:cs typeface="Calibri" pitchFamily="34" charset="-120"/>
              </a:rPr>
              <a:t>MGBot</a:t>
            </a:r>
            <a:r>
              <a:rPr lang="en-US" sz="1600" dirty="0">
                <a:solidFill>
                  <a:srgbClr val="F1F5F9"/>
                </a:solidFill>
                <a:latin typeface="Georgia" panose="02040502050405020303" pitchFamily="18" charset="0"/>
                <a:ea typeface="Calibri" pitchFamily="34" charset="-122"/>
                <a:cs typeface="Calibri" pitchFamily="34" charset="-120"/>
              </a:rPr>
              <a:t> (Windows) malware to unsuspecting users who trusted their software updates.</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6" name="Rectangle: Rounded Corners 5">
            <a:extLst>
              <a:ext uri="{FF2B5EF4-FFF2-40B4-BE49-F238E27FC236}">
                <a16:creationId xmlns:a16="http://schemas.microsoft.com/office/drawing/2014/main" id="{2A3D884E-CBC9-134C-D722-CE9482003243}"/>
              </a:ext>
            </a:extLst>
          </p:cNvPr>
          <p:cNvSpPr/>
          <p:nvPr/>
        </p:nvSpPr>
        <p:spPr>
          <a:xfrm>
            <a:off x="410862" y="4017114"/>
            <a:ext cx="5054138" cy="2234058"/>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IMPACT</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Enterprise and consumer customers of the ISP received malware through trusted update channels. Difficult to detect since the attack was transparent to end-users. Demonstrates supply-chain danger when ISP infrastructure is compromised.</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
        <p:nvSpPr>
          <p:cNvPr id="7" name="Rectangle: Rounded Corners 6">
            <a:extLst>
              <a:ext uri="{FF2B5EF4-FFF2-40B4-BE49-F238E27FC236}">
                <a16:creationId xmlns:a16="http://schemas.microsoft.com/office/drawing/2014/main" id="{E9926FD7-6DBB-CE45-FA63-6010C98BA189}"/>
              </a:ext>
            </a:extLst>
          </p:cNvPr>
          <p:cNvSpPr/>
          <p:nvPr/>
        </p:nvSpPr>
        <p:spPr>
          <a:xfrm>
            <a:off x="6237317" y="4017114"/>
            <a:ext cx="5054138" cy="2234058"/>
          </a:xfrm>
          <a:prstGeom prst="round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Georgia" panose="02040502050405020303" pitchFamily="18" charset="0"/>
                <a:ea typeface="Calibri" pitchFamily="34" charset="-122"/>
                <a:cs typeface="Calibri" pitchFamily="34" charset="-120"/>
              </a:rPr>
              <a:t>IR LESSON FOR ISP</a:t>
            </a:r>
            <a:endParaRPr lang="en-US" sz="1600" dirty="0">
              <a:solidFill>
                <a:schemeClr val="bg1"/>
              </a:solidFill>
              <a:latin typeface="Georgia" panose="02040502050405020303" pitchFamily="18" charset="0"/>
            </a:endParaRPr>
          </a:p>
          <a:p>
            <a:r>
              <a:rPr lang="en-US" sz="1600" dirty="0">
                <a:solidFill>
                  <a:srgbClr val="F1F5F9"/>
                </a:solidFill>
                <a:latin typeface="Georgia" panose="02040502050405020303" pitchFamily="18" charset="0"/>
                <a:ea typeface="Calibri" pitchFamily="34" charset="-122"/>
                <a:cs typeface="Calibri" pitchFamily="34" charset="-120"/>
              </a:rPr>
              <a:t>ISPs must implement DNSSEC on all authoritative and recursive resolvers. Monitor DNS query anomalies and unexpected zone changes. Implement strict change management on DNS infrastructure. Separate DNS management plane from data plane.</a:t>
            </a:r>
            <a:endParaRPr lang="en-US" sz="1600" dirty="0">
              <a:latin typeface="Georgia" panose="02040502050405020303" pitchFamily="18" charset="0"/>
            </a:endParaRPr>
          </a:p>
          <a:p>
            <a:pPr algn="ctr"/>
            <a:endParaRPr lang="en-ID" sz="1600" dirty="0">
              <a:solidFill>
                <a:schemeClr val="bg1"/>
              </a:solidFill>
              <a:latin typeface="Georgia" panose="02040502050405020303" pitchFamily="18" charset="0"/>
            </a:endParaRPr>
          </a:p>
        </p:txBody>
      </p:sp>
    </p:spTree>
    <p:extLst>
      <p:ext uri="{BB962C8B-B14F-4D97-AF65-F5344CB8AC3E}">
        <p14:creationId xmlns:p14="http://schemas.microsoft.com/office/powerpoint/2010/main" val="659847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0A5E2-2D4B-6C4C-BD10-ADFE3AA7C639}"/>
              </a:ext>
            </a:extLst>
          </p:cNvPr>
          <p:cNvSpPr>
            <a:spLocks noGrp="1"/>
          </p:cNvSpPr>
          <p:nvPr>
            <p:ph type="title"/>
          </p:nvPr>
        </p:nvSpPr>
        <p:spPr/>
        <p:txBody>
          <a:bodyPr/>
          <a:lstStyle/>
          <a:p>
            <a:r>
              <a:rPr lang="en-GB" dirty="0"/>
              <a:t>Case Study : Ransomware Targeting ISP Operations</a:t>
            </a:r>
            <a:endParaRPr lang="en-ID" dirty="0"/>
          </a:p>
        </p:txBody>
      </p:sp>
      <p:sp>
        <p:nvSpPr>
          <p:cNvPr id="3" name="Content Placeholder 2">
            <a:extLst>
              <a:ext uri="{FF2B5EF4-FFF2-40B4-BE49-F238E27FC236}">
                <a16:creationId xmlns:a16="http://schemas.microsoft.com/office/drawing/2014/main" id="{CAB46E92-7737-FD27-4304-2C41FF0C0C02}"/>
              </a:ext>
            </a:extLst>
          </p:cNvPr>
          <p:cNvSpPr>
            <a:spLocks noGrp="1"/>
          </p:cNvSpPr>
          <p:nvPr>
            <p:ph idx="1"/>
          </p:nvPr>
        </p:nvSpPr>
        <p:spPr/>
        <p:txBody>
          <a:bodyPr>
            <a:normAutofit fontScale="92500" lnSpcReduction="10000"/>
          </a:bodyPr>
          <a:lstStyle/>
          <a:p>
            <a:r>
              <a:rPr lang="en-GB" sz="2000" dirty="0"/>
              <a:t>PRIMARY TARGETS: OSS/BSS platforms (billing, provisioning, CRM), NOC workstations, network monitoring dashboards, backup systems — operational paralysis is the goal</a:t>
            </a:r>
          </a:p>
          <a:p>
            <a:r>
              <a:rPr lang="en-GB" sz="2000" dirty="0"/>
              <a:t>INITIAL ACCESS VECTORS: Phishing emails to NOC/IT staff (most common) | Exploited VPN/RDP vulnerabilities | Stolen credentials from dark web | Compromised managed service vendor</a:t>
            </a:r>
          </a:p>
          <a:p>
            <a:r>
              <a:rPr lang="en-GB" sz="2000" dirty="0"/>
              <a:t>ISP-SPECIFIC IMPACT: Provisioning outage (cannot activate new subscribers) | Billing blackout | Loss of visibility into customer circuits | $301K-$400K+ per hour downtime cost</a:t>
            </a:r>
          </a:p>
          <a:p>
            <a:r>
              <a:rPr lang="en-GB" sz="2000" dirty="0"/>
              <a:t>PRE-RANSOMWARE INDICATORS: Disable security tools (AV/EDR) | Delete shadow copies (</a:t>
            </a:r>
            <a:r>
              <a:rPr lang="en-GB" sz="2000" dirty="0" err="1"/>
              <a:t>vssadmin</a:t>
            </a:r>
            <a:r>
              <a:rPr lang="en-GB" sz="2000" dirty="0"/>
              <a:t> delete shadows) | Modify firewall rules | Create new admin accounts | Lateral movement with </a:t>
            </a:r>
            <a:r>
              <a:rPr lang="en-GB" sz="2000" dirty="0" err="1"/>
              <a:t>PsExec</a:t>
            </a:r>
            <a:r>
              <a:rPr lang="en-GB" sz="2000" dirty="0"/>
              <a:t>/WMI</a:t>
            </a:r>
          </a:p>
          <a:p>
            <a:r>
              <a:rPr lang="en-GB" sz="2000" dirty="0"/>
              <a:t>NOTABLE ISP RANSOMWARE: Cogent Communications (2022) | Multiple regional ISPs hit by </a:t>
            </a:r>
            <a:r>
              <a:rPr lang="en-GB" sz="2000" dirty="0" err="1"/>
              <a:t>LockBit</a:t>
            </a:r>
            <a:r>
              <a:rPr lang="en-GB" sz="2000" dirty="0"/>
              <a:t>, Black Basta 2023-2025 | Telecom sector consistently in top 5 ransomware targets</a:t>
            </a:r>
          </a:p>
          <a:p>
            <a:r>
              <a:rPr lang="en-GB" sz="2000" dirty="0"/>
              <a:t>ISP IR STEPS: Isolate infected systems | Identify Patient Zero | Preserve ransom note + encrypted file samples | Restore from offline/immutable backups | Engage </a:t>
            </a:r>
            <a:r>
              <a:rPr lang="en-GB" sz="2000" dirty="0" err="1"/>
              <a:t>Polri</a:t>
            </a:r>
            <a:r>
              <a:rPr lang="en-GB" sz="2000" dirty="0"/>
              <a:t> Siber/BSSN | DO NOT PAY</a:t>
            </a:r>
          </a:p>
        </p:txBody>
      </p:sp>
    </p:spTree>
    <p:extLst>
      <p:ext uri="{BB962C8B-B14F-4D97-AF65-F5344CB8AC3E}">
        <p14:creationId xmlns:p14="http://schemas.microsoft.com/office/powerpoint/2010/main" val="1948016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F1FAA-9418-7C91-A9A6-EF5C090017FA}"/>
              </a:ext>
            </a:extLst>
          </p:cNvPr>
          <p:cNvSpPr>
            <a:spLocks noGrp="1"/>
          </p:cNvSpPr>
          <p:nvPr>
            <p:ph type="title"/>
          </p:nvPr>
        </p:nvSpPr>
        <p:spPr/>
        <p:txBody>
          <a:bodyPr/>
          <a:lstStyle/>
          <a:p>
            <a:r>
              <a:rPr lang="en-GB" dirty="0"/>
              <a:t>ISP IR Maturity — Self-Assessment</a:t>
            </a:r>
            <a:endParaRPr lang="en-ID" dirty="0"/>
          </a:p>
        </p:txBody>
      </p:sp>
      <p:sp>
        <p:nvSpPr>
          <p:cNvPr id="3" name="Content Placeholder 2">
            <a:extLst>
              <a:ext uri="{FF2B5EF4-FFF2-40B4-BE49-F238E27FC236}">
                <a16:creationId xmlns:a16="http://schemas.microsoft.com/office/drawing/2014/main" id="{8E880782-0BF5-47D9-7A9A-A6D956C41D49}"/>
              </a:ext>
            </a:extLst>
          </p:cNvPr>
          <p:cNvSpPr>
            <a:spLocks noGrp="1"/>
          </p:cNvSpPr>
          <p:nvPr>
            <p:ph sz="half" idx="1"/>
          </p:nvPr>
        </p:nvSpPr>
        <p:spPr/>
        <p:txBody>
          <a:bodyPr>
            <a:normAutofit fontScale="62500" lnSpcReduction="20000"/>
          </a:bodyPr>
          <a:lstStyle/>
          <a:p>
            <a:pPr marL="0" indent="0">
              <a:buNone/>
            </a:pPr>
            <a:r>
              <a:rPr lang="en-GB" sz="2400" b="1" dirty="0">
                <a:solidFill>
                  <a:srgbClr val="1F3864"/>
                </a:solidFill>
              </a:rPr>
              <a:t>REACTIVE (Maturity Level 1-2)</a:t>
            </a:r>
          </a:p>
          <a:p>
            <a:pPr marL="285750" indent="-285750"/>
            <a:r>
              <a:rPr lang="en-GB" dirty="0"/>
              <a:t>No formal IR policy or playbooks documented</a:t>
            </a:r>
          </a:p>
          <a:p>
            <a:pPr marL="285750" indent="-285750"/>
            <a:r>
              <a:rPr lang="en-GB" dirty="0"/>
              <a:t>Incident handling is ad-hoc, NOC-led only</a:t>
            </a:r>
          </a:p>
          <a:p>
            <a:pPr marL="285750" indent="-285750"/>
            <a:r>
              <a:rPr lang="en-GB" dirty="0"/>
              <a:t>No dedicated CSIRT or security response team</a:t>
            </a:r>
          </a:p>
          <a:p>
            <a:pPr marL="285750" indent="-285750"/>
            <a:r>
              <a:rPr lang="en-GB" dirty="0"/>
              <a:t>No SIEM or ISP-specific monitoring (BGP, DNS)</a:t>
            </a:r>
          </a:p>
          <a:p>
            <a:pPr marL="285750" indent="-285750"/>
            <a:r>
              <a:rPr lang="en-GB" dirty="0"/>
              <a:t>No BGP anomaly detection or RPKI deployed</a:t>
            </a:r>
          </a:p>
          <a:p>
            <a:pPr marL="285750" indent="-285750"/>
            <a:r>
              <a:rPr lang="en-GB" dirty="0"/>
              <a:t>No documented escalation path or contact list</a:t>
            </a:r>
          </a:p>
          <a:p>
            <a:pPr marL="285750" indent="-285750"/>
            <a:r>
              <a:rPr lang="en-GB" dirty="0"/>
              <a:t>Post-incident: verbal discussion only, no PIR</a:t>
            </a:r>
          </a:p>
          <a:p>
            <a:pPr marL="285750" indent="-285750"/>
            <a:r>
              <a:rPr lang="en-GB" dirty="0"/>
              <a:t>No regulatory notification workflow tested</a:t>
            </a:r>
          </a:p>
          <a:p>
            <a:endParaRPr lang="en-ID" dirty="0"/>
          </a:p>
        </p:txBody>
      </p:sp>
      <p:sp>
        <p:nvSpPr>
          <p:cNvPr id="4" name="Content Placeholder 3">
            <a:extLst>
              <a:ext uri="{FF2B5EF4-FFF2-40B4-BE49-F238E27FC236}">
                <a16:creationId xmlns:a16="http://schemas.microsoft.com/office/drawing/2014/main" id="{29E385D4-2246-2BE1-DB00-45B2A0D28460}"/>
              </a:ext>
            </a:extLst>
          </p:cNvPr>
          <p:cNvSpPr>
            <a:spLocks noGrp="1"/>
          </p:cNvSpPr>
          <p:nvPr>
            <p:ph sz="half" idx="2"/>
          </p:nvPr>
        </p:nvSpPr>
        <p:spPr/>
        <p:txBody>
          <a:bodyPr>
            <a:normAutofit fontScale="62500" lnSpcReduction="20000"/>
          </a:bodyPr>
          <a:lstStyle/>
          <a:p>
            <a:pPr marL="0" indent="0">
              <a:buNone/>
            </a:pPr>
            <a:r>
              <a:rPr lang="en-GB" sz="2400" b="1" dirty="0">
                <a:solidFill>
                  <a:srgbClr val="7F3F00"/>
                </a:solidFill>
              </a:rPr>
              <a:t>PROACTIVE (Target: Maturity Level 4-5)</a:t>
            </a:r>
          </a:p>
          <a:p>
            <a:pPr marL="285750" indent="-285750"/>
            <a:r>
              <a:rPr lang="en-GB" dirty="0"/>
              <a:t>Documented IR playbooks per ISP attack type</a:t>
            </a:r>
          </a:p>
          <a:p>
            <a:pPr marL="285750" indent="-285750"/>
            <a:r>
              <a:rPr lang="en-GB" dirty="0"/>
              <a:t>Dedicated IR/CSIRT team with clear roles &amp; RACI</a:t>
            </a:r>
          </a:p>
          <a:p>
            <a:pPr marL="285750" indent="-285750"/>
            <a:r>
              <a:rPr lang="en-GB" dirty="0"/>
              <a:t>24/7 SOC with ISP-tuned Sigma detection rules</a:t>
            </a:r>
          </a:p>
          <a:p>
            <a:pPr marL="285750" indent="-285750"/>
            <a:r>
              <a:rPr lang="en-GB" dirty="0"/>
              <a:t>BGP monitoring + RPKI/ROA deployed for all prefixes</a:t>
            </a:r>
          </a:p>
          <a:p>
            <a:pPr marL="285750" indent="-285750"/>
            <a:r>
              <a:rPr lang="en-GB" dirty="0"/>
              <a:t>DNSSEC on all zones + DNS query log analysis active</a:t>
            </a:r>
          </a:p>
          <a:p>
            <a:pPr marL="285750" indent="-285750"/>
            <a:r>
              <a:rPr lang="en-GB" dirty="0"/>
              <a:t>Quarterly tabletop exercises with all stakeholders</a:t>
            </a:r>
          </a:p>
          <a:p>
            <a:pPr marL="285750" indent="-285750"/>
            <a:r>
              <a:rPr lang="en-GB" dirty="0"/>
              <a:t>PIR process + regulatory reporting workflow tested</a:t>
            </a:r>
          </a:p>
          <a:p>
            <a:pPr marL="285750" indent="-285750"/>
            <a:r>
              <a:rPr lang="en-GB" dirty="0"/>
              <a:t>Member of ID-CERT, APNIC CERT, and MANRS</a:t>
            </a:r>
          </a:p>
          <a:p>
            <a:endParaRPr lang="en-ID" dirty="0"/>
          </a:p>
        </p:txBody>
      </p:sp>
    </p:spTree>
    <p:extLst>
      <p:ext uri="{BB962C8B-B14F-4D97-AF65-F5344CB8AC3E}">
        <p14:creationId xmlns:p14="http://schemas.microsoft.com/office/powerpoint/2010/main" val="23978967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DD588D-CCB7-989E-DE79-E568DAD8FFBD}"/>
              </a:ext>
            </a:extLst>
          </p:cNvPr>
          <p:cNvSpPr>
            <a:spLocks noGrp="1"/>
          </p:cNvSpPr>
          <p:nvPr>
            <p:ph type="title"/>
          </p:nvPr>
        </p:nvSpPr>
        <p:spPr/>
        <p:txBody>
          <a:bodyPr/>
          <a:lstStyle/>
          <a:p>
            <a:r>
              <a:rPr lang="en-GB" dirty="0"/>
              <a:t>Building ISP IR Capability — 90-Day Roadmap</a:t>
            </a:r>
            <a:endParaRPr lang="en-ID" dirty="0"/>
          </a:p>
        </p:txBody>
      </p:sp>
      <p:sp>
        <p:nvSpPr>
          <p:cNvPr id="6" name="Content Placeholder 5">
            <a:extLst>
              <a:ext uri="{FF2B5EF4-FFF2-40B4-BE49-F238E27FC236}">
                <a16:creationId xmlns:a16="http://schemas.microsoft.com/office/drawing/2014/main" id="{97EE38D8-30B1-6122-3D6A-D53D45B754E6}"/>
              </a:ext>
            </a:extLst>
          </p:cNvPr>
          <p:cNvSpPr>
            <a:spLocks noGrp="1"/>
          </p:cNvSpPr>
          <p:nvPr>
            <p:ph idx="1"/>
          </p:nvPr>
        </p:nvSpPr>
        <p:spPr/>
        <p:txBody>
          <a:bodyPr>
            <a:normAutofit fontScale="62500" lnSpcReduction="20000"/>
          </a:bodyPr>
          <a:lstStyle/>
          <a:p>
            <a:r>
              <a:rPr lang="en-GB" dirty="0"/>
              <a:t>DAYS 1-30 (Foundation): Document current IR process | Identify and classify critical assets (BGP, DNS, LI systems, OSS/BSS, subscriber databases) | Establish IR team contacts and escalation tree | Register with ID-CERT and APNIC CERT</a:t>
            </a:r>
          </a:p>
          <a:p>
            <a:r>
              <a:rPr lang="en-GB" dirty="0"/>
              <a:t>DAYS 31-60 (Detection): Deploy NetFlow collection and establish traffic baseline | Enable DNS query logging on all recursive resolvers | Configure BGP route monitoring (</a:t>
            </a:r>
            <a:r>
              <a:rPr lang="en-GB" dirty="0" err="1"/>
              <a:t>BGPmon</a:t>
            </a:r>
            <a:r>
              <a:rPr lang="en-GB" dirty="0"/>
              <a:t> alerts + RIPE RIS subscription) | Deploy RPKI ROA for ALL ISP-owned prefixes</a:t>
            </a:r>
          </a:p>
          <a:p>
            <a:r>
              <a:rPr lang="en-GB" dirty="0"/>
              <a:t>DAYS 61-90 (Response Capability): Develop 3 priority ISP playbooks (BGP hijack, DDoS response, Subscriber data breach) | Conduct first tabletop exercise with NOC + Security + Legal + Compliance | Establish and test regulatory notification workflow with BSSN/</a:t>
            </a:r>
            <a:r>
              <a:rPr lang="en-GB" dirty="0" err="1"/>
              <a:t>Kominfo</a:t>
            </a:r>
            <a:endParaRPr lang="en-GB" dirty="0"/>
          </a:p>
          <a:p>
            <a:r>
              <a:rPr lang="en-GB" dirty="0"/>
              <a:t>CONTINUOUS (Ongoing): Monthly review of SIEM detection rules against latest ATT&amp;CK TTPs | Quarterly tabletop drills with ISP-specific scenarios | Annual red team / purple team exercise targeting ISP attack surfaces</a:t>
            </a:r>
          </a:p>
          <a:p>
            <a:r>
              <a:rPr lang="en-GB" dirty="0"/>
              <a:t>ZERO TRUST QUICK WINS: (1) MFA on all VPN and management console access | (2) Separate admin VLAN from production network | (3) Disable default credentials on ALL network devices | (4) SSH key authentication (disable password SSH)</a:t>
            </a:r>
          </a:p>
          <a:p>
            <a:r>
              <a:rPr lang="en-GB" dirty="0"/>
              <a:t>THREAT INTELLIGENCE: Subscribe to APNIC, Team Cymru, </a:t>
            </a:r>
            <a:r>
              <a:rPr lang="en-GB" dirty="0" err="1"/>
              <a:t>Shadowserver</a:t>
            </a:r>
            <a:r>
              <a:rPr lang="en-GB" dirty="0"/>
              <a:t> threat intelligence feeds | Participate in ID-SIRTII IOC sharing | Monitor BSSN CSIRT advisories | Join MANRS for routing security community</a:t>
            </a:r>
          </a:p>
          <a:p>
            <a:endParaRPr lang="en-ID" dirty="0"/>
          </a:p>
        </p:txBody>
      </p:sp>
    </p:spTree>
    <p:extLst>
      <p:ext uri="{BB962C8B-B14F-4D97-AF65-F5344CB8AC3E}">
        <p14:creationId xmlns:p14="http://schemas.microsoft.com/office/powerpoint/2010/main" val="3180787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35BA2C-B718-A0D4-49AE-1AEFDC398E1E}"/>
              </a:ext>
            </a:extLst>
          </p:cNvPr>
          <p:cNvSpPr>
            <a:spLocks noGrp="1"/>
          </p:cNvSpPr>
          <p:nvPr>
            <p:ph type="title"/>
          </p:nvPr>
        </p:nvSpPr>
        <p:spPr/>
        <p:txBody>
          <a:bodyPr/>
          <a:lstStyle/>
          <a:p>
            <a:r>
              <a:rPr lang="en-GB" b="1" dirty="0"/>
              <a:t>DFIR Readiness</a:t>
            </a:r>
            <a:endParaRPr lang="en-ID" b="1" dirty="0"/>
          </a:p>
        </p:txBody>
      </p:sp>
      <p:sp>
        <p:nvSpPr>
          <p:cNvPr id="5" name="Text Placeholder 4">
            <a:extLst>
              <a:ext uri="{FF2B5EF4-FFF2-40B4-BE49-F238E27FC236}">
                <a16:creationId xmlns:a16="http://schemas.microsoft.com/office/drawing/2014/main" id="{EB24FA65-4C37-0784-D0D1-BBCD9083A349}"/>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730466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1FF29-A71B-6922-0808-FB968F04388A}"/>
              </a:ext>
            </a:extLst>
          </p:cNvPr>
          <p:cNvSpPr>
            <a:spLocks noGrp="1"/>
          </p:cNvSpPr>
          <p:nvPr>
            <p:ph type="title"/>
          </p:nvPr>
        </p:nvSpPr>
        <p:spPr/>
        <p:txBody>
          <a:bodyPr/>
          <a:lstStyle/>
          <a:p>
            <a:r>
              <a:rPr lang="en-GB" dirty="0"/>
              <a:t>DFIR Readiness Program Example</a:t>
            </a:r>
            <a:endParaRPr lang="en-ID" dirty="0"/>
          </a:p>
        </p:txBody>
      </p:sp>
      <p:pic>
        <p:nvPicPr>
          <p:cNvPr id="4" name="Content Placeholder 6">
            <a:extLst>
              <a:ext uri="{FF2B5EF4-FFF2-40B4-BE49-F238E27FC236}">
                <a16:creationId xmlns:a16="http://schemas.microsoft.com/office/drawing/2014/main" id="{703AD7D8-AC03-16DB-393A-BBFA642ABF3C}"/>
              </a:ext>
            </a:extLst>
          </p:cNvPr>
          <p:cNvPicPr>
            <a:picLocks noGrp="1" noChangeAspect="1"/>
          </p:cNvPicPr>
          <p:nvPr>
            <p:ph idx="1"/>
          </p:nvPr>
        </p:nvPicPr>
        <p:blipFill>
          <a:blip r:embed="rId2"/>
          <a:stretch>
            <a:fillRect/>
          </a:stretch>
        </p:blipFill>
        <p:spPr>
          <a:xfrm>
            <a:off x="1544937" y="1825625"/>
            <a:ext cx="9102125" cy="4351338"/>
          </a:xfrm>
        </p:spPr>
      </p:pic>
      <p:sp>
        <p:nvSpPr>
          <p:cNvPr id="5" name="TextBox 4">
            <a:extLst>
              <a:ext uri="{FF2B5EF4-FFF2-40B4-BE49-F238E27FC236}">
                <a16:creationId xmlns:a16="http://schemas.microsoft.com/office/drawing/2014/main" id="{42E5783D-E521-1387-7BED-2AB21731448C}"/>
              </a:ext>
            </a:extLst>
          </p:cNvPr>
          <p:cNvSpPr txBox="1"/>
          <p:nvPr/>
        </p:nvSpPr>
        <p:spPr>
          <a:xfrm>
            <a:off x="2864643" y="5940724"/>
            <a:ext cx="6462713" cy="369332"/>
          </a:xfrm>
          <a:prstGeom prst="rect">
            <a:avLst/>
          </a:prstGeom>
          <a:noFill/>
        </p:spPr>
        <p:txBody>
          <a:bodyPr wrap="square">
            <a:spAutoFit/>
          </a:bodyPr>
          <a:lstStyle/>
          <a:p>
            <a:pPr algn="ctr"/>
            <a:r>
              <a:rPr lang="en-US" b="1" dirty="0">
                <a:latin typeface="Georgia" panose="02040502050405020303" pitchFamily="18" charset="0"/>
              </a:rPr>
              <a:t>Red Canary Incident Response and Readiness Guide</a:t>
            </a:r>
          </a:p>
        </p:txBody>
      </p:sp>
    </p:spTree>
    <p:extLst>
      <p:ext uri="{BB962C8B-B14F-4D97-AF65-F5344CB8AC3E}">
        <p14:creationId xmlns:p14="http://schemas.microsoft.com/office/powerpoint/2010/main" val="707182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63D0-9C1A-9184-E6C8-B2546E52FB53}"/>
              </a:ext>
            </a:extLst>
          </p:cNvPr>
          <p:cNvSpPr>
            <a:spLocks noGrp="1"/>
          </p:cNvSpPr>
          <p:nvPr>
            <p:ph type="title"/>
          </p:nvPr>
        </p:nvSpPr>
        <p:spPr/>
        <p:txBody>
          <a:bodyPr/>
          <a:lstStyle/>
          <a:p>
            <a:r>
              <a:rPr lang="en-ID" dirty="0"/>
              <a:t>What is missing?</a:t>
            </a:r>
          </a:p>
        </p:txBody>
      </p:sp>
      <p:sp>
        <p:nvSpPr>
          <p:cNvPr id="3" name="Content Placeholder 2">
            <a:extLst>
              <a:ext uri="{FF2B5EF4-FFF2-40B4-BE49-F238E27FC236}">
                <a16:creationId xmlns:a16="http://schemas.microsoft.com/office/drawing/2014/main" id="{7EABB9B1-53FB-5D48-9341-00A73ACF15F9}"/>
              </a:ext>
            </a:extLst>
          </p:cNvPr>
          <p:cNvSpPr>
            <a:spLocks noGrp="1"/>
          </p:cNvSpPr>
          <p:nvPr>
            <p:ph idx="1"/>
          </p:nvPr>
        </p:nvSpPr>
        <p:spPr/>
        <p:txBody>
          <a:bodyPr>
            <a:normAutofit fontScale="92500"/>
          </a:bodyPr>
          <a:lstStyle/>
          <a:p>
            <a:r>
              <a:rPr lang="en-US" dirty="0"/>
              <a:t>What logs each device, application </a:t>
            </a:r>
            <a:r>
              <a:rPr lang="en-US" dirty="0" err="1"/>
              <a:t>etc</a:t>
            </a:r>
            <a:r>
              <a:rPr lang="en-US" dirty="0"/>
              <a:t>, will generate?</a:t>
            </a:r>
          </a:p>
          <a:p>
            <a:r>
              <a:rPr lang="en-US" dirty="0"/>
              <a:t>What type of logs are required to investigate a security incident?</a:t>
            </a:r>
          </a:p>
          <a:p>
            <a:r>
              <a:rPr lang="en-US" dirty="0"/>
              <a:t>What type of logs are required to be captured for the type of attack?</a:t>
            </a:r>
          </a:p>
          <a:p>
            <a:r>
              <a:rPr lang="en-US" dirty="0"/>
              <a:t>What type of logs are </a:t>
            </a:r>
            <a:r>
              <a:rPr lang="en-US" dirty="0" err="1"/>
              <a:t>tobe</a:t>
            </a:r>
            <a:r>
              <a:rPr lang="en-US" dirty="0"/>
              <a:t> fed into SIEM for threat alert/modeling?</a:t>
            </a:r>
          </a:p>
          <a:p>
            <a:r>
              <a:rPr lang="en-US" dirty="0"/>
              <a:t>What format they should be collected?</a:t>
            </a:r>
          </a:p>
          <a:p>
            <a:r>
              <a:rPr lang="en-US" dirty="0"/>
              <a:t>How to preserve the logs(data)?</a:t>
            </a:r>
          </a:p>
          <a:p>
            <a:r>
              <a:rPr lang="en-US" dirty="0"/>
              <a:t>How long they should be retained?</a:t>
            </a:r>
          </a:p>
          <a:p>
            <a:r>
              <a:rPr lang="en-US" dirty="0"/>
              <a:t>What is the Legal &amp; Regulatory requirements?</a:t>
            </a:r>
          </a:p>
          <a:p>
            <a:endParaRPr lang="en-ID" dirty="0"/>
          </a:p>
        </p:txBody>
      </p:sp>
    </p:spTree>
    <p:extLst>
      <p:ext uri="{BB962C8B-B14F-4D97-AF65-F5344CB8AC3E}">
        <p14:creationId xmlns:p14="http://schemas.microsoft.com/office/powerpoint/2010/main" val="415950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6EAAE-7728-244A-7CB4-0A9C3AF91A1C}"/>
              </a:ext>
            </a:extLst>
          </p:cNvPr>
          <p:cNvSpPr>
            <a:spLocks noGrp="1"/>
          </p:cNvSpPr>
          <p:nvPr>
            <p:ph type="title"/>
          </p:nvPr>
        </p:nvSpPr>
        <p:spPr/>
        <p:txBody>
          <a:bodyPr/>
          <a:lstStyle/>
          <a:p>
            <a:r>
              <a:rPr lang="en-GB" dirty="0"/>
              <a:t>Let’s Stop for a While</a:t>
            </a:r>
            <a:endParaRPr lang="en-ID" dirty="0"/>
          </a:p>
        </p:txBody>
      </p:sp>
      <p:sp>
        <p:nvSpPr>
          <p:cNvPr id="3" name="Content Placeholder 2">
            <a:extLst>
              <a:ext uri="{FF2B5EF4-FFF2-40B4-BE49-F238E27FC236}">
                <a16:creationId xmlns:a16="http://schemas.microsoft.com/office/drawing/2014/main" id="{9A7B70A0-EC94-CC5A-178A-44684EE62CFF}"/>
              </a:ext>
            </a:extLst>
          </p:cNvPr>
          <p:cNvSpPr>
            <a:spLocks noGrp="1"/>
          </p:cNvSpPr>
          <p:nvPr>
            <p:ph idx="1"/>
          </p:nvPr>
        </p:nvSpPr>
        <p:spPr/>
        <p:txBody>
          <a:bodyPr/>
          <a:lstStyle/>
          <a:p>
            <a:pPr marL="0" indent="0">
              <a:buNone/>
            </a:pPr>
            <a:r>
              <a:rPr lang="en-GB" dirty="0"/>
              <a:t>Take a Look at Cyber Incident Response Readiness Checklist by ACSC (Australia Cyber Security </a:t>
            </a:r>
            <a:r>
              <a:rPr lang="en-GB" dirty="0" err="1"/>
              <a:t>Center</a:t>
            </a:r>
            <a:r>
              <a:rPr lang="en-GB" dirty="0"/>
              <a:t>) :</a:t>
            </a:r>
          </a:p>
          <a:p>
            <a:pPr marL="0" indent="0">
              <a:buNone/>
            </a:pPr>
            <a:r>
              <a:rPr lang="en-US" dirty="0">
                <a:hlinkClick r:id="rId2"/>
              </a:rPr>
              <a:t>https://www.cyber.gov.au/sites/default/files/2023-03/ACSC%20Cyber%20Incident%20Readiness%20Checklist_A4.pdf</a:t>
            </a:r>
            <a:r>
              <a:rPr lang="en-GB" dirty="0"/>
              <a:t> </a:t>
            </a:r>
            <a:endParaRPr lang="en-US" dirty="0"/>
          </a:p>
          <a:p>
            <a:endParaRPr lang="en-ID" dirty="0"/>
          </a:p>
        </p:txBody>
      </p:sp>
    </p:spTree>
    <p:extLst>
      <p:ext uri="{BB962C8B-B14F-4D97-AF65-F5344CB8AC3E}">
        <p14:creationId xmlns:p14="http://schemas.microsoft.com/office/powerpoint/2010/main" val="3065321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77AF-C77F-9206-273E-904A87E8D5C0}"/>
              </a:ext>
            </a:extLst>
          </p:cNvPr>
          <p:cNvSpPr>
            <a:spLocks noGrp="1"/>
          </p:cNvSpPr>
          <p:nvPr>
            <p:ph type="title"/>
          </p:nvPr>
        </p:nvSpPr>
        <p:spPr/>
        <p:txBody>
          <a:bodyPr/>
          <a:lstStyle/>
          <a:p>
            <a:r>
              <a:rPr lang="en-US" dirty="0"/>
              <a:t>What is Digital Forensic Readiness? </a:t>
            </a:r>
            <a:endParaRPr lang="en-ID" dirty="0"/>
          </a:p>
        </p:txBody>
      </p:sp>
      <p:sp>
        <p:nvSpPr>
          <p:cNvPr id="3" name="Content Placeholder 2">
            <a:extLst>
              <a:ext uri="{FF2B5EF4-FFF2-40B4-BE49-F238E27FC236}">
                <a16:creationId xmlns:a16="http://schemas.microsoft.com/office/drawing/2014/main" id="{F074469A-F872-1B80-A709-2E85CCAC8883}"/>
              </a:ext>
            </a:extLst>
          </p:cNvPr>
          <p:cNvSpPr>
            <a:spLocks noGrp="1"/>
          </p:cNvSpPr>
          <p:nvPr>
            <p:ph idx="1"/>
          </p:nvPr>
        </p:nvSpPr>
        <p:spPr/>
        <p:txBody>
          <a:bodyPr/>
          <a:lstStyle/>
          <a:p>
            <a:endParaRPr lang="en-ID" dirty="0"/>
          </a:p>
        </p:txBody>
      </p:sp>
      <p:sp>
        <p:nvSpPr>
          <p:cNvPr id="4" name="Oval 3">
            <a:extLst>
              <a:ext uri="{FF2B5EF4-FFF2-40B4-BE49-F238E27FC236}">
                <a16:creationId xmlns:a16="http://schemas.microsoft.com/office/drawing/2014/main" id="{0AB7F05E-DF0A-C3B7-EDB1-9940A39E24A5}"/>
              </a:ext>
            </a:extLst>
          </p:cNvPr>
          <p:cNvSpPr/>
          <p:nvPr/>
        </p:nvSpPr>
        <p:spPr>
          <a:xfrm>
            <a:off x="9751743" y="4721758"/>
            <a:ext cx="1745863" cy="1602373"/>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latin typeface="Georgia" panose="02040502050405020303" pitchFamily="18" charset="0"/>
            </a:endParaRPr>
          </a:p>
        </p:txBody>
      </p:sp>
      <p:sp>
        <p:nvSpPr>
          <p:cNvPr id="5" name="Rectangle 4">
            <a:extLst>
              <a:ext uri="{FF2B5EF4-FFF2-40B4-BE49-F238E27FC236}">
                <a16:creationId xmlns:a16="http://schemas.microsoft.com/office/drawing/2014/main" id="{33E2E513-6E5D-5A6F-F195-72EE23E0C939}"/>
              </a:ext>
            </a:extLst>
          </p:cNvPr>
          <p:cNvSpPr/>
          <p:nvPr/>
        </p:nvSpPr>
        <p:spPr>
          <a:xfrm>
            <a:off x="838200" y="1825625"/>
            <a:ext cx="3643184" cy="167325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Georgia" panose="02040502050405020303" pitchFamily="18" charset="0"/>
              </a:rPr>
              <a:t>Definition</a:t>
            </a:r>
          </a:p>
          <a:p>
            <a:r>
              <a:rPr lang="en-US" sz="1200" i="1" dirty="0">
                <a:latin typeface="Georgia" panose="02040502050405020303" pitchFamily="18" charset="0"/>
              </a:rPr>
              <a:t>The achievement of an appropriate level of capability by an organization in order for it to be able to collect, preserve, protect and analyze digital evidence so that this evidence can be effectively used in any legal matters, in disciplinary matters, in an employment tribunal or court of law.</a:t>
            </a:r>
          </a:p>
        </p:txBody>
      </p:sp>
      <p:sp>
        <p:nvSpPr>
          <p:cNvPr id="6" name="Rectangle 5">
            <a:extLst>
              <a:ext uri="{FF2B5EF4-FFF2-40B4-BE49-F238E27FC236}">
                <a16:creationId xmlns:a16="http://schemas.microsoft.com/office/drawing/2014/main" id="{7A77E43D-9D0C-5743-4A7F-8EB34B5CDF75}"/>
              </a:ext>
            </a:extLst>
          </p:cNvPr>
          <p:cNvSpPr/>
          <p:nvPr/>
        </p:nvSpPr>
        <p:spPr>
          <a:xfrm>
            <a:off x="838200" y="3700410"/>
            <a:ext cx="3643184" cy="102177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Georgia" panose="02040502050405020303" pitchFamily="18" charset="0"/>
              </a:rPr>
              <a:t>Definition</a:t>
            </a:r>
          </a:p>
          <a:p>
            <a:r>
              <a:rPr lang="en-US" sz="1200" dirty="0">
                <a:latin typeface="Georgia" panose="02040502050405020303" pitchFamily="18" charset="0"/>
              </a:rPr>
              <a:t> the ability of an organization to maximize its potential to use digital evidence while minimizing the cost of an investigation.</a:t>
            </a:r>
            <a:endParaRPr lang="en-ID" sz="1200" dirty="0">
              <a:latin typeface="Georgia" panose="02040502050405020303" pitchFamily="18" charset="0"/>
            </a:endParaRPr>
          </a:p>
        </p:txBody>
      </p:sp>
      <p:sp>
        <p:nvSpPr>
          <p:cNvPr id="7" name="Rectangle 6">
            <a:extLst>
              <a:ext uri="{FF2B5EF4-FFF2-40B4-BE49-F238E27FC236}">
                <a16:creationId xmlns:a16="http://schemas.microsoft.com/office/drawing/2014/main" id="{37C1545B-D8AC-A0F0-AD2F-B3A40181E130}"/>
              </a:ext>
            </a:extLst>
          </p:cNvPr>
          <p:cNvSpPr/>
          <p:nvPr/>
        </p:nvSpPr>
        <p:spPr>
          <a:xfrm>
            <a:off x="8565290" y="1825624"/>
            <a:ext cx="2637623" cy="102177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latin typeface="Georgia" panose="02040502050405020303" pitchFamily="18" charset="0"/>
              </a:rPr>
              <a:t>Is it reactive? </a:t>
            </a:r>
          </a:p>
        </p:txBody>
      </p:sp>
      <p:sp>
        <p:nvSpPr>
          <p:cNvPr id="8" name="Arrow: Right 7">
            <a:extLst>
              <a:ext uri="{FF2B5EF4-FFF2-40B4-BE49-F238E27FC236}">
                <a16:creationId xmlns:a16="http://schemas.microsoft.com/office/drawing/2014/main" id="{EE3A7CB6-2E70-5681-FFCE-680903EFD527}"/>
              </a:ext>
            </a:extLst>
          </p:cNvPr>
          <p:cNvSpPr/>
          <p:nvPr/>
        </p:nvSpPr>
        <p:spPr>
          <a:xfrm>
            <a:off x="5842019" y="1825624"/>
            <a:ext cx="1290918" cy="1021771"/>
          </a:xfrm>
          <a:prstGeom prst="rightArrow">
            <a:avLst/>
          </a:prstGeom>
          <a:solidFill>
            <a:schemeClr val="accent4">
              <a:lumMod val="60000"/>
              <a:lumOff val="40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D">
              <a:latin typeface="Georgia" panose="02040502050405020303" pitchFamily="18" charset="0"/>
            </a:endParaRPr>
          </a:p>
        </p:txBody>
      </p:sp>
      <p:sp>
        <p:nvSpPr>
          <p:cNvPr id="9" name="Arrow: Right 8">
            <a:extLst>
              <a:ext uri="{FF2B5EF4-FFF2-40B4-BE49-F238E27FC236}">
                <a16:creationId xmlns:a16="http://schemas.microsoft.com/office/drawing/2014/main" id="{BE49A7AE-D2D6-6AAC-AE8F-EC91CCCF3488}"/>
              </a:ext>
            </a:extLst>
          </p:cNvPr>
          <p:cNvSpPr/>
          <p:nvPr/>
        </p:nvSpPr>
        <p:spPr>
          <a:xfrm>
            <a:off x="5842019" y="3591568"/>
            <a:ext cx="1290918" cy="1021771"/>
          </a:xfrm>
          <a:prstGeom prst="rightArrow">
            <a:avLst/>
          </a:prstGeom>
          <a:solidFill>
            <a:schemeClr val="accent4">
              <a:lumMod val="60000"/>
              <a:lumOff val="40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D">
              <a:latin typeface="Georgia" panose="02040502050405020303" pitchFamily="18" charset="0"/>
            </a:endParaRPr>
          </a:p>
        </p:txBody>
      </p:sp>
      <p:sp>
        <p:nvSpPr>
          <p:cNvPr id="10" name="Rectangle 9">
            <a:extLst>
              <a:ext uri="{FF2B5EF4-FFF2-40B4-BE49-F238E27FC236}">
                <a16:creationId xmlns:a16="http://schemas.microsoft.com/office/drawing/2014/main" id="{318AC3CD-95B2-AEC6-B92D-2518580D60C0}"/>
              </a:ext>
            </a:extLst>
          </p:cNvPr>
          <p:cNvSpPr/>
          <p:nvPr/>
        </p:nvSpPr>
        <p:spPr>
          <a:xfrm>
            <a:off x="8596183" y="3591568"/>
            <a:ext cx="2637623" cy="102177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D" dirty="0">
                <a:latin typeface="Georgia" panose="02040502050405020303" pitchFamily="18" charset="0"/>
              </a:rPr>
              <a:t>Proactive And Predictive</a:t>
            </a:r>
          </a:p>
        </p:txBody>
      </p:sp>
      <p:sp>
        <p:nvSpPr>
          <p:cNvPr id="11" name="Teardrop 10">
            <a:extLst>
              <a:ext uri="{FF2B5EF4-FFF2-40B4-BE49-F238E27FC236}">
                <a16:creationId xmlns:a16="http://schemas.microsoft.com/office/drawing/2014/main" id="{03DFEF1F-A464-14EB-13CB-4E70F14B3CD5}"/>
              </a:ext>
            </a:extLst>
          </p:cNvPr>
          <p:cNvSpPr/>
          <p:nvPr/>
        </p:nvSpPr>
        <p:spPr>
          <a:xfrm rot="2967833">
            <a:off x="8083654" y="4813842"/>
            <a:ext cx="1577788" cy="1518672"/>
          </a:xfrm>
          <a:prstGeom prst="teardrop">
            <a:avLst>
              <a:gd name="adj" fmla="val 111628"/>
            </a:avLst>
          </a:prstGeom>
          <a:solidFill>
            <a:srgbClr val="CC00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latin typeface="Georgia" panose="02040502050405020303" pitchFamily="18" charset="0"/>
            </a:endParaRPr>
          </a:p>
        </p:txBody>
      </p:sp>
      <p:sp>
        <p:nvSpPr>
          <p:cNvPr id="12" name="Teardrop 11">
            <a:extLst>
              <a:ext uri="{FF2B5EF4-FFF2-40B4-BE49-F238E27FC236}">
                <a16:creationId xmlns:a16="http://schemas.microsoft.com/office/drawing/2014/main" id="{E3780F63-F083-3D3F-D6E7-4F497D9922F5}"/>
              </a:ext>
            </a:extLst>
          </p:cNvPr>
          <p:cNvSpPr/>
          <p:nvPr/>
        </p:nvSpPr>
        <p:spPr>
          <a:xfrm rot="2967833">
            <a:off x="6278686" y="4745220"/>
            <a:ext cx="1577788" cy="1518672"/>
          </a:xfrm>
          <a:prstGeom prst="teardrop">
            <a:avLst>
              <a:gd name="adj" fmla="val 111628"/>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latin typeface="Georgia" panose="02040502050405020303" pitchFamily="18" charset="0"/>
            </a:endParaRPr>
          </a:p>
        </p:txBody>
      </p:sp>
      <p:sp>
        <p:nvSpPr>
          <p:cNvPr id="13" name="Teardrop 12">
            <a:extLst>
              <a:ext uri="{FF2B5EF4-FFF2-40B4-BE49-F238E27FC236}">
                <a16:creationId xmlns:a16="http://schemas.microsoft.com/office/drawing/2014/main" id="{BF17EAF3-AFF5-1C7E-7F8E-A6877A32A12F}"/>
              </a:ext>
            </a:extLst>
          </p:cNvPr>
          <p:cNvSpPr/>
          <p:nvPr/>
        </p:nvSpPr>
        <p:spPr>
          <a:xfrm rot="2967833">
            <a:off x="4495456" y="4777983"/>
            <a:ext cx="1577788" cy="1518672"/>
          </a:xfrm>
          <a:prstGeom prst="teardrop">
            <a:avLst>
              <a:gd name="adj" fmla="val 111628"/>
            </a:avLst>
          </a:prstGeom>
          <a:solidFill>
            <a:srgbClr val="005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600">
              <a:latin typeface="Georgia" panose="02040502050405020303" pitchFamily="18" charset="0"/>
            </a:endParaRPr>
          </a:p>
        </p:txBody>
      </p:sp>
      <p:sp>
        <p:nvSpPr>
          <p:cNvPr id="14" name="Teardrop 13">
            <a:extLst>
              <a:ext uri="{FF2B5EF4-FFF2-40B4-BE49-F238E27FC236}">
                <a16:creationId xmlns:a16="http://schemas.microsoft.com/office/drawing/2014/main" id="{43C19D5A-F4F2-CF5C-94DD-59057FCA0C15}"/>
              </a:ext>
            </a:extLst>
          </p:cNvPr>
          <p:cNvSpPr/>
          <p:nvPr/>
        </p:nvSpPr>
        <p:spPr>
          <a:xfrm rot="2967833">
            <a:off x="2701358" y="4787154"/>
            <a:ext cx="1577788" cy="1518672"/>
          </a:xfrm>
          <a:prstGeom prst="teardrop">
            <a:avLst>
              <a:gd name="adj" fmla="val 111628"/>
            </a:avLst>
          </a:prstGeom>
          <a:solidFill>
            <a:srgbClr val="00AA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latin typeface="Georgia" panose="02040502050405020303" pitchFamily="18" charset="0"/>
            </a:endParaRPr>
          </a:p>
        </p:txBody>
      </p:sp>
      <p:sp>
        <p:nvSpPr>
          <p:cNvPr id="15" name="Teardrop 14">
            <a:extLst>
              <a:ext uri="{FF2B5EF4-FFF2-40B4-BE49-F238E27FC236}">
                <a16:creationId xmlns:a16="http://schemas.microsoft.com/office/drawing/2014/main" id="{EFC0CFA0-3E0A-A357-7EDF-37A93EEC45F6}"/>
              </a:ext>
            </a:extLst>
          </p:cNvPr>
          <p:cNvSpPr/>
          <p:nvPr/>
        </p:nvSpPr>
        <p:spPr>
          <a:xfrm rot="2967833">
            <a:off x="1002222" y="4796325"/>
            <a:ext cx="1577788" cy="1518672"/>
          </a:xfrm>
          <a:prstGeom prst="teardrop">
            <a:avLst>
              <a:gd name="adj" fmla="val 111628"/>
            </a:avLst>
          </a:prstGeom>
          <a:solidFill>
            <a:srgbClr val="A2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latin typeface="Georgia" panose="02040502050405020303" pitchFamily="18" charset="0"/>
            </a:endParaRPr>
          </a:p>
        </p:txBody>
      </p:sp>
      <p:sp>
        <p:nvSpPr>
          <p:cNvPr id="16" name="Arrow: Down 15">
            <a:extLst>
              <a:ext uri="{FF2B5EF4-FFF2-40B4-BE49-F238E27FC236}">
                <a16:creationId xmlns:a16="http://schemas.microsoft.com/office/drawing/2014/main" id="{6AACB911-2FF2-38BC-9F0D-B19FB27F7A81}"/>
              </a:ext>
            </a:extLst>
          </p:cNvPr>
          <p:cNvSpPr/>
          <p:nvPr/>
        </p:nvSpPr>
        <p:spPr>
          <a:xfrm>
            <a:off x="2530482" y="4777551"/>
            <a:ext cx="200248" cy="511878"/>
          </a:xfrm>
          <a:prstGeom prst="down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extBox 16">
            <a:extLst>
              <a:ext uri="{FF2B5EF4-FFF2-40B4-BE49-F238E27FC236}">
                <a16:creationId xmlns:a16="http://schemas.microsoft.com/office/drawing/2014/main" id="{F724CF47-9389-F863-0BB3-8EF32EED5AB0}"/>
              </a:ext>
            </a:extLst>
          </p:cNvPr>
          <p:cNvSpPr txBox="1"/>
          <p:nvPr/>
        </p:nvSpPr>
        <p:spPr>
          <a:xfrm>
            <a:off x="1276261" y="5273659"/>
            <a:ext cx="1288809" cy="584775"/>
          </a:xfrm>
          <a:prstGeom prst="rect">
            <a:avLst/>
          </a:prstGeom>
          <a:noFill/>
        </p:spPr>
        <p:txBody>
          <a:bodyPr wrap="square" rtlCol="0">
            <a:spAutoFit/>
          </a:bodyPr>
          <a:lstStyle/>
          <a:p>
            <a:pPr algn="just"/>
            <a:r>
              <a:rPr lang="en-ID" sz="1600" dirty="0">
                <a:solidFill>
                  <a:schemeClr val="bg1"/>
                </a:solidFill>
                <a:latin typeface="Georgia" panose="02040502050405020303" pitchFamily="18" charset="0"/>
              </a:rPr>
              <a:t>Forensic Readiness</a:t>
            </a:r>
          </a:p>
        </p:txBody>
      </p:sp>
      <p:sp>
        <p:nvSpPr>
          <p:cNvPr id="18" name="TextBox 17">
            <a:extLst>
              <a:ext uri="{FF2B5EF4-FFF2-40B4-BE49-F238E27FC236}">
                <a16:creationId xmlns:a16="http://schemas.microsoft.com/office/drawing/2014/main" id="{8B6A3765-709D-95FD-148F-8BCE62FFFAC3}"/>
              </a:ext>
            </a:extLst>
          </p:cNvPr>
          <p:cNvSpPr txBox="1"/>
          <p:nvPr/>
        </p:nvSpPr>
        <p:spPr>
          <a:xfrm>
            <a:off x="3086096" y="5244931"/>
            <a:ext cx="1288809" cy="584775"/>
          </a:xfrm>
          <a:prstGeom prst="rect">
            <a:avLst/>
          </a:prstGeom>
          <a:noFill/>
        </p:spPr>
        <p:txBody>
          <a:bodyPr wrap="square" rtlCol="0">
            <a:spAutoFit/>
          </a:bodyPr>
          <a:lstStyle/>
          <a:p>
            <a:pPr algn="just"/>
            <a:r>
              <a:rPr lang="en-ID" sz="1600" dirty="0">
                <a:solidFill>
                  <a:schemeClr val="bg1"/>
                </a:solidFill>
                <a:latin typeface="Georgia" panose="02040502050405020303" pitchFamily="18" charset="0"/>
              </a:rPr>
              <a:t>Security Incident</a:t>
            </a:r>
          </a:p>
        </p:txBody>
      </p:sp>
      <p:sp>
        <p:nvSpPr>
          <p:cNvPr id="19" name="TextBox 18">
            <a:extLst>
              <a:ext uri="{FF2B5EF4-FFF2-40B4-BE49-F238E27FC236}">
                <a16:creationId xmlns:a16="http://schemas.microsoft.com/office/drawing/2014/main" id="{024765D0-09CE-8EC3-903F-B9EEA9C55323}"/>
              </a:ext>
            </a:extLst>
          </p:cNvPr>
          <p:cNvSpPr txBox="1"/>
          <p:nvPr/>
        </p:nvSpPr>
        <p:spPr>
          <a:xfrm>
            <a:off x="4899576" y="5228326"/>
            <a:ext cx="1288809" cy="584775"/>
          </a:xfrm>
          <a:prstGeom prst="rect">
            <a:avLst/>
          </a:prstGeom>
          <a:noFill/>
        </p:spPr>
        <p:txBody>
          <a:bodyPr wrap="square" rtlCol="0">
            <a:spAutoFit/>
          </a:bodyPr>
          <a:lstStyle/>
          <a:p>
            <a:pPr algn="just"/>
            <a:r>
              <a:rPr lang="en-ID" sz="1600" dirty="0">
                <a:solidFill>
                  <a:schemeClr val="bg1"/>
                </a:solidFill>
                <a:latin typeface="Georgia" panose="02040502050405020303" pitchFamily="18" charset="0"/>
              </a:rPr>
              <a:t>Data</a:t>
            </a:r>
          </a:p>
          <a:p>
            <a:pPr algn="just"/>
            <a:r>
              <a:rPr lang="en-ID" sz="1600" dirty="0">
                <a:solidFill>
                  <a:schemeClr val="bg1"/>
                </a:solidFill>
                <a:latin typeface="Georgia" panose="02040502050405020303" pitchFamily="18" charset="0"/>
              </a:rPr>
              <a:t>Collection</a:t>
            </a:r>
          </a:p>
        </p:txBody>
      </p:sp>
      <p:sp>
        <p:nvSpPr>
          <p:cNvPr id="20" name="TextBox 19">
            <a:extLst>
              <a:ext uri="{FF2B5EF4-FFF2-40B4-BE49-F238E27FC236}">
                <a16:creationId xmlns:a16="http://schemas.microsoft.com/office/drawing/2014/main" id="{FC2C12C2-DFC2-EE72-9C33-31CF9EE4DF1E}"/>
              </a:ext>
            </a:extLst>
          </p:cNvPr>
          <p:cNvSpPr txBox="1"/>
          <p:nvPr/>
        </p:nvSpPr>
        <p:spPr>
          <a:xfrm>
            <a:off x="6632246" y="5209490"/>
            <a:ext cx="1288809" cy="584775"/>
          </a:xfrm>
          <a:prstGeom prst="rect">
            <a:avLst/>
          </a:prstGeom>
          <a:noFill/>
        </p:spPr>
        <p:txBody>
          <a:bodyPr wrap="square" rtlCol="0">
            <a:spAutoFit/>
          </a:bodyPr>
          <a:lstStyle/>
          <a:p>
            <a:pPr algn="just"/>
            <a:r>
              <a:rPr lang="en-ID" sz="1600" dirty="0">
                <a:solidFill>
                  <a:schemeClr val="bg1"/>
                </a:solidFill>
                <a:latin typeface="Georgia" panose="02040502050405020303" pitchFamily="18" charset="0"/>
              </a:rPr>
              <a:t>Data </a:t>
            </a:r>
          </a:p>
          <a:p>
            <a:pPr algn="just"/>
            <a:r>
              <a:rPr lang="en-ID" sz="1600" dirty="0">
                <a:solidFill>
                  <a:schemeClr val="bg1"/>
                </a:solidFill>
                <a:latin typeface="Georgia" panose="02040502050405020303" pitchFamily="18" charset="0"/>
              </a:rPr>
              <a:t>Analysis</a:t>
            </a:r>
          </a:p>
        </p:txBody>
      </p:sp>
      <p:sp>
        <p:nvSpPr>
          <p:cNvPr id="21" name="TextBox 20">
            <a:extLst>
              <a:ext uri="{FF2B5EF4-FFF2-40B4-BE49-F238E27FC236}">
                <a16:creationId xmlns:a16="http://schemas.microsoft.com/office/drawing/2014/main" id="{2A7E2E3B-93F7-4EB0-FE7C-899950415140}"/>
              </a:ext>
            </a:extLst>
          </p:cNvPr>
          <p:cNvSpPr txBox="1"/>
          <p:nvPr/>
        </p:nvSpPr>
        <p:spPr>
          <a:xfrm>
            <a:off x="8441691" y="5263273"/>
            <a:ext cx="1288809" cy="584775"/>
          </a:xfrm>
          <a:prstGeom prst="rect">
            <a:avLst/>
          </a:prstGeom>
          <a:noFill/>
        </p:spPr>
        <p:txBody>
          <a:bodyPr wrap="square" rtlCol="0">
            <a:spAutoFit/>
          </a:bodyPr>
          <a:lstStyle/>
          <a:p>
            <a:pPr algn="just"/>
            <a:r>
              <a:rPr lang="en-ID" sz="1600" dirty="0">
                <a:solidFill>
                  <a:schemeClr val="bg1"/>
                </a:solidFill>
                <a:latin typeface="Georgia" panose="02040502050405020303" pitchFamily="18" charset="0"/>
              </a:rPr>
              <a:t>Interpretation</a:t>
            </a:r>
          </a:p>
        </p:txBody>
      </p:sp>
      <p:sp>
        <p:nvSpPr>
          <p:cNvPr id="22" name="TextBox 21">
            <a:extLst>
              <a:ext uri="{FF2B5EF4-FFF2-40B4-BE49-F238E27FC236}">
                <a16:creationId xmlns:a16="http://schemas.microsoft.com/office/drawing/2014/main" id="{040C3393-597F-AFA9-4693-4A415FF0AA83}"/>
              </a:ext>
            </a:extLst>
          </p:cNvPr>
          <p:cNvSpPr txBox="1"/>
          <p:nvPr/>
        </p:nvSpPr>
        <p:spPr>
          <a:xfrm>
            <a:off x="10124868" y="5182642"/>
            <a:ext cx="1288809" cy="830997"/>
          </a:xfrm>
          <a:prstGeom prst="rect">
            <a:avLst/>
          </a:prstGeom>
          <a:noFill/>
        </p:spPr>
        <p:txBody>
          <a:bodyPr wrap="square" rtlCol="0">
            <a:spAutoFit/>
          </a:bodyPr>
          <a:lstStyle/>
          <a:p>
            <a:r>
              <a:rPr lang="en-ID" sz="1600" dirty="0">
                <a:solidFill>
                  <a:schemeClr val="bg1"/>
                </a:solidFill>
                <a:latin typeface="Georgia" panose="02040502050405020303" pitchFamily="18" charset="0"/>
              </a:rPr>
              <a:t>Incident Containment</a:t>
            </a:r>
          </a:p>
        </p:txBody>
      </p:sp>
    </p:spTree>
    <p:extLst>
      <p:ext uri="{BB962C8B-B14F-4D97-AF65-F5344CB8AC3E}">
        <p14:creationId xmlns:p14="http://schemas.microsoft.com/office/powerpoint/2010/main" val="2704767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6952-4A14-850D-F27D-6F2D28761C2A}"/>
              </a:ext>
            </a:extLst>
          </p:cNvPr>
          <p:cNvSpPr>
            <a:spLocks noGrp="1"/>
          </p:cNvSpPr>
          <p:nvPr>
            <p:ph type="title"/>
          </p:nvPr>
        </p:nvSpPr>
        <p:spPr/>
        <p:txBody>
          <a:bodyPr/>
          <a:lstStyle/>
          <a:p>
            <a:r>
              <a:rPr lang="en-US" dirty="0"/>
              <a:t>Are you ready - Digital Forensic Readiness checklist </a:t>
            </a:r>
            <a:endParaRPr lang="en-ID" dirty="0"/>
          </a:p>
        </p:txBody>
      </p:sp>
      <p:sp>
        <p:nvSpPr>
          <p:cNvPr id="3" name="Content Placeholder 2">
            <a:extLst>
              <a:ext uri="{FF2B5EF4-FFF2-40B4-BE49-F238E27FC236}">
                <a16:creationId xmlns:a16="http://schemas.microsoft.com/office/drawing/2014/main" id="{90D406B2-9335-83E4-6963-6CC25B7BFF90}"/>
              </a:ext>
            </a:extLst>
          </p:cNvPr>
          <p:cNvSpPr>
            <a:spLocks noGrp="1"/>
          </p:cNvSpPr>
          <p:nvPr>
            <p:ph idx="1"/>
          </p:nvPr>
        </p:nvSpPr>
        <p:spPr/>
        <p:txBody>
          <a:bodyPr>
            <a:normAutofit fontScale="92500"/>
          </a:bodyPr>
          <a:lstStyle/>
          <a:p>
            <a:pPr>
              <a:buFont typeface="Wingdings" panose="05000000000000000000" pitchFamily="2" charset="2"/>
              <a:buChar char="ü"/>
            </a:pPr>
            <a:r>
              <a:rPr lang="en-US" sz="2400" dirty="0"/>
              <a:t>Identify the business scenarios  and various threats both external and  internals.</a:t>
            </a:r>
          </a:p>
          <a:p>
            <a:pPr>
              <a:buFont typeface="Wingdings" panose="05000000000000000000" pitchFamily="2" charset="2"/>
              <a:buChar char="ü"/>
            </a:pPr>
            <a:r>
              <a:rPr lang="en-US" sz="2400" dirty="0"/>
              <a:t>Identify  potential sources and types of data – devices, applications, data  bases</a:t>
            </a:r>
          </a:p>
          <a:p>
            <a:pPr>
              <a:buFont typeface="Wingdings" panose="05000000000000000000" pitchFamily="2" charset="2"/>
              <a:buChar char="ü"/>
            </a:pPr>
            <a:r>
              <a:rPr lang="en-US" sz="2400" dirty="0"/>
              <a:t>Map the sources of data with threat.</a:t>
            </a:r>
          </a:p>
          <a:p>
            <a:pPr>
              <a:buFont typeface="Wingdings" panose="05000000000000000000" pitchFamily="2" charset="2"/>
              <a:buChar char="ü"/>
            </a:pPr>
            <a:r>
              <a:rPr lang="en-US" sz="2400" dirty="0"/>
              <a:t>Identify the collection and retention requirement – Legal, Regulatory  compliance </a:t>
            </a:r>
          </a:p>
          <a:p>
            <a:pPr>
              <a:buFont typeface="Wingdings" panose="05000000000000000000" pitchFamily="2" charset="2"/>
              <a:buChar char="ü"/>
            </a:pPr>
            <a:r>
              <a:rPr lang="en-US" sz="2400" dirty="0"/>
              <a:t>Test  and improve the forensic preservation, collection and chain of custody  capability</a:t>
            </a:r>
          </a:p>
          <a:p>
            <a:pPr>
              <a:buFont typeface="Wingdings" panose="05000000000000000000" pitchFamily="2" charset="2"/>
              <a:buChar char="ü"/>
            </a:pPr>
            <a:r>
              <a:rPr lang="en-US" sz="2400" dirty="0"/>
              <a:t>Awareness of SOC and IR team forensic capability</a:t>
            </a:r>
          </a:p>
          <a:p>
            <a:pPr>
              <a:buFont typeface="Wingdings" panose="05000000000000000000" pitchFamily="2" charset="2"/>
              <a:buChar char="ü"/>
            </a:pPr>
            <a:r>
              <a:rPr lang="en-US" sz="2400" dirty="0"/>
              <a:t>Document evidence-based cases, describing the incident and its impact.</a:t>
            </a:r>
          </a:p>
          <a:p>
            <a:pPr>
              <a:buFont typeface="Wingdings" panose="05000000000000000000" pitchFamily="2" charset="2"/>
              <a:buChar char="ü"/>
            </a:pPr>
            <a:r>
              <a:rPr lang="en-US" sz="2400" dirty="0"/>
              <a:t>Ensure legal review to facilitate appropriate action in response to an incident</a:t>
            </a:r>
          </a:p>
          <a:p>
            <a:pPr>
              <a:buFont typeface="Wingdings" panose="05000000000000000000" pitchFamily="2" charset="2"/>
              <a:buChar char="ü"/>
            </a:pPr>
            <a:r>
              <a:rPr lang="en-US" sz="2400" dirty="0"/>
              <a:t>Test the sufficiency at regular intervals.</a:t>
            </a:r>
            <a:endParaRPr lang="en-ID" sz="2400" dirty="0"/>
          </a:p>
          <a:p>
            <a:endParaRPr lang="en-ID" sz="2400" dirty="0"/>
          </a:p>
        </p:txBody>
      </p:sp>
    </p:spTree>
    <p:extLst>
      <p:ext uri="{BB962C8B-B14F-4D97-AF65-F5344CB8AC3E}">
        <p14:creationId xmlns:p14="http://schemas.microsoft.com/office/powerpoint/2010/main" val="549128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F07172-6856-C2C2-9D43-494C322C8706}"/>
              </a:ext>
            </a:extLst>
          </p:cNvPr>
          <p:cNvSpPr>
            <a:spLocks noGrp="1"/>
          </p:cNvSpPr>
          <p:nvPr>
            <p:ph type="title"/>
          </p:nvPr>
        </p:nvSpPr>
        <p:spPr/>
        <p:txBody>
          <a:bodyPr/>
          <a:lstStyle/>
          <a:p>
            <a:r>
              <a:rPr lang="en-GB" b="1" dirty="0"/>
              <a:t>Enterprise Log Data Flow</a:t>
            </a:r>
            <a:endParaRPr lang="en-ID" b="1" dirty="0"/>
          </a:p>
        </p:txBody>
      </p:sp>
      <p:sp>
        <p:nvSpPr>
          <p:cNvPr id="5" name="Text Placeholder 4">
            <a:extLst>
              <a:ext uri="{FF2B5EF4-FFF2-40B4-BE49-F238E27FC236}">
                <a16:creationId xmlns:a16="http://schemas.microsoft.com/office/drawing/2014/main" id="{6B00E48D-DEAB-63AA-A3B4-A17C05AE6E54}"/>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59314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D6620-1CD0-8A92-037B-F5F25B54C488}"/>
              </a:ext>
            </a:extLst>
          </p:cNvPr>
          <p:cNvSpPr>
            <a:spLocks noGrp="1"/>
          </p:cNvSpPr>
          <p:nvPr>
            <p:ph type="title"/>
          </p:nvPr>
        </p:nvSpPr>
        <p:spPr/>
        <p:txBody>
          <a:bodyPr/>
          <a:lstStyle/>
          <a:p>
            <a:r>
              <a:rPr lang="en-GB" dirty="0"/>
              <a:t>The Funnel of Fidelity</a:t>
            </a:r>
            <a:endParaRPr lang="en-ID" dirty="0"/>
          </a:p>
        </p:txBody>
      </p:sp>
      <p:pic>
        <p:nvPicPr>
          <p:cNvPr id="4" name="Content Placeholder 6">
            <a:extLst>
              <a:ext uri="{FF2B5EF4-FFF2-40B4-BE49-F238E27FC236}">
                <a16:creationId xmlns:a16="http://schemas.microsoft.com/office/drawing/2014/main" id="{B4582ED5-789F-7A98-2470-72E237C015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4009" y="1825625"/>
            <a:ext cx="10183982" cy="4351338"/>
          </a:xfrm>
        </p:spPr>
      </p:pic>
      <p:sp>
        <p:nvSpPr>
          <p:cNvPr id="5" name="TextBox 4">
            <a:extLst>
              <a:ext uri="{FF2B5EF4-FFF2-40B4-BE49-F238E27FC236}">
                <a16:creationId xmlns:a16="http://schemas.microsoft.com/office/drawing/2014/main" id="{8D8AB037-517F-18A8-66C9-C51ED9D74D83}"/>
              </a:ext>
            </a:extLst>
          </p:cNvPr>
          <p:cNvSpPr txBox="1"/>
          <p:nvPr/>
        </p:nvSpPr>
        <p:spPr>
          <a:xfrm>
            <a:off x="3048762" y="6086589"/>
            <a:ext cx="6094476" cy="276999"/>
          </a:xfrm>
          <a:prstGeom prst="rect">
            <a:avLst/>
          </a:prstGeom>
          <a:noFill/>
        </p:spPr>
        <p:txBody>
          <a:bodyPr wrap="square">
            <a:spAutoFit/>
          </a:bodyPr>
          <a:lstStyle/>
          <a:p>
            <a:pPr algn="ctr"/>
            <a:r>
              <a:rPr lang="en-US" sz="1200" dirty="0">
                <a:latin typeface="Georgia" panose="02040502050405020303" pitchFamily="18" charset="0"/>
              </a:rPr>
              <a:t>https://posts.specterops.io/introducing-the-funnel-of-fidelity-b1bb59b04036</a:t>
            </a:r>
          </a:p>
        </p:txBody>
      </p:sp>
    </p:spTree>
    <p:extLst>
      <p:ext uri="{BB962C8B-B14F-4D97-AF65-F5344CB8AC3E}">
        <p14:creationId xmlns:p14="http://schemas.microsoft.com/office/powerpoint/2010/main" val="9259877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BD86-229C-FA5A-603F-F9BA9504758D}"/>
              </a:ext>
            </a:extLst>
          </p:cNvPr>
          <p:cNvSpPr>
            <a:spLocks noGrp="1"/>
          </p:cNvSpPr>
          <p:nvPr>
            <p:ph type="title"/>
          </p:nvPr>
        </p:nvSpPr>
        <p:spPr/>
        <p:txBody>
          <a:bodyPr/>
          <a:lstStyle/>
          <a:p>
            <a:r>
              <a:rPr lang="en-GB" dirty="0"/>
              <a:t>Blue Team Funnel </a:t>
            </a:r>
            <a:endParaRPr lang="en-ID" dirty="0"/>
          </a:p>
        </p:txBody>
      </p:sp>
      <p:pic>
        <p:nvPicPr>
          <p:cNvPr id="4" name="Content Placeholder 6">
            <a:extLst>
              <a:ext uri="{FF2B5EF4-FFF2-40B4-BE49-F238E27FC236}">
                <a16:creationId xmlns:a16="http://schemas.microsoft.com/office/drawing/2014/main" id="{8792970C-1CCF-849E-C9D4-A093D81233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2882" y="1825625"/>
            <a:ext cx="8086236" cy="4351338"/>
          </a:xfrm>
        </p:spPr>
      </p:pic>
      <p:sp>
        <p:nvSpPr>
          <p:cNvPr id="5" name="TextBox 4">
            <a:extLst>
              <a:ext uri="{FF2B5EF4-FFF2-40B4-BE49-F238E27FC236}">
                <a16:creationId xmlns:a16="http://schemas.microsoft.com/office/drawing/2014/main" id="{59541E70-AE6D-E837-AAFB-85D44023EB01}"/>
              </a:ext>
            </a:extLst>
          </p:cNvPr>
          <p:cNvSpPr txBox="1"/>
          <p:nvPr/>
        </p:nvSpPr>
        <p:spPr>
          <a:xfrm>
            <a:off x="1969307" y="6135688"/>
            <a:ext cx="7797546" cy="261610"/>
          </a:xfrm>
          <a:prstGeom prst="rect">
            <a:avLst/>
          </a:prstGeom>
          <a:noFill/>
        </p:spPr>
        <p:txBody>
          <a:bodyPr wrap="square">
            <a:spAutoFit/>
          </a:bodyPr>
          <a:lstStyle/>
          <a:p>
            <a:pPr algn="ctr"/>
            <a:r>
              <a:rPr lang="en-US" sz="1100" dirty="0">
                <a:latin typeface="Georgia" panose="02040502050405020303" pitchFamily="18" charset="0"/>
              </a:rPr>
              <a:t>https://d4rkciph3r.medium.com/establishing-a-detection-engineering-program-from-the-ground-up-b170811166c</a:t>
            </a:r>
          </a:p>
        </p:txBody>
      </p:sp>
    </p:spTree>
    <p:extLst>
      <p:ext uri="{BB962C8B-B14F-4D97-AF65-F5344CB8AC3E}">
        <p14:creationId xmlns:p14="http://schemas.microsoft.com/office/powerpoint/2010/main" val="4012728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48E3E-889D-05B3-3410-BC33285F2A09}"/>
              </a:ext>
            </a:extLst>
          </p:cNvPr>
          <p:cNvSpPr>
            <a:spLocks noGrp="1"/>
          </p:cNvSpPr>
          <p:nvPr>
            <p:ph type="title"/>
          </p:nvPr>
        </p:nvSpPr>
        <p:spPr/>
        <p:txBody>
          <a:bodyPr/>
          <a:lstStyle/>
          <a:p>
            <a:r>
              <a:rPr lang="en-GB" dirty="0"/>
              <a:t>Modern Threat Analysis, Detection, and Response</a:t>
            </a:r>
            <a:endParaRPr lang="en-ID" dirty="0"/>
          </a:p>
        </p:txBody>
      </p:sp>
      <p:pic>
        <p:nvPicPr>
          <p:cNvPr id="4" name="Content Placeholder 15">
            <a:extLst>
              <a:ext uri="{FF2B5EF4-FFF2-40B4-BE49-F238E27FC236}">
                <a16:creationId xmlns:a16="http://schemas.microsoft.com/office/drawing/2014/main" id="{D7EBAD0C-124B-B35C-C8E1-93C1885CCA7C}"/>
              </a:ext>
            </a:extLst>
          </p:cNvPr>
          <p:cNvPicPr>
            <a:picLocks noGrp="1" noChangeAspect="1"/>
          </p:cNvPicPr>
          <p:nvPr>
            <p:ph idx="1"/>
          </p:nvPr>
        </p:nvPicPr>
        <p:blipFill>
          <a:blip r:embed="rId2"/>
          <a:stretch>
            <a:fillRect/>
          </a:stretch>
        </p:blipFill>
        <p:spPr>
          <a:xfrm>
            <a:off x="2007989" y="1369085"/>
            <a:ext cx="8176021" cy="4726412"/>
          </a:xfrm>
        </p:spPr>
      </p:pic>
      <p:sp>
        <p:nvSpPr>
          <p:cNvPr id="5" name="TextBox 4">
            <a:extLst>
              <a:ext uri="{FF2B5EF4-FFF2-40B4-BE49-F238E27FC236}">
                <a16:creationId xmlns:a16="http://schemas.microsoft.com/office/drawing/2014/main" id="{9C087E63-7EA0-2EC0-DE13-DB44B8545280}"/>
              </a:ext>
            </a:extLst>
          </p:cNvPr>
          <p:cNvSpPr txBox="1"/>
          <p:nvPr/>
        </p:nvSpPr>
        <p:spPr>
          <a:xfrm>
            <a:off x="3048762" y="6095497"/>
            <a:ext cx="6094476" cy="276999"/>
          </a:xfrm>
          <a:prstGeom prst="rect">
            <a:avLst/>
          </a:prstGeom>
          <a:noFill/>
        </p:spPr>
        <p:txBody>
          <a:bodyPr wrap="square">
            <a:spAutoFit/>
          </a:bodyPr>
          <a:lstStyle/>
          <a:p>
            <a:pPr algn="ctr"/>
            <a:r>
              <a:rPr lang="en-US" sz="1200" dirty="0">
                <a:latin typeface="Georgia" panose="02040502050405020303" pitchFamily="18" charset="0"/>
              </a:rPr>
              <a:t>https://x.com/kwm/status/1260599938590797824</a:t>
            </a:r>
          </a:p>
        </p:txBody>
      </p:sp>
    </p:spTree>
    <p:extLst>
      <p:ext uri="{BB962C8B-B14F-4D97-AF65-F5344CB8AC3E}">
        <p14:creationId xmlns:p14="http://schemas.microsoft.com/office/powerpoint/2010/main" val="12241317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F9BB-116E-C735-842A-CDAAC1EE4595}"/>
              </a:ext>
            </a:extLst>
          </p:cNvPr>
          <p:cNvSpPr>
            <a:spLocks noGrp="1"/>
          </p:cNvSpPr>
          <p:nvPr>
            <p:ph type="title"/>
          </p:nvPr>
        </p:nvSpPr>
        <p:spPr/>
        <p:txBody>
          <a:bodyPr/>
          <a:lstStyle/>
          <a:p>
            <a:r>
              <a:rPr lang="en-GB" b="1" dirty="0"/>
              <a:t>Losing Battle</a:t>
            </a:r>
            <a:endParaRPr lang="en-ID" b="1" dirty="0"/>
          </a:p>
        </p:txBody>
      </p:sp>
      <p:sp>
        <p:nvSpPr>
          <p:cNvPr id="4" name="Content Placeholder 3">
            <a:extLst>
              <a:ext uri="{FF2B5EF4-FFF2-40B4-BE49-F238E27FC236}">
                <a16:creationId xmlns:a16="http://schemas.microsoft.com/office/drawing/2014/main" id="{9778F1B9-11E2-40AF-535B-F625FB48084B}"/>
              </a:ext>
            </a:extLst>
          </p:cNvPr>
          <p:cNvSpPr>
            <a:spLocks noGrp="1"/>
          </p:cNvSpPr>
          <p:nvPr>
            <p:ph sz="half" idx="1"/>
          </p:nvPr>
        </p:nvSpPr>
        <p:spPr/>
        <p:txBody>
          <a:bodyPr/>
          <a:lstStyle/>
          <a:p>
            <a:pPr marL="0" indent="0">
              <a:buNone/>
            </a:pPr>
            <a:r>
              <a:rPr lang="en-GB" b="1" dirty="0"/>
              <a:t>Adversaries</a:t>
            </a:r>
          </a:p>
          <a:p>
            <a:r>
              <a:rPr lang="en-US" dirty="0"/>
              <a:t>Constantly Improving Tools</a:t>
            </a:r>
          </a:p>
          <a:p>
            <a:r>
              <a:rPr lang="en-US" dirty="0"/>
              <a:t>Constantly expanding Technique</a:t>
            </a:r>
          </a:p>
          <a:p>
            <a:r>
              <a:rPr lang="en-US" dirty="0"/>
              <a:t>Ever Growing Attack Surface</a:t>
            </a:r>
          </a:p>
          <a:p>
            <a:r>
              <a:rPr lang="en-US" dirty="0"/>
              <a:t>Highly Motivated </a:t>
            </a:r>
          </a:p>
          <a:p>
            <a:r>
              <a:rPr lang="en-US" dirty="0"/>
              <a:t>Highly Funded? (Nation State Actor)</a:t>
            </a:r>
          </a:p>
          <a:p>
            <a:endParaRPr lang="en-ID" dirty="0"/>
          </a:p>
        </p:txBody>
      </p:sp>
      <p:sp>
        <p:nvSpPr>
          <p:cNvPr id="5" name="Content Placeholder 4">
            <a:extLst>
              <a:ext uri="{FF2B5EF4-FFF2-40B4-BE49-F238E27FC236}">
                <a16:creationId xmlns:a16="http://schemas.microsoft.com/office/drawing/2014/main" id="{AD885747-740F-03E1-3557-40C23491BCCD}"/>
              </a:ext>
            </a:extLst>
          </p:cNvPr>
          <p:cNvSpPr>
            <a:spLocks noGrp="1"/>
          </p:cNvSpPr>
          <p:nvPr>
            <p:ph sz="half" idx="2"/>
          </p:nvPr>
        </p:nvSpPr>
        <p:spPr/>
        <p:txBody>
          <a:bodyPr/>
          <a:lstStyle/>
          <a:p>
            <a:pPr marL="0" indent="0">
              <a:buNone/>
            </a:pPr>
            <a:r>
              <a:rPr lang="en-GB" b="1" dirty="0"/>
              <a:t>Cyber Security Team</a:t>
            </a:r>
          </a:p>
          <a:p>
            <a:r>
              <a:rPr lang="en-US" dirty="0"/>
              <a:t>Resource Shortage </a:t>
            </a:r>
          </a:p>
          <a:p>
            <a:r>
              <a:rPr lang="en-US" dirty="0"/>
              <a:t>Limited visibility</a:t>
            </a:r>
          </a:p>
          <a:p>
            <a:r>
              <a:rPr lang="en-US" dirty="0"/>
              <a:t>Limited Budget</a:t>
            </a:r>
          </a:p>
          <a:p>
            <a:r>
              <a:rPr lang="en-US" dirty="0"/>
              <a:t>Alert Fatigue, Too many to handle</a:t>
            </a:r>
          </a:p>
          <a:p>
            <a:r>
              <a:rPr lang="en-US" dirty="0"/>
              <a:t>Not Motivated?</a:t>
            </a:r>
          </a:p>
          <a:p>
            <a:endParaRPr lang="en-ID" dirty="0"/>
          </a:p>
        </p:txBody>
      </p:sp>
    </p:spTree>
    <p:extLst>
      <p:ext uri="{BB962C8B-B14F-4D97-AF65-F5344CB8AC3E}">
        <p14:creationId xmlns:p14="http://schemas.microsoft.com/office/powerpoint/2010/main" val="2475008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F0CF631-82F4-83A1-37BA-489CF5DFBC5A}"/>
              </a:ext>
            </a:extLst>
          </p:cNvPr>
          <p:cNvSpPr>
            <a:spLocks noGrp="1"/>
          </p:cNvSpPr>
          <p:nvPr>
            <p:ph type="title"/>
          </p:nvPr>
        </p:nvSpPr>
        <p:spPr/>
        <p:txBody>
          <a:bodyPr/>
          <a:lstStyle/>
          <a:p>
            <a:r>
              <a:rPr lang="en-GB" b="1" dirty="0"/>
              <a:t>Detection Engineering Core Process</a:t>
            </a:r>
            <a:endParaRPr lang="en-ID" b="1" dirty="0"/>
          </a:p>
        </p:txBody>
      </p:sp>
      <p:sp>
        <p:nvSpPr>
          <p:cNvPr id="8" name="Text Placeholder 7">
            <a:extLst>
              <a:ext uri="{FF2B5EF4-FFF2-40B4-BE49-F238E27FC236}">
                <a16:creationId xmlns:a16="http://schemas.microsoft.com/office/drawing/2014/main" id="{5524C1F5-6EA8-1DC5-D567-425D6F1258D1}"/>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148162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06DE-B514-5AD5-25C1-202635E8AC7B}"/>
              </a:ext>
            </a:extLst>
          </p:cNvPr>
          <p:cNvSpPr>
            <a:spLocks noGrp="1"/>
          </p:cNvSpPr>
          <p:nvPr>
            <p:ph type="title"/>
          </p:nvPr>
        </p:nvSpPr>
        <p:spPr/>
        <p:txBody>
          <a:bodyPr/>
          <a:lstStyle/>
          <a:p>
            <a:r>
              <a:rPr lang="en-US" dirty="0"/>
              <a:t>Development Step for Building Modern SOC</a:t>
            </a:r>
            <a:endParaRPr lang="en-ID" dirty="0"/>
          </a:p>
        </p:txBody>
      </p:sp>
      <p:pic>
        <p:nvPicPr>
          <p:cNvPr id="4" name="Content Placeholder 6">
            <a:extLst>
              <a:ext uri="{FF2B5EF4-FFF2-40B4-BE49-F238E27FC236}">
                <a16:creationId xmlns:a16="http://schemas.microsoft.com/office/drawing/2014/main" id="{ECE932FA-7859-2A9B-593B-CAFA96A76549}"/>
              </a:ext>
            </a:extLst>
          </p:cNvPr>
          <p:cNvPicPr>
            <a:picLocks noGrp="1" noChangeAspect="1"/>
          </p:cNvPicPr>
          <p:nvPr>
            <p:ph idx="1"/>
          </p:nvPr>
        </p:nvPicPr>
        <p:blipFill>
          <a:blip r:embed="rId2"/>
          <a:stretch>
            <a:fillRect/>
          </a:stretch>
        </p:blipFill>
        <p:spPr>
          <a:xfrm>
            <a:off x="838200" y="2072075"/>
            <a:ext cx="10515600" cy="3858437"/>
          </a:xfrm>
        </p:spPr>
      </p:pic>
      <p:sp>
        <p:nvSpPr>
          <p:cNvPr id="5" name="TextBox 4">
            <a:extLst>
              <a:ext uri="{FF2B5EF4-FFF2-40B4-BE49-F238E27FC236}">
                <a16:creationId xmlns:a16="http://schemas.microsoft.com/office/drawing/2014/main" id="{BF948178-659B-B35D-74F6-E649CBDE6045}"/>
              </a:ext>
            </a:extLst>
          </p:cNvPr>
          <p:cNvSpPr txBox="1"/>
          <p:nvPr/>
        </p:nvSpPr>
        <p:spPr>
          <a:xfrm>
            <a:off x="2222739" y="5776623"/>
            <a:ext cx="7746521" cy="307777"/>
          </a:xfrm>
          <a:prstGeom prst="rect">
            <a:avLst/>
          </a:prstGeom>
          <a:noFill/>
        </p:spPr>
        <p:txBody>
          <a:bodyPr wrap="square">
            <a:spAutoFit/>
          </a:bodyPr>
          <a:lstStyle/>
          <a:p>
            <a:pPr algn="ctr"/>
            <a:r>
              <a:rPr lang="en-ID" sz="1400" dirty="0">
                <a:latin typeface="Georgia" panose="02040502050405020303" pitchFamily="18" charset="0"/>
              </a:rPr>
              <a:t>https://redcanary.com/blog/modern-security-operations-center/</a:t>
            </a:r>
          </a:p>
        </p:txBody>
      </p:sp>
    </p:spTree>
    <p:extLst>
      <p:ext uri="{BB962C8B-B14F-4D97-AF65-F5344CB8AC3E}">
        <p14:creationId xmlns:p14="http://schemas.microsoft.com/office/powerpoint/2010/main" val="16324073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FC08-4E13-864F-F01C-2476BB337F66}"/>
              </a:ext>
            </a:extLst>
          </p:cNvPr>
          <p:cNvSpPr>
            <a:spLocks noGrp="1"/>
          </p:cNvSpPr>
          <p:nvPr>
            <p:ph type="title"/>
          </p:nvPr>
        </p:nvSpPr>
        <p:spPr/>
        <p:txBody>
          <a:bodyPr/>
          <a:lstStyle/>
          <a:p>
            <a:r>
              <a:rPr lang="en-GB" dirty="0"/>
              <a:t>Detection Engineering</a:t>
            </a:r>
            <a:endParaRPr lang="en-ID" dirty="0"/>
          </a:p>
        </p:txBody>
      </p:sp>
      <p:sp>
        <p:nvSpPr>
          <p:cNvPr id="3" name="Content Placeholder 2">
            <a:extLst>
              <a:ext uri="{FF2B5EF4-FFF2-40B4-BE49-F238E27FC236}">
                <a16:creationId xmlns:a16="http://schemas.microsoft.com/office/drawing/2014/main" id="{BB1A1AD6-F34D-CC0D-846B-A4D8E16F269C}"/>
              </a:ext>
            </a:extLst>
          </p:cNvPr>
          <p:cNvSpPr>
            <a:spLocks noGrp="1"/>
          </p:cNvSpPr>
          <p:nvPr>
            <p:ph idx="1"/>
          </p:nvPr>
        </p:nvSpPr>
        <p:spPr/>
        <p:txBody>
          <a:bodyPr>
            <a:normAutofit lnSpcReduction="10000"/>
          </a:bodyPr>
          <a:lstStyle/>
          <a:p>
            <a:r>
              <a:rPr lang="en-GB" sz="2400" dirty="0">
                <a:solidFill>
                  <a:srgbClr val="000000"/>
                </a:solidFill>
              </a:rPr>
              <a:t>Depends on your data and tech stack</a:t>
            </a:r>
          </a:p>
          <a:p>
            <a:pPr lvl="1"/>
            <a:r>
              <a:rPr lang="en-GB" dirty="0">
                <a:solidFill>
                  <a:srgbClr val="000000"/>
                </a:solidFill>
              </a:rPr>
              <a:t>SIEM, SOAR, EDR, NIDS, HIDS, etc.</a:t>
            </a:r>
          </a:p>
          <a:p>
            <a:r>
              <a:rPr lang="en-GB" sz="2400" dirty="0">
                <a:solidFill>
                  <a:srgbClr val="000000"/>
                </a:solidFill>
              </a:rPr>
              <a:t>Can be simple or complex</a:t>
            </a:r>
          </a:p>
          <a:p>
            <a:pPr lvl="1"/>
            <a:r>
              <a:rPr lang="en-GB" dirty="0">
                <a:solidFill>
                  <a:srgbClr val="000000"/>
                </a:solidFill>
              </a:rPr>
              <a:t>IOC </a:t>
            </a:r>
          </a:p>
          <a:p>
            <a:pPr lvl="1"/>
            <a:r>
              <a:rPr lang="en-US" dirty="0">
                <a:solidFill>
                  <a:srgbClr val="000000"/>
                </a:solidFill>
              </a:rPr>
              <a:t>TTPs</a:t>
            </a:r>
          </a:p>
          <a:p>
            <a:pPr lvl="1"/>
            <a:r>
              <a:rPr lang="en-US" dirty="0">
                <a:solidFill>
                  <a:srgbClr val="000000"/>
                </a:solidFill>
              </a:rPr>
              <a:t>Correlation</a:t>
            </a:r>
          </a:p>
          <a:p>
            <a:pPr lvl="1"/>
            <a:r>
              <a:rPr lang="en-US" dirty="0">
                <a:solidFill>
                  <a:srgbClr val="000000"/>
                </a:solidFill>
              </a:rPr>
              <a:t>Dashboards</a:t>
            </a:r>
          </a:p>
          <a:p>
            <a:pPr lvl="1"/>
            <a:r>
              <a:rPr lang="en-US" dirty="0">
                <a:solidFill>
                  <a:srgbClr val="000000"/>
                </a:solidFill>
              </a:rPr>
              <a:t>Thresholds</a:t>
            </a:r>
          </a:p>
          <a:p>
            <a:pPr lvl="1"/>
            <a:r>
              <a:rPr lang="en-US" dirty="0">
                <a:solidFill>
                  <a:srgbClr val="000000"/>
                </a:solidFill>
              </a:rPr>
              <a:t>ML</a:t>
            </a:r>
          </a:p>
          <a:p>
            <a:r>
              <a:rPr lang="en-GB" sz="2400" dirty="0">
                <a:solidFill>
                  <a:srgbClr val="000000"/>
                </a:solidFill>
              </a:rPr>
              <a:t>Understanding the Detection = Knowing </a:t>
            </a:r>
            <a:r>
              <a:rPr lang="en-GB" sz="2400" b="1" dirty="0">
                <a:solidFill>
                  <a:srgbClr val="000000"/>
                </a:solidFill>
              </a:rPr>
              <a:t>how </a:t>
            </a:r>
            <a:r>
              <a:rPr lang="en-GB" sz="2400" dirty="0">
                <a:solidFill>
                  <a:srgbClr val="000000"/>
                </a:solidFill>
              </a:rPr>
              <a:t>to detect the threat, using the data and threat </a:t>
            </a:r>
          </a:p>
        </p:txBody>
      </p:sp>
    </p:spTree>
    <p:extLst>
      <p:ext uri="{BB962C8B-B14F-4D97-AF65-F5344CB8AC3E}">
        <p14:creationId xmlns:p14="http://schemas.microsoft.com/office/powerpoint/2010/main" val="1040366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28457DB-C622-B847-EE6C-B943557EAD2B}"/>
              </a:ext>
            </a:extLst>
          </p:cNvPr>
          <p:cNvSpPr/>
          <p:nvPr/>
        </p:nvSpPr>
        <p:spPr>
          <a:xfrm>
            <a:off x="2721142" y="1506287"/>
            <a:ext cx="2601034" cy="233533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Georgia" panose="02040502050405020303" pitchFamily="18" charset="0"/>
              </a:rPr>
              <a:t>Research</a:t>
            </a:r>
          </a:p>
          <a:p>
            <a:pPr algn="ctr"/>
            <a:r>
              <a:rPr lang="en-US" sz="1400" dirty="0">
                <a:latin typeface="Georgia" panose="02040502050405020303" pitchFamily="18" charset="0"/>
              </a:rPr>
              <a:t>Threat Hunting</a:t>
            </a:r>
          </a:p>
          <a:p>
            <a:pPr algn="ctr"/>
            <a:r>
              <a:rPr lang="en-US" sz="1400" dirty="0">
                <a:latin typeface="Georgia" panose="02040502050405020303" pitchFamily="18" charset="0"/>
              </a:rPr>
              <a:t>DFIR</a:t>
            </a:r>
          </a:p>
          <a:p>
            <a:pPr algn="ctr"/>
            <a:r>
              <a:rPr lang="en-US" sz="1400" dirty="0">
                <a:latin typeface="Georgia" panose="02040502050405020303" pitchFamily="18" charset="0"/>
              </a:rPr>
              <a:t>Threat Intel </a:t>
            </a:r>
          </a:p>
          <a:p>
            <a:pPr algn="ctr"/>
            <a:r>
              <a:rPr lang="en-US" sz="1400" dirty="0">
                <a:latin typeface="Georgia" panose="02040502050405020303" pitchFamily="18" charset="0"/>
              </a:rPr>
              <a:t>Red Team</a:t>
            </a:r>
          </a:p>
          <a:p>
            <a:pPr algn="ctr"/>
            <a:r>
              <a:rPr lang="en-US" sz="1400" dirty="0">
                <a:latin typeface="Georgia" panose="02040502050405020303" pitchFamily="18" charset="0"/>
              </a:rPr>
              <a:t>Vulnerability Mgmt.</a:t>
            </a:r>
          </a:p>
          <a:p>
            <a:pPr algn="ctr"/>
            <a:r>
              <a:rPr lang="en-US" sz="1400" dirty="0">
                <a:latin typeface="Georgia" panose="02040502050405020303" pitchFamily="18" charset="0"/>
              </a:rPr>
              <a:t>Developers</a:t>
            </a:r>
            <a:endParaRPr lang="en-ID" sz="1400" dirty="0">
              <a:latin typeface="Georgia" panose="02040502050405020303" pitchFamily="18" charset="0"/>
            </a:endParaRPr>
          </a:p>
        </p:txBody>
      </p:sp>
      <p:sp>
        <p:nvSpPr>
          <p:cNvPr id="8" name="Oval 7">
            <a:extLst>
              <a:ext uri="{FF2B5EF4-FFF2-40B4-BE49-F238E27FC236}">
                <a16:creationId xmlns:a16="http://schemas.microsoft.com/office/drawing/2014/main" id="{A9987212-3543-2A90-E955-2AF450EB4608}"/>
              </a:ext>
            </a:extLst>
          </p:cNvPr>
          <p:cNvSpPr/>
          <p:nvPr/>
        </p:nvSpPr>
        <p:spPr>
          <a:xfrm>
            <a:off x="2721142" y="3937105"/>
            <a:ext cx="2601034" cy="233533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Georgia" panose="02040502050405020303" pitchFamily="18" charset="0"/>
              </a:rPr>
              <a:t>Engineering</a:t>
            </a:r>
          </a:p>
          <a:p>
            <a:pPr algn="ctr"/>
            <a:r>
              <a:rPr lang="en-US" sz="1400" dirty="0">
                <a:latin typeface="Georgia" panose="02040502050405020303" pitchFamily="18" charset="0"/>
              </a:rPr>
              <a:t>Data Engineering</a:t>
            </a:r>
          </a:p>
          <a:p>
            <a:pPr algn="ctr"/>
            <a:r>
              <a:rPr lang="en-US" sz="1400" dirty="0">
                <a:latin typeface="Georgia" panose="02040502050405020303" pitchFamily="18" charset="0"/>
              </a:rPr>
              <a:t>Platform Engineering</a:t>
            </a:r>
          </a:p>
          <a:p>
            <a:pPr algn="ctr"/>
            <a:r>
              <a:rPr lang="en-US" sz="1400" dirty="0">
                <a:latin typeface="Georgia" panose="02040502050405020303" pitchFamily="18" charset="0"/>
              </a:rPr>
              <a:t>Data Scientist</a:t>
            </a:r>
          </a:p>
          <a:p>
            <a:pPr algn="ctr"/>
            <a:r>
              <a:rPr lang="en-US" sz="1400" dirty="0">
                <a:latin typeface="Georgia" panose="02040502050405020303" pitchFamily="18" charset="0"/>
              </a:rPr>
              <a:t>ML</a:t>
            </a:r>
            <a:endParaRPr lang="en-ID" sz="1400" dirty="0">
              <a:latin typeface="Georgia" panose="02040502050405020303" pitchFamily="18" charset="0"/>
            </a:endParaRPr>
          </a:p>
        </p:txBody>
      </p:sp>
      <p:sp>
        <p:nvSpPr>
          <p:cNvPr id="5" name="Oval 4">
            <a:extLst>
              <a:ext uri="{FF2B5EF4-FFF2-40B4-BE49-F238E27FC236}">
                <a16:creationId xmlns:a16="http://schemas.microsoft.com/office/drawing/2014/main" id="{56B5EA7F-D0EE-26EF-A511-B7DB172F9C69}"/>
              </a:ext>
            </a:extLst>
          </p:cNvPr>
          <p:cNvSpPr/>
          <p:nvPr/>
        </p:nvSpPr>
        <p:spPr>
          <a:xfrm>
            <a:off x="6869823" y="1506287"/>
            <a:ext cx="2601034" cy="233533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Georgia" panose="02040502050405020303" pitchFamily="18" charset="0"/>
              </a:rPr>
              <a:t>Operation</a:t>
            </a:r>
          </a:p>
          <a:p>
            <a:pPr algn="ctr"/>
            <a:r>
              <a:rPr lang="en-US" sz="1400" dirty="0">
                <a:latin typeface="Georgia" panose="02040502050405020303" pitchFamily="18" charset="0"/>
              </a:rPr>
              <a:t>SOC</a:t>
            </a:r>
          </a:p>
          <a:p>
            <a:pPr algn="ctr"/>
            <a:r>
              <a:rPr lang="en-US" sz="1400" dirty="0">
                <a:latin typeface="Georgia" panose="02040502050405020303" pitchFamily="18" charset="0"/>
              </a:rPr>
              <a:t>MDR</a:t>
            </a:r>
          </a:p>
          <a:p>
            <a:pPr algn="ctr"/>
            <a:r>
              <a:rPr lang="en-US" sz="1400" dirty="0">
                <a:latin typeface="Georgia" panose="02040502050405020303" pitchFamily="18" charset="0"/>
              </a:rPr>
              <a:t>MSSP</a:t>
            </a:r>
            <a:endParaRPr lang="en-ID" sz="1400" dirty="0">
              <a:latin typeface="Georgia" panose="02040502050405020303" pitchFamily="18" charset="0"/>
            </a:endParaRPr>
          </a:p>
        </p:txBody>
      </p:sp>
      <p:sp>
        <p:nvSpPr>
          <p:cNvPr id="6" name="Oval 5">
            <a:extLst>
              <a:ext uri="{FF2B5EF4-FFF2-40B4-BE49-F238E27FC236}">
                <a16:creationId xmlns:a16="http://schemas.microsoft.com/office/drawing/2014/main" id="{57DBCCBF-294A-784E-DD15-ADAB12D536C8}"/>
              </a:ext>
            </a:extLst>
          </p:cNvPr>
          <p:cNvSpPr/>
          <p:nvPr/>
        </p:nvSpPr>
        <p:spPr>
          <a:xfrm>
            <a:off x="6869823" y="3937105"/>
            <a:ext cx="2601034" cy="233533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Georgia" panose="02040502050405020303" pitchFamily="18" charset="0"/>
              </a:rPr>
              <a:t>Logging</a:t>
            </a:r>
          </a:p>
          <a:p>
            <a:pPr algn="ctr"/>
            <a:r>
              <a:rPr lang="en-US" sz="1400" dirty="0">
                <a:latin typeface="Georgia" panose="02040502050405020303" pitchFamily="18" charset="0"/>
              </a:rPr>
              <a:t>System Admin</a:t>
            </a:r>
            <a:br>
              <a:rPr lang="en-US" sz="1400" dirty="0">
                <a:latin typeface="Georgia" panose="02040502050405020303" pitchFamily="18" charset="0"/>
              </a:rPr>
            </a:br>
            <a:r>
              <a:rPr lang="en-US" sz="1400" dirty="0">
                <a:latin typeface="Georgia" panose="02040502050405020303" pitchFamily="18" charset="0"/>
              </a:rPr>
              <a:t>Network Admin</a:t>
            </a:r>
          </a:p>
          <a:p>
            <a:pPr algn="ctr"/>
            <a:r>
              <a:rPr lang="en-US" sz="1400" dirty="0">
                <a:latin typeface="Georgia" panose="02040502050405020303" pitchFamily="18" charset="0"/>
              </a:rPr>
              <a:t>App Developers</a:t>
            </a:r>
            <a:endParaRPr lang="en-ID" sz="1400" dirty="0">
              <a:latin typeface="Georgia" panose="02040502050405020303" pitchFamily="18" charset="0"/>
            </a:endParaRPr>
          </a:p>
        </p:txBody>
      </p:sp>
      <p:sp>
        <p:nvSpPr>
          <p:cNvPr id="2" name="Title 1">
            <a:extLst>
              <a:ext uri="{FF2B5EF4-FFF2-40B4-BE49-F238E27FC236}">
                <a16:creationId xmlns:a16="http://schemas.microsoft.com/office/drawing/2014/main" id="{8B03F120-C678-CD1C-30ED-662DFBECB73C}"/>
              </a:ext>
            </a:extLst>
          </p:cNvPr>
          <p:cNvSpPr>
            <a:spLocks noGrp="1"/>
          </p:cNvSpPr>
          <p:nvPr>
            <p:ph type="title"/>
          </p:nvPr>
        </p:nvSpPr>
        <p:spPr/>
        <p:txBody>
          <a:bodyPr/>
          <a:lstStyle/>
          <a:p>
            <a:r>
              <a:rPr lang="en-GB" dirty="0"/>
              <a:t>Detection Engineering in Cyber Security Org</a:t>
            </a:r>
            <a:endParaRPr lang="en-ID" dirty="0"/>
          </a:p>
        </p:txBody>
      </p:sp>
      <p:sp>
        <p:nvSpPr>
          <p:cNvPr id="4" name="Oval 3">
            <a:extLst>
              <a:ext uri="{FF2B5EF4-FFF2-40B4-BE49-F238E27FC236}">
                <a16:creationId xmlns:a16="http://schemas.microsoft.com/office/drawing/2014/main" id="{9DD188E4-2285-2069-A91D-C2F63E3044AE}"/>
              </a:ext>
            </a:extLst>
          </p:cNvPr>
          <p:cNvSpPr/>
          <p:nvPr/>
        </p:nvSpPr>
        <p:spPr>
          <a:xfrm>
            <a:off x="4604084" y="2502109"/>
            <a:ext cx="2983831" cy="2679032"/>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Georgia" panose="02040502050405020303" pitchFamily="18" charset="0"/>
              </a:rPr>
              <a:t>Detection Engineering</a:t>
            </a:r>
            <a:endParaRPr lang="en-ID" sz="2400" b="1" dirty="0">
              <a:latin typeface="Georgia" panose="02040502050405020303" pitchFamily="18" charset="0"/>
            </a:endParaRPr>
          </a:p>
        </p:txBody>
      </p:sp>
    </p:spTree>
    <p:extLst>
      <p:ext uri="{BB962C8B-B14F-4D97-AF65-F5344CB8AC3E}">
        <p14:creationId xmlns:p14="http://schemas.microsoft.com/office/powerpoint/2010/main" val="38848696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748D-28B9-B61B-2B0D-4F75820760D8}"/>
              </a:ext>
            </a:extLst>
          </p:cNvPr>
          <p:cNvSpPr>
            <a:spLocks noGrp="1"/>
          </p:cNvSpPr>
          <p:nvPr>
            <p:ph type="title"/>
          </p:nvPr>
        </p:nvSpPr>
        <p:spPr/>
        <p:txBody>
          <a:bodyPr/>
          <a:lstStyle/>
          <a:p>
            <a:r>
              <a:rPr lang="en-GB" dirty="0"/>
              <a:t>Requirements for Detection Engineering Program</a:t>
            </a:r>
            <a:endParaRPr lang="en-ID" dirty="0"/>
          </a:p>
        </p:txBody>
      </p:sp>
      <p:sp>
        <p:nvSpPr>
          <p:cNvPr id="3" name="Content Placeholder 2">
            <a:extLst>
              <a:ext uri="{FF2B5EF4-FFF2-40B4-BE49-F238E27FC236}">
                <a16:creationId xmlns:a16="http://schemas.microsoft.com/office/drawing/2014/main" id="{7F74375B-8923-3C24-7334-56BB704F0DDD}"/>
              </a:ext>
            </a:extLst>
          </p:cNvPr>
          <p:cNvSpPr>
            <a:spLocks noGrp="1"/>
          </p:cNvSpPr>
          <p:nvPr>
            <p:ph idx="1"/>
          </p:nvPr>
        </p:nvSpPr>
        <p:spPr/>
        <p:txBody>
          <a:bodyPr/>
          <a:lstStyle/>
          <a:p>
            <a:endParaRPr lang="en-ID"/>
          </a:p>
        </p:txBody>
      </p:sp>
      <p:sp>
        <p:nvSpPr>
          <p:cNvPr id="5" name="Rectangle 4">
            <a:extLst>
              <a:ext uri="{FF2B5EF4-FFF2-40B4-BE49-F238E27FC236}">
                <a16:creationId xmlns:a16="http://schemas.microsoft.com/office/drawing/2014/main" id="{F6F985CA-57EA-D9D0-8AE3-CEA84F7D906F}"/>
              </a:ext>
            </a:extLst>
          </p:cNvPr>
          <p:cNvSpPr/>
          <p:nvPr/>
        </p:nvSpPr>
        <p:spPr>
          <a:xfrm>
            <a:off x="838200" y="1825625"/>
            <a:ext cx="4038600" cy="19538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latin typeface="Georgia" panose="02040502050405020303" pitchFamily="18" charset="0"/>
              </a:rPr>
              <a:t>Subject Matter Experts</a:t>
            </a:r>
          </a:p>
          <a:p>
            <a:pPr marL="285750" indent="-285750">
              <a:buFont typeface="Arial" panose="020B0604020202020204" pitchFamily="34" charset="0"/>
              <a:buChar char="•"/>
            </a:pPr>
            <a:r>
              <a:rPr lang="en-ID" sz="1600" dirty="0">
                <a:latin typeface="Georgia" panose="02040502050405020303" pitchFamily="18" charset="0"/>
              </a:rPr>
              <a:t>Environmental awareness</a:t>
            </a:r>
          </a:p>
          <a:p>
            <a:pPr marL="742950" lvl="1" indent="-285750">
              <a:buFont typeface="Arial" panose="020B0604020202020204" pitchFamily="34" charset="0"/>
              <a:buChar char="•"/>
            </a:pPr>
            <a:r>
              <a:rPr lang="en-ID" sz="1600" dirty="0">
                <a:latin typeface="Georgia" panose="02040502050405020303" pitchFamily="18" charset="0"/>
              </a:rPr>
              <a:t>Logs, Data, Platform and Organizational</a:t>
            </a:r>
          </a:p>
          <a:p>
            <a:pPr marL="285750" indent="-285750">
              <a:buFont typeface="Arial" panose="020B0604020202020204" pitchFamily="34" charset="0"/>
              <a:buChar char="•"/>
            </a:pPr>
            <a:r>
              <a:rPr lang="en-ID" sz="1600" dirty="0">
                <a:latin typeface="Georgia" panose="02040502050405020303" pitchFamily="18" charset="0"/>
              </a:rPr>
              <a:t>Risk and Threat awareness</a:t>
            </a:r>
          </a:p>
          <a:p>
            <a:pPr marL="742950" lvl="1" indent="-285750">
              <a:buFont typeface="Arial" panose="020B0604020202020204" pitchFamily="34" charset="0"/>
              <a:buChar char="•"/>
            </a:pPr>
            <a:r>
              <a:rPr lang="en-ID" sz="1600" dirty="0">
                <a:latin typeface="Georgia" panose="02040502050405020303" pitchFamily="18" charset="0"/>
              </a:rPr>
              <a:t>Internal, External, etc.</a:t>
            </a:r>
          </a:p>
        </p:txBody>
      </p:sp>
      <p:sp>
        <p:nvSpPr>
          <p:cNvPr id="6" name="Rectangle 5">
            <a:extLst>
              <a:ext uri="{FF2B5EF4-FFF2-40B4-BE49-F238E27FC236}">
                <a16:creationId xmlns:a16="http://schemas.microsoft.com/office/drawing/2014/main" id="{EBDC3A5C-A564-0BA6-D291-40D1E6D72324}"/>
              </a:ext>
            </a:extLst>
          </p:cNvPr>
          <p:cNvSpPr/>
          <p:nvPr/>
        </p:nvSpPr>
        <p:spPr>
          <a:xfrm>
            <a:off x="838200" y="4299268"/>
            <a:ext cx="4038600" cy="19538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latin typeface="Georgia" panose="02040502050405020303" pitchFamily="18" charset="0"/>
              </a:rPr>
              <a:t>Platform</a:t>
            </a:r>
          </a:p>
          <a:p>
            <a:pPr marL="285750" indent="-285750">
              <a:buFont typeface="Arial" panose="020B0604020202020204" pitchFamily="34" charset="0"/>
              <a:buChar char="•"/>
            </a:pPr>
            <a:r>
              <a:rPr lang="en-ID" sz="1600" dirty="0">
                <a:latin typeface="Georgia" panose="02040502050405020303" pitchFamily="18" charset="0"/>
              </a:rPr>
              <a:t>A place for Detection Engineer to play and work with telemetry alerts</a:t>
            </a:r>
          </a:p>
          <a:p>
            <a:pPr marL="742950" lvl="1" indent="-285750">
              <a:buFont typeface="Arial" panose="020B0604020202020204" pitchFamily="34" charset="0"/>
              <a:buChar char="•"/>
            </a:pPr>
            <a:r>
              <a:rPr lang="en-ID" sz="1600" dirty="0">
                <a:latin typeface="Georgia" panose="02040502050405020303" pitchFamily="18" charset="0"/>
              </a:rPr>
              <a:t>SIEM is a good start</a:t>
            </a:r>
          </a:p>
        </p:txBody>
      </p:sp>
      <p:sp>
        <p:nvSpPr>
          <p:cNvPr id="7" name="Rectangle 6">
            <a:extLst>
              <a:ext uri="{FF2B5EF4-FFF2-40B4-BE49-F238E27FC236}">
                <a16:creationId xmlns:a16="http://schemas.microsoft.com/office/drawing/2014/main" id="{A6576126-7B99-6FA8-D2B6-9EF2F0A4C531}"/>
              </a:ext>
            </a:extLst>
          </p:cNvPr>
          <p:cNvSpPr/>
          <p:nvPr/>
        </p:nvSpPr>
        <p:spPr>
          <a:xfrm>
            <a:off x="7315200" y="1749425"/>
            <a:ext cx="4038600" cy="19538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latin typeface="Georgia" panose="02040502050405020303" pitchFamily="18" charset="0"/>
              </a:rPr>
              <a:t>Logs and Telemetry</a:t>
            </a:r>
          </a:p>
          <a:p>
            <a:pPr marL="285750" indent="-285750">
              <a:buFont typeface="Arial" panose="020B0604020202020204" pitchFamily="34" charset="0"/>
              <a:buChar char="•"/>
            </a:pPr>
            <a:r>
              <a:rPr lang="en-US" sz="1600" dirty="0">
                <a:latin typeface="Georgia" panose="02040502050405020303" pitchFamily="18" charset="0"/>
              </a:rPr>
              <a:t>From all kind of sources</a:t>
            </a:r>
          </a:p>
          <a:p>
            <a:pPr marL="742950" lvl="1" indent="-285750">
              <a:buFont typeface="Arial" panose="020B0604020202020204" pitchFamily="34" charset="0"/>
              <a:buChar char="•"/>
            </a:pPr>
            <a:r>
              <a:rPr lang="en-US" sz="1600" dirty="0">
                <a:latin typeface="Georgia" panose="02040502050405020303" pitchFamily="18" charset="0"/>
              </a:rPr>
              <a:t>Better if already Data Engineered</a:t>
            </a:r>
          </a:p>
          <a:p>
            <a:pPr marL="742950" lvl="1" indent="-285750">
              <a:buFont typeface="Arial" panose="020B0604020202020204" pitchFamily="34" charset="0"/>
              <a:buChar char="•"/>
            </a:pPr>
            <a:r>
              <a:rPr lang="en-US" sz="1600" dirty="0">
                <a:latin typeface="Georgia" panose="02040502050405020303" pitchFamily="18" charset="0"/>
              </a:rPr>
              <a:t>Better if Centralized (such as using SIEM)</a:t>
            </a:r>
            <a:endParaRPr lang="en-ID" sz="1600" dirty="0">
              <a:latin typeface="Georgia" panose="02040502050405020303" pitchFamily="18" charset="0"/>
            </a:endParaRPr>
          </a:p>
        </p:txBody>
      </p:sp>
      <p:sp>
        <p:nvSpPr>
          <p:cNvPr id="8" name="Rectangle 7">
            <a:extLst>
              <a:ext uri="{FF2B5EF4-FFF2-40B4-BE49-F238E27FC236}">
                <a16:creationId xmlns:a16="http://schemas.microsoft.com/office/drawing/2014/main" id="{A1C9FA4A-84B1-E3F4-5015-8F35D57F84AB}"/>
              </a:ext>
            </a:extLst>
          </p:cNvPr>
          <p:cNvSpPr/>
          <p:nvPr/>
        </p:nvSpPr>
        <p:spPr>
          <a:xfrm>
            <a:off x="7315200" y="4223068"/>
            <a:ext cx="4038600" cy="19538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latin typeface="Georgia" panose="02040502050405020303" pitchFamily="18" charset="0"/>
              </a:rPr>
              <a:t>Organization Maturity</a:t>
            </a:r>
          </a:p>
          <a:p>
            <a:pPr marL="285750" indent="-285750">
              <a:buFont typeface="Arial" panose="020B0604020202020204" pitchFamily="34" charset="0"/>
              <a:buChar char="•"/>
            </a:pPr>
            <a:r>
              <a:rPr lang="en-ID" sz="1600" dirty="0">
                <a:latin typeface="Georgia" panose="02040502050405020303" pitchFamily="18" charset="0"/>
              </a:rPr>
              <a:t>The organization should have other security arms ready</a:t>
            </a:r>
          </a:p>
          <a:p>
            <a:pPr marL="742950" lvl="1" indent="-285750">
              <a:buFont typeface="Arial" panose="020B0604020202020204" pitchFamily="34" charset="0"/>
              <a:buChar char="•"/>
            </a:pPr>
            <a:r>
              <a:rPr lang="en-ID" sz="1600" dirty="0">
                <a:latin typeface="Georgia" panose="02040502050405020303" pitchFamily="18" charset="0"/>
              </a:rPr>
              <a:t>Escalation and Investigation by SOC</a:t>
            </a:r>
          </a:p>
          <a:p>
            <a:pPr marL="742950" lvl="1" indent="-285750">
              <a:buFont typeface="Arial" panose="020B0604020202020204" pitchFamily="34" charset="0"/>
              <a:buChar char="•"/>
            </a:pPr>
            <a:r>
              <a:rPr lang="en-ID" sz="1600" dirty="0">
                <a:latin typeface="Georgia" panose="02040502050405020303" pitchFamily="18" charset="0"/>
              </a:rPr>
              <a:t>Incident Response by DFIR</a:t>
            </a:r>
          </a:p>
          <a:p>
            <a:pPr marL="742950" lvl="1" indent="-285750">
              <a:buFont typeface="Arial" panose="020B0604020202020204" pitchFamily="34" charset="0"/>
              <a:buChar char="•"/>
            </a:pPr>
            <a:r>
              <a:rPr lang="en-ID" sz="1600" dirty="0">
                <a:latin typeface="Georgia" panose="02040502050405020303" pitchFamily="18" charset="0"/>
              </a:rPr>
              <a:t>Platform Engineering</a:t>
            </a:r>
          </a:p>
        </p:txBody>
      </p:sp>
    </p:spTree>
    <p:extLst>
      <p:ext uri="{BB962C8B-B14F-4D97-AF65-F5344CB8AC3E}">
        <p14:creationId xmlns:p14="http://schemas.microsoft.com/office/powerpoint/2010/main" val="9937503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DEB47A1-FCF2-9CF9-35A9-0C30D87F5843}"/>
              </a:ext>
            </a:extLst>
          </p:cNvPr>
          <p:cNvCxnSpPr>
            <a:stCxn id="4" idx="6"/>
            <a:endCxn id="5" idx="2"/>
          </p:cNvCxnSpPr>
          <p:nvPr/>
        </p:nvCxnSpPr>
        <p:spPr>
          <a:xfrm flipV="1">
            <a:off x="3818021" y="3428998"/>
            <a:ext cx="4555958" cy="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AF14A63D-CB85-1ED3-1413-F9D7491AC327}"/>
              </a:ext>
            </a:extLst>
          </p:cNvPr>
          <p:cNvSpPr/>
          <p:nvPr/>
        </p:nvSpPr>
        <p:spPr>
          <a:xfrm>
            <a:off x="481263" y="1864894"/>
            <a:ext cx="3336758" cy="312821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Georgia" panose="02040502050405020303" pitchFamily="18" charset="0"/>
              </a:rPr>
              <a:t>threat</a:t>
            </a:r>
            <a:endParaRPr lang="en-ID" sz="3200" b="1" dirty="0">
              <a:solidFill>
                <a:schemeClr val="tx1"/>
              </a:solidFill>
              <a:latin typeface="Georgia" panose="02040502050405020303" pitchFamily="18" charset="0"/>
            </a:endParaRPr>
          </a:p>
        </p:txBody>
      </p:sp>
      <p:sp>
        <p:nvSpPr>
          <p:cNvPr id="5" name="Oval 4">
            <a:extLst>
              <a:ext uri="{FF2B5EF4-FFF2-40B4-BE49-F238E27FC236}">
                <a16:creationId xmlns:a16="http://schemas.microsoft.com/office/drawing/2014/main" id="{6E112C85-AA62-6DB1-978B-C5821E8C90F5}"/>
              </a:ext>
            </a:extLst>
          </p:cNvPr>
          <p:cNvSpPr/>
          <p:nvPr/>
        </p:nvSpPr>
        <p:spPr>
          <a:xfrm>
            <a:off x="8373979" y="1864892"/>
            <a:ext cx="3336758" cy="312821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Georgia" panose="02040502050405020303" pitchFamily="18" charset="0"/>
              </a:rPr>
              <a:t>detection</a:t>
            </a:r>
            <a:endParaRPr lang="en-ID" sz="3200" b="1" dirty="0">
              <a:solidFill>
                <a:schemeClr val="tx1"/>
              </a:solidFill>
              <a:latin typeface="Georgia" panose="02040502050405020303" pitchFamily="18" charset="0"/>
            </a:endParaRPr>
          </a:p>
        </p:txBody>
      </p:sp>
      <p:sp>
        <p:nvSpPr>
          <p:cNvPr id="6" name="Oval 5">
            <a:extLst>
              <a:ext uri="{FF2B5EF4-FFF2-40B4-BE49-F238E27FC236}">
                <a16:creationId xmlns:a16="http://schemas.microsoft.com/office/drawing/2014/main" id="{575616D2-19FD-4FD9-A2B6-10643309F28C}"/>
              </a:ext>
            </a:extLst>
          </p:cNvPr>
          <p:cNvSpPr/>
          <p:nvPr/>
        </p:nvSpPr>
        <p:spPr>
          <a:xfrm>
            <a:off x="4427621" y="1864893"/>
            <a:ext cx="3336758" cy="3128211"/>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Georgia" panose="02040502050405020303" pitchFamily="18" charset="0"/>
              </a:rPr>
              <a:t>data</a:t>
            </a:r>
            <a:endParaRPr lang="en-ID" sz="3200" b="1" dirty="0">
              <a:solidFill>
                <a:schemeClr val="tx1"/>
              </a:solidFill>
              <a:latin typeface="Georgia" panose="02040502050405020303" pitchFamily="18" charset="0"/>
            </a:endParaRPr>
          </a:p>
        </p:txBody>
      </p:sp>
    </p:spTree>
    <p:extLst>
      <p:ext uri="{BB962C8B-B14F-4D97-AF65-F5344CB8AC3E}">
        <p14:creationId xmlns:p14="http://schemas.microsoft.com/office/powerpoint/2010/main" val="32991008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D4E8-C32F-E2B0-6CE2-9381F2C45E3B}"/>
              </a:ext>
            </a:extLst>
          </p:cNvPr>
          <p:cNvSpPr>
            <a:spLocks noGrp="1"/>
          </p:cNvSpPr>
          <p:nvPr>
            <p:ph type="title"/>
          </p:nvPr>
        </p:nvSpPr>
        <p:spPr/>
        <p:txBody>
          <a:bodyPr/>
          <a:lstStyle/>
          <a:p>
            <a:r>
              <a:rPr lang="en-GB" dirty="0"/>
              <a:t>Threats (TTP)</a:t>
            </a:r>
            <a:endParaRPr lang="en-ID" dirty="0"/>
          </a:p>
        </p:txBody>
      </p:sp>
      <p:sp>
        <p:nvSpPr>
          <p:cNvPr id="3" name="Content Placeholder 2">
            <a:extLst>
              <a:ext uri="{FF2B5EF4-FFF2-40B4-BE49-F238E27FC236}">
                <a16:creationId xmlns:a16="http://schemas.microsoft.com/office/drawing/2014/main" id="{629832F9-E8BB-948E-204C-28337045E655}"/>
              </a:ext>
            </a:extLst>
          </p:cNvPr>
          <p:cNvSpPr>
            <a:spLocks noGrp="1"/>
          </p:cNvSpPr>
          <p:nvPr>
            <p:ph idx="1"/>
          </p:nvPr>
        </p:nvSpPr>
        <p:spPr/>
        <p:txBody>
          <a:bodyPr/>
          <a:lstStyle/>
          <a:p>
            <a:r>
              <a:rPr lang="en-GB" dirty="0">
                <a:solidFill>
                  <a:srgbClr val="000000"/>
                </a:solidFill>
              </a:rPr>
              <a:t>Some great sources to learn about Threats</a:t>
            </a:r>
          </a:p>
          <a:p>
            <a:pPr lvl="1"/>
            <a:r>
              <a:rPr lang="en-GB" dirty="0">
                <a:solidFill>
                  <a:srgbClr val="000000"/>
                </a:solidFill>
              </a:rPr>
              <a:t>Past cyber security incidents or breaches</a:t>
            </a:r>
          </a:p>
          <a:p>
            <a:pPr lvl="1"/>
            <a:r>
              <a:rPr lang="en-GB" dirty="0">
                <a:solidFill>
                  <a:srgbClr val="000000"/>
                </a:solidFill>
              </a:rPr>
              <a:t>Threat Intelligence Reports</a:t>
            </a:r>
          </a:p>
          <a:p>
            <a:pPr lvl="1"/>
            <a:r>
              <a:rPr lang="en-GB" dirty="0">
                <a:solidFill>
                  <a:srgbClr val="000000"/>
                </a:solidFill>
              </a:rPr>
              <a:t>Security Advisories</a:t>
            </a:r>
          </a:p>
          <a:p>
            <a:pPr lvl="1"/>
            <a:r>
              <a:rPr lang="en-GB" dirty="0">
                <a:solidFill>
                  <a:srgbClr val="000000"/>
                </a:solidFill>
              </a:rPr>
              <a:t>Known frameworks such as Pyramid of Pain, MITRE ATT&amp;CK and Lockheed Martin Cyber Kill Chain</a:t>
            </a:r>
          </a:p>
          <a:p>
            <a:pPr lvl="1"/>
            <a:r>
              <a:rPr lang="en-GB" dirty="0">
                <a:solidFill>
                  <a:srgbClr val="000000"/>
                </a:solidFill>
              </a:rPr>
              <a:t>Other Sources : Conference, Blog Post</a:t>
            </a:r>
          </a:p>
          <a:p>
            <a:endParaRPr lang="en-US" dirty="0">
              <a:solidFill>
                <a:srgbClr val="000000"/>
              </a:solidFill>
            </a:endParaRPr>
          </a:p>
          <a:p>
            <a:r>
              <a:rPr lang="en-GB" dirty="0">
                <a:solidFill>
                  <a:srgbClr val="000000"/>
                </a:solidFill>
              </a:rPr>
              <a:t>Understanding the threat = Knowing </a:t>
            </a:r>
            <a:r>
              <a:rPr lang="en-GB" b="1" dirty="0">
                <a:solidFill>
                  <a:srgbClr val="000000"/>
                </a:solidFill>
              </a:rPr>
              <a:t>what </a:t>
            </a:r>
            <a:r>
              <a:rPr lang="en-GB" dirty="0">
                <a:solidFill>
                  <a:srgbClr val="000000"/>
                </a:solidFill>
              </a:rPr>
              <a:t>to detect the threat </a:t>
            </a:r>
          </a:p>
        </p:txBody>
      </p:sp>
    </p:spTree>
    <p:extLst>
      <p:ext uri="{BB962C8B-B14F-4D97-AF65-F5344CB8AC3E}">
        <p14:creationId xmlns:p14="http://schemas.microsoft.com/office/powerpoint/2010/main" val="13469613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483D-494F-43AD-4A57-320CE44017A3}"/>
              </a:ext>
            </a:extLst>
          </p:cNvPr>
          <p:cNvSpPr>
            <a:spLocks noGrp="1"/>
          </p:cNvSpPr>
          <p:nvPr>
            <p:ph type="title"/>
          </p:nvPr>
        </p:nvSpPr>
        <p:spPr/>
        <p:txBody>
          <a:bodyPr/>
          <a:lstStyle/>
          <a:p>
            <a:r>
              <a:rPr lang="en-GB" dirty="0"/>
              <a:t>Data (Logs or Telemetry)</a:t>
            </a:r>
            <a:endParaRPr lang="en-ID" dirty="0"/>
          </a:p>
        </p:txBody>
      </p:sp>
      <p:sp>
        <p:nvSpPr>
          <p:cNvPr id="3" name="Content Placeholder 2">
            <a:extLst>
              <a:ext uri="{FF2B5EF4-FFF2-40B4-BE49-F238E27FC236}">
                <a16:creationId xmlns:a16="http://schemas.microsoft.com/office/drawing/2014/main" id="{5B355360-17CA-3D03-6930-8D5E45B1D591}"/>
              </a:ext>
            </a:extLst>
          </p:cNvPr>
          <p:cNvSpPr>
            <a:spLocks noGrp="1"/>
          </p:cNvSpPr>
          <p:nvPr>
            <p:ph idx="1"/>
          </p:nvPr>
        </p:nvSpPr>
        <p:spPr/>
        <p:txBody>
          <a:bodyPr/>
          <a:lstStyle/>
          <a:p>
            <a:r>
              <a:rPr lang="en-GB" sz="2400" dirty="0">
                <a:solidFill>
                  <a:srgbClr val="000000"/>
                </a:solidFill>
              </a:rPr>
              <a:t>Divided into 3 distinct domains</a:t>
            </a:r>
          </a:p>
          <a:p>
            <a:pPr lvl="1"/>
            <a:r>
              <a:rPr lang="en-GB" dirty="0">
                <a:solidFill>
                  <a:srgbClr val="000000"/>
                </a:solidFill>
              </a:rPr>
              <a:t>Network</a:t>
            </a:r>
          </a:p>
          <a:p>
            <a:pPr lvl="1"/>
            <a:r>
              <a:rPr lang="fr-FR" dirty="0">
                <a:solidFill>
                  <a:srgbClr val="000000"/>
                </a:solidFill>
              </a:rPr>
              <a:t>Endpoint(Host, Server, Desktop, Mobile </a:t>
            </a:r>
            <a:r>
              <a:rPr lang="fr-FR" dirty="0" err="1">
                <a:solidFill>
                  <a:srgbClr val="000000"/>
                </a:solidFill>
              </a:rPr>
              <a:t>Device</a:t>
            </a:r>
            <a:r>
              <a:rPr lang="fr-FR" dirty="0">
                <a:solidFill>
                  <a:srgbClr val="000000"/>
                </a:solidFill>
              </a:rPr>
              <a:t>, IoT, ICS…)</a:t>
            </a:r>
          </a:p>
          <a:p>
            <a:pPr lvl="1"/>
            <a:r>
              <a:rPr lang="en-US" dirty="0">
                <a:solidFill>
                  <a:srgbClr val="000000"/>
                </a:solidFill>
              </a:rPr>
              <a:t>Cloud (Including Cloud Apps)</a:t>
            </a:r>
          </a:p>
          <a:p>
            <a:r>
              <a:rPr lang="en-GB" sz="2400" dirty="0">
                <a:solidFill>
                  <a:srgbClr val="000000"/>
                </a:solidFill>
              </a:rPr>
              <a:t>Knowing the baseline of our own environment</a:t>
            </a:r>
          </a:p>
          <a:p>
            <a:r>
              <a:rPr lang="en-GB" sz="2400" dirty="0">
                <a:solidFill>
                  <a:srgbClr val="000000"/>
                </a:solidFill>
              </a:rPr>
              <a:t>Understanding the data = Knowing </a:t>
            </a:r>
            <a:r>
              <a:rPr lang="en-GB" sz="2400" b="1" dirty="0">
                <a:solidFill>
                  <a:srgbClr val="000000"/>
                </a:solidFill>
              </a:rPr>
              <a:t>where </a:t>
            </a:r>
            <a:r>
              <a:rPr lang="en-GB" sz="2400" dirty="0">
                <a:solidFill>
                  <a:srgbClr val="000000"/>
                </a:solidFill>
              </a:rPr>
              <a:t>to detect the threat </a:t>
            </a:r>
          </a:p>
        </p:txBody>
      </p:sp>
    </p:spTree>
    <p:extLst>
      <p:ext uri="{BB962C8B-B14F-4D97-AF65-F5344CB8AC3E}">
        <p14:creationId xmlns:p14="http://schemas.microsoft.com/office/powerpoint/2010/main" val="35065502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17D678-CC1D-00E1-1179-31406899969C}"/>
              </a:ext>
            </a:extLst>
          </p:cNvPr>
          <p:cNvSpPr>
            <a:spLocks noGrp="1"/>
          </p:cNvSpPr>
          <p:nvPr>
            <p:ph type="title"/>
          </p:nvPr>
        </p:nvSpPr>
        <p:spPr/>
        <p:txBody>
          <a:bodyPr/>
          <a:lstStyle/>
          <a:p>
            <a:r>
              <a:rPr lang="en-GB" b="1" dirty="0"/>
              <a:t>Log Sources and Telemetry</a:t>
            </a:r>
            <a:endParaRPr lang="en-ID" b="1" dirty="0"/>
          </a:p>
        </p:txBody>
      </p:sp>
      <p:sp>
        <p:nvSpPr>
          <p:cNvPr id="5" name="Text Placeholder 4">
            <a:extLst>
              <a:ext uri="{FF2B5EF4-FFF2-40B4-BE49-F238E27FC236}">
                <a16:creationId xmlns:a16="http://schemas.microsoft.com/office/drawing/2014/main" id="{CF58C01C-48CD-D3C5-F8DA-1D75543DF75E}"/>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5307213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27DF1-BB30-6E9C-843C-5B00236DF56E}"/>
              </a:ext>
            </a:extLst>
          </p:cNvPr>
          <p:cNvSpPr>
            <a:spLocks noGrp="1"/>
          </p:cNvSpPr>
          <p:nvPr>
            <p:ph type="title"/>
          </p:nvPr>
        </p:nvSpPr>
        <p:spPr/>
        <p:txBody>
          <a:bodyPr/>
          <a:lstStyle/>
          <a:p>
            <a:r>
              <a:rPr lang="en-GB" dirty="0"/>
              <a:t>Log Sources and Telemetry</a:t>
            </a:r>
            <a:endParaRPr lang="en-ID" dirty="0"/>
          </a:p>
        </p:txBody>
      </p:sp>
      <p:pic>
        <p:nvPicPr>
          <p:cNvPr id="4" name="Google Shape;300;p39">
            <a:extLst>
              <a:ext uri="{FF2B5EF4-FFF2-40B4-BE49-F238E27FC236}">
                <a16:creationId xmlns:a16="http://schemas.microsoft.com/office/drawing/2014/main" id="{E95CEB13-F2FE-92F9-FB7A-DF8AAFBDBE13}"/>
              </a:ext>
            </a:extLst>
          </p:cNvPr>
          <p:cNvPicPr preferRelativeResize="0">
            <a:picLocks noGrp="1"/>
          </p:cNvPicPr>
          <p:nvPr>
            <p:ph idx="1"/>
          </p:nvPr>
        </p:nvPicPr>
        <p:blipFill rotWithShape="1">
          <a:blip r:embed="rId2">
            <a:alphaModFix/>
          </a:blip>
          <a:srcRect/>
          <a:stretch/>
        </p:blipFill>
        <p:spPr>
          <a:xfrm>
            <a:off x="1353245" y="1825625"/>
            <a:ext cx="9485510" cy="4351338"/>
          </a:xfrm>
          <a:prstGeom prst="rect">
            <a:avLst/>
          </a:prstGeom>
          <a:noFill/>
          <a:ln>
            <a:noFill/>
          </a:ln>
        </p:spPr>
      </p:pic>
    </p:spTree>
    <p:extLst>
      <p:ext uri="{BB962C8B-B14F-4D97-AF65-F5344CB8AC3E}">
        <p14:creationId xmlns:p14="http://schemas.microsoft.com/office/powerpoint/2010/main" val="8003787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D195B-6C0F-01A2-CC8B-7664C30F83CE}"/>
              </a:ext>
            </a:extLst>
          </p:cNvPr>
          <p:cNvSpPr>
            <a:spLocks noGrp="1"/>
          </p:cNvSpPr>
          <p:nvPr>
            <p:ph type="title"/>
          </p:nvPr>
        </p:nvSpPr>
        <p:spPr/>
        <p:txBody>
          <a:bodyPr/>
          <a:lstStyle/>
          <a:p>
            <a:r>
              <a:rPr lang="en-GB" dirty="0"/>
              <a:t>Data… Data… Data…</a:t>
            </a:r>
            <a:endParaRPr lang="en-ID" dirty="0"/>
          </a:p>
        </p:txBody>
      </p:sp>
      <p:pic>
        <p:nvPicPr>
          <p:cNvPr id="4" name="Google Shape;306;p40">
            <a:extLst>
              <a:ext uri="{FF2B5EF4-FFF2-40B4-BE49-F238E27FC236}">
                <a16:creationId xmlns:a16="http://schemas.microsoft.com/office/drawing/2014/main" id="{B6622587-7477-F3A7-8FAC-61278FD585B8}"/>
              </a:ext>
            </a:extLst>
          </p:cNvPr>
          <p:cNvPicPr preferRelativeResize="0">
            <a:picLocks noGrp="1"/>
          </p:cNvPicPr>
          <p:nvPr>
            <p:ph idx="1"/>
          </p:nvPr>
        </p:nvPicPr>
        <p:blipFill rotWithShape="1">
          <a:blip r:embed="rId2">
            <a:alphaModFix/>
          </a:blip>
          <a:srcRect/>
          <a:stretch/>
        </p:blipFill>
        <p:spPr>
          <a:xfrm>
            <a:off x="2181034" y="1825625"/>
            <a:ext cx="7829932" cy="4351338"/>
          </a:xfrm>
          <a:prstGeom prst="rect">
            <a:avLst/>
          </a:prstGeom>
          <a:noFill/>
          <a:ln>
            <a:noFill/>
          </a:ln>
        </p:spPr>
      </p:pic>
    </p:spTree>
    <p:extLst>
      <p:ext uri="{BB962C8B-B14F-4D97-AF65-F5344CB8AC3E}">
        <p14:creationId xmlns:p14="http://schemas.microsoft.com/office/powerpoint/2010/main" val="22418023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C2340-B2E0-6D36-530D-C56F6B17E6A3}"/>
              </a:ext>
            </a:extLst>
          </p:cNvPr>
          <p:cNvSpPr>
            <a:spLocks noGrp="1"/>
          </p:cNvSpPr>
          <p:nvPr>
            <p:ph type="title"/>
          </p:nvPr>
        </p:nvSpPr>
        <p:spPr/>
        <p:txBody>
          <a:bodyPr/>
          <a:lstStyle/>
          <a:p>
            <a:r>
              <a:rPr lang="en-GB" sz="2800" dirty="0"/>
              <a:t>Data Source Spectrum</a:t>
            </a:r>
            <a:endParaRPr lang="en-ID" dirty="0"/>
          </a:p>
        </p:txBody>
      </p:sp>
      <p:pic>
        <p:nvPicPr>
          <p:cNvPr id="4" name="Content Placeholder 3">
            <a:extLst>
              <a:ext uri="{FF2B5EF4-FFF2-40B4-BE49-F238E27FC236}">
                <a16:creationId xmlns:a16="http://schemas.microsoft.com/office/drawing/2014/main" id="{E197645F-7207-E6A6-7943-FFA512F5A3B8}"/>
              </a:ext>
            </a:extLst>
          </p:cNvPr>
          <p:cNvPicPr>
            <a:picLocks noGrp="1" noChangeAspect="1"/>
          </p:cNvPicPr>
          <p:nvPr>
            <p:ph idx="1"/>
          </p:nvPr>
        </p:nvPicPr>
        <p:blipFill>
          <a:blip r:embed="rId2"/>
          <a:stretch>
            <a:fillRect/>
          </a:stretch>
        </p:blipFill>
        <p:spPr>
          <a:xfrm>
            <a:off x="1957246" y="1825625"/>
            <a:ext cx="8277507" cy="4351338"/>
          </a:xfrm>
          <a:prstGeom prst="rect">
            <a:avLst/>
          </a:prstGeom>
        </p:spPr>
      </p:pic>
      <p:sp>
        <p:nvSpPr>
          <p:cNvPr id="5" name="Rectangle 4">
            <a:extLst>
              <a:ext uri="{FF2B5EF4-FFF2-40B4-BE49-F238E27FC236}">
                <a16:creationId xmlns:a16="http://schemas.microsoft.com/office/drawing/2014/main" id="{0972B6BF-0528-27DE-6866-BF01F501BEF8}"/>
              </a:ext>
            </a:extLst>
          </p:cNvPr>
          <p:cNvSpPr/>
          <p:nvPr/>
        </p:nvSpPr>
        <p:spPr>
          <a:xfrm>
            <a:off x="609599" y="6050290"/>
            <a:ext cx="10972800" cy="261610"/>
          </a:xfrm>
          <a:prstGeom prst="rect">
            <a:avLst/>
          </a:prstGeom>
        </p:spPr>
        <p:txBody>
          <a:bodyPr wrap="square">
            <a:spAutoFit/>
          </a:bodyPr>
          <a:lstStyle/>
          <a:p>
            <a:pPr algn="ctr"/>
            <a:r>
              <a:rPr lang="id-ID" sz="1100" b="1" dirty="0">
                <a:latin typeface="Georgia" panose="02040502050405020303" pitchFamily="18" charset="0"/>
              </a:rPr>
              <a:t>Source : Fidelis Cyber Security and Vector8 About Data Source Spectrum</a:t>
            </a:r>
          </a:p>
        </p:txBody>
      </p:sp>
    </p:spTree>
    <p:extLst>
      <p:ext uri="{BB962C8B-B14F-4D97-AF65-F5344CB8AC3E}">
        <p14:creationId xmlns:p14="http://schemas.microsoft.com/office/powerpoint/2010/main" val="21969052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53B94-0A4A-96D4-E30D-364CC5C71DB5}"/>
              </a:ext>
            </a:extLst>
          </p:cNvPr>
          <p:cNvSpPr>
            <a:spLocks noGrp="1"/>
          </p:cNvSpPr>
          <p:nvPr>
            <p:ph type="title"/>
          </p:nvPr>
        </p:nvSpPr>
        <p:spPr/>
        <p:txBody>
          <a:bodyPr/>
          <a:lstStyle/>
          <a:p>
            <a:r>
              <a:rPr lang="en-US" sz="2800" dirty="0"/>
              <a:t>Example of Data Sources from Endpoint</a:t>
            </a:r>
            <a:endParaRPr lang="en-ID" dirty="0"/>
          </a:p>
        </p:txBody>
      </p:sp>
      <p:graphicFrame>
        <p:nvGraphicFramePr>
          <p:cNvPr id="4" name="Table 3">
            <a:extLst>
              <a:ext uri="{FF2B5EF4-FFF2-40B4-BE49-F238E27FC236}">
                <a16:creationId xmlns:a16="http://schemas.microsoft.com/office/drawing/2014/main" id="{71BDC557-8D7D-7FC6-1A58-1DD1AE214A90}"/>
              </a:ext>
            </a:extLst>
          </p:cNvPr>
          <p:cNvGraphicFramePr>
            <a:graphicFrameLocks noGrp="1"/>
          </p:cNvGraphicFramePr>
          <p:nvPr>
            <p:extLst>
              <p:ext uri="{D42A27DB-BD31-4B8C-83A1-F6EECF244321}">
                <p14:modId xmlns:p14="http://schemas.microsoft.com/office/powerpoint/2010/main" val="3145572209"/>
              </p:ext>
            </p:extLst>
          </p:nvPr>
        </p:nvGraphicFramePr>
        <p:xfrm>
          <a:off x="609599" y="1690688"/>
          <a:ext cx="10972802" cy="4408149"/>
        </p:xfrm>
        <a:graphic>
          <a:graphicData uri="http://schemas.openxmlformats.org/drawingml/2006/table">
            <a:tbl>
              <a:tblPr firstRow="1" bandRow="1"/>
              <a:tblGrid>
                <a:gridCol w="2518834">
                  <a:extLst>
                    <a:ext uri="{9D8B030D-6E8A-4147-A177-3AD203B41FA5}">
                      <a16:colId xmlns:a16="http://schemas.microsoft.com/office/drawing/2014/main" val="20000"/>
                    </a:ext>
                  </a:extLst>
                </a:gridCol>
                <a:gridCol w="5121390">
                  <a:extLst>
                    <a:ext uri="{9D8B030D-6E8A-4147-A177-3AD203B41FA5}">
                      <a16:colId xmlns:a16="http://schemas.microsoft.com/office/drawing/2014/main" val="20001"/>
                    </a:ext>
                  </a:extLst>
                </a:gridCol>
                <a:gridCol w="3332578">
                  <a:extLst>
                    <a:ext uri="{9D8B030D-6E8A-4147-A177-3AD203B41FA5}">
                      <a16:colId xmlns:a16="http://schemas.microsoft.com/office/drawing/2014/main" val="20002"/>
                    </a:ext>
                  </a:extLst>
                </a:gridCol>
              </a:tblGrid>
              <a:tr h="372018">
                <a:tc>
                  <a:txBody>
                    <a:bodyPr/>
                    <a:lstStyle/>
                    <a:p>
                      <a:pPr algn="ctr"/>
                      <a:r>
                        <a:rPr lang="en-US" sz="1400" b="1" dirty="0">
                          <a:solidFill>
                            <a:schemeClr val="bg1"/>
                          </a:solidFill>
                          <a:latin typeface="Georgia" panose="02040502050405020303" pitchFamily="18" charset="0"/>
                          <a:ea typeface="Cambria" panose="02040503050406030204" pitchFamily="18" charset="0"/>
                        </a:rPr>
                        <a:t>Type of Data</a:t>
                      </a:r>
                      <a:endParaRPr lang="en-ID" sz="1400" b="1" dirty="0">
                        <a:solidFill>
                          <a:schemeClr val="bg1"/>
                        </a:solidFill>
                        <a:latin typeface="Georgia" panose="02040502050405020303" pitchFamily="18" charset="0"/>
                        <a:ea typeface="Cambria" panose="02040503050406030204" pitchFamily="18" charset="0"/>
                      </a:endParaRPr>
                    </a:p>
                  </a:txBody>
                  <a:tcPr marL="91729" marR="91729" marT="45865" marB="45865">
                    <a:solidFill>
                      <a:schemeClr val="accent1">
                        <a:lumMod val="75000"/>
                      </a:schemeClr>
                    </a:solidFill>
                  </a:tcPr>
                </a:tc>
                <a:tc>
                  <a:txBody>
                    <a:bodyPr/>
                    <a:lstStyle/>
                    <a:p>
                      <a:pPr algn="ctr"/>
                      <a:r>
                        <a:rPr lang="en-US" sz="1400" b="1" dirty="0">
                          <a:solidFill>
                            <a:schemeClr val="bg1"/>
                          </a:solidFill>
                          <a:latin typeface="Georgia" panose="02040502050405020303" pitchFamily="18" charset="0"/>
                          <a:ea typeface="Cambria" panose="02040503050406030204" pitchFamily="18" charset="0"/>
                        </a:rPr>
                        <a:t>Description</a:t>
                      </a:r>
                      <a:endParaRPr lang="en-ID" sz="1400" b="1" dirty="0">
                        <a:solidFill>
                          <a:schemeClr val="bg1"/>
                        </a:solidFill>
                        <a:latin typeface="Georgia" panose="02040502050405020303" pitchFamily="18" charset="0"/>
                        <a:ea typeface="Cambria" panose="02040503050406030204" pitchFamily="18" charset="0"/>
                      </a:endParaRPr>
                    </a:p>
                  </a:txBody>
                  <a:tcPr marL="91729" marR="91729" marT="45865" marB="45865">
                    <a:solidFill>
                      <a:schemeClr val="accent1">
                        <a:lumMod val="75000"/>
                      </a:schemeClr>
                    </a:solidFill>
                  </a:tcPr>
                </a:tc>
                <a:tc>
                  <a:txBody>
                    <a:bodyPr/>
                    <a:lstStyle/>
                    <a:p>
                      <a:pPr algn="ctr"/>
                      <a:r>
                        <a:rPr lang="en-US" sz="1400" b="1" dirty="0">
                          <a:solidFill>
                            <a:schemeClr val="bg1"/>
                          </a:solidFill>
                          <a:latin typeface="Georgia" panose="02040502050405020303" pitchFamily="18" charset="0"/>
                          <a:ea typeface="Cambria" panose="02040503050406030204" pitchFamily="18" charset="0"/>
                        </a:rPr>
                        <a:t>Tools</a:t>
                      </a:r>
                      <a:endParaRPr lang="en-ID" sz="1400" b="1" dirty="0">
                        <a:solidFill>
                          <a:schemeClr val="bg1"/>
                        </a:solidFill>
                        <a:latin typeface="Georgia" panose="02040502050405020303" pitchFamily="18" charset="0"/>
                        <a:ea typeface="Cambria" panose="02040503050406030204" pitchFamily="18" charset="0"/>
                      </a:endParaRPr>
                    </a:p>
                  </a:txBody>
                  <a:tcPr marL="91729" marR="91729" marT="45865" marB="45865">
                    <a:solidFill>
                      <a:schemeClr val="accent1">
                        <a:lumMod val="75000"/>
                      </a:schemeClr>
                    </a:solidFill>
                  </a:tcPr>
                </a:tc>
                <a:extLst>
                  <a:ext uri="{0D108BD9-81ED-4DB2-BD59-A6C34878D82A}">
                    <a16:rowId xmlns:a16="http://schemas.microsoft.com/office/drawing/2014/main" val="10000"/>
                  </a:ext>
                </a:extLst>
              </a:tr>
              <a:tr h="55038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D" sz="1400" b="0" i="0" u="none" strike="noStrike" cap="none" baseline="0" dirty="0">
                          <a:solidFill>
                            <a:schemeClr val="dk1"/>
                          </a:solidFill>
                          <a:latin typeface="Georgia" panose="02040502050405020303" pitchFamily="18" charset="0"/>
                          <a:ea typeface="Cambria" panose="02040503050406030204" pitchFamily="18" charset="0"/>
                          <a:cs typeface="Arial"/>
                          <a:sym typeface="Arial"/>
                        </a:rPr>
                        <a:t>Operating System logs	</a:t>
                      </a:r>
                    </a:p>
                    <a:p>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Useful Data sources. By Default capabilities for each OS.</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Built in Function from OS</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extLst>
                  <a:ext uri="{0D108BD9-81ED-4DB2-BD59-A6C34878D82A}">
                    <a16:rowId xmlns:a16="http://schemas.microsoft.com/office/drawing/2014/main" val="10001"/>
                  </a:ext>
                </a:extLst>
              </a:tr>
              <a:tr h="1238358">
                <a:tc>
                  <a:txBody>
                    <a:bodyPr/>
                    <a:lstStyle/>
                    <a:p>
                      <a:r>
                        <a:rPr lang="en-US" sz="1400" dirty="0">
                          <a:latin typeface="Georgia" panose="02040502050405020303" pitchFamily="18" charset="0"/>
                          <a:ea typeface="Cambria" panose="02040503050406030204" pitchFamily="18" charset="0"/>
                        </a:rPr>
                        <a:t>Process Activity</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D" sz="1400" b="0" i="0" u="none" strike="noStrike" cap="none" baseline="0" dirty="0">
                          <a:solidFill>
                            <a:schemeClr val="dk1"/>
                          </a:solidFill>
                          <a:latin typeface="Georgia" panose="02040502050405020303" pitchFamily="18" charset="0"/>
                          <a:ea typeface="Cambria" panose="02040503050406030204" pitchFamily="18" charset="0"/>
                          <a:cs typeface="Arial"/>
                          <a:sym typeface="Arial"/>
                        </a:rPr>
                        <a:t>Process start, DLL libraries loading, Process install driver, Process perform code injection, Process open port for incoming network connections, connections, Process initiate network connection, Process create/change file, Process create/change registry key/value</a:t>
                      </a:r>
                    </a:p>
                  </a:txBody>
                  <a:tcPr marL="91729" marR="91729" marT="45865" marB="45865">
                    <a:solidFill>
                      <a:schemeClr val="accent1">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Sysmon (Windows)</a:t>
                      </a:r>
                    </a:p>
                    <a:p>
                      <a:r>
                        <a:rPr lang="en-US" sz="1400" dirty="0" err="1">
                          <a:latin typeface="Georgia" panose="02040502050405020303" pitchFamily="18" charset="0"/>
                          <a:ea typeface="Cambria" panose="02040503050406030204" pitchFamily="18" charset="0"/>
                        </a:rPr>
                        <a:t>Auditd</a:t>
                      </a:r>
                      <a:r>
                        <a:rPr lang="en-US" sz="1400" dirty="0">
                          <a:latin typeface="Georgia" panose="02040502050405020303" pitchFamily="18" charset="0"/>
                          <a:ea typeface="Cambria" panose="02040503050406030204" pitchFamily="18" charset="0"/>
                        </a:rPr>
                        <a:t> (Linux)</a:t>
                      </a:r>
                    </a:p>
                    <a:p>
                      <a:r>
                        <a:rPr lang="en-US" sz="1400" dirty="0" err="1">
                          <a:latin typeface="Georgia" panose="02040502050405020303" pitchFamily="18" charset="0"/>
                          <a:ea typeface="Cambria" panose="02040503050406030204" pitchFamily="18" charset="0"/>
                        </a:rPr>
                        <a:t>Osquery</a:t>
                      </a:r>
                      <a:endParaRPr lang="en-US" sz="1400" dirty="0">
                        <a:latin typeface="Georgia" panose="02040502050405020303" pitchFamily="18" charset="0"/>
                        <a:ea typeface="Cambria" panose="02040503050406030204" pitchFamily="18" charset="0"/>
                      </a:endParaRPr>
                    </a:p>
                    <a:p>
                      <a:r>
                        <a:rPr lang="en-US" sz="1400" dirty="0">
                          <a:latin typeface="Georgia" panose="02040502050405020303" pitchFamily="18" charset="0"/>
                          <a:ea typeface="Cambria" panose="02040503050406030204" pitchFamily="18" charset="0"/>
                        </a:rPr>
                        <a:t>Endpoint Detection Response</a:t>
                      </a:r>
                    </a:p>
                    <a:p>
                      <a:r>
                        <a:rPr lang="en-US" sz="1400" dirty="0">
                          <a:latin typeface="Georgia" panose="02040502050405020303" pitchFamily="18" charset="0"/>
                          <a:ea typeface="Cambria" panose="02040503050406030204" pitchFamily="18" charset="0"/>
                        </a:rPr>
                        <a:t>Operating System Logs</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extLst>
                  <a:ext uri="{0D108BD9-81ED-4DB2-BD59-A6C34878D82A}">
                    <a16:rowId xmlns:a16="http://schemas.microsoft.com/office/drawing/2014/main" val="10002"/>
                  </a:ext>
                </a:extLst>
              </a:tr>
              <a:tr h="1238358">
                <a:tc>
                  <a:txBody>
                    <a:bodyPr/>
                    <a:lstStyle/>
                    <a:p>
                      <a:r>
                        <a:rPr lang="en-US" sz="1400" dirty="0">
                          <a:latin typeface="Georgia" panose="02040502050405020303" pitchFamily="18" charset="0"/>
                          <a:ea typeface="Cambria" panose="02040503050406030204" pitchFamily="18" charset="0"/>
                        </a:rPr>
                        <a:t>Volatile Artifacts</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Temporary artifact collected from endpoint data sources for the purposes of hunting that might not touch the disk on the host </a:t>
                      </a:r>
                    </a:p>
                    <a:p>
                      <a:r>
                        <a:rPr lang="en-US" sz="1400" dirty="0">
                          <a:latin typeface="Georgia" panose="02040502050405020303" pitchFamily="18" charset="0"/>
                          <a:ea typeface="Cambria" panose="02040503050406030204" pitchFamily="18" charset="0"/>
                        </a:rPr>
                        <a:t>Data Collection : Memory, Network Conn, Process Conn, </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err="1">
                          <a:latin typeface="Georgia" panose="02040502050405020303" pitchFamily="18" charset="0"/>
                          <a:ea typeface="Cambria" panose="02040503050406030204" pitchFamily="18" charset="0"/>
                        </a:rPr>
                        <a:t>Winpmem</a:t>
                      </a:r>
                      <a:r>
                        <a:rPr lang="en-US" sz="1400" dirty="0">
                          <a:latin typeface="Georgia" panose="02040502050405020303" pitchFamily="18" charset="0"/>
                          <a:ea typeface="Cambria" panose="02040503050406030204" pitchFamily="18" charset="0"/>
                        </a:rPr>
                        <a:t>, </a:t>
                      </a:r>
                      <a:r>
                        <a:rPr lang="en-US" sz="1400" dirty="0" err="1">
                          <a:latin typeface="Georgia" panose="02040502050405020303" pitchFamily="18" charset="0"/>
                          <a:ea typeface="Cambria" panose="02040503050406030204" pitchFamily="18" charset="0"/>
                        </a:rPr>
                        <a:t>Comae</a:t>
                      </a:r>
                      <a:r>
                        <a:rPr lang="en-US" sz="1400" dirty="0">
                          <a:latin typeface="Georgia" panose="02040502050405020303" pitchFamily="18" charset="0"/>
                          <a:ea typeface="Cambria" panose="02040503050406030204" pitchFamily="18" charset="0"/>
                        </a:rPr>
                        <a:t>, (for </a:t>
                      </a:r>
                      <a:r>
                        <a:rPr lang="en-US" sz="1400" dirty="0" err="1">
                          <a:latin typeface="Georgia" panose="02040502050405020303" pitchFamily="18" charset="0"/>
                          <a:ea typeface="Cambria" panose="02040503050406030204" pitchFamily="18" charset="0"/>
                        </a:rPr>
                        <a:t>Collecton</a:t>
                      </a:r>
                      <a:r>
                        <a:rPr lang="en-US" sz="1400" dirty="0">
                          <a:latin typeface="Georgia" panose="02040502050405020303" pitchFamily="18" charset="0"/>
                          <a:ea typeface="Cambria" panose="02040503050406030204" pitchFamily="18" charset="0"/>
                        </a:rPr>
                        <a:t>)</a:t>
                      </a:r>
                    </a:p>
                    <a:p>
                      <a:r>
                        <a:rPr lang="en-US" sz="1400" dirty="0">
                          <a:latin typeface="Georgia" panose="02040502050405020303" pitchFamily="18" charset="0"/>
                          <a:ea typeface="Cambria" panose="02040503050406030204" pitchFamily="18" charset="0"/>
                        </a:rPr>
                        <a:t>EDR</a:t>
                      </a:r>
                    </a:p>
                    <a:p>
                      <a:r>
                        <a:rPr lang="en-US" sz="1400" dirty="0">
                          <a:latin typeface="Georgia" panose="02040502050405020303" pitchFamily="18" charset="0"/>
                          <a:ea typeface="Cambria" panose="02040503050406030204" pitchFamily="18" charset="0"/>
                        </a:rPr>
                        <a:t>Volatility</a:t>
                      </a:r>
                    </a:p>
                    <a:p>
                      <a:r>
                        <a:rPr lang="en-US" sz="1400" dirty="0">
                          <a:latin typeface="Georgia" panose="02040502050405020303" pitchFamily="18" charset="0"/>
                          <a:ea typeface="Cambria" panose="02040503050406030204" pitchFamily="18" charset="0"/>
                        </a:rPr>
                        <a:t>Google Rapid Response (GRR)</a:t>
                      </a:r>
                    </a:p>
                    <a:p>
                      <a:r>
                        <a:rPr lang="en-US" sz="1400" dirty="0">
                          <a:latin typeface="Georgia" panose="02040502050405020303" pitchFamily="18" charset="0"/>
                          <a:ea typeface="Cambria" panose="02040503050406030204" pitchFamily="18" charset="0"/>
                        </a:rPr>
                        <a:t>Velociraptor</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extLst>
                  <a:ext uri="{0D108BD9-81ED-4DB2-BD59-A6C34878D82A}">
                    <a16:rowId xmlns:a16="http://schemas.microsoft.com/office/drawing/2014/main" val="10003"/>
                  </a:ext>
                </a:extLst>
              </a:tr>
              <a:tr h="1009033">
                <a:tc>
                  <a:txBody>
                    <a:bodyPr/>
                    <a:lstStyle/>
                    <a:p>
                      <a:r>
                        <a:rPr lang="en-US" sz="1400" dirty="0">
                          <a:latin typeface="Georgia" panose="02040502050405020303" pitchFamily="18" charset="0"/>
                          <a:ea typeface="Cambria" panose="02040503050406030204" pitchFamily="18" charset="0"/>
                        </a:rPr>
                        <a:t>Non-Volatile Artifacts</a:t>
                      </a:r>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Artifacts that resides on the endpoint / host disk.</a:t>
                      </a:r>
                    </a:p>
                    <a:p>
                      <a:r>
                        <a:rPr lang="en-US" sz="1400" dirty="0">
                          <a:latin typeface="Georgia" panose="02040502050405020303" pitchFamily="18" charset="0"/>
                          <a:ea typeface="Cambria" panose="02040503050406030204" pitchFamily="18" charset="0"/>
                        </a:rPr>
                        <a:t>Data Collection : Prefetch, </a:t>
                      </a:r>
                      <a:r>
                        <a:rPr lang="en-US" sz="1400" dirty="0" err="1">
                          <a:latin typeface="Georgia" panose="02040502050405020303" pitchFamily="18" charset="0"/>
                          <a:ea typeface="Cambria" panose="02040503050406030204" pitchFamily="18" charset="0"/>
                        </a:rPr>
                        <a:t>Amcache</a:t>
                      </a:r>
                      <a:r>
                        <a:rPr lang="en-US" sz="1400" dirty="0">
                          <a:latin typeface="Georgia" panose="02040502050405020303" pitchFamily="18" charset="0"/>
                          <a:ea typeface="Cambria" panose="02040503050406030204" pitchFamily="18" charset="0"/>
                        </a:rPr>
                        <a:t>, </a:t>
                      </a:r>
                      <a:r>
                        <a:rPr lang="en-US" sz="1400" dirty="0" err="1">
                          <a:latin typeface="Georgia" panose="02040502050405020303" pitchFamily="18" charset="0"/>
                          <a:ea typeface="Cambria" panose="02040503050406030204" pitchFamily="18" charset="0"/>
                        </a:rPr>
                        <a:t>Shimcache</a:t>
                      </a:r>
                      <a:r>
                        <a:rPr lang="en-US" sz="1400" dirty="0">
                          <a:latin typeface="Georgia" panose="02040502050405020303" pitchFamily="18" charset="0"/>
                          <a:ea typeface="Cambria" panose="02040503050406030204" pitchFamily="18" charset="0"/>
                        </a:rPr>
                        <a:t>, MFT, Registry, </a:t>
                      </a:r>
                      <a:r>
                        <a:rPr lang="en-US" sz="1400" dirty="0" err="1">
                          <a:latin typeface="Georgia" panose="02040502050405020303" pitchFamily="18" charset="0"/>
                          <a:ea typeface="Cambria" panose="02040503050406030204" pitchFamily="18" charset="0"/>
                        </a:rPr>
                        <a:t>bash_history</a:t>
                      </a:r>
                      <a:r>
                        <a:rPr lang="en-US" sz="1400" dirty="0">
                          <a:latin typeface="Georgia" panose="02040502050405020303" pitchFamily="18" charset="0"/>
                          <a:ea typeface="Cambria" panose="02040503050406030204" pitchFamily="18" charset="0"/>
                        </a:rPr>
                        <a:t>, Task Scheduler</a:t>
                      </a:r>
                    </a:p>
                    <a:p>
                      <a:endParaRPr lang="en-ID" sz="1400" dirty="0">
                        <a:latin typeface="Georgia" panose="02040502050405020303" pitchFamily="18" charset="0"/>
                        <a:ea typeface="Cambria" panose="02040503050406030204" pitchFamily="18" charset="0"/>
                      </a:endParaRPr>
                    </a:p>
                  </a:txBody>
                  <a:tcPr marL="91729" marR="91729" marT="45865" marB="45865">
                    <a:solidFill>
                      <a:schemeClr val="accent1">
                        <a:lumMod val="20000"/>
                        <a:lumOff val="80000"/>
                      </a:schemeClr>
                    </a:solidFill>
                  </a:tcPr>
                </a:tc>
                <a:tc>
                  <a:txBody>
                    <a:bodyPr/>
                    <a:lstStyle/>
                    <a:p>
                      <a:r>
                        <a:rPr lang="en-US" sz="1400" dirty="0" err="1">
                          <a:latin typeface="Georgia" panose="02040502050405020303" pitchFamily="18" charset="0"/>
                          <a:ea typeface="Cambria" panose="02040503050406030204" pitchFamily="18" charset="0"/>
                        </a:rPr>
                        <a:t>Brimorlabs</a:t>
                      </a:r>
                      <a:endParaRPr lang="en-US" sz="1400" dirty="0">
                        <a:latin typeface="Georgia" panose="02040502050405020303" pitchFamily="18" charset="0"/>
                        <a:ea typeface="Cambria" panose="02040503050406030204" pitchFamily="18" charset="0"/>
                      </a:endParaRPr>
                    </a:p>
                    <a:p>
                      <a:r>
                        <a:rPr lang="en-US" sz="1400" dirty="0">
                          <a:latin typeface="Georgia" panose="02040502050405020303" pitchFamily="18" charset="0"/>
                          <a:ea typeface="Cambria" panose="02040503050406030204" pitchFamily="18" charset="0"/>
                        </a:rPr>
                        <a:t>KAPE</a:t>
                      </a:r>
                    </a:p>
                    <a:p>
                      <a:r>
                        <a:rPr lang="en-US" sz="1400" dirty="0">
                          <a:latin typeface="Georgia" panose="02040502050405020303" pitchFamily="18" charset="0"/>
                          <a:ea typeface="Cambria" panose="02040503050406030204" pitchFamily="18" charset="0"/>
                        </a:rPr>
                        <a:t>Kansa</a:t>
                      </a:r>
                    </a:p>
                    <a:p>
                      <a:r>
                        <a:rPr lang="en-ID" sz="1400" dirty="0" err="1">
                          <a:latin typeface="Georgia" panose="02040502050405020303" pitchFamily="18" charset="0"/>
                          <a:ea typeface="Cambria" panose="02040503050406030204" pitchFamily="18" charset="0"/>
                        </a:rPr>
                        <a:t>FastIR</a:t>
                      </a:r>
                      <a:r>
                        <a:rPr lang="en-ID" sz="1400" dirty="0">
                          <a:latin typeface="Georgia" panose="02040502050405020303" pitchFamily="18" charset="0"/>
                          <a:ea typeface="Cambria" panose="02040503050406030204" pitchFamily="18" charset="0"/>
                        </a:rPr>
                        <a:t> Collector</a:t>
                      </a:r>
                    </a:p>
                  </a:txBody>
                  <a:tcPr marL="91729" marR="91729" marT="45865" marB="45865">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732239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372B5-8DAB-0E74-6786-25AA910DD962}"/>
              </a:ext>
            </a:extLst>
          </p:cNvPr>
          <p:cNvSpPr>
            <a:spLocks noGrp="1"/>
          </p:cNvSpPr>
          <p:nvPr>
            <p:ph type="title"/>
          </p:nvPr>
        </p:nvSpPr>
        <p:spPr/>
        <p:txBody>
          <a:bodyPr/>
          <a:lstStyle/>
          <a:p>
            <a:r>
              <a:rPr lang="en-GB" dirty="0"/>
              <a:t>Endpoint Telemetry</a:t>
            </a:r>
            <a:endParaRPr lang="en-ID" dirty="0"/>
          </a:p>
        </p:txBody>
      </p:sp>
      <p:sp>
        <p:nvSpPr>
          <p:cNvPr id="4" name="Rectangle: Rounded Corners 3">
            <a:extLst>
              <a:ext uri="{FF2B5EF4-FFF2-40B4-BE49-F238E27FC236}">
                <a16:creationId xmlns:a16="http://schemas.microsoft.com/office/drawing/2014/main" id="{22ACA160-5924-F53B-07B8-37E3C31983FE}"/>
              </a:ext>
            </a:extLst>
          </p:cNvPr>
          <p:cNvSpPr/>
          <p:nvPr/>
        </p:nvSpPr>
        <p:spPr>
          <a:xfrm>
            <a:off x="417095" y="1690689"/>
            <a:ext cx="3288631" cy="4517606"/>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Georgia" panose="02040502050405020303" pitchFamily="18" charset="0"/>
              </a:rPr>
              <a:t>HDS/EDR/AV</a:t>
            </a:r>
          </a:p>
          <a:p>
            <a:r>
              <a:rPr lang="en-ID" sz="2000" dirty="0">
                <a:solidFill>
                  <a:schemeClr val="tx1"/>
                </a:solidFill>
                <a:latin typeface="Georgia" panose="02040502050405020303" pitchFamily="18" charset="0"/>
              </a:rPr>
              <a:t>Such as Sysmon, </a:t>
            </a:r>
            <a:r>
              <a:rPr lang="en-ID" sz="2000" dirty="0" err="1">
                <a:solidFill>
                  <a:schemeClr val="tx1"/>
                </a:solidFill>
                <a:latin typeface="Georgia" panose="02040502050405020303" pitchFamily="18" charset="0"/>
              </a:rPr>
              <a:t>OSQuery</a:t>
            </a:r>
            <a:r>
              <a:rPr lang="en-ID" sz="2000" dirty="0">
                <a:solidFill>
                  <a:schemeClr val="tx1"/>
                </a:solidFill>
                <a:latin typeface="Georgia" panose="02040502050405020303" pitchFamily="18" charset="0"/>
              </a:rPr>
              <a:t>, MDE, </a:t>
            </a:r>
            <a:r>
              <a:rPr lang="en-ID" sz="2000" dirty="0" err="1">
                <a:solidFill>
                  <a:schemeClr val="tx1"/>
                </a:solidFill>
                <a:latin typeface="Georgia" panose="02040502050405020303" pitchFamily="18" charset="0"/>
              </a:rPr>
              <a:t>Crowdstrike</a:t>
            </a:r>
            <a:endParaRPr lang="en-ID" sz="2000" dirty="0">
              <a:solidFill>
                <a:schemeClr val="tx1"/>
              </a:solidFill>
              <a:latin typeface="Georgia" panose="02040502050405020303" pitchFamily="18" charset="0"/>
            </a:endParaRPr>
          </a:p>
          <a:p>
            <a:pPr marL="285750" indent="-285750">
              <a:buFont typeface="Arial" panose="020B0604020202020204" pitchFamily="34" charset="0"/>
              <a:buChar char="•"/>
            </a:pPr>
            <a:r>
              <a:rPr lang="en-ID" sz="2000" dirty="0">
                <a:solidFill>
                  <a:schemeClr val="tx1"/>
                </a:solidFill>
                <a:latin typeface="Georgia" panose="02040502050405020303" pitchFamily="18" charset="0"/>
              </a:rPr>
              <a:t>Process Activity</a:t>
            </a:r>
          </a:p>
          <a:p>
            <a:pPr marL="285750" indent="-285750">
              <a:buFont typeface="Arial" panose="020B0604020202020204" pitchFamily="34" charset="0"/>
              <a:buChar char="•"/>
            </a:pPr>
            <a:r>
              <a:rPr lang="en-ID" sz="2000" dirty="0">
                <a:solidFill>
                  <a:schemeClr val="tx1"/>
                </a:solidFill>
                <a:latin typeface="Georgia" panose="02040502050405020303" pitchFamily="18" charset="0"/>
              </a:rPr>
              <a:t>Module, Library, DLLs, Pipe Activity</a:t>
            </a:r>
          </a:p>
          <a:p>
            <a:pPr marL="285750" indent="-285750">
              <a:buFont typeface="Arial" panose="020B0604020202020204" pitchFamily="34" charset="0"/>
              <a:buChar char="•"/>
            </a:pPr>
            <a:r>
              <a:rPr lang="en-ID" sz="2000" dirty="0">
                <a:solidFill>
                  <a:schemeClr val="tx1"/>
                </a:solidFill>
                <a:latin typeface="Georgia" panose="02040502050405020303" pitchFamily="18" charset="0"/>
              </a:rPr>
              <a:t>File Activity</a:t>
            </a:r>
          </a:p>
          <a:p>
            <a:pPr marL="285750" indent="-285750">
              <a:buFont typeface="Arial" panose="020B0604020202020204" pitchFamily="34" charset="0"/>
              <a:buChar char="•"/>
            </a:pPr>
            <a:r>
              <a:rPr lang="en-ID" sz="2000" dirty="0">
                <a:solidFill>
                  <a:schemeClr val="tx1"/>
                </a:solidFill>
                <a:latin typeface="Georgia" panose="02040502050405020303" pitchFamily="18" charset="0"/>
              </a:rPr>
              <a:t>Registry Activity</a:t>
            </a:r>
          </a:p>
          <a:p>
            <a:pPr marL="285750" indent="-285750">
              <a:buFont typeface="Arial" panose="020B0604020202020204" pitchFamily="34" charset="0"/>
              <a:buChar char="•"/>
            </a:pPr>
            <a:r>
              <a:rPr lang="en-ID" sz="2000" dirty="0">
                <a:solidFill>
                  <a:schemeClr val="tx1"/>
                </a:solidFill>
                <a:latin typeface="Georgia" panose="02040502050405020303" pitchFamily="18" charset="0"/>
              </a:rPr>
              <a:t>Network Activity</a:t>
            </a:r>
          </a:p>
          <a:p>
            <a:pPr marL="285750" indent="-285750">
              <a:buFont typeface="Arial" panose="020B0604020202020204" pitchFamily="34" charset="0"/>
              <a:buChar char="•"/>
            </a:pPr>
            <a:r>
              <a:rPr lang="en-ID" sz="2000" dirty="0">
                <a:solidFill>
                  <a:schemeClr val="tx1"/>
                </a:solidFill>
                <a:latin typeface="Georgia" panose="02040502050405020303" pitchFamily="18" charset="0"/>
              </a:rPr>
              <a:t>Detection/Prevention Activity</a:t>
            </a:r>
          </a:p>
        </p:txBody>
      </p:sp>
      <p:sp>
        <p:nvSpPr>
          <p:cNvPr id="5" name="Rectangle: Rounded Corners 4">
            <a:extLst>
              <a:ext uri="{FF2B5EF4-FFF2-40B4-BE49-F238E27FC236}">
                <a16:creationId xmlns:a16="http://schemas.microsoft.com/office/drawing/2014/main" id="{0B1EC591-61B0-F320-FC02-69D6B854F096}"/>
              </a:ext>
            </a:extLst>
          </p:cNvPr>
          <p:cNvSpPr/>
          <p:nvPr/>
        </p:nvSpPr>
        <p:spPr>
          <a:xfrm>
            <a:off x="4241131" y="1690688"/>
            <a:ext cx="3288631" cy="4517606"/>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Georgia" panose="02040502050405020303" pitchFamily="18" charset="0"/>
              </a:rPr>
              <a:t>Host System</a:t>
            </a:r>
          </a:p>
          <a:p>
            <a:r>
              <a:rPr lang="en-US" sz="2000" dirty="0">
                <a:solidFill>
                  <a:schemeClr val="tx1"/>
                </a:solidFill>
                <a:latin typeface="Georgia" panose="02040502050405020303" pitchFamily="18" charset="0"/>
              </a:rPr>
              <a:t>Such as Windows, Linux, MacOS, Android, iOS</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Execution</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Apps and System Activity (PowerShell, Scheduled Task, etc.)</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Web Browser Data</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Authentication/Permission/IAM</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Network (Filtering, etc.)</a:t>
            </a:r>
          </a:p>
          <a:p>
            <a:endParaRPr lang="en-ID" sz="2000" dirty="0">
              <a:solidFill>
                <a:schemeClr val="tx1"/>
              </a:solidFill>
              <a:latin typeface="Georgia" panose="02040502050405020303" pitchFamily="18" charset="0"/>
            </a:endParaRPr>
          </a:p>
        </p:txBody>
      </p:sp>
      <p:sp>
        <p:nvSpPr>
          <p:cNvPr id="6" name="Rectangle: Rounded Corners 5">
            <a:extLst>
              <a:ext uri="{FF2B5EF4-FFF2-40B4-BE49-F238E27FC236}">
                <a16:creationId xmlns:a16="http://schemas.microsoft.com/office/drawing/2014/main" id="{56CC19D4-C3F3-1F47-D30B-9A0BE38843B6}"/>
              </a:ext>
            </a:extLst>
          </p:cNvPr>
          <p:cNvSpPr/>
          <p:nvPr/>
        </p:nvSpPr>
        <p:spPr>
          <a:xfrm>
            <a:off x="8065167" y="1690688"/>
            <a:ext cx="3288631" cy="4517606"/>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Georgia" panose="02040502050405020303" pitchFamily="18" charset="0"/>
              </a:rPr>
              <a:t>Server/App</a:t>
            </a:r>
          </a:p>
          <a:p>
            <a:r>
              <a:rPr lang="en-US" sz="2000" dirty="0">
                <a:solidFill>
                  <a:schemeClr val="tx1"/>
                </a:solidFill>
                <a:latin typeface="Georgia" panose="02040502050405020303" pitchFamily="18" charset="0"/>
              </a:rPr>
              <a:t>Such as AD/ADFS, Email Server, Web Server, App Server</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Auth/Permission/IAM</a:t>
            </a:r>
          </a:p>
          <a:p>
            <a:pPr marL="342900" indent="-342900">
              <a:buFont typeface="Arial" panose="020B0604020202020204" pitchFamily="34" charset="0"/>
              <a:buChar char="•"/>
            </a:pPr>
            <a:r>
              <a:rPr lang="en-US" sz="2000" dirty="0">
                <a:solidFill>
                  <a:schemeClr val="tx1"/>
                </a:solidFill>
                <a:latin typeface="Georgia" panose="02040502050405020303" pitchFamily="18" charset="0"/>
              </a:rPr>
              <a:t>Apps Activity</a:t>
            </a:r>
          </a:p>
          <a:p>
            <a:pPr marL="800100" lvl="1" indent="-342900">
              <a:buFont typeface="Arial" panose="020B0604020202020204" pitchFamily="34" charset="0"/>
              <a:buChar char="•"/>
            </a:pPr>
            <a:r>
              <a:rPr lang="en-US" sz="2000" dirty="0">
                <a:solidFill>
                  <a:schemeClr val="tx1"/>
                </a:solidFill>
                <a:latin typeface="Georgia" panose="02040502050405020303" pitchFamily="18" charset="0"/>
              </a:rPr>
              <a:t>Login, User Changes, Orders, etc.</a:t>
            </a:r>
            <a:endParaRPr lang="en-ID" sz="2000" dirty="0">
              <a:solidFill>
                <a:schemeClr val="tx1"/>
              </a:solidFill>
              <a:latin typeface="Georgia" panose="02040502050405020303" pitchFamily="18" charset="0"/>
            </a:endParaRPr>
          </a:p>
        </p:txBody>
      </p:sp>
    </p:spTree>
    <p:extLst>
      <p:ext uri="{BB962C8B-B14F-4D97-AF65-F5344CB8AC3E}">
        <p14:creationId xmlns:p14="http://schemas.microsoft.com/office/powerpoint/2010/main" val="21823732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8C895-2C39-CF77-219C-1F1E2276E6B8}"/>
              </a:ext>
            </a:extLst>
          </p:cNvPr>
          <p:cNvSpPr>
            <a:spLocks noGrp="1"/>
          </p:cNvSpPr>
          <p:nvPr>
            <p:ph type="title"/>
          </p:nvPr>
        </p:nvSpPr>
        <p:spPr/>
        <p:txBody>
          <a:bodyPr/>
          <a:lstStyle/>
          <a:p>
            <a:r>
              <a:rPr lang="en-US" sz="2800" dirty="0"/>
              <a:t>Example of Data Sources from Network</a:t>
            </a:r>
            <a:endParaRPr lang="en-ID" dirty="0"/>
          </a:p>
        </p:txBody>
      </p:sp>
      <p:graphicFrame>
        <p:nvGraphicFramePr>
          <p:cNvPr id="4" name="Table 3">
            <a:extLst>
              <a:ext uri="{FF2B5EF4-FFF2-40B4-BE49-F238E27FC236}">
                <a16:creationId xmlns:a16="http://schemas.microsoft.com/office/drawing/2014/main" id="{07ACB30C-9ED6-D46D-28BF-E0C11A5BFDBA}"/>
              </a:ext>
            </a:extLst>
          </p:cNvPr>
          <p:cNvGraphicFramePr>
            <a:graphicFrameLocks noGrp="1"/>
          </p:cNvGraphicFramePr>
          <p:nvPr>
            <p:extLst>
              <p:ext uri="{D42A27DB-BD31-4B8C-83A1-F6EECF244321}">
                <p14:modId xmlns:p14="http://schemas.microsoft.com/office/powerpoint/2010/main" val="975308254"/>
              </p:ext>
            </p:extLst>
          </p:nvPr>
        </p:nvGraphicFramePr>
        <p:xfrm>
          <a:off x="457200" y="1434014"/>
          <a:ext cx="11277599" cy="4849157"/>
        </p:xfrm>
        <a:graphic>
          <a:graphicData uri="http://schemas.openxmlformats.org/drawingml/2006/table">
            <a:tbl>
              <a:tblPr firstRow="1" bandRow="1"/>
              <a:tblGrid>
                <a:gridCol w="1943248">
                  <a:extLst>
                    <a:ext uri="{9D8B030D-6E8A-4147-A177-3AD203B41FA5}">
                      <a16:colId xmlns:a16="http://schemas.microsoft.com/office/drawing/2014/main" val="20000"/>
                    </a:ext>
                  </a:extLst>
                </a:gridCol>
                <a:gridCol w="7014845">
                  <a:extLst>
                    <a:ext uri="{9D8B030D-6E8A-4147-A177-3AD203B41FA5}">
                      <a16:colId xmlns:a16="http://schemas.microsoft.com/office/drawing/2014/main" val="20001"/>
                    </a:ext>
                  </a:extLst>
                </a:gridCol>
                <a:gridCol w="2319506">
                  <a:extLst>
                    <a:ext uri="{9D8B030D-6E8A-4147-A177-3AD203B41FA5}">
                      <a16:colId xmlns:a16="http://schemas.microsoft.com/office/drawing/2014/main" val="20002"/>
                    </a:ext>
                  </a:extLst>
                </a:gridCol>
              </a:tblGrid>
              <a:tr h="356187">
                <a:tc>
                  <a:txBody>
                    <a:bodyPr/>
                    <a:lstStyle/>
                    <a:p>
                      <a:pPr algn="ctr"/>
                      <a:r>
                        <a:rPr lang="en-US" sz="1400" b="1" dirty="0">
                          <a:latin typeface="Georgia" panose="02040502050405020303" pitchFamily="18" charset="0"/>
                          <a:ea typeface="Cambria" panose="02040503050406030204" pitchFamily="18" charset="0"/>
                        </a:rPr>
                        <a:t>Type of Event</a:t>
                      </a:r>
                      <a:endParaRPr lang="en-ID" sz="1400" b="1" dirty="0">
                        <a:latin typeface="Georgia" panose="02040502050405020303" pitchFamily="18" charset="0"/>
                        <a:ea typeface="Cambria" panose="02040503050406030204" pitchFamily="18" charset="0"/>
                      </a:endParaRPr>
                    </a:p>
                  </a:txBody>
                  <a:tcPr marL="87827" marR="87827" marT="43913" marB="43913">
                    <a:solidFill>
                      <a:schemeClr val="tx2">
                        <a:lumMod val="60000"/>
                        <a:lumOff val="40000"/>
                      </a:schemeClr>
                    </a:solidFill>
                  </a:tcPr>
                </a:tc>
                <a:tc>
                  <a:txBody>
                    <a:bodyPr/>
                    <a:lstStyle/>
                    <a:p>
                      <a:pPr algn="ctr"/>
                      <a:r>
                        <a:rPr lang="en-US" sz="1400" b="1" dirty="0">
                          <a:latin typeface="Georgia" panose="02040502050405020303" pitchFamily="18" charset="0"/>
                          <a:ea typeface="Cambria" panose="02040503050406030204" pitchFamily="18" charset="0"/>
                        </a:rPr>
                        <a:t>Description</a:t>
                      </a:r>
                      <a:endParaRPr lang="en-ID" sz="1400" b="1" dirty="0">
                        <a:latin typeface="Georgia" panose="02040502050405020303" pitchFamily="18" charset="0"/>
                        <a:ea typeface="Cambria" panose="02040503050406030204" pitchFamily="18" charset="0"/>
                      </a:endParaRPr>
                    </a:p>
                  </a:txBody>
                  <a:tcPr marL="87827" marR="87827" marT="43913" marB="43913">
                    <a:solidFill>
                      <a:schemeClr val="tx2">
                        <a:lumMod val="60000"/>
                        <a:lumOff val="40000"/>
                      </a:schemeClr>
                    </a:solidFill>
                  </a:tcPr>
                </a:tc>
                <a:tc>
                  <a:txBody>
                    <a:bodyPr/>
                    <a:lstStyle/>
                    <a:p>
                      <a:pPr algn="ctr"/>
                      <a:r>
                        <a:rPr lang="en-US" sz="1400" b="1" dirty="0">
                          <a:latin typeface="Georgia" panose="02040502050405020303" pitchFamily="18" charset="0"/>
                          <a:ea typeface="Cambria" panose="02040503050406030204" pitchFamily="18" charset="0"/>
                        </a:rPr>
                        <a:t>Tools</a:t>
                      </a:r>
                      <a:endParaRPr lang="en-ID" sz="1400" b="1" dirty="0">
                        <a:latin typeface="Georgia" panose="02040502050405020303" pitchFamily="18" charset="0"/>
                        <a:ea typeface="Cambria" panose="02040503050406030204" pitchFamily="18" charset="0"/>
                      </a:endParaRPr>
                    </a:p>
                  </a:txBody>
                  <a:tcPr marL="87827" marR="87827" marT="43913" marB="43913">
                    <a:solidFill>
                      <a:schemeClr val="tx2">
                        <a:lumMod val="60000"/>
                        <a:lumOff val="40000"/>
                      </a:schemeClr>
                    </a:solidFill>
                  </a:tcPr>
                </a:tc>
                <a:extLst>
                  <a:ext uri="{0D108BD9-81ED-4DB2-BD59-A6C34878D82A}">
                    <a16:rowId xmlns:a16="http://schemas.microsoft.com/office/drawing/2014/main" val="10000"/>
                  </a:ext>
                </a:extLst>
              </a:tr>
              <a:tr h="702615">
                <a:tc>
                  <a:txBody>
                    <a:bodyPr/>
                    <a:lstStyle/>
                    <a:p>
                      <a:r>
                        <a:rPr lang="en-ID" sz="1400" b="0" i="0" u="none" strike="noStrike" cap="none" baseline="0" dirty="0" err="1">
                          <a:solidFill>
                            <a:schemeClr val="dk1"/>
                          </a:solidFill>
                          <a:latin typeface="Georgia" panose="02040502050405020303" pitchFamily="18" charset="0"/>
                          <a:ea typeface="Cambria" panose="02040503050406030204" pitchFamily="18" charset="0"/>
                          <a:cs typeface="Arial"/>
                          <a:sym typeface="Arial"/>
                        </a:rPr>
                        <a:t>Netflow</a:t>
                      </a:r>
                      <a:r>
                        <a:rPr lang="en-ID" sz="1400" b="0" i="0" u="none" strike="noStrike" cap="none" baseline="0" dirty="0">
                          <a:solidFill>
                            <a:schemeClr val="dk1"/>
                          </a:solidFill>
                          <a:latin typeface="Georgia" panose="02040502050405020303" pitchFamily="18" charset="0"/>
                          <a:ea typeface="Cambria" panose="02040503050406030204" pitchFamily="18" charset="0"/>
                          <a:cs typeface="Arial"/>
                          <a:sym typeface="Arial"/>
                        </a:rPr>
                        <a:t>	</a:t>
                      </a:r>
                    </a:p>
                    <a:p>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Network traffic flow metadata. N</a:t>
                      </a:r>
                      <a:r>
                        <a:rPr lang="en-ID" sz="1400" dirty="0" err="1">
                          <a:latin typeface="Georgia" panose="02040502050405020303" pitchFamily="18" charset="0"/>
                          <a:ea typeface="Cambria" panose="02040503050406030204" pitchFamily="18" charset="0"/>
                        </a:rPr>
                        <a:t>etFlow</a:t>
                      </a:r>
                      <a:r>
                        <a:rPr lang="en-ID" sz="1400" dirty="0">
                          <a:latin typeface="Georgia" panose="02040502050405020303" pitchFamily="18" charset="0"/>
                          <a:ea typeface="Cambria" panose="02040503050406030204" pitchFamily="18" charset="0"/>
                        </a:rPr>
                        <a:t> data is </a:t>
                      </a:r>
                      <a:r>
                        <a:rPr lang="en-ID" sz="1400" dirty="0" err="1">
                          <a:latin typeface="Georgia" panose="02040502050405020303" pitchFamily="18" charset="0"/>
                          <a:ea typeface="Cambria" panose="02040503050406030204" pitchFamily="18" charset="0"/>
                        </a:rPr>
                        <a:t>analyzed</a:t>
                      </a:r>
                      <a:r>
                        <a:rPr lang="en-ID" sz="1400" dirty="0">
                          <a:latin typeface="Georgia" panose="02040502050405020303" pitchFamily="18" charset="0"/>
                          <a:ea typeface="Cambria" panose="02040503050406030204" pitchFamily="18" charset="0"/>
                        </a:rPr>
                        <a:t> to create a picture of network traffic flow and volume. used as a network traffic </a:t>
                      </a:r>
                      <a:r>
                        <a:rPr lang="en-ID" sz="1400" dirty="0" err="1">
                          <a:latin typeface="Georgia" panose="02040502050405020303" pitchFamily="18" charset="0"/>
                          <a:ea typeface="Cambria" panose="02040503050406030204" pitchFamily="18" charset="0"/>
                        </a:rPr>
                        <a:t>analyzer</a:t>
                      </a:r>
                      <a:r>
                        <a:rPr lang="en-ID" sz="1400" dirty="0">
                          <a:latin typeface="Georgia" panose="02040502050405020303" pitchFamily="18" charset="0"/>
                          <a:ea typeface="Cambria" panose="02040503050406030204" pitchFamily="18" charset="0"/>
                        </a:rPr>
                        <a:t> to determine its point of origin, destination, volume and paths on the network</a:t>
                      </a: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Silk</a:t>
                      </a:r>
                    </a:p>
                    <a:p>
                      <a:r>
                        <a:rPr lang="en-US" sz="1400" dirty="0" err="1">
                          <a:latin typeface="Georgia" panose="02040502050405020303" pitchFamily="18" charset="0"/>
                          <a:ea typeface="Cambria" panose="02040503050406030204" pitchFamily="18" charset="0"/>
                        </a:rPr>
                        <a:t>Nfsen</a:t>
                      </a:r>
                      <a:r>
                        <a:rPr lang="en-US" sz="1400" dirty="0">
                          <a:latin typeface="Georgia" panose="02040502050405020303" pitchFamily="18" charset="0"/>
                          <a:ea typeface="Cambria" panose="02040503050406030204" pitchFamily="18" charset="0"/>
                        </a:rPr>
                        <a:t> &amp; </a:t>
                      </a:r>
                      <a:r>
                        <a:rPr lang="en-US" sz="1400" dirty="0" err="1">
                          <a:latin typeface="Georgia" panose="02040502050405020303" pitchFamily="18" charset="0"/>
                          <a:ea typeface="Cambria" panose="02040503050406030204" pitchFamily="18" charset="0"/>
                        </a:rPr>
                        <a:t>Nfdump</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extLst>
                  <a:ext uri="{0D108BD9-81ED-4DB2-BD59-A6C34878D82A}">
                    <a16:rowId xmlns:a16="http://schemas.microsoft.com/office/drawing/2014/main" val="10001"/>
                  </a:ext>
                </a:extLst>
              </a:tr>
              <a:tr h="907544">
                <a:tc>
                  <a:txBody>
                    <a:bodyPr/>
                    <a:lstStyle/>
                    <a:p>
                      <a:r>
                        <a:rPr lang="en-US" sz="1400" dirty="0">
                          <a:latin typeface="Georgia" panose="02040502050405020303" pitchFamily="18" charset="0"/>
                          <a:ea typeface="Cambria" panose="02040503050406030204" pitchFamily="18" charset="0"/>
                        </a:rPr>
                        <a:t>Packet Capture</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Georgia" panose="02040502050405020303" pitchFamily="18" charset="0"/>
                          <a:ea typeface="Cambria" panose="02040503050406030204" pitchFamily="18" charset="0"/>
                        </a:rPr>
                        <a:t>Packet Capture is a networking term for intercepting a data packet that is crossing a specific point in a data network. Once a packet is captured in real-time, it is stored for a period of time so that it can be analyzed, and then either be downloaded, archived or discarded. </a:t>
                      </a:r>
                      <a:endParaRPr lang="en-ID" sz="1400" b="0" i="0" u="none" strike="noStrike" cap="none" baseline="0" dirty="0">
                        <a:solidFill>
                          <a:schemeClr val="dk1"/>
                        </a:solidFill>
                        <a:latin typeface="Georgia" panose="02040502050405020303" pitchFamily="18" charset="0"/>
                        <a:ea typeface="Cambria" panose="02040503050406030204" pitchFamily="18" charset="0"/>
                        <a:cs typeface="Arial"/>
                        <a:sym typeface="Arial"/>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Moloch,</a:t>
                      </a:r>
                    </a:p>
                    <a:p>
                      <a:r>
                        <a:rPr lang="en-US" sz="1400" dirty="0" err="1">
                          <a:latin typeface="Georgia" panose="02040502050405020303" pitchFamily="18" charset="0"/>
                          <a:ea typeface="Cambria" panose="02040503050406030204" pitchFamily="18" charset="0"/>
                        </a:rPr>
                        <a:t>Tcpdump</a:t>
                      </a:r>
                      <a:r>
                        <a:rPr lang="en-US" sz="1400" dirty="0">
                          <a:latin typeface="Georgia" panose="02040502050405020303" pitchFamily="18" charset="0"/>
                          <a:ea typeface="Cambria" panose="02040503050406030204" pitchFamily="18" charset="0"/>
                        </a:rPr>
                        <a:t>,</a:t>
                      </a:r>
                    </a:p>
                    <a:p>
                      <a:r>
                        <a:rPr lang="en-US" sz="1400" dirty="0">
                          <a:latin typeface="Georgia" panose="02040502050405020303" pitchFamily="18" charset="0"/>
                          <a:ea typeface="Cambria" panose="02040503050406030204" pitchFamily="18" charset="0"/>
                        </a:rPr>
                        <a:t>Wireshark,</a:t>
                      </a:r>
                    </a:p>
                    <a:p>
                      <a:r>
                        <a:rPr lang="en-US" sz="1400" dirty="0" err="1">
                          <a:latin typeface="Georgia" panose="02040502050405020303" pitchFamily="18" charset="0"/>
                          <a:ea typeface="Cambria" panose="02040503050406030204" pitchFamily="18" charset="0"/>
                        </a:rPr>
                        <a:t>tshark</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extLst>
                  <a:ext uri="{0D108BD9-81ED-4DB2-BD59-A6C34878D82A}">
                    <a16:rowId xmlns:a16="http://schemas.microsoft.com/office/drawing/2014/main" val="10002"/>
                  </a:ext>
                </a:extLst>
              </a:tr>
              <a:tr h="702615">
                <a:tc>
                  <a:txBody>
                    <a:bodyPr/>
                    <a:lstStyle/>
                    <a:p>
                      <a:r>
                        <a:rPr lang="en-US" sz="1400" dirty="0">
                          <a:latin typeface="Georgia" panose="02040502050405020303" pitchFamily="18" charset="0"/>
                          <a:ea typeface="Cambria" panose="02040503050406030204" pitchFamily="18" charset="0"/>
                        </a:rPr>
                        <a:t>Network IDS</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A network-based intrusion detection system (NIDS) detects malicious traffic on a network. NIDS usually require promiscuous network access in order to analyze all traffic</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Snort, Suricata</a:t>
                      </a:r>
                    </a:p>
                    <a:p>
                      <a:r>
                        <a:rPr lang="en-US" sz="1400" dirty="0">
                          <a:latin typeface="Georgia" panose="02040502050405020303" pitchFamily="18" charset="0"/>
                          <a:ea typeface="Cambria" panose="02040503050406030204" pitchFamily="18" charset="0"/>
                        </a:rPr>
                        <a:t>Bro</a:t>
                      </a:r>
                    </a:p>
                    <a:p>
                      <a:r>
                        <a:rPr lang="en-US" sz="1400" dirty="0">
                          <a:latin typeface="Georgia" panose="02040502050405020303" pitchFamily="18" charset="0"/>
                          <a:ea typeface="Cambria" panose="02040503050406030204" pitchFamily="18" charset="0"/>
                        </a:rPr>
                        <a:t>Commercial NIDS Product </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extLst>
                  <a:ext uri="{0D108BD9-81ED-4DB2-BD59-A6C34878D82A}">
                    <a16:rowId xmlns:a16="http://schemas.microsoft.com/office/drawing/2014/main" val="10003"/>
                  </a:ext>
                </a:extLst>
              </a:tr>
              <a:tr h="702615">
                <a:tc>
                  <a:txBody>
                    <a:bodyPr/>
                    <a:lstStyle/>
                    <a:p>
                      <a:r>
                        <a:rPr lang="en-US" sz="1400" dirty="0">
                          <a:latin typeface="Georgia" panose="02040502050405020303" pitchFamily="18" charset="0"/>
                          <a:ea typeface="Cambria" panose="02040503050406030204" pitchFamily="18" charset="0"/>
                        </a:rPr>
                        <a:t>Proxy Log</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Proxy server logs contain the requests made by users and applications on your network. This does not only include the most obvious part : web site request by users but also application or service requests made to the internet (for example application updates).</a:t>
                      </a: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Squid</a:t>
                      </a:r>
                    </a:p>
                    <a:p>
                      <a:r>
                        <a:rPr lang="en-US" sz="1400" dirty="0">
                          <a:latin typeface="Georgia" panose="02040502050405020303" pitchFamily="18" charset="0"/>
                          <a:ea typeface="Cambria" panose="02040503050406030204" pitchFamily="18" charset="0"/>
                        </a:rPr>
                        <a:t>Commercial Proxy Product</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extLst>
                  <a:ext uri="{0D108BD9-81ED-4DB2-BD59-A6C34878D82A}">
                    <a16:rowId xmlns:a16="http://schemas.microsoft.com/office/drawing/2014/main" val="10004"/>
                  </a:ext>
                </a:extLst>
              </a:tr>
              <a:tr h="1112474">
                <a:tc>
                  <a:txBody>
                    <a:bodyPr/>
                    <a:lstStyle/>
                    <a:p>
                      <a:r>
                        <a:rPr lang="en-US" sz="1400" dirty="0">
                          <a:latin typeface="Georgia" panose="02040502050405020303" pitchFamily="18" charset="0"/>
                          <a:ea typeface="Cambria" panose="02040503050406030204" pitchFamily="18" charset="0"/>
                        </a:rPr>
                        <a:t>DNS Log</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One of the constantly re-occurring techniques is DNS-based activities like exfiltration via DNS </a:t>
                      </a:r>
                      <a:r>
                        <a:rPr lang="en-US" sz="1400" i="1" dirty="0">
                          <a:latin typeface="Georgia" panose="02040502050405020303" pitchFamily="18" charset="0"/>
                          <a:ea typeface="Cambria" panose="02040503050406030204" pitchFamily="18" charset="0"/>
                        </a:rPr>
                        <a:t>(Domain Name System)</a:t>
                      </a:r>
                      <a:r>
                        <a:rPr lang="en-US" sz="1400" dirty="0">
                          <a:latin typeface="Georgia" panose="02040502050405020303" pitchFamily="18" charset="0"/>
                          <a:ea typeface="Cambria" panose="02040503050406030204" pitchFamily="18" charset="0"/>
                        </a:rPr>
                        <a:t> or C2 </a:t>
                      </a:r>
                      <a:r>
                        <a:rPr lang="en-US" sz="1400" i="1" dirty="0">
                          <a:latin typeface="Georgia" panose="02040502050405020303" pitchFamily="18" charset="0"/>
                          <a:ea typeface="Cambria" panose="02040503050406030204" pitchFamily="18" charset="0"/>
                        </a:rPr>
                        <a:t>(Command and Control)</a:t>
                      </a:r>
                      <a:r>
                        <a:rPr lang="en-US" sz="1400" dirty="0">
                          <a:latin typeface="Georgia" panose="02040502050405020303" pitchFamily="18" charset="0"/>
                          <a:ea typeface="Cambria" panose="02040503050406030204" pitchFamily="18" charset="0"/>
                        </a:rPr>
                        <a:t> communication via DNS. Still, a lot of companies are lacking in DNS logging, missing DNS-based detection rules, or not aware of their own </a:t>
                      </a:r>
                      <a:r>
                        <a:rPr lang="en-US" sz="1400" dirty="0" err="1">
                          <a:latin typeface="Georgia" panose="02040502050405020303" pitchFamily="18" charset="0"/>
                          <a:ea typeface="Cambria" panose="02040503050406030204" pitchFamily="18" charset="0"/>
                        </a:rPr>
                        <a:t>blindspots</a:t>
                      </a:r>
                      <a:r>
                        <a:rPr lang="en-US" sz="1400" dirty="0">
                          <a:latin typeface="Georgia" panose="02040502050405020303" pitchFamily="18" charset="0"/>
                          <a:ea typeface="Cambria" panose="02040503050406030204" pitchFamily="18" charset="0"/>
                        </a:rPr>
                        <a:t>.</a:t>
                      </a:r>
                    </a:p>
                    <a:p>
                      <a:r>
                        <a:rPr lang="en-US" sz="1400" dirty="0">
                          <a:latin typeface="Georgia" panose="02040502050405020303" pitchFamily="18" charset="0"/>
                          <a:ea typeface="Cambria" panose="02040503050406030204" pitchFamily="18" charset="0"/>
                        </a:rPr>
                        <a:t>Data collected : DNS Server, DNS Collected from Network, Host Based (Sysmon 10),</a:t>
                      </a:r>
                    </a:p>
                  </a:txBody>
                  <a:tcPr marL="87827" marR="87827" marT="43913" marB="43913">
                    <a:solidFill>
                      <a:schemeClr val="tx2">
                        <a:lumMod val="20000"/>
                        <a:lumOff val="80000"/>
                      </a:schemeClr>
                    </a:solidFill>
                  </a:tcPr>
                </a:tc>
                <a:tc>
                  <a:txBody>
                    <a:bodyPr/>
                    <a:lstStyle/>
                    <a:p>
                      <a:r>
                        <a:rPr lang="en-US" sz="1400" dirty="0">
                          <a:latin typeface="Georgia" panose="02040502050405020303" pitchFamily="18" charset="0"/>
                          <a:ea typeface="Cambria" panose="02040503050406030204" pitchFamily="18" charset="0"/>
                        </a:rPr>
                        <a:t>Passive DNS Log</a:t>
                      </a:r>
                    </a:p>
                    <a:p>
                      <a:r>
                        <a:rPr lang="en-US" sz="1400" dirty="0">
                          <a:latin typeface="Georgia" panose="02040502050405020303" pitchFamily="18" charset="0"/>
                          <a:ea typeface="Cambria" panose="02040503050406030204" pitchFamily="18" charset="0"/>
                        </a:rPr>
                        <a:t>DNS Server</a:t>
                      </a:r>
                      <a:endParaRPr lang="en-ID" sz="1400" dirty="0">
                        <a:latin typeface="Georgia" panose="02040502050405020303" pitchFamily="18" charset="0"/>
                        <a:ea typeface="Cambria" panose="02040503050406030204" pitchFamily="18" charset="0"/>
                      </a:endParaRPr>
                    </a:p>
                  </a:txBody>
                  <a:tcPr marL="87827" marR="87827" marT="43913" marB="43913">
                    <a:solidFill>
                      <a:schemeClr val="tx2">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72332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876E-7DF8-5D05-1E4C-EC43ABAD5736}"/>
              </a:ext>
            </a:extLst>
          </p:cNvPr>
          <p:cNvSpPr>
            <a:spLocks noGrp="1"/>
          </p:cNvSpPr>
          <p:nvPr>
            <p:ph type="title"/>
          </p:nvPr>
        </p:nvSpPr>
        <p:spPr/>
        <p:txBody>
          <a:bodyPr>
            <a:normAutofit/>
          </a:bodyPr>
          <a:lstStyle/>
          <a:p>
            <a:r>
              <a:rPr lang="en-US" dirty="0"/>
              <a:t>Log Sources – Security Control</a:t>
            </a:r>
            <a:endParaRPr lang="en-ID" dirty="0"/>
          </a:p>
        </p:txBody>
      </p:sp>
      <p:sp>
        <p:nvSpPr>
          <p:cNvPr id="3" name="Content Placeholder 2">
            <a:extLst>
              <a:ext uri="{FF2B5EF4-FFF2-40B4-BE49-F238E27FC236}">
                <a16:creationId xmlns:a16="http://schemas.microsoft.com/office/drawing/2014/main" id="{5E0B8CDE-73A7-BB4F-1DC2-E5BC6D15E3EF}"/>
              </a:ext>
            </a:extLst>
          </p:cNvPr>
          <p:cNvSpPr>
            <a:spLocks noGrp="1"/>
          </p:cNvSpPr>
          <p:nvPr>
            <p:ph idx="1"/>
          </p:nvPr>
        </p:nvSpPr>
        <p:spPr/>
        <p:txBody>
          <a:bodyPr>
            <a:normAutofit fontScale="55000" lnSpcReduction="20000"/>
          </a:bodyPr>
          <a:lstStyle/>
          <a:p>
            <a:pPr marL="0" indent="0">
              <a:buNone/>
            </a:pPr>
            <a:r>
              <a:rPr lang="en-ID" b="1" dirty="0"/>
              <a:t>Network - based Security Controls</a:t>
            </a:r>
          </a:p>
          <a:p>
            <a:r>
              <a:rPr lang="en-ID" dirty="0"/>
              <a:t>Intrusion Prevention Systems (IPS)</a:t>
            </a:r>
          </a:p>
          <a:p>
            <a:r>
              <a:rPr lang="en-ID" dirty="0"/>
              <a:t>Next Generation Firewalls (NGFW)</a:t>
            </a:r>
          </a:p>
          <a:p>
            <a:r>
              <a:rPr lang="en-ID" dirty="0"/>
              <a:t>Web Application Firewalls (WAF)</a:t>
            </a:r>
          </a:p>
          <a:p>
            <a:r>
              <a:rPr lang="en-ID" dirty="0"/>
              <a:t>Network Access Control (NAC) solutions</a:t>
            </a:r>
          </a:p>
          <a:p>
            <a:r>
              <a:rPr lang="en-ID" dirty="0"/>
              <a:t>Web and Email Security Gateways</a:t>
            </a:r>
          </a:p>
          <a:p>
            <a:endParaRPr lang="en-ID" dirty="0"/>
          </a:p>
          <a:p>
            <a:pPr marL="0" indent="0">
              <a:buNone/>
            </a:pPr>
            <a:r>
              <a:rPr lang="en-ID" b="1" dirty="0"/>
              <a:t>Host - based Security Controls</a:t>
            </a:r>
          </a:p>
          <a:p>
            <a:r>
              <a:rPr lang="en-ID" dirty="0"/>
              <a:t>Endpoint Detection and Response (EDR)</a:t>
            </a:r>
          </a:p>
          <a:p>
            <a:r>
              <a:rPr lang="en-ID" dirty="0"/>
              <a:t>Anti - malware Software</a:t>
            </a:r>
          </a:p>
          <a:p>
            <a:endParaRPr lang="en-ID" dirty="0"/>
          </a:p>
          <a:p>
            <a:pPr marL="0" indent="0">
              <a:buNone/>
            </a:pPr>
            <a:r>
              <a:rPr lang="en-ID" b="1" dirty="0"/>
              <a:t>Physical Security Controls</a:t>
            </a:r>
          </a:p>
          <a:p>
            <a:r>
              <a:rPr lang="en-ID" dirty="0"/>
              <a:t>Camera Systems</a:t>
            </a:r>
          </a:p>
          <a:p>
            <a:r>
              <a:rPr lang="en-ID" dirty="0"/>
              <a:t>Biometric/card access readers</a:t>
            </a:r>
          </a:p>
          <a:p>
            <a:r>
              <a:rPr lang="en-ID" dirty="0"/>
              <a:t>Alarm systems</a:t>
            </a:r>
          </a:p>
          <a:p>
            <a:pPr marL="0" indent="0">
              <a:buNone/>
            </a:pPr>
            <a:endParaRPr lang="en-ID" dirty="0"/>
          </a:p>
        </p:txBody>
      </p:sp>
      <p:sp>
        <p:nvSpPr>
          <p:cNvPr id="4" name="Rectangle: Rounded Corners 3">
            <a:extLst>
              <a:ext uri="{FF2B5EF4-FFF2-40B4-BE49-F238E27FC236}">
                <a16:creationId xmlns:a16="http://schemas.microsoft.com/office/drawing/2014/main" id="{BD763C8B-920D-F06E-D3C8-50A20ED1CB99}"/>
              </a:ext>
            </a:extLst>
          </p:cNvPr>
          <p:cNvSpPr/>
          <p:nvPr/>
        </p:nvSpPr>
        <p:spPr>
          <a:xfrm>
            <a:off x="7321216" y="1690688"/>
            <a:ext cx="4032584" cy="448627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Successful and failed connection attempts</a:t>
            </a:r>
          </a:p>
          <a:p>
            <a:pPr marL="285750" indent="-285750">
              <a:buFont typeface="Arial" panose="020B0604020202020204" pitchFamily="34" charset="0"/>
              <a:buChar char="•"/>
            </a:pPr>
            <a:r>
              <a:rPr lang="en-ID" dirty="0">
                <a:latin typeface="Georgia" panose="02040502050405020303" pitchFamily="18" charset="0"/>
              </a:rPr>
              <a:t>Connection states</a:t>
            </a:r>
          </a:p>
          <a:p>
            <a:pPr marL="285750" indent="-285750">
              <a:buFont typeface="Arial" panose="020B0604020202020204" pitchFamily="34" charset="0"/>
              <a:buChar char="•"/>
            </a:pPr>
            <a:r>
              <a:rPr lang="en-ID" dirty="0">
                <a:latin typeface="Georgia" panose="02040502050405020303" pitchFamily="18" charset="0"/>
              </a:rPr>
              <a:t>Suspicious requests</a:t>
            </a:r>
          </a:p>
          <a:p>
            <a:pPr marL="285750" indent="-285750">
              <a:buFont typeface="Arial" panose="020B0604020202020204" pitchFamily="34" charset="0"/>
              <a:buChar char="•"/>
            </a:pPr>
            <a:r>
              <a:rPr lang="en-ID" dirty="0">
                <a:latin typeface="Georgia" panose="02040502050405020303" pitchFamily="18" charset="0"/>
              </a:rPr>
              <a:t>Detected/prevented attacks</a:t>
            </a:r>
          </a:p>
          <a:p>
            <a:pPr marL="285750" indent="-285750">
              <a:buFont typeface="Arial" panose="020B0604020202020204" pitchFamily="34" charset="0"/>
              <a:buChar char="•"/>
            </a:pPr>
            <a:endParaRPr lang="en-ID" dirty="0">
              <a:latin typeface="Georgia" panose="02040502050405020303" pitchFamily="18" charset="0"/>
            </a:endParaRPr>
          </a:p>
          <a:p>
            <a:pPr marL="285750" indent="-285750">
              <a:buFont typeface="Arial" panose="020B0604020202020204" pitchFamily="34" charset="0"/>
              <a:buChar char="•"/>
            </a:pPr>
            <a:r>
              <a:rPr lang="en-ID" dirty="0">
                <a:latin typeface="Georgia" panose="02040502050405020303" pitchFamily="18" charset="0"/>
              </a:rPr>
              <a:t>Malware scan </a:t>
            </a:r>
            <a:r>
              <a:rPr lang="en-ID" dirty="0" err="1">
                <a:latin typeface="Georgia" panose="02040502050405020303" pitchFamily="18" charset="0"/>
              </a:rPr>
              <a:t>activites</a:t>
            </a:r>
            <a:endParaRPr lang="en-ID" dirty="0">
              <a:latin typeface="Georgia" panose="02040502050405020303" pitchFamily="18" charset="0"/>
            </a:endParaRPr>
          </a:p>
          <a:p>
            <a:pPr marL="285750" indent="-285750">
              <a:buFont typeface="Arial" panose="020B0604020202020204" pitchFamily="34" charset="0"/>
              <a:buChar char="•"/>
            </a:pPr>
            <a:r>
              <a:rPr lang="en-ID" dirty="0">
                <a:latin typeface="Georgia" panose="02040502050405020303" pitchFamily="18" charset="0"/>
              </a:rPr>
              <a:t>Missing software updates</a:t>
            </a:r>
          </a:p>
          <a:p>
            <a:pPr marL="285750" indent="-285750">
              <a:buFont typeface="Arial" panose="020B0604020202020204" pitchFamily="34" charset="0"/>
              <a:buChar char="•"/>
            </a:pPr>
            <a:r>
              <a:rPr lang="en-ID" dirty="0">
                <a:latin typeface="Georgia" panose="02040502050405020303" pitchFamily="18" charset="0"/>
              </a:rPr>
              <a:t>Suspicious activities</a:t>
            </a:r>
          </a:p>
          <a:p>
            <a:pPr marL="285750" indent="-285750">
              <a:buFont typeface="Arial" panose="020B0604020202020204" pitchFamily="34" charset="0"/>
              <a:buChar char="•"/>
            </a:pPr>
            <a:r>
              <a:rPr lang="en-ID" dirty="0">
                <a:latin typeface="Georgia" panose="02040502050405020303" pitchFamily="18" charset="0"/>
              </a:rPr>
              <a:t>Exploitation attempts</a:t>
            </a:r>
          </a:p>
          <a:p>
            <a:pPr marL="285750" indent="-285750">
              <a:buFont typeface="Arial" panose="020B0604020202020204" pitchFamily="34" charset="0"/>
              <a:buChar char="•"/>
            </a:pPr>
            <a:endParaRPr lang="en-ID" dirty="0">
              <a:latin typeface="Georgia" panose="02040502050405020303" pitchFamily="18" charset="0"/>
            </a:endParaRPr>
          </a:p>
          <a:p>
            <a:pPr marL="285750" indent="-285750">
              <a:buFont typeface="Arial" panose="020B0604020202020204" pitchFamily="34" charset="0"/>
              <a:buChar char="•"/>
            </a:pPr>
            <a:r>
              <a:rPr lang="en-ID" dirty="0">
                <a:latin typeface="Georgia" panose="02040502050405020303" pitchFamily="18" charset="0"/>
              </a:rPr>
              <a:t>Authorization events</a:t>
            </a:r>
          </a:p>
          <a:p>
            <a:pPr marL="285750" indent="-285750">
              <a:buFont typeface="Arial" panose="020B0604020202020204" pitchFamily="34" charset="0"/>
              <a:buChar char="•"/>
            </a:pPr>
            <a:r>
              <a:rPr lang="en-ID" dirty="0">
                <a:latin typeface="Georgia" panose="02040502050405020303" pitchFamily="18" charset="0"/>
              </a:rPr>
              <a:t>Alarm events</a:t>
            </a:r>
          </a:p>
        </p:txBody>
      </p:sp>
    </p:spTree>
    <p:extLst>
      <p:ext uri="{BB962C8B-B14F-4D97-AF65-F5344CB8AC3E}">
        <p14:creationId xmlns:p14="http://schemas.microsoft.com/office/powerpoint/2010/main" val="35489042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1F017-C18E-BB7B-CD2C-1D0E170FE593}"/>
              </a:ext>
            </a:extLst>
          </p:cNvPr>
          <p:cNvSpPr>
            <a:spLocks noGrp="1"/>
          </p:cNvSpPr>
          <p:nvPr>
            <p:ph type="title"/>
          </p:nvPr>
        </p:nvSpPr>
        <p:spPr/>
        <p:txBody>
          <a:bodyPr/>
          <a:lstStyle/>
          <a:p>
            <a:r>
              <a:rPr lang="en-ID" dirty="0"/>
              <a:t>Log Sources - Network Infrastructure</a:t>
            </a:r>
          </a:p>
        </p:txBody>
      </p:sp>
      <p:sp>
        <p:nvSpPr>
          <p:cNvPr id="3" name="Content Placeholder 2">
            <a:extLst>
              <a:ext uri="{FF2B5EF4-FFF2-40B4-BE49-F238E27FC236}">
                <a16:creationId xmlns:a16="http://schemas.microsoft.com/office/drawing/2014/main" id="{DC337BBD-08D9-632F-FE26-73FD8AED6E1E}"/>
              </a:ext>
            </a:extLst>
          </p:cNvPr>
          <p:cNvSpPr>
            <a:spLocks noGrp="1"/>
          </p:cNvSpPr>
          <p:nvPr>
            <p:ph idx="1"/>
          </p:nvPr>
        </p:nvSpPr>
        <p:spPr/>
        <p:txBody>
          <a:bodyPr/>
          <a:lstStyle/>
          <a:p>
            <a:r>
              <a:rPr lang="en-ID" b="1" dirty="0"/>
              <a:t>Network Infrastructure</a:t>
            </a:r>
          </a:p>
          <a:p>
            <a:pPr lvl="1"/>
            <a:r>
              <a:rPr lang="en-ID" dirty="0"/>
              <a:t>Routers</a:t>
            </a:r>
          </a:p>
          <a:p>
            <a:pPr lvl="1"/>
            <a:r>
              <a:rPr lang="en-ID" dirty="0"/>
              <a:t>Switches</a:t>
            </a:r>
          </a:p>
          <a:p>
            <a:pPr lvl="1"/>
            <a:r>
              <a:rPr lang="en-ID" dirty="0"/>
              <a:t>Wireless Access Points</a:t>
            </a:r>
          </a:p>
          <a:p>
            <a:pPr lvl="1"/>
            <a:r>
              <a:rPr lang="en-ID" dirty="0"/>
              <a:t>DNS server</a:t>
            </a:r>
          </a:p>
          <a:p>
            <a:pPr lvl="1"/>
            <a:r>
              <a:rPr lang="en-ID" dirty="0"/>
              <a:t>DHCP server</a:t>
            </a:r>
          </a:p>
          <a:p>
            <a:endParaRPr lang="en-ID" dirty="0"/>
          </a:p>
        </p:txBody>
      </p:sp>
      <p:pic>
        <p:nvPicPr>
          <p:cNvPr id="4" name="Picture 3">
            <a:extLst>
              <a:ext uri="{FF2B5EF4-FFF2-40B4-BE49-F238E27FC236}">
                <a16:creationId xmlns:a16="http://schemas.microsoft.com/office/drawing/2014/main" id="{83061199-85F9-6A26-53B5-AD47A379AA1A}"/>
              </a:ext>
            </a:extLst>
          </p:cNvPr>
          <p:cNvPicPr>
            <a:picLocks noChangeAspect="1"/>
          </p:cNvPicPr>
          <p:nvPr/>
        </p:nvPicPr>
        <p:blipFill>
          <a:blip r:embed="rId2"/>
          <a:stretch>
            <a:fillRect/>
          </a:stretch>
        </p:blipFill>
        <p:spPr>
          <a:xfrm>
            <a:off x="1551094" y="4239285"/>
            <a:ext cx="9089812" cy="1992405"/>
          </a:xfrm>
          <a:prstGeom prst="rect">
            <a:avLst/>
          </a:prstGeom>
        </p:spPr>
      </p:pic>
    </p:spTree>
    <p:extLst>
      <p:ext uri="{BB962C8B-B14F-4D97-AF65-F5344CB8AC3E}">
        <p14:creationId xmlns:p14="http://schemas.microsoft.com/office/powerpoint/2010/main" val="42400554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0AAB-B2A0-DEE3-5004-533B498C8431}"/>
              </a:ext>
            </a:extLst>
          </p:cNvPr>
          <p:cNvSpPr>
            <a:spLocks noGrp="1"/>
          </p:cNvSpPr>
          <p:nvPr>
            <p:ph type="title"/>
          </p:nvPr>
        </p:nvSpPr>
        <p:spPr/>
        <p:txBody>
          <a:bodyPr/>
          <a:lstStyle/>
          <a:p>
            <a:r>
              <a:rPr lang="en-ID" dirty="0"/>
              <a:t>Log Sources – Host Operating Systems</a:t>
            </a:r>
          </a:p>
        </p:txBody>
      </p:sp>
      <p:sp>
        <p:nvSpPr>
          <p:cNvPr id="3" name="Content Placeholder 2">
            <a:extLst>
              <a:ext uri="{FF2B5EF4-FFF2-40B4-BE49-F238E27FC236}">
                <a16:creationId xmlns:a16="http://schemas.microsoft.com/office/drawing/2014/main" id="{B344F29F-338B-AE77-6032-E0764DA7C7F7}"/>
              </a:ext>
            </a:extLst>
          </p:cNvPr>
          <p:cNvSpPr>
            <a:spLocks noGrp="1"/>
          </p:cNvSpPr>
          <p:nvPr>
            <p:ph idx="1"/>
          </p:nvPr>
        </p:nvSpPr>
        <p:spPr/>
        <p:txBody>
          <a:bodyPr/>
          <a:lstStyle/>
          <a:p>
            <a:r>
              <a:rPr lang="en-US" sz="2000" b="1" dirty="0"/>
              <a:t>System Events</a:t>
            </a:r>
          </a:p>
          <a:p>
            <a:pPr lvl="1"/>
            <a:r>
              <a:rPr lang="en-US" sz="1800" dirty="0" err="1"/>
              <a:t>Servise</a:t>
            </a:r>
            <a:r>
              <a:rPr lang="en-US" sz="1800" dirty="0"/>
              <a:t> starts and stops</a:t>
            </a:r>
          </a:p>
          <a:p>
            <a:pPr lvl="1"/>
            <a:r>
              <a:rPr lang="en-US" sz="1800" dirty="0"/>
              <a:t>System startup and shutdown</a:t>
            </a:r>
          </a:p>
          <a:p>
            <a:r>
              <a:rPr lang="en-US" sz="2000" b="1" dirty="0"/>
              <a:t>Audit Records</a:t>
            </a:r>
          </a:p>
          <a:p>
            <a:pPr lvl="1"/>
            <a:r>
              <a:rPr lang="en-US" sz="1800" dirty="0"/>
              <a:t>Authentication attempts</a:t>
            </a:r>
          </a:p>
          <a:p>
            <a:pPr lvl="1"/>
            <a:r>
              <a:rPr lang="en-US" sz="1800" dirty="0"/>
              <a:t>Security policy changes</a:t>
            </a:r>
          </a:p>
          <a:p>
            <a:pPr lvl="1"/>
            <a:r>
              <a:rPr lang="en-US" sz="1800" dirty="0"/>
              <a:t>Account changes</a:t>
            </a:r>
          </a:p>
          <a:p>
            <a:pPr lvl="1"/>
            <a:r>
              <a:rPr lang="en-US" sz="1800" dirty="0"/>
              <a:t>Permission and privilege changes</a:t>
            </a:r>
          </a:p>
          <a:p>
            <a:pPr lvl="1"/>
            <a:r>
              <a:rPr lang="en-US" sz="1800" dirty="0"/>
              <a:t>Use of privileges</a:t>
            </a:r>
          </a:p>
          <a:p>
            <a:pPr lvl="1"/>
            <a:r>
              <a:rPr lang="en-US" sz="1800" dirty="0"/>
              <a:t>File accesses</a:t>
            </a:r>
            <a:endParaRPr lang="en-ID" sz="1800" dirty="0"/>
          </a:p>
          <a:p>
            <a:endParaRPr lang="en-ID" dirty="0"/>
          </a:p>
        </p:txBody>
      </p:sp>
      <p:pic>
        <p:nvPicPr>
          <p:cNvPr id="4" name="Picture 3">
            <a:extLst>
              <a:ext uri="{FF2B5EF4-FFF2-40B4-BE49-F238E27FC236}">
                <a16:creationId xmlns:a16="http://schemas.microsoft.com/office/drawing/2014/main" id="{7EFCA370-AFBF-FCBE-0DF5-086AC54EF886}"/>
              </a:ext>
            </a:extLst>
          </p:cNvPr>
          <p:cNvPicPr>
            <a:picLocks noChangeAspect="1"/>
          </p:cNvPicPr>
          <p:nvPr/>
        </p:nvPicPr>
        <p:blipFill>
          <a:blip r:embed="rId2"/>
          <a:stretch>
            <a:fillRect/>
          </a:stretch>
        </p:blipFill>
        <p:spPr>
          <a:xfrm>
            <a:off x="5424845" y="1825625"/>
            <a:ext cx="4896926" cy="3706277"/>
          </a:xfrm>
          <a:prstGeom prst="rect">
            <a:avLst/>
          </a:prstGeom>
        </p:spPr>
      </p:pic>
      <p:pic>
        <p:nvPicPr>
          <p:cNvPr id="5" name="Picture 4">
            <a:extLst>
              <a:ext uri="{FF2B5EF4-FFF2-40B4-BE49-F238E27FC236}">
                <a16:creationId xmlns:a16="http://schemas.microsoft.com/office/drawing/2014/main" id="{3A5652F4-6B47-FB18-6D35-CA920BABAD10}"/>
              </a:ext>
            </a:extLst>
          </p:cNvPr>
          <p:cNvPicPr>
            <a:picLocks noChangeAspect="1"/>
          </p:cNvPicPr>
          <p:nvPr/>
        </p:nvPicPr>
        <p:blipFill>
          <a:blip r:embed="rId3"/>
          <a:stretch>
            <a:fillRect/>
          </a:stretch>
        </p:blipFill>
        <p:spPr>
          <a:xfrm>
            <a:off x="1870229" y="5756461"/>
            <a:ext cx="8451542" cy="563436"/>
          </a:xfrm>
          <a:prstGeom prst="rect">
            <a:avLst/>
          </a:prstGeom>
        </p:spPr>
      </p:pic>
    </p:spTree>
    <p:extLst>
      <p:ext uri="{BB962C8B-B14F-4D97-AF65-F5344CB8AC3E}">
        <p14:creationId xmlns:p14="http://schemas.microsoft.com/office/powerpoint/2010/main" val="18433077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B13AC-C995-7496-CE6A-CDED56A270F0}"/>
              </a:ext>
            </a:extLst>
          </p:cNvPr>
          <p:cNvSpPr>
            <a:spLocks noGrp="1"/>
          </p:cNvSpPr>
          <p:nvPr>
            <p:ph type="title"/>
          </p:nvPr>
        </p:nvSpPr>
        <p:spPr/>
        <p:txBody>
          <a:bodyPr/>
          <a:lstStyle/>
          <a:p>
            <a:r>
              <a:rPr lang="en-US" dirty="0"/>
              <a:t>Log Sources - Applications</a:t>
            </a:r>
            <a:endParaRPr lang="en-ID" dirty="0"/>
          </a:p>
        </p:txBody>
      </p:sp>
      <p:sp>
        <p:nvSpPr>
          <p:cNvPr id="3" name="Content Placeholder 2">
            <a:extLst>
              <a:ext uri="{FF2B5EF4-FFF2-40B4-BE49-F238E27FC236}">
                <a16:creationId xmlns:a16="http://schemas.microsoft.com/office/drawing/2014/main" id="{E2665590-8C3A-3FBD-4D52-C1BCC8DBF219}"/>
              </a:ext>
            </a:extLst>
          </p:cNvPr>
          <p:cNvSpPr>
            <a:spLocks noGrp="1"/>
          </p:cNvSpPr>
          <p:nvPr>
            <p:ph idx="1"/>
          </p:nvPr>
        </p:nvSpPr>
        <p:spPr/>
        <p:txBody>
          <a:bodyPr/>
          <a:lstStyle/>
          <a:p>
            <a:r>
              <a:rPr lang="en-US" sz="2000" dirty="0"/>
              <a:t>Email servers and clients</a:t>
            </a:r>
          </a:p>
          <a:p>
            <a:r>
              <a:rPr lang="en-US" sz="2000" dirty="0"/>
              <a:t>Database servers and clients</a:t>
            </a:r>
          </a:p>
          <a:p>
            <a:r>
              <a:rPr lang="en-US" sz="2000" dirty="0"/>
              <a:t>File servers and clients</a:t>
            </a:r>
          </a:p>
          <a:p>
            <a:r>
              <a:rPr lang="en-US" sz="2000" dirty="0"/>
              <a:t>Web servers and browsers</a:t>
            </a:r>
          </a:p>
          <a:p>
            <a:r>
              <a:rPr lang="en-US" sz="2000" dirty="0"/>
              <a:t>COTS applications :</a:t>
            </a:r>
          </a:p>
          <a:p>
            <a:pPr lvl="1"/>
            <a:r>
              <a:rPr lang="en-US" sz="2000" dirty="0"/>
              <a:t>Supply Chain Management (SCM)</a:t>
            </a:r>
          </a:p>
          <a:p>
            <a:pPr lvl="1"/>
            <a:r>
              <a:rPr lang="en-US" sz="2000" dirty="0"/>
              <a:t>Customer Relationship Management (CRM)</a:t>
            </a:r>
          </a:p>
          <a:p>
            <a:pPr lvl="1"/>
            <a:r>
              <a:rPr lang="en-US" sz="2000" dirty="0"/>
              <a:t>Enterprise Resource Planning (ERP)</a:t>
            </a:r>
          </a:p>
          <a:p>
            <a:pPr lvl="1"/>
            <a:r>
              <a:rPr lang="en-US" sz="2000" dirty="0"/>
              <a:t>Financial Management</a:t>
            </a:r>
          </a:p>
          <a:p>
            <a:r>
              <a:rPr lang="en-US" sz="2000" dirty="0"/>
              <a:t>Custom -  developed applications</a:t>
            </a:r>
          </a:p>
          <a:p>
            <a:pPr marL="0" indent="0">
              <a:buNone/>
            </a:pPr>
            <a:endParaRPr lang="en-ID" sz="2000" dirty="0"/>
          </a:p>
        </p:txBody>
      </p:sp>
      <p:pic>
        <p:nvPicPr>
          <p:cNvPr id="4" name="Picture 3">
            <a:extLst>
              <a:ext uri="{FF2B5EF4-FFF2-40B4-BE49-F238E27FC236}">
                <a16:creationId xmlns:a16="http://schemas.microsoft.com/office/drawing/2014/main" id="{67C0584F-7BE9-95C5-6E22-F9C3F087E29B}"/>
              </a:ext>
            </a:extLst>
          </p:cNvPr>
          <p:cNvPicPr>
            <a:picLocks noChangeAspect="1"/>
          </p:cNvPicPr>
          <p:nvPr/>
        </p:nvPicPr>
        <p:blipFill>
          <a:blip r:embed="rId3"/>
          <a:stretch>
            <a:fillRect/>
          </a:stretch>
        </p:blipFill>
        <p:spPr>
          <a:xfrm>
            <a:off x="5000315" y="5113646"/>
            <a:ext cx="6225148" cy="1063317"/>
          </a:xfrm>
          <a:prstGeom prst="rect">
            <a:avLst/>
          </a:prstGeom>
        </p:spPr>
      </p:pic>
      <p:sp>
        <p:nvSpPr>
          <p:cNvPr id="5" name="Rectangle: Rounded Corners 4">
            <a:extLst>
              <a:ext uri="{FF2B5EF4-FFF2-40B4-BE49-F238E27FC236}">
                <a16:creationId xmlns:a16="http://schemas.microsoft.com/office/drawing/2014/main" id="{637822E5-0271-399E-0EE8-89657F6825E9}"/>
              </a:ext>
            </a:extLst>
          </p:cNvPr>
          <p:cNvSpPr/>
          <p:nvPr/>
        </p:nvSpPr>
        <p:spPr>
          <a:xfrm>
            <a:off x="7321216" y="1690689"/>
            <a:ext cx="3904247" cy="3073816"/>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Account changes</a:t>
            </a:r>
          </a:p>
          <a:p>
            <a:pPr marL="285750" indent="-285750">
              <a:buFont typeface="Arial" panose="020B0604020202020204" pitchFamily="34" charset="0"/>
              <a:buChar char="•"/>
            </a:pPr>
            <a:r>
              <a:rPr lang="en-US" dirty="0">
                <a:latin typeface="Georgia" panose="02040502050405020303" pitchFamily="18" charset="0"/>
              </a:rPr>
              <a:t>User authentication attempts</a:t>
            </a:r>
          </a:p>
          <a:p>
            <a:pPr marL="285750" indent="-285750">
              <a:buFont typeface="Arial" panose="020B0604020202020204" pitchFamily="34" charset="0"/>
              <a:buChar char="•"/>
            </a:pPr>
            <a:r>
              <a:rPr lang="en-US" dirty="0">
                <a:latin typeface="Georgia" panose="02040502050405020303" pitchFamily="18" charset="0"/>
              </a:rPr>
              <a:t>Startup and shutdown</a:t>
            </a:r>
          </a:p>
          <a:p>
            <a:pPr marL="285750" indent="-285750">
              <a:buFont typeface="Arial" panose="020B0604020202020204" pitchFamily="34" charset="0"/>
              <a:buChar char="•"/>
            </a:pPr>
            <a:r>
              <a:rPr lang="en-US" dirty="0">
                <a:latin typeface="Georgia" panose="02040502050405020303" pitchFamily="18" charset="0"/>
              </a:rPr>
              <a:t>Use of privileges</a:t>
            </a:r>
          </a:p>
          <a:p>
            <a:pPr marL="285750" indent="-285750">
              <a:buFont typeface="Arial" panose="020B0604020202020204" pitchFamily="34" charset="0"/>
              <a:buChar char="•"/>
            </a:pPr>
            <a:r>
              <a:rPr lang="en-US" dirty="0">
                <a:latin typeface="Georgia" panose="02040502050405020303" pitchFamily="18" charset="0"/>
              </a:rPr>
              <a:t>Configuration changes</a:t>
            </a:r>
          </a:p>
          <a:p>
            <a:pPr marL="285750" indent="-285750">
              <a:buFont typeface="Arial" panose="020B0604020202020204" pitchFamily="34" charset="0"/>
              <a:buChar char="•"/>
            </a:pPr>
            <a:r>
              <a:rPr lang="en-US" dirty="0">
                <a:latin typeface="Georgia" panose="02040502050405020303" pitchFamily="18" charset="0"/>
              </a:rPr>
              <a:t>Application failures</a:t>
            </a:r>
          </a:p>
          <a:p>
            <a:pPr marL="285750" indent="-285750">
              <a:buFont typeface="Arial" panose="020B0604020202020204" pitchFamily="34" charset="0"/>
              <a:buChar char="•"/>
            </a:pPr>
            <a:r>
              <a:rPr lang="en-US" dirty="0">
                <a:latin typeface="Georgia" panose="02040502050405020303" pitchFamily="18" charset="0"/>
              </a:rPr>
              <a:t>Client requests and server responses</a:t>
            </a:r>
            <a:endParaRPr lang="en-ID" dirty="0">
              <a:latin typeface="Georgia" panose="02040502050405020303" pitchFamily="18" charset="0"/>
            </a:endParaRPr>
          </a:p>
        </p:txBody>
      </p:sp>
    </p:spTree>
    <p:extLst>
      <p:ext uri="{BB962C8B-B14F-4D97-AF65-F5344CB8AC3E}">
        <p14:creationId xmlns:p14="http://schemas.microsoft.com/office/powerpoint/2010/main" val="802917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F50903-BB63-2F42-9621-DBC94D677D4F}"/>
              </a:ext>
            </a:extLst>
          </p:cNvPr>
          <p:cNvSpPr>
            <a:spLocks noGrp="1"/>
          </p:cNvSpPr>
          <p:nvPr>
            <p:ph type="title"/>
          </p:nvPr>
        </p:nvSpPr>
        <p:spPr/>
        <p:txBody>
          <a:bodyPr/>
          <a:lstStyle/>
          <a:p>
            <a:r>
              <a:rPr lang="en-GB" b="1" dirty="0"/>
              <a:t>Prioritization of Log Sources</a:t>
            </a:r>
            <a:endParaRPr lang="en-ID" b="1" dirty="0"/>
          </a:p>
        </p:txBody>
      </p:sp>
      <p:sp>
        <p:nvSpPr>
          <p:cNvPr id="5" name="Text Placeholder 4">
            <a:extLst>
              <a:ext uri="{FF2B5EF4-FFF2-40B4-BE49-F238E27FC236}">
                <a16:creationId xmlns:a16="http://schemas.microsoft.com/office/drawing/2014/main" id="{594BD015-A9E8-107B-B767-1651FDF333C7}"/>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5734630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2F1BB-4B02-B735-6D9C-242FF81DF410}"/>
              </a:ext>
            </a:extLst>
          </p:cNvPr>
          <p:cNvSpPr>
            <a:spLocks noGrp="1"/>
          </p:cNvSpPr>
          <p:nvPr>
            <p:ph type="title"/>
          </p:nvPr>
        </p:nvSpPr>
        <p:spPr/>
        <p:txBody>
          <a:bodyPr/>
          <a:lstStyle/>
          <a:p>
            <a:r>
              <a:rPr lang="en-US" dirty="0"/>
              <a:t>Deciding Log Sources and Details</a:t>
            </a:r>
            <a:endParaRPr lang="en-ID" dirty="0"/>
          </a:p>
        </p:txBody>
      </p:sp>
      <p:sp>
        <p:nvSpPr>
          <p:cNvPr id="4" name="Speech Bubble: Rectangle 3">
            <a:extLst>
              <a:ext uri="{FF2B5EF4-FFF2-40B4-BE49-F238E27FC236}">
                <a16:creationId xmlns:a16="http://schemas.microsoft.com/office/drawing/2014/main" id="{89E842AB-E6CD-D4DD-860D-FBB743934651}"/>
              </a:ext>
            </a:extLst>
          </p:cNvPr>
          <p:cNvSpPr/>
          <p:nvPr/>
        </p:nvSpPr>
        <p:spPr>
          <a:xfrm>
            <a:off x="176463" y="1690688"/>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What log sources?</a:t>
            </a:r>
            <a:endParaRPr lang="en-ID" b="1" dirty="0">
              <a:solidFill>
                <a:schemeClr val="tx1"/>
              </a:solidFill>
              <a:latin typeface="Georgia" panose="02040502050405020303" pitchFamily="18" charset="0"/>
            </a:endParaRPr>
          </a:p>
        </p:txBody>
      </p:sp>
      <p:sp>
        <p:nvSpPr>
          <p:cNvPr id="5" name="Speech Bubble: Rectangle 4">
            <a:extLst>
              <a:ext uri="{FF2B5EF4-FFF2-40B4-BE49-F238E27FC236}">
                <a16:creationId xmlns:a16="http://schemas.microsoft.com/office/drawing/2014/main" id="{5B922C99-6B06-A354-41BF-CC5A49421E0F}"/>
              </a:ext>
            </a:extLst>
          </p:cNvPr>
          <p:cNvSpPr/>
          <p:nvPr/>
        </p:nvSpPr>
        <p:spPr>
          <a:xfrm>
            <a:off x="4499810" y="1690688"/>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What type of event types from the identified sources?</a:t>
            </a:r>
            <a:endParaRPr lang="en-ID" b="1" dirty="0">
              <a:solidFill>
                <a:schemeClr val="tx1"/>
              </a:solidFill>
              <a:latin typeface="Georgia" panose="02040502050405020303" pitchFamily="18" charset="0"/>
            </a:endParaRPr>
          </a:p>
        </p:txBody>
      </p:sp>
      <p:sp>
        <p:nvSpPr>
          <p:cNvPr id="6" name="Speech Bubble: Rectangle 5">
            <a:extLst>
              <a:ext uri="{FF2B5EF4-FFF2-40B4-BE49-F238E27FC236}">
                <a16:creationId xmlns:a16="http://schemas.microsoft.com/office/drawing/2014/main" id="{5D432574-8F36-B921-7890-B6815C98CAE0}"/>
              </a:ext>
            </a:extLst>
          </p:cNvPr>
          <p:cNvSpPr/>
          <p:nvPr/>
        </p:nvSpPr>
        <p:spPr>
          <a:xfrm>
            <a:off x="8823157" y="1690688"/>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What event attributes of the identified event types?</a:t>
            </a:r>
            <a:endParaRPr lang="en-ID" b="1" dirty="0">
              <a:solidFill>
                <a:schemeClr val="tx1"/>
              </a:solidFill>
              <a:latin typeface="Georgia" panose="02040502050405020303" pitchFamily="18" charset="0"/>
            </a:endParaRPr>
          </a:p>
        </p:txBody>
      </p:sp>
      <p:sp>
        <p:nvSpPr>
          <p:cNvPr id="7" name="Arrow: Right 6">
            <a:extLst>
              <a:ext uri="{FF2B5EF4-FFF2-40B4-BE49-F238E27FC236}">
                <a16:creationId xmlns:a16="http://schemas.microsoft.com/office/drawing/2014/main" id="{7618C5BC-559E-30D4-517C-71DCFE27D94A}"/>
              </a:ext>
            </a:extLst>
          </p:cNvPr>
          <p:cNvSpPr/>
          <p:nvPr/>
        </p:nvSpPr>
        <p:spPr>
          <a:xfrm>
            <a:off x="3437021" y="2001754"/>
            <a:ext cx="657726" cy="178217"/>
          </a:xfrm>
          <a:prstGeom prst="rightArrow">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Arrow: Right 7">
            <a:extLst>
              <a:ext uri="{FF2B5EF4-FFF2-40B4-BE49-F238E27FC236}">
                <a16:creationId xmlns:a16="http://schemas.microsoft.com/office/drawing/2014/main" id="{5DF2EFE0-1645-ED42-6A12-1FBF3972033E}"/>
              </a:ext>
            </a:extLst>
          </p:cNvPr>
          <p:cNvSpPr/>
          <p:nvPr/>
        </p:nvSpPr>
        <p:spPr>
          <a:xfrm>
            <a:off x="7760368" y="2001753"/>
            <a:ext cx="657726" cy="178217"/>
          </a:xfrm>
          <a:prstGeom prst="rightArrow">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Rounded Corners 8">
            <a:extLst>
              <a:ext uri="{FF2B5EF4-FFF2-40B4-BE49-F238E27FC236}">
                <a16:creationId xmlns:a16="http://schemas.microsoft.com/office/drawing/2014/main" id="{C051D368-E6BA-2F9E-27E5-F34EF919D6D0}"/>
              </a:ext>
            </a:extLst>
          </p:cNvPr>
          <p:cNvSpPr/>
          <p:nvPr/>
        </p:nvSpPr>
        <p:spPr>
          <a:xfrm>
            <a:off x="176462" y="3016250"/>
            <a:ext cx="2855496" cy="320215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Security Controls</a:t>
            </a:r>
          </a:p>
          <a:p>
            <a:pPr marL="285750" indent="-285750">
              <a:buFont typeface="Arial" panose="020B0604020202020204" pitchFamily="34" charset="0"/>
              <a:buChar char="•"/>
            </a:pPr>
            <a:r>
              <a:rPr lang="en-US" sz="1600" dirty="0">
                <a:latin typeface="Georgia" panose="02040502050405020303" pitchFamily="18" charset="0"/>
              </a:rPr>
              <a:t>Network &amp; Physical Infrastructure</a:t>
            </a:r>
          </a:p>
          <a:p>
            <a:pPr marL="285750" indent="-285750">
              <a:buFont typeface="Arial" panose="020B0604020202020204" pitchFamily="34" charset="0"/>
              <a:buChar char="•"/>
            </a:pPr>
            <a:r>
              <a:rPr lang="en-US" sz="1600" dirty="0">
                <a:latin typeface="Georgia" panose="02040502050405020303" pitchFamily="18" charset="0"/>
              </a:rPr>
              <a:t>Operating Systems</a:t>
            </a:r>
          </a:p>
          <a:p>
            <a:pPr marL="285750" indent="-285750">
              <a:buFont typeface="Arial" panose="020B0604020202020204" pitchFamily="34" charset="0"/>
              <a:buChar char="•"/>
            </a:pPr>
            <a:r>
              <a:rPr lang="en-US" sz="1600" dirty="0">
                <a:latin typeface="Georgia" panose="02040502050405020303" pitchFamily="18" charset="0"/>
              </a:rPr>
              <a:t>Applications</a:t>
            </a:r>
            <a:endParaRPr lang="en-ID" sz="1600" dirty="0">
              <a:latin typeface="Georgia" panose="02040502050405020303" pitchFamily="18" charset="0"/>
            </a:endParaRPr>
          </a:p>
        </p:txBody>
      </p:sp>
      <p:sp>
        <p:nvSpPr>
          <p:cNvPr id="10" name="Rectangle: Rounded Corners 9">
            <a:extLst>
              <a:ext uri="{FF2B5EF4-FFF2-40B4-BE49-F238E27FC236}">
                <a16:creationId xmlns:a16="http://schemas.microsoft.com/office/drawing/2014/main" id="{189787A8-D49C-7687-9533-860BAB49DE0D}"/>
              </a:ext>
            </a:extLst>
          </p:cNvPr>
          <p:cNvSpPr/>
          <p:nvPr/>
        </p:nvSpPr>
        <p:spPr>
          <a:xfrm>
            <a:off x="4193003" y="3016250"/>
            <a:ext cx="3469107" cy="3202153"/>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Successful and failed connection attempts</a:t>
            </a:r>
          </a:p>
          <a:p>
            <a:pPr marL="285750" indent="-285750">
              <a:buFont typeface="Arial" panose="020B0604020202020204" pitchFamily="34" charset="0"/>
              <a:buChar char="•"/>
            </a:pPr>
            <a:r>
              <a:rPr lang="en-US" sz="1600" dirty="0">
                <a:latin typeface="Georgia" panose="02040502050405020303" pitchFamily="18" charset="0"/>
              </a:rPr>
              <a:t>Authentication attempts</a:t>
            </a:r>
          </a:p>
          <a:p>
            <a:pPr marL="285750" indent="-285750">
              <a:buFont typeface="Arial" panose="020B0604020202020204" pitchFamily="34" charset="0"/>
              <a:buChar char="•"/>
            </a:pPr>
            <a:r>
              <a:rPr lang="en-US" sz="1600" dirty="0">
                <a:latin typeface="Georgia" panose="02040502050405020303" pitchFamily="18" charset="0"/>
              </a:rPr>
              <a:t>Connection states</a:t>
            </a:r>
          </a:p>
          <a:p>
            <a:pPr marL="285750" indent="-285750">
              <a:buFont typeface="Arial" panose="020B0604020202020204" pitchFamily="34" charset="0"/>
              <a:buChar char="•"/>
            </a:pPr>
            <a:r>
              <a:rPr lang="en-US" sz="1600" dirty="0">
                <a:latin typeface="Georgia" panose="02040502050405020303" pitchFamily="18" charset="0"/>
              </a:rPr>
              <a:t>Suspicious behavior</a:t>
            </a:r>
          </a:p>
          <a:p>
            <a:pPr marL="285750" indent="-285750">
              <a:buFont typeface="Arial" panose="020B0604020202020204" pitchFamily="34" charset="0"/>
              <a:buChar char="•"/>
            </a:pPr>
            <a:r>
              <a:rPr lang="en-US" sz="1600" dirty="0">
                <a:latin typeface="Georgia" panose="02040502050405020303" pitchFamily="18" charset="0"/>
              </a:rPr>
              <a:t>Account changes</a:t>
            </a:r>
          </a:p>
          <a:p>
            <a:pPr marL="285750" indent="-285750">
              <a:buFont typeface="Arial" panose="020B0604020202020204" pitchFamily="34" charset="0"/>
              <a:buChar char="•"/>
            </a:pPr>
            <a:r>
              <a:rPr lang="en-US" sz="1600" dirty="0">
                <a:latin typeface="Georgia" panose="02040502050405020303" pitchFamily="18" charset="0"/>
              </a:rPr>
              <a:t>User authentication attempts</a:t>
            </a:r>
          </a:p>
          <a:p>
            <a:pPr marL="285750" indent="-285750">
              <a:buFont typeface="Arial" panose="020B0604020202020204" pitchFamily="34" charset="0"/>
              <a:buChar char="•"/>
            </a:pPr>
            <a:r>
              <a:rPr lang="en-US" sz="1600" dirty="0">
                <a:latin typeface="Georgia" panose="02040502050405020303" pitchFamily="18" charset="0"/>
              </a:rPr>
              <a:t>Startup and shutdown</a:t>
            </a:r>
          </a:p>
          <a:p>
            <a:pPr marL="285750" indent="-285750">
              <a:buFont typeface="Arial" panose="020B0604020202020204" pitchFamily="34" charset="0"/>
              <a:buChar char="•"/>
            </a:pPr>
            <a:r>
              <a:rPr lang="en-US" sz="1600" dirty="0">
                <a:latin typeface="Georgia" panose="02040502050405020303" pitchFamily="18" charset="0"/>
              </a:rPr>
              <a:t>Use of privileges</a:t>
            </a:r>
          </a:p>
          <a:p>
            <a:pPr marL="285750" indent="-285750">
              <a:buFont typeface="Arial" panose="020B0604020202020204" pitchFamily="34" charset="0"/>
              <a:buChar char="•"/>
            </a:pPr>
            <a:r>
              <a:rPr lang="en-US" sz="1600" dirty="0">
                <a:latin typeface="Georgia" panose="02040502050405020303" pitchFamily="18" charset="0"/>
              </a:rPr>
              <a:t>Configuration changes</a:t>
            </a:r>
            <a:endParaRPr lang="en-ID" sz="1600" dirty="0">
              <a:latin typeface="Georgia" panose="02040502050405020303" pitchFamily="18" charset="0"/>
            </a:endParaRPr>
          </a:p>
        </p:txBody>
      </p:sp>
      <p:sp>
        <p:nvSpPr>
          <p:cNvPr id="11" name="Rectangle: Rounded Corners 10">
            <a:extLst>
              <a:ext uri="{FF2B5EF4-FFF2-40B4-BE49-F238E27FC236}">
                <a16:creationId xmlns:a16="http://schemas.microsoft.com/office/drawing/2014/main" id="{4D58E132-8D21-E36E-C22B-06D0DE763745}"/>
              </a:ext>
            </a:extLst>
          </p:cNvPr>
          <p:cNvSpPr/>
          <p:nvPr/>
        </p:nvSpPr>
        <p:spPr>
          <a:xfrm>
            <a:off x="8546431" y="3016250"/>
            <a:ext cx="3469107" cy="3202153"/>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Event date and time (timestamps)</a:t>
            </a:r>
          </a:p>
          <a:p>
            <a:pPr marL="285750" indent="-285750">
              <a:buFont typeface="Arial" panose="020B0604020202020204" pitchFamily="34" charset="0"/>
              <a:buChar char="•"/>
            </a:pPr>
            <a:r>
              <a:rPr lang="en-US" sz="1600" dirty="0">
                <a:latin typeface="Georgia" panose="02040502050405020303" pitchFamily="18" charset="0"/>
              </a:rPr>
              <a:t>Event status</a:t>
            </a:r>
          </a:p>
          <a:p>
            <a:pPr marL="285750" indent="-285750">
              <a:buFont typeface="Arial" panose="020B0604020202020204" pitchFamily="34" charset="0"/>
              <a:buChar char="•"/>
            </a:pPr>
            <a:r>
              <a:rPr lang="en-US" sz="1600" dirty="0">
                <a:latin typeface="Georgia" panose="02040502050405020303" pitchFamily="18" charset="0"/>
              </a:rPr>
              <a:t>Service/command/application name</a:t>
            </a:r>
          </a:p>
          <a:p>
            <a:pPr marL="285750" indent="-285750">
              <a:buFont typeface="Arial" panose="020B0604020202020204" pitchFamily="34" charset="0"/>
              <a:buChar char="•"/>
            </a:pPr>
            <a:r>
              <a:rPr lang="en-US" sz="1600" dirty="0">
                <a:latin typeface="Georgia" panose="02040502050405020303" pitchFamily="18" charset="0"/>
              </a:rPr>
              <a:t>User or system account</a:t>
            </a:r>
          </a:p>
          <a:p>
            <a:pPr marL="285750" indent="-285750">
              <a:buFont typeface="Arial" panose="020B0604020202020204" pitchFamily="34" charset="0"/>
              <a:buChar char="•"/>
            </a:pPr>
            <a:r>
              <a:rPr lang="en-US" sz="1600" dirty="0">
                <a:latin typeface="Georgia" panose="02040502050405020303" pitchFamily="18" charset="0"/>
              </a:rPr>
              <a:t>Protocol</a:t>
            </a:r>
          </a:p>
          <a:p>
            <a:pPr marL="285750" indent="-285750">
              <a:buFont typeface="Arial" panose="020B0604020202020204" pitchFamily="34" charset="0"/>
              <a:buChar char="•"/>
            </a:pPr>
            <a:r>
              <a:rPr lang="en-US" sz="1600" dirty="0">
                <a:latin typeface="Georgia" panose="02040502050405020303" pitchFamily="18" charset="0"/>
              </a:rPr>
              <a:t>Source IP, destination IP</a:t>
            </a:r>
          </a:p>
          <a:p>
            <a:pPr marL="285750" indent="-285750">
              <a:buFont typeface="Arial" panose="020B0604020202020204" pitchFamily="34" charset="0"/>
              <a:buChar char="•"/>
            </a:pPr>
            <a:r>
              <a:rPr lang="en-US" sz="1600" dirty="0">
                <a:latin typeface="Georgia" panose="02040502050405020303" pitchFamily="18" charset="0"/>
              </a:rPr>
              <a:t>Source port, destination port</a:t>
            </a:r>
          </a:p>
          <a:p>
            <a:pPr marL="285750" indent="-285750">
              <a:buFont typeface="Arial" panose="020B0604020202020204" pitchFamily="34" charset="0"/>
              <a:buChar char="•"/>
            </a:pPr>
            <a:r>
              <a:rPr lang="en-US" sz="1600" dirty="0">
                <a:latin typeface="Georgia" panose="02040502050405020303" pitchFamily="18" charset="0"/>
              </a:rPr>
              <a:t>URL</a:t>
            </a:r>
          </a:p>
          <a:p>
            <a:pPr marL="285750" indent="-285750">
              <a:buFont typeface="Arial" panose="020B0604020202020204" pitchFamily="34" charset="0"/>
              <a:buChar char="•"/>
            </a:pPr>
            <a:r>
              <a:rPr lang="en-US" sz="1600" dirty="0">
                <a:latin typeface="Georgia" panose="02040502050405020303" pitchFamily="18" charset="0"/>
              </a:rPr>
              <a:t>Event type</a:t>
            </a:r>
            <a:endParaRPr lang="en-ID" sz="1600" dirty="0">
              <a:latin typeface="Georgia" panose="02040502050405020303" pitchFamily="18" charset="0"/>
            </a:endParaRPr>
          </a:p>
        </p:txBody>
      </p:sp>
    </p:spTree>
    <p:extLst>
      <p:ext uri="{BB962C8B-B14F-4D97-AF65-F5344CB8AC3E}">
        <p14:creationId xmlns:p14="http://schemas.microsoft.com/office/powerpoint/2010/main" val="9173418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C852-763E-5D77-4400-9779C2963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AF0AC-76D1-3221-62B1-D7F60BC06386}"/>
              </a:ext>
            </a:extLst>
          </p:cNvPr>
          <p:cNvSpPr>
            <a:spLocks noGrp="1"/>
          </p:cNvSpPr>
          <p:nvPr>
            <p:ph type="title"/>
          </p:nvPr>
        </p:nvSpPr>
        <p:spPr/>
        <p:txBody>
          <a:bodyPr/>
          <a:lstStyle/>
          <a:p>
            <a:r>
              <a:rPr lang="en-US" dirty="0"/>
              <a:t>Good Log Data - Quality and Performances Factors</a:t>
            </a:r>
            <a:endParaRPr lang="en-ID" dirty="0"/>
          </a:p>
        </p:txBody>
      </p:sp>
      <p:sp>
        <p:nvSpPr>
          <p:cNvPr id="4" name="Speech Bubble: Rectangle 3">
            <a:extLst>
              <a:ext uri="{FF2B5EF4-FFF2-40B4-BE49-F238E27FC236}">
                <a16:creationId xmlns:a16="http://schemas.microsoft.com/office/drawing/2014/main" id="{B3C37360-2DE9-B4C7-CBAA-30D53A44E4B8}"/>
              </a:ext>
            </a:extLst>
          </p:cNvPr>
          <p:cNvSpPr/>
          <p:nvPr/>
        </p:nvSpPr>
        <p:spPr>
          <a:xfrm>
            <a:off x="176462" y="2237874"/>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Do we collect right log sources?</a:t>
            </a:r>
            <a:endParaRPr lang="en-ID" b="1" dirty="0">
              <a:solidFill>
                <a:schemeClr val="tx1"/>
              </a:solidFill>
              <a:latin typeface="Georgia" panose="02040502050405020303" pitchFamily="18" charset="0"/>
            </a:endParaRPr>
          </a:p>
        </p:txBody>
      </p:sp>
      <p:sp>
        <p:nvSpPr>
          <p:cNvPr id="5" name="Speech Bubble: Rectangle 4">
            <a:extLst>
              <a:ext uri="{FF2B5EF4-FFF2-40B4-BE49-F238E27FC236}">
                <a16:creationId xmlns:a16="http://schemas.microsoft.com/office/drawing/2014/main" id="{60744CC6-D453-43CC-4C88-51D2DA27569B}"/>
              </a:ext>
            </a:extLst>
          </p:cNvPr>
          <p:cNvSpPr/>
          <p:nvPr/>
        </p:nvSpPr>
        <p:spPr>
          <a:xfrm>
            <a:off x="4499809" y="2237874"/>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Do we collect the right logs with the right level of detail?</a:t>
            </a:r>
            <a:endParaRPr lang="en-ID" b="1" dirty="0">
              <a:solidFill>
                <a:schemeClr val="tx1"/>
              </a:solidFill>
              <a:latin typeface="Georgia" panose="02040502050405020303" pitchFamily="18" charset="0"/>
            </a:endParaRPr>
          </a:p>
        </p:txBody>
      </p:sp>
      <p:sp>
        <p:nvSpPr>
          <p:cNvPr id="6" name="Speech Bubble: Rectangle 5">
            <a:extLst>
              <a:ext uri="{FF2B5EF4-FFF2-40B4-BE49-F238E27FC236}">
                <a16:creationId xmlns:a16="http://schemas.microsoft.com/office/drawing/2014/main" id="{176295AA-F154-B438-2AB4-FCB0A5EFA8C8}"/>
              </a:ext>
            </a:extLst>
          </p:cNvPr>
          <p:cNvSpPr/>
          <p:nvPr/>
        </p:nvSpPr>
        <p:spPr>
          <a:xfrm>
            <a:off x="8823156" y="2237874"/>
            <a:ext cx="2855495" cy="978568"/>
          </a:xfrm>
          <a:prstGeom prst="wedgeRectCallout">
            <a:avLst>
              <a:gd name="adj1" fmla="val -1253"/>
              <a:gd name="adj2" fmla="val 83811"/>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Georgia" panose="02040502050405020303" pitchFamily="18" charset="0"/>
              </a:rPr>
              <a:t>Do we collect logs with no delay after events?</a:t>
            </a:r>
            <a:endParaRPr lang="en-ID" b="1" dirty="0">
              <a:solidFill>
                <a:schemeClr val="tx1"/>
              </a:solidFill>
              <a:latin typeface="Georgia" panose="02040502050405020303" pitchFamily="18" charset="0"/>
            </a:endParaRPr>
          </a:p>
        </p:txBody>
      </p:sp>
      <p:sp>
        <p:nvSpPr>
          <p:cNvPr id="9" name="Rectangle: Rounded Corners 8">
            <a:extLst>
              <a:ext uri="{FF2B5EF4-FFF2-40B4-BE49-F238E27FC236}">
                <a16:creationId xmlns:a16="http://schemas.microsoft.com/office/drawing/2014/main" id="{0E9D61A1-0535-951D-91BA-5DECA5F1369A}"/>
              </a:ext>
            </a:extLst>
          </p:cNvPr>
          <p:cNvSpPr/>
          <p:nvPr/>
        </p:nvSpPr>
        <p:spPr>
          <a:xfrm>
            <a:off x="176461" y="3641559"/>
            <a:ext cx="3320718" cy="2576844"/>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Is it comprehensive enough not to miss any critical event behind?</a:t>
            </a:r>
          </a:p>
          <a:p>
            <a:r>
              <a:rPr lang="en-US" sz="1600" dirty="0">
                <a:latin typeface="Georgia" panose="02040502050405020303" pitchFamily="18" charset="0"/>
              </a:rPr>
              <a:t>And, is it relevant enough to not to overpopulate, create complexity and also not to steal away from event per second license capacity.</a:t>
            </a:r>
            <a:endParaRPr lang="en-ID" sz="1600" dirty="0">
              <a:latin typeface="Georgia" panose="02040502050405020303" pitchFamily="18" charset="0"/>
            </a:endParaRPr>
          </a:p>
        </p:txBody>
      </p:sp>
      <p:sp>
        <p:nvSpPr>
          <p:cNvPr id="10" name="Rectangle: Rounded Corners 9">
            <a:extLst>
              <a:ext uri="{FF2B5EF4-FFF2-40B4-BE49-F238E27FC236}">
                <a16:creationId xmlns:a16="http://schemas.microsoft.com/office/drawing/2014/main" id="{DE0A6553-30C9-962E-FEC0-E7C93D24D95F}"/>
              </a:ext>
            </a:extLst>
          </p:cNvPr>
          <p:cNvSpPr/>
          <p:nvPr/>
        </p:nvSpPr>
        <p:spPr>
          <a:xfrm>
            <a:off x="4193003" y="3641559"/>
            <a:ext cx="3469107" cy="257684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Do the logs include the required content?</a:t>
            </a:r>
            <a:endParaRPr lang="en-ID" sz="1600" dirty="0">
              <a:latin typeface="Georgia" panose="02040502050405020303" pitchFamily="18" charset="0"/>
            </a:endParaRPr>
          </a:p>
        </p:txBody>
      </p:sp>
      <p:sp>
        <p:nvSpPr>
          <p:cNvPr id="11" name="Rectangle: Rounded Corners 10">
            <a:extLst>
              <a:ext uri="{FF2B5EF4-FFF2-40B4-BE49-F238E27FC236}">
                <a16:creationId xmlns:a16="http://schemas.microsoft.com/office/drawing/2014/main" id="{3A10F913-0AF5-54C5-D35A-85B9C0DBF318}"/>
              </a:ext>
            </a:extLst>
          </p:cNvPr>
          <p:cNvSpPr/>
          <p:nvPr/>
        </p:nvSpPr>
        <p:spPr>
          <a:xfrm>
            <a:off x="8546431" y="3641559"/>
            <a:ext cx="3469107" cy="257684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Delivered and collected with no delay after the after an event takes place.</a:t>
            </a:r>
            <a:endParaRPr lang="en-ID" sz="1600" dirty="0">
              <a:latin typeface="Georgia" panose="02040502050405020303" pitchFamily="18" charset="0"/>
            </a:endParaRPr>
          </a:p>
        </p:txBody>
      </p:sp>
      <p:sp>
        <p:nvSpPr>
          <p:cNvPr id="12" name="TextBox 11">
            <a:extLst>
              <a:ext uri="{FF2B5EF4-FFF2-40B4-BE49-F238E27FC236}">
                <a16:creationId xmlns:a16="http://schemas.microsoft.com/office/drawing/2014/main" id="{C4128376-3244-8ED8-2C72-C1FBFB2B6464}"/>
              </a:ext>
            </a:extLst>
          </p:cNvPr>
          <p:cNvSpPr txBox="1"/>
          <p:nvPr/>
        </p:nvSpPr>
        <p:spPr>
          <a:xfrm>
            <a:off x="176462" y="1690688"/>
            <a:ext cx="11432006" cy="461665"/>
          </a:xfrm>
          <a:prstGeom prst="rect">
            <a:avLst/>
          </a:prstGeom>
          <a:noFill/>
        </p:spPr>
        <p:txBody>
          <a:bodyPr wrap="square">
            <a:spAutoFit/>
          </a:bodyPr>
          <a:lstStyle/>
          <a:p>
            <a:pPr marL="0" indent="0">
              <a:buNone/>
            </a:pPr>
            <a:r>
              <a:rPr lang="en-US" sz="2400" dirty="0">
                <a:latin typeface="Georgia" panose="02040502050405020303" pitchFamily="18" charset="0"/>
              </a:rPr>
              <a:t>Quality &amp; Performances Factors : </a:t>
            </a:r>
            <a:r>
              <a:rPr lang="en-US" sz="2400" b="1" dirty="0">
                <a:latin typeface="Georgia" panose="02040502050405020303" pitchFamily="18" charset="0"/>
              </a:rPr>
              <a:t>Missing Logs, </a:t>
            </a:r>
            <a:r>
              <a:rPr lang="en-US" sz="2400" b="1" dirty="0" err="1">
                <a:latin typeface="Georgia" panose="02040502050405020303" pitchFamily="18" charset="0"/>
              </a:rPr>
              <a:t>Irrevent</a:t>
            </a:r>
            <a:r>
              <a:rPr lang="en-US" sz="2400" b="1" dirty="0">
                <a:latin typeface="Georgia" panose="02040502050405020303" pitchFamily="18" charset="0"/>
              </a:rPr>
              <a:t> Logs, Time Gap</a:t>
            </a:r>
            <a:r>
              <a:rPr lang="en-US" sz="2400" dirty="0">
                <a:latin typeface="Georgia" panose="02040502050405020303" pitchFamily="18" charset="0"/>
              </a:rPr>
              <a:t>.</a:t>
            </a:r>
          </a:p>
        </p:txBody>
      </p:sp>
    </p:spTree>
    <p:extLst>
      <p:ext uri="{BB962C8B-B14F-4D97-AF65-F5344CB8AC3E}">
        <p14:creationId xmlns:p14="http://schemas.microsoft.com/office/powerpoint/2010/main" val="33651720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F99E-4357-006D-9743-6AA88A608CD6}"/>
              </a:ext>
            </a:extLst>
          </p:cNvPr>
          <p:cNvSpPr>
            <a:spLocks noGrp="1"/>
          </p:cNvSpPr>
          <p:nvPr>
            <p:ph type="title"/>
          </p:nvPr>
        </p:nvSpPr>
        <p:spPr/>
        <p:txBody>
          <a:bodyPr/>
          <a:lstStyle/>
          <a:p>
            <a:r>
              <a:rPr lang="en-GB" dirty="0"/>
              <a:t>Log Sources Prioritization </a:t>
            </a:r>
            <a:br>
              <a:rPr lang="en-GB" dirty="0"/>
            </a:br>
            <a:r>
              <a:rPr lang="en-GB" dirty="0"/>
              <a:t>Example by Florian Roth</a:t>
            </a:r>
            <a:endParaRPr lang="en-ID" dirty="0"/>
          </a:p>
        </p:txBody>
      </p:sp>
      <p:pic>
        <p:nvPicPr>
          <p:cNvPr id="4" name="Content Placeholder 6">
            <a:extLst>
              <a:ext uri="{FF2B5EF4-FFF2-40B4-BE49-F238E27FC236}">
                <a16:creationId xmlns:a16="http://schemas.microsoft.com/office/drawing/2014/main" id="{16841EAB-5541-8F53-6411-E512E08E2D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478" y="1825625"/>
            <a:ext cx="7703044" cy="4351338"/>
          </a:xfrm>
        </p:spPr>
      </p:pic>
      <p:sp>
        <p:nvSpPr>
          <p:cNvPr id="5" name="TextBox 4">
            <a:extLst>
              <a:ext uri="{FF2B5EF4-FFF2-40B4-BE49-F238E27FC236}">
                <a16:creationId xmlns:a16="http://schemas.microsoft.com/office/drawing/2014/main" id="{EE32AA79-A780-7878-3F13-FA5B4EEB1330}"/>
              </a:ext>
            </a:extLst>
          </p:cNvPr>
          <p:cNvSpPr txBox="1"/>
          <p:nvPr/>
        </p:nvSpPr>
        <p:spPr>
          <a:xfrm>
            <a:off x="3048786" y="6120376"/>
            <a:ext cx="6094428" cy="276999"/>
          </a:xfrm>
          <a:prstGeom prst="rect">
            <a:avLst/>
          </a:prstGeom>
          <a:noFill/>
        </p:spPr>
        <p:txBody>
          <a:bodyPr wrap="square">
            <a:spAutoFit/>
          </a:bodyPr>
          <a:lstStyle/>
          <a:p>
            <a:pPr algn="ctr"/>
            <a:r>
              <a:rPr lang="en-US" sz="1200" dirty="0">
                <a:latin typeface="Georgia" panose="02040502050405020303" pitchFamily="18" charset="0"/>
              </a:rPr>
              <a:t>https://x.com/cyb3rops/status/1221580082667499522</a:t>
            </a:r>
          </a:p>
        </p:txBody>
      </p:sp>
    </p:spTree>
    <p:extLst>
      <p:ext uri="{BB962C8B-B14F-4D97-AF65-F5344CB8AC3E}">
        <p14:creationId xmlns:p14="http://schemas.microsoft.com/office/powerpoint/2010/main" val="3611278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a:extLst>
              <a:ext uri="{FF2B5EF4-FFF2-40B4-BE49-F238E27FC236}">
                <a16:creationId xmlns:a16="http://schemas.microsoft.com/office/drawing/2014/main" id="{BF770D52-4286-EE75-B419-E710687FBF1C}"/>
              </a:ext>
            </a:extLst>
          </p:cNvPr>
          <p:cNvPicPr>
            <a:picLocks noChangeAspect="1"/>
          </p:cNvPicPr>
          <p:nvPr/>
        </p:nvPicPr>
        <p:blipFill>
          <a:blip r:embed="rId2"/>
          <a:stretch>
            <a:fillRect/>
          </a:stretch>
        </p:blipFill>
        <p:spPr>
          <a:xfrm>
            <a:off x="1632234" y="1170906"/>
            <a:ext cx="8927531" cy="4997450"/>
          </a:xfrm>
          <a:prstGeom prst="rect">
            <a:avLst/>
          </a:prstGeom>
        </p:spPr>
      </p:pic>
    </p:spTree>
    <p:extLst>
      <p:ext uri="{BB962C8B-B14F-4D97-AF65-F5344CB8AC3E}">
        <p14:creationId xmlns:p14="http://schemas.microsoft.com/office/powerpoint/2010/main" val="36056008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FD66A5-6BAD-4B85-481D-2BFCD77BF574}"/>
              </a:ext>
            </a:extLst>
          </p:cNvPr>
          <p:cNvSpPr>
            <a:spLocks noGrp="1"/>
          </p:cNvSpPr>
          <p:nvPr>
            <p:ph type="title"/>
          </p:nvPr>
        </p:nvSpPr>
        <p:spPr>
          <a:xfrm>
            <a:off x="831850" y="1725780"/>
            <a:ext cx="10515600" cy="2852737"/>
          </a:xfrm>
        </p:spPr>
        <p:txBody>
          <a:bodyPr/>
          <a:lstStyle/>
          <a:p>
            <a:r>
              <a:rPr lang="en-GB" b="1" dirty="0"/>
              <a:t>Network Security Incident</a:t>
            </a:r>
            <a:endParaRPr lang="en-ID" b="1" dirty="0"/>
          </a:p>
        </p:txBody>
      </p:sp>
      <p:sp>
        <p:nvSpPr>
          <p:cNvPr id="5" name="Text Placeholder 4">
            <a:extLst>
              <a:ext uri="{FF2B5EF4-FFF2-40B4-BE49-F238E27FC236}">
                <a16:creationId xmlns:a16="http://schemas.microsoft.com/office/drawing/2014/main" id="{6386A07C-A541-A8C0-1F6C-0A921BA7B169}"/>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0448026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E9565-6CA1-B928-9C5D-C0CDFF0CFAD8}"/>
              </a:ext>
            </a:extLst>
          </p:cNvPr>
          <p:cNvSpPr>
            <a:spLocks noGrp="1"/>
          </p:cNvSpPr>
          <p:nvPr>
            <p:ph type="title"/>
          </p:nvPr>
        </p:nvSpPr>
        <p:spPr/>
        <p:txBody>
          <a:bodyPr/>
          <a:lstStyle/>
          <a:p>
            <a:r>
              <a:rPr lang="en-US" sz="3200" dirty="0"/>
              <a:t>Handling Incidents with Network Security</a:t>
            </a:r>
            <a:endParaRPr lang="en-ID" dirty="0"/>
          </a:p>
        </p:txBody>
      </p:sp>
      <p:sp>
        <p:nvSpPr>
          <p:cNvPr id="3" name="Content Placeholder 2">
            <a:extLst>
              <a:ext uri="{FF2B5EF4-FFF2-40B4-BE49-F238E27FC236}">
                <a16:creationId xmlns:a16="http://schemas.microsoft.com/office/drawing/2014/main" id="{ED20BF44-6D20-24DC-5E4D-0A90164E0104}"/>
              </a:ext>
            </a:extLst>
          </p:cNvPr>
          <p:cNvSpPr>
            <a:spLocks noGrp="1"/>
          </p:cNvSpPr>
          <p:nvPr>
            <p:ph idx="1"/>
          </p:nvPr>
        </p:nvSpPr>
        <p:spPr/>
        <p:txBody>
          <a:bodyPr/>
          <a:lstStyle/>
          <a:p>
            <a:endParaRPr lang="en-ID" dirty="0"/>
          </a:p>
        </p:txBody>
      </p:sp>
      <p:grpSp>
        <p:nvGrpSpPr>
          <p:cNvPr id="4" name="Google Shape;163;p17">
            <a:extLst>
              <a:ext uri="{FF2B5EF4-FFF2-40B4-BE49-F238E27FC236}">
                <a16:creationId xmlns:a16="http://schemas.microsoft.com/office/drawing/2014/main" id="{6C021F91-BD6B-B085-F615-38DC6C80525B}"/>
              </a:ext>
            </a:extLst>
          </p:cNvPr>
          <p:cNvGrpSpPr/>
          <p:nvPr/>
        </p:nvGrpSpPr>
        <p:grpSpPr>
          <a:xfrm>
            <a:off x="4616374" y="2335907"/>
            <a:ext cx="3114533" cy="1450000"/>
            <a:chOff x="695900" y="1484200"/>
            <a:chExt cx="2335900" cy="1087500"/>
          </a:xfrm>
        </p:grpSpPr>
        <p:sp>
          <p:nvSpPr>
            <p:cNvPr id="5" name="Google Shape;164;p17">
              <a:extLst>
                <a:ext uri="{FF2B5EF4-FFF2-40B4-BE49-F238E27FC236}">
                  <a16:creationId xmlns:a16="http://schemas.microsoft.com/office/drawing/2014/main" id="{4BC6223A-8E6D-88CF-AF78-60907E21CC15}"/>
                </a:ext>
              </a:extLst>
            </p:cNvPr>
            <p:cNvSpPr/>
            <p:nvPr/>
          </p:nvSpPr>
          <p:spPr>
            <a:xfrm>
              <a:off x="1143000" y="1484200"/>
              <a:ext cx="1888800" cy="10875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nvGrpSpPr>
            <p:cNvPr id="6" name="Google Shape;165;p17">
              <a:extLst>
                <a:ext uri="{FF2B5EF4-FFF2-40B4-BE49-F238E27FC236}">
                  <a16:creationId xmlns:a16="http://schemas.microsoft.com/office/drawing/2014/main" id="{BF77B7B8-6231-3206-25E0-544E16DCD3C1}"/>
                </a:ext>
              </a:extLst>
            </p:cNvPr>
            <p:cNvGrpSpPr/>
            <p:nvPr/>
          </p:nvGrpSpPr>
          <p:grpSpPr>
            <a:xfrm>
              <a:off x="695900" y="1629888"/>
              <a:ext cx="982875" cy="845650"/>
              <a:chOff x="695900" y="1629888"/>
              <a:chExt cx="982875" cy="845650"/>
            </a:xfrm>
          </p:grpSpPr>
          <p:sp>
            <p:nvSpPr>
              <p:cNvPr id="7" name="Google Shape;166;p17">
                <a:extLst>
                  <a:ext uri="{FF2B5EF4-FFF2-40B4-BE49-F238E27FC236}">
                    <a16:creationId xmlns:a16="http://schemas.microsoft.com/office/drawing/2014/main" id="{5771971F-190C-4EE0-7AC5-5660EF811021}"/>
                  </a:ext>
                </a:extLst>
              </p:cNvPr>
              <p:cNvSpPr/>
              <p:nvPr/>
            </p:nvSpPr>
            <p:spPr>
              <a:xfrm>
                <a:off x="739050" y="1641188"/>
                <a:ext cx="774525" cy="774825"/>
              </a:xfrm>
              <a:custGeom>
                <a:avLst/>
                <a:gdLst/>
                <a:ahLst/>
                <a:cxnLst/>
                <a:rect l="l" t="t" r="r" b="b"/>
                <a:pathLst>
                  <a:path w="30981" h="30993" extrusionOk="0">
                    <a:moveTo>
                      <a:pt x="3001" y="1"/>
                    </a:moveTo>
                    <a:cubicBezTo>
                      <a:pt x="1358" y="1"/>
                      <a:pt x="1" y="1334"/>
                      <a:pt x="1" y="3001"/>
                    </a:cubicBezTo>
                    <a:lnTo>
                      <a:pt x="1" y="27992"/>
                    </a:lnTo>
                    <a:cubicBezTo>
                      <a:pt x="1" y="29647"/>
                      <a:pt x="1334" y="30993"/>
                      <a:pt x="3001" y="30993"/>
                    </a:cubicBezTo>
                    <a:lnTo>
                      <a:pt x="3001" y="30981"/>
                    </a:lnTo>
                    <a:lnTo>
                      <a:pt x="27980" y="30981"/>
                    </a:lnTo>
                    <a:cubicBezTo>
                      <a:pt x="29635" y="30981"/>
                      <a:pt x="30981" y="29647"/>
                      <a:pt x="30981" y="27980"/>
                    </a:cubicBezTo>
                    <a:lnTo>
                      <a:pt x="30981" y="3001"/>
                    </a:lnTo>
                    <a:cubicBezTo>
                      <a:pt x="30981" y="1358"/>
                      <a:pt x="29647" y="1"/>
                      <a:pt x="27980"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8" name="Google Shape;167;p17">
                <a:extLst>
                  <a:ext uri="{FF2B5EF4-FFF2-40B4-BE49-F238E27FC236}">
                    <a16:creationId xmlns:a16="http://schemas.microsoft.com/office/drawing/2014/main" id="{4525CF44-26F6-B2D3-8F47-5266F7B443B3}"/>
                  </a:ext>
                </a:extLst>
              </p:cNvPr>
              <p:cNvSpPr/>
              <p:nvPr/>
            </p:nvSpPr>
            <p:spPr>
              <a:xfrm>
                <a:off x="727750" y="1629888"/>
                <a:ext cx="797150" cy="797150"/>
              </a:xfrm>
              <a:custGeom>
                <a:avLst/>
                <a:gdLst/>
                <a:ahLst/>
                <a:cxnLst/>
                <a:rect l="l" t="t" r="r" b="b"/>
                <a:pathLst>
                  <a:path w="31886" h="31886" extrusionOk="0">
                    <a:moveTo>
                      <a:pt x="28432" y="893"/>
                    </a:moveTo>
                    <a:cubicBezTo>
                      <a:pt x="29849" y="893"/>
                      <a:pt x="30992" y="2048"/>
                      <a:pt x="30992" y="3453"/>
                    </a:cubicBezTo>
                    <a:lnTo>
                      <a:pt x="30992" y="28432"/>
                    </a:lnTo>
                    <a:cubicBezTo>
                      <a:pt x="30992" y="29849"/>
                      <a:pt x="29849" y="30992"/>
                      <a:pt x="28432" y="30992"/>
                    </a:cubicBezTo>
                    <a:lnTo>
                      <a:pt x="3453" y="30992"/>
                    </a:lnTo>
                    <a:cubicBezTo>
                      <a:pt x="2048" y="30992"/>
                      <a:pt x="893" y="29849"/>
                      <a:pt x="893" y="28432"/>
                    </a:cubicBezTo>
                    <a:lnTo>
                      <a:pt x="893" y="3453"/>
                    </a:lnTo>
                    <a:cubicBezTo>
                      <a:pt x="893" y="2048"/>
                      <a:pt x="2048" y="893"/>
                      <a:pt x="3453" y="893"/>
                    </a:cubicBezTo>
                    <a:close/>
                    <a:moveTo>
                      <a:pt x="3453" y="0"/>
                    </a:moveTo>
                    <a:cubicBezTo>
                      <a:pt x="1548" y="0"/>
                      <a:pt x="0" y="1548"/>
                      <a:pt x="0" y="3453"/>
                    </a:cubicBezTo>
                    <a:lnTo>
                      <a:pt x="0" y="28432"/>
                    </a:lnTo>
                    <a:cubicBezTo>
                      <a:pt x="0" y="30337"/>
                      <a:pt x="1548" y="31885"/>
                      <a:pt x="3453" y="31885"/>
                    </a:cubicBezTo>
                    <a:lnTo>
                      <a:pt x="28432" y="31885"/>
                    </a:lnTo>
                    <a:cubicBezTo>
                      <a:pt x="30337" y="31885"/>
                      <a:pt x="31885" y="30337"/>
                      <a:pt x="31885" y="28432"/>
                    </a:cubicBezTo>
                    <a:lnTo>
                      <a:pt x="31885" y="3453"/>
                    </a:lnTo>
                    <a:cubicBezTo>
                      <a:pt x="31885" y="1548"/>
                      <a:pt x="30337" y="0"/>
                      <a:pt x="28432"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9" name="Google Shape;168;p17">
                <a:extLst>
                  <a:ext uri="{FF2B5EF4-FFF2-40B4-BE49-F238E27FC236}">
                    <a16:creationId xmlns:a16="http://schemas.microsoft.com/office/drawing/2014/main" id="{9D743AC2-8525-083D-C3A4-CC92C63C0E3A}"/>
                  </a:ext>
                </a:extLst>
              </p:cNvPr>
              <p:cNvSpPr/>
              <p:nvPr/>
            </p:nvSpPr>
            <p:spPr>
              <a:xfrm>
                <a:off x="809000" y="1723038"/>
                <a:ext cx="287575" cy="296500"/>
              </a:xfrm>
              <a:custGeom>
                <a:avLst/>
                <a:gdLst/>
                <a:ahLst/>
                <a:cxnLst/>
                <a:rect l="l" t="t" r="r" b="b"/>
                <a:pathLst>
                  <a:path w="11503" h="11860" extrusionOk="0">
                    <a:moveTo>
                      <a:pt x="1084" y="1"/>
                    </a:moveTo>
                    <a:cubicBezTo>
                      <a:pt x="489" y="1"/>
                      <a:pt x="1" y="489"/>
                      <a:pt x="1" y="1084"/>
                    </a:cubicBezTo>
                    <a:lnTo>
                      <a:pt x="1" y="11860"/>
                    </a:lnTo>
                    <a:lnTo>
                      <a:pt x="11502" y="11860"/>
                    </a:lnTo>
                    <a:lnTo>
                      <a:pt x="11502" y="1084"/>
                    </a:lnTo>
                    <a:cubicBezTo>
                      <a:pt x="11502" y="477"/>
                      <a:pt x="11026" y="1"/>
                      <a:pt x="10419" y="1"/>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0" name="Google Shape;169;p17">
                <a:extLst>
                  <a:ext uri="{FF2B5EF4-FFF2-40B4-BE49-F238E27FC236}">
                    <a16:creationId xmlns:a16="http://schemas.microsoft.com/office/drawing/2014/main" id="{54C9F8F1-0241-8853-9D58-8190A2BFE52B}"/>
                  </a:ext>
                </a:extLst>
              </p:cNvPr>
              <p:cNvSpPr/>
              <p:nvPr/>
            </p:nvSpPr>
            <p:spPr>
              <a:xfrm>
                <a:off x="886400" y="1757888"/>
                <a:ext cx="133075" cy="133350"/>
              </a:xfrm>
              <a:custGeom>
                <a:avLst/>
                <a:gdLst/>
                <a:ahLst/>
                <a:cxnLst/>
                <a:rect l="l" t="t" r="r" b="b"/>
                <a:pathLst>
                  <a:path w="5323" h="5334" extrusionOk="0">
                    <a:moveTo>
                      <a:pt x="2655" y="0"/>
                    </a:moveTo>
                    <a:cubicBezTo>
                      <a:pt x="1191" y="0"/>
                      <a:pt x="0" y="1191"/>
                      <a:pt x="0" y="2667"/>
                    </a:cubicBezTo>
                    <a:cubicBezTo>
                      <a:pt x="0" y="4143"/>
                      <a:pt x="1191" y="5334"/>
                      <a:pt x="2655" y="5334"/>
                    </a:cubicBezTo>
                    <a:cubicBezTo>
                      <a:pt x="4132" y="5334"/>
                      <a:pt x="5322" y="4143"/>
                      <a:pt x="5322" y="2667"/>
                    </a:cubicBezTo>
                    <a:cubicBezTo>
                      <a:pt x="5322" y="1191"/>
                      <a:pt x="4132" y="0"/>
                      <a:pt x="2655"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1" name="Google Shape;170;p17">
                <a:extLst>
                  <a:ext uri="{FF2B5EF4-FFF2-40B4-BE49-F238E27FC236}">
                    <a16:creationId xmlns:a16="http://schemas.microsoft.com/office/drawing/2014/main" id="{0923EBED-A7E2-D33A-3899-3EE8A72B8B59}"/>
                  </a:ext>
                </a:extLst>
              </p:cNvPr>
              <p:cNvSpPr/>
              <p:nvPr/>
            </p:nvSpPr>
            <p:spPr>
              <a:xfrm>
                <a:off x="859900" y="1914738"/>
                <a:ext cx="186050" cy="78300"/>
              </a:xfrm>
              <a:custGeom>
                <a:avLst/>
                <a:gdLst/>
                <a:ahLst/>
                <a:cxnLst/>
                <a:rect l="l" t="t" r="r" b="b"/>
                <a:pathLst>
                  <a:path w="7442" h="3132" extrusionOk="0">
                    <a:moveTo>
                      <a:pt x="3144" y="1"/>
                    </a:moveTo>
                    <a:cubicBezTo>
                      <a:pt x="1406" y="1"/>
                      <a:pt x="1" y="1406"/>
                      <a:pt x="1" y="3132"/>
                    </a:cubicBezTo>
                    <a:lnTo>
                      <a:pt x="7442" y="3132"/>
                    </a:lnTo>
                    <a:cubicBezTo>
                      <a:pt x="7442" y="1394"/>
                      <a:pt x="6049" y="1"/>
                      <a:pt x="4323"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2" name="Google Shape;171;p17">
                <a:extLst>
                  <a:ext uri="{FF2B5EF4-FFF2-40B4-BE49-F238E27FC236}">
                    <a16:creationId xmlns:a16="http://schemas.microsoft.com/office/drawing/2014/main" id="{56E377BE-7DF5-87F0-EF12-1ED3B3DECC2C}"/>
                  </a:ext>
                </a:extLst>
              </p:cNvPr>
              <p:cNvSpPr/>
              <p:nvPr/>
            </p:nvSpPr>
            <p:spPr>
              <a:xfrm>
                <a:off x="1326625" y="2152863"/>
                <a:ext cx="352150" cy="322675"/>
              </a:xfrm>
              <a:custGeom>
                <a:avLst/>
                <a:gdLst/>
                <a:ahLst/>
                <a:cxnLst/>
                <a:rect l="l" t="t" r="r" b="b"/>
                <a:pathLst>
                  <a:path w="14086" h="12907" extrusionOk="0">
                    <a:moveTo>
                      <a:pt x="858" y="1"/>
                    </a:moveTo>
                    <a:cubicBezTo>
                      <a:pt x="382" y="1"/>
                      <a:pt x="1" y="382"/>
                      <a:pt x="1" y="858"/>
                    </a:cubicBezTo>
                    <a:lnTo>
                      <a:pt x="1" y="12050"/>
                    </a:lnTo>
                    <a:cubicBezTo>
                      <a:pt x="1" y="12526"/>
                      <a:pt x="382" y="12907"/>
                      <a:pt x="858" y="12907"/>
                    </a:cubicBezTo>
                    <a:lnTo>
                      <a:pt x="13228" y="12907"/>
                    </a:lnTo>
                    <a:cubicBezTo>
                      <a:pt x="13693" y="12907"/>
                      <a:pt x="14074" y="12538"/>
                      <a:pt x="14086" y="12050"/>
                    </a:cubicBezTo>
                    <a:lnTo>
                      <a:pt x="14086" y="858"/>
                    </a:lnTo>
                    <a:cubicBezTo>
                      <a:pt x="14086" y="382"/>
                      <a:pt x="13705" y="1"/>
                      <a:pt x="13228" y="1"/>
                    </a:cubicBezTo>
                    <a:close/>
                  </a:path>
                </a:pathLst>
              </a:custGeom>
              <a:solidFill>
                <a:schemeClr val="accent6"/>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3" name="Google Shape;172;p17">
                <a:extLst>
                  <a:ext uri="{FF2B5EF4-FFF2-40B4-BE49-F238E27FC236}">
                    <a16:creationId xmlns:a16="http://schemas.microsoft.com/office/drawing/2014/main" id="{22F6F224-ED25-E1B7-75C5-7825BB90CC87}"/>
                  </a:ext>
                </a:extLst>
              </p:cNvPr>
              <p:cNvSpPr/>
              <p:nvPr/>
            </p:nvSpPr>
            <p:spPr>
              <a:xfrm>
                <a:off x="1376325" y="1932313"/>
                <a:ext cx="253050" cy="337250"/>
              </a:xfrm>
              <a:custGeom>
                <a:avLst/>
                <a:gdLst/>
                <a:ahLst/>
                <a:cxnLst/>
                <a:rect l="l" t="t" r="r" b="b"/>
                <a:pathLst>
                  <a:path w="10122" h="13490" extrusionOk="0">
                    <a:moveTo>
                      <a:pt x="5049" y="1226"/>
                    </a:moveTo>
                    <a:cubicBezTo>
                      <a:pt x="7157" y="1226"/>
                      <a:pt x="8871" y="2941"/>
                      <a:pt x="8871" y="5048"/>
                    </a:cubicBezTo>
                    <a:lnTo>
                      <a:pt x="8871" y="12252"/>
                    </a:lnTo>
                    <a:lnTo>
                      <a:pt x="1227" y="12252"/>
                    </a:lnTo>
                    <a:lnTo>
                      <a:pt x="1227" y="5048"/>
                    </a:lnTo>
                    <a:cubicBezTo>
                      <a:pt x="1227" y="2941"/>
                      <a:pt x="2930" y="1226"/>
                      <a:pt x="5049" y="1226"/>
                    </a:cubicBezTo>
                    <a:close/>
                    <a:moveTo>
                      <a:pt x="5061" y="0"/>
                    </a:moveTo>
                    <a:cubicBezTo>
                      <a:pt x="2275" y="0"/>
                      <a:pt x="1" y="2262"/>
                      <a:pt x="1" y="5060"/>
                    </a:cubicBezTo>
                    <a:lnTo>
                      <a:pt x="1" y="12883"/>
                    </a:lnTo>
                    <a:cubicBezTo>
                      <a:pt x="1" y="13204"/>
                      <a:pt x="275" y="13490"/>
                      <a:pt x="608" y="13490"/>
                    </a:cubicBezTo>
                    <a:lnTo>
                      <a:pt x="9502" y="13490"/>
                    </a:lnTo>
                    <a:cubicBezTo>
                      <a:pt x="9835" y="13490"/>
                      <a:pt x="10109" y="13204"/>
                      <a:pt x="10121" y="12883"/>
                    </a:cubicBezTo>
                    <a:lnTo>
                      <a:pt x="10121" y="5060"/>
                    </a:lnTo>
                    <a:cubicBezTo>
                      <a:pt x="10121" y="2286"/>
                      <a:pt x="7847" y="0"/>
                      <a:pt x="5061" y="0"/>
                    </a:cubicBezTo>
                    <a:close/>
                  </a:path>
                </a:pathLst>
              </a:custGeom>
              <a:solidFill>
                <a:schemeClr val="accent6"/>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4" name="Google Shape;173;p17">
                <a:extLst>
                  <a:ext uri="{FF2B5EF4-FFF2-40B4-BE49-F238E27FC236}">
                    <a16:creationId xmlns:a16="http://schemas.microsoft.com/office/drawing/2014/main" id="{E107DFDF-C955-218F-9C38-6DD211CB93A5}"/>
                  </a:ext>
                </a:extLst>
              </p:cNvPr>
              <p:cNvSpPr/>
              <p:nvPr/>
            </p:nvSpPr>
            <p:spPr>
              <a:xfrm>
                <a:off x="1446575" y="2239788"/>
                <a:ext cx="111650" cy="111650"/>
              </a:xfrm>
              <a:custGeom>
                <a:avLst/>
                <a:gdLst/>
                <a:ahLst/>
                <a:cxnLst/>
                <a:rect l="l" t="t" r="r" b="b"/>
                <a:pathLst>
                  <a:path w="4466" h="4466" extrusionOk="0">
                    <a:moveTo>
                      <a:pt x="2239" y="0"/>
                    </a:moveTo>
                    <a:cubicBezTo>
                      <a:pt x="1001" y="0"/>
                      <a:pt x="1" y="1000"/>
                      <a:pt x="1" y="2227"/>
                    </a:cubicBezTo>
                    <a:cubicBezTo>
                      <a:pt x="1" y="3465"/>
                      <a:pt x="1001" y="4465"/>
                      <a:pt x="2239" y="4465"/>
                    </a:cubicBezTo>
                    <a:cubicBezTo>
                      <a:pt x="3466" y="4465"/>
                      <a:pt x="4466" y="3465"/>
                      <a:pt x="4466" y="2227"/>
                    </a:cubicBezTo>
                    <a:cubicBezTo>
                      <a:pt x="4466" y="1000"/>
                      <a:pt x="3466" y="0"/>
                      <a:pt x="2239"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5" name="Google Shape;174;p17">
                <a:extLst>
                  <a:ext uri="{FF2B5EF4-FFF2-40B4-BE49-F238E27FC236}">
                    <a16:creationId xmlns:a16="http://schemas.microsoft.com/office/drawing/2014/main" id="{903754C9-8CA3-AE26-00F0-801978F50384}"/>
                  </a:ext>
                </a:extLst>
              </p:cNvPr>
              <p:cNvSpPr/>
              <p:nvPr/>
            </p:nvSpPr>
            <p:spPr>
              <a:xfrm>
                <a:off x="1477250" y="2331763"/>
                <a:ext cx="50625" cy="57775"/>
              </a:xfrm>
              <a:custGeom>
                <a:avLst/>
                <a:gdLst/>
                <a:ahLst/>
                <a:cxnLst/>
                <a:rect l="l" t="t" r="r" b="b"/>
                <a:pathLst>
                  <a:path w="2025" h="2311" extrusionOk="0">
                    <a:moveTo>
                      <a:pt x="0" y="0"/>
                    </a:moveTo>
                    <a:lnTo>
                      <a:pt x="0" y="2310"/>
                    </a:lnTo>
                    <a:lnTo>
                      <a:pt x="2024" y="2310"/>
                    </a:lnTo>
                    <a:lnTo>
                      <a:pt x="2024" y="0"/>
                    </a:ln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6" name="Google Shape;175;p17">
                <a:extLst>
                  <a:ext uri="{FF2B5EF4-FFF2-40B4-BE49-F238E27FC236}">
                    <a16:creationId xmlns:a16="http://schemas.microsoft.com/office/drawing/2014/main" id="{A2FFCCCF-F047-1963-CEFB-70FB765D7AD1}"/>
                  </a:ext>
                </a:extLst>
              </p:cNvPr>
              <p:cNvSpPr/>
              <p:nvPr/>
            </p:nvSpPr>
            <p:spPr>
              <a:xfrm>
                <a:off x="1136125" y="1751613"/>
                <a:ext cx="297675" cy="28325"/>
              </a:xfrm>
              <a:custGeom>
                <a:avLst/>
                <a:gdLst/>
                <a:ahLst/>
                <a:cxnLst/>
                <a:rect l="l" t="t" r="r" b="b"/>
                <a:pathLst>
                  <a:path w="11907" h="1133" extrusionOk="0">
                    <a:moveTo>
                      <a:pt x="1" y="1"/>
                    </a:moveTo>
                    <a:lnTo>
                      <a:pt x="1" y="1132"/>
                    </a:lnTo>
                    <a:lnTo>
                      <a:pt x="11907" y="1132"/>
                    </a:lnTo>
                    <a:lnTo>
                      <a:pt x="11907" y="1"/>
                    </a:lnTo>
                    <a:close/>
                  </a:path>
                </a:pathLst>
              </a:custGeom>
              <a:solidFill>
                <a:srgbClr val="5B688C"/>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7" name="Google Shape;176;p17">
                <a:extLst>
                  <a:ext uri="{FF2B5EF4-FFF2-40B4-BE49-F238E27FC236}">
                    <a16:creationId xmlns:a16="http://schemas.microsoft.com/office/drawing/2014/main" id="{C58F2C73-EC8C-7FF2-B9B1-C746B4A84A4E}"/>
                  </a:ext>
                </a:extLst>
              </p:cNvPr>
              <p:cNvSpPr/>
              <p:nvPr/>
            </p:nvSpPr>
            <p:spPr>
              <a:xfrm>
                <a:off x="1136125" y="1822763"/>
                <a:ext cx="297675" cy="28300"/>
              </a:xfrm>
              <a:custGeom>
                <a:avLst/>
                <a:gdLst/>
                <a:ahLst/>
                <a:cxnLst/>
                <a:rect l="l" t="t" r="r" b="b"/>
                <a:pathLst>
                  <a:path w="11907" h="1132" extrusionOk="0">
                    <a:moveTo>
                      <a:pt x="1" y="1"/>
                    </a:moveTo>
                    <a:lnTo>
                      <a:pt x="1" y="1132"/>
                    </a:lnTo>
                    <a:lnTo>
                      <a:pt x="11907" y="1132"/>
                    </a:lnTo>
                    <a:lnTo>
                      <a:pt x="11907" y="1"/>
                    </a:lnTo>
                    <a:close/>
                  </a:path>
                </a:pathLst>
              </a:custGeom>
              <a:solidFill>
                <a:srgbClr val="5B688C"/>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8" name="Google Shape;177;p17">
                <a:extLst>
                  <a:ext uri="{FF2B5EF4-FFF2-40B4-BE49-F238E27FC236}">
                    <a16:creationId xmlns:a16="http://schemas.microsoft.com/office/drawing/2014/main" id="{48AAC9A1-EDAA-131B-1965-43167AD6F619}"/>
                  </a:ext>
                </a:extLst>
              </p:cNvPr>
              <p:cNvSpPr/>
              <p:nvPr/>
            </p:nvSpPr>
            <p:spPr>
              <a:xfrm>
                <a:off x="1136125" y="1893613"/>
                <a:ext cx="297675" cy="28300"/>
              </a:xfrm>
              <a:custGeom>
                <a:avLst/>
                <a:gdLst/>
                <a:ahLst/>
                <a:cxnLst/>
                <a:rect l="l" t="t" r="r" b="b"/>
                <a:pathLst>
                  <a:path w="11907" h="1132" extrusionOk="0">
                    <a:moveTo>
                      <a:pt x="1" y="0"/>
                    </a:moveTo>
                    <a:lnTo>
                      <a:pt x="1" y="1131"/>
                    </a:lnTo>
                    <a:lnTo>
                      <a:pt x="11907" y="1131"/>
                    </a:lnTo>
                    <a:lnTo>
                      <a:pt x="11907" y="0"/>
                    </a:lnTo>
                    <a:close/>
                  </a:path>
                </a:pathLst>
              </a:custGeom>
              <a:solidFill>
                <a:srgbClr val="5B688C"/>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9" name="Google Shape;178;p17">
                <a:extLst>
                  <a:ext uri="{FF2B5EF4-FFF2-40B4-BE49-F238E27FC236}">
                    <a16:creationId xmlns:a16="http://schemas.microsoft.com/office/drawing/2014/main" id="{3E21E495-FB5E-B318-1951-BA1105439A30}"/>
                  </a:ext>
                </a:extLst>
              </p:cNvPr>
              <p:cNvSpPr/>
              <p:nvPr/>
            </p:nvSpPr>
            <p:spPr>
              <a:xfrm>
                <a:off x="1136125" y="1961463"/>
                <a:ext cx="213750" cy="28300"/>
              </a:xfrm>
              <a:custGeom>
                <a:avLst/>
                <a:gdLst/>
                <a:ahLst/>
                <a:cxnLst/>
                <a:rect l="l" t="t" r="r" b="b"/>
                <a:pathLst>
                  <a:path w="8550" h="1132" extrusionOk="0">
                    <a:moveTo>
                      <a:pt x="1" y="1"/>
                    </a:moveTo>
                    <a:lnTo>
                      <a:pt x="1" y="1132"/>
                    </a:lnTo>
                    <a:lnTo>
                      <a:pt x="8549" y="1132"/>
                    </a:lnTo>
                    <a:lnTo>
                      <a:pt x="8549" y="1"/>
                    </a:lnTo>
                    <a:close/>
                  </a:path>
                </a:pathLst>
              </a:custGeom>
              <a:solidFill>
                <a:srgbClr val="5B688C"/>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0" name="Google Shape;179;p17">
                <a:extLst>
                  <a:ext uri="{FF2B5EF4-FFF2-40B4-BE49-F238E27FC236}">
                    <a16:creationId xmlns:a16="http://schemas.microsoft.com/office/drawing/2014/main" id="{5BA7758E-B380-4FB9-EA86-7461F00F0A71}"/>
                  </a:ext>
                </a:extLst>
              </p:cNvPr>
              <p:cNvSpPr/>
              <p:nvPr/>
            </p:nvSpPr>
            <p:spPr>
              <a:xfrm>
                <a:off x="809000" y="2204063"/>
                <a:ext cx="177425" cy="24425"/>
              </a:xfrm>
              <a:custGeom>
                <a:avLst/>
                <a:gdLst/>
                <a:ahLst/>
                <a:cxnLst/>
                <a:rect l="l" t="t" r="r" b="b"/>
                <a:pathLst>
                  <a:path w="7097" h="977" extrusionOk="0">
                    <a:moveTo>
                      <a:pt x="1" y="0"/>
                    </a:moveTo>
                    <a:lnTo>
                      <a:pt x="1" y="977"/>
                    </a:lnTo>
                    <a:lnTo>
                      <a:pt x="7097" y="977"/>
                    </a:lnTo>
                    <a:lnTo>
                      <a:pt x="7097" y="0"/>
                    </a:ln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1" name="Google Shape;180;p17">
                <a:extLst>
                  <a:ext uri="{FF2B5EF4-FFF2-40B4-BE49-F238E27FC236}">
                    <a16:creationId xmlns:a16="http://schemas.microsoft.com/office/drawing/2014/main" id="{60E330F5-352B-8CBB-8DD2-12EB29418BFE}"/>
                  </a:ext>
                </a:extLst>
              </p:cNvPr>
              <p:cNvSpPr/>
              <p:nvPr/>
            </p:nvSpPr>
            <p:spPr>
              <a:xfrm>
                <a:off x="809000" y="2134413"/>
                <a:ext cx="475975" cy="44375"/>
              </a:xfrm>
              <a:custGeom>
                <a:avLst/>
                <a:gdLst/>
                <a:ahLst/>
                <a:cxnLst/>
                <a:rect l="l" t="t" r="r" b="b"/>
                <a:pathLst>
                  <a:path w="19039" h="1775" extrusionOk="0">
                    <a:moveTo>
                      <a:pt x="334" y="0"/>
                    </a:moveTo>
                    <a:cubicBezTo>
                      <a:pt x="143" y="0"/>
                      <a:pt x="1" y="155"/>
                      <a:pt x="1" y="346"/>
                    </a:cubicBezTo>
                    <a:lnTo>
                      <a:pt x="1" y="1429"/>
                    </a:lnTo>
                    <a:cubicBezTo>
                      <a:pt x="1" y="1632"/>
                      <a:pt x="143" y="1774"/>
                      <a:pt x="334" y="1774"/>
                    </a:cubicBezTo>
                    <a:lnTo>
                      <a:pt x="18693" y="1774"/>
                    </a:lnTo>
                    <a:cubicBezTo>
                      <a:pt x="18884" y="1774"/>
                      <a:pt x="19039" y="1632"/>
                      <a:pt x="19039" y="1429"/>
                    </a:cubicBezTo>
                    <a:lnTo>
                      <a:pt x="19039" y="346"/>
                    </a:lnTo>
                    <a:cubicBezTo>
                      <a:pt x="19039" y="155"/>
                      <a:pt x="18884" y="0"/>
                      <a:pt x="18693"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2" name="Google Shape;181;p17">
                <a:extLst>
                  <a:ext uri="{FF2B5EF4-FFF2-40B4-BE49-F238E27FC236}">
                    <a16:creationId xmlns:a16="http://schemas.microsoft.com/office/drawing/2014/main" id="{9767A85B-F679-5E18-EA19-7BAC47F1DD8D}"/>
                  </a:ext>
                </a:extLst>
              </p:cNvPr>
              <p:cNvSpPr/>
              <p:nvPr/>
            </p:nvSpPr>
            <p:spPr>
              <a:xfrm>
                <a:off x="809000" y="2086488"/>
                <a:ext cx="177425" cy="24725"/>
              </a:xfrm>
              <a:custGeom>
                <a:avLst/>
                <a:gdLst/>
                <a:ahLst/>
                <a:cxnLst/>
                <a:rect l="l" t="t" r="r" b="b"/>
                <a:pathLst>
                  <a:path w="7097" h="989" extrusionOk="0">
                    <a:moveTo>
                      <a:pt x="1" y="0"/>
                    </a:moveTo>
                    <a:lnTo>
                      <a:pt x="1" y="989"/>
                    </a:lnTo>
                    <a:lnTo>
                      <a:pt x="7097" y="989"/>
                    </a:lnTo>
                    <a:lnTo>
                      <a:pt x="7097" y="0"/>
                    </a:ln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3" name="Google Shape;182;p17">
                <a:extLst>
                  <a:ext uri="{FF2B5EF4-FFF2-40B4-BE49-F238E27FC236}">
                    <a16:creationId xmlns:a16="http://schemas.microsoft.com/office/drawing/2014/main" id="{DB9CFDE4-5917-1FAD-4C98-983D1FF888B7}"/>
                  </a:ext>
                </a:extLst>
              </p:cNvPr>
              <p:cNvSpPr/>
              <p:nvPr/>
            </p:nvSpPr>
            <p:spPr>
              <a:xfrm>
                <a:off x="700050" y="2262113"/>
                <a:ext cx="568850" cy="77400"/>
              </a:xfrm>
              <a:custGeom>
                <a:avLst/>
                <a:gdLst/>
                <a:ahLst/>
                <a:cxnLst/>
                <a:rect l="l" t="t" r="r" b="b"/>
                <a:pathLst>
                  <a:path w="22754" h="3096" extrusionOk="0">
                    <a:moveTo>
                      <a:pt x="1549" y="0"/>
                    </a:moveTo>
                    <a:cubicBezTo>
                      <a:pt x="691" y="0"/>
                      <a:pt x="1" y="703"/>
                      <a:pt x="1" y="1548"/>
                    </a:cubicBezTo>
                    <a:cubicBezTo>
                      <a:pt x="1" y="2393"/>
                      <a:pt x="691" y="3096"/>
                      <a:pt x="1549" y="3096"/>
                    </a:cubicBezTo>
                    <a:lnTo>
                      <a:pt x="21206" y="3096"/>
                    </a:lnTo>
                    <a:cubicBezTo>
                      <a:pt x="22051" y="3096"/>
                      <a:pt x="22754" y="2393"/>
                      <a:pt x="22754" y="1548"/>
                    </a:cubicBezTo>
                    <a:cubicBezTo>
                      <a:pt x="22754" y="703"/>
                      <a:pt x="22051" y="0"/>
                      <a:pt x="21206"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4" name="Google Shape;183;p17">
                <a:extLst>
                  <a:ext uri="{FF2B5EF4-FFF2-40B4-BE49-F238E27FC236}">
                    <a16:creationId xmlns:a16="http://schemas.microsoft.com/office/drawing/2014/main" id="{2B653BAD-207C-9D83-0F32-7E034D3E4640}"/>
                  </a:ext>
                </a:extLst>
              </p:cNvPr>
              <p:cNvSpPr/>
              <p:nvPr/>
            </p:nvSpPr>
            <p:spPr>
              <a:xfrm>
                <a:off x="695900" y="2257938"/>
                <a:ext cx="576875" cy="85750"/>
              </a:xfrm>
              <a:custGeom>
                <a:avLst/>
                <a:gdLst/>
                <a:ahLst/>
                <a:cxnLst/>
                <a:rect l="l" t="t" r="r" b="b"/>
                <a:pathLst>
                  <a:path w="23075" h="3430" extrusionOk="0">
                    <a:moveTo>
                      <a:pt x="21372" y="334"/>
                    </a:moveTo>
                    <a:cubicBezTo>
                      <a:pt x="22134" y="334"/>
                      <a:pt x="22753" y="953"/>
                      <a:pt x="22753" y="1715"/>
                    </a:cubicBezTo>
                    <a:cubicBezTo>
                      <a:pt x="22753" y="2477"/>
                      <a:pt x="22134" y="3096"/>
                      <a:pt x="21372" y="3096"/>
                    </a:cubicBezTo>
                    <a:lnTo>
                      <a:pt x="1715" y="3096"/>
                    </a:lnTo>
                    <a:cubicBezTo>
                      <a:pt x="953" y="3096"/>
                      <a:pt x="322" y="2477"/>
                      <a:pt x="322" y="1715"/>
                    </a:cubicBezTo>
                    <a:cubicBezTo>
                      <a:pt x="322" y="953"/>
                      <a:pt x="953" y="334"/>
                      <a:pt x="1715" y="334"/>
                    </a:cubicBezTo>
                    <a:close/>
                    <a:moveTo>
                      <a:pt x="1715" y="0"/>
                    </a:moveTo>
                    <a:cubicBezTo>
                      <a:pt x="762" y="0"/>
                      <a:pt x="0" y="774"/>
                      <a:pt x="0" y="1715"/>
                    </a:cubicBezTo>
                    <a:cubicBezTo>
                      <a:pt x="0" y="2656"/>
                      <a:pt x="774" y="3429"/>
                      <a:pt x="1715" y="3429"/>
                    </a:cubicBezTo>
                    <a:lnTo>
                      <a:pt x="21372" y="3429"/>
                    </a:lnTo>
                    <a:cubicBezTo>
                      <a:pt x="22324" y="3429"/>
                      <a:pt x="23075" y="2656"/>
                      <a:pt x="23075" y="1715"/>
                    </a:cubicBezTo>
                    <a:cubicBezTo>
                      <a:pt x="23075" y="774"/>
                      <a:pt x="22313" y="0"/>
                      <a:pt x="21372"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5" name="Google Shape;184;p17">
                <a:extLst>
                  <a:ext uri="{FF2B5EF4-FFF2-40B4-BE49-F238E27FC236}">
                    <a16:creationId xmlns:a16="http://schemas.microsoft.com/office/drawing/2014/main" id="{B0266F60-9648-D499-A1AF-9C9793A83075}"/>
                  </a:ext>
                </a:extLst>
              </p:cNvPr>
              <p:cNvSpPr/>
              <p:nvPr/>
            </p:nvSpPr>
            <p:spPr>
              <a:xfrm>
                <a:off x="839075"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6" name="Google Shape;185;p17">
                <a:extLst>
                  <a:ext uri="{FF2B5EF4-FFF2-40B4-BE49-F238E27FC236}">
                    <a16:creationId xmlns:a16="http://schemas.microsoft.com/office/drawing/2014/main" id="{AE0AF9E6-EADE-9BB3-C32B-B299F0231961}"/>
                  </a:ext>
                </a:extLst>
              </p:cNvPr>
              <p:cNvSpPr/>
              <p:nvPr/>
            </p:nvSpPr>
            <p:spPr>
              <a:xfrm>
                <a:off x="932825"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7" name="Google Shape;186;p17">
                <a:extLst>
                  <a:ext uri="{FF2B5EF4-FFF2-40B4-BE49-F238E27FC236}">
                    <a16:creationId xmlns:a16="http://schemas.microsoft.com/office/drawing/2014/main" id="{48B23C1F-BB5F-CD4B-98CB-37A18D8AC572}"/>
                  </a:ext>
                </a:extLst>
              </p:cNvPr>
              <p:cNvSpPr/>
              <p:nvPr/>
            </p:nvSpPr>
            <p:spPr>
              <a:xfrm>
                <a:off x="1026600" y="2284438"/>
                <a:ext cx="32750" cy="32750"/>
              </a:xfrm>
              <a:custGeom>
                <a:avLst/>
                <a:gdLst/>
                <a:ahLst/>
                <a:cxnLst/>
                <a:rect l="l" t="t" r="r" b="b"/>
                <a:pathLst>
                  <a:path w="1310" h="1310" extrusionOk="0">
                    <a:moveTo>
                      <a:pt x="655" y="0"/>
                    </a:moveTo>
                    <a:cubicBezTo>
                      <a:pt x="298" y="0"/>
                      <a:pt x="0" y="298"/>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8" name="Google Shape;187;p17">
                <a:extLst>
                  <a:ext uri="{FF2B5EF4-FFF2-40B4-BE49-F238E27FC236}">
                    <a16:creationId xmlns:a16="http://schemas.microsoft.com/office/drawing/2014/main" id="{EE1F4FC7-A40D-4299-A3DB-544A90CA7C14}"/>
                  </a:ext>
                </a:extLst>
              </p:cNvPr>
              <p:cNvSpPr/>
              <p:nvPr/>
            </p:nvSpPr>
            <p:spPr>
              <a:xfrm>
                <a:off x="1120350" y="2284438"/>
                <a:ext cx="32775" cy="32750"/>
              </a:xfrm>
              <a:custGeom>
                <a:avLst/>
                <a:gdLst/>
                <a:ahLst/>
                <a:cxnLst/>
                <a:rect l="l" t="t" r="r" b="b"/>
                <a:pathLst>
                  <a:path w="1311" h="1310" extrusionOk="0">
                    <a:moveTo>
                      <a:pt x="655" y="0"/>
                    </a:moveTo>
                    <a:cubicBezTo>
                      <a:pt x="298" y="0"/>
                      <a:pt x="1" y="298"/>
                      <a:pt x="1" y="655"/>
                    </a:cubicBezTo>
                    <a:cubicBezTo>
                      <a:pt x="1"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29" name="Google Shape;201;p17">
            <a:extLst>
              <a:ext uri="{FF2B5EF4-FFF2-40B4-BE49-F238E27FC236}">
                <a16:creationId xmlns:a16="http://schemas.microsoft.com/office/drawing/2014/main" id="{71409EE5-59DD-77C4-392D-2D9779A4DC0C}"/>
              </a:ext>
            </a:extLst>
          </p:cNvPr>
          <p:cNvGrpSpPr/>
          <p:nvPr/>
        </p:nvGrpSpPr>
        <p:grpSpPr>
          <a:xfrm>
            <a:off x="922842" y="2334242"/>
            <a:ext cx="3020333" cy="1450000"/>
            <a:chOff x="3490300" y="1484200"/>
            <a:chExt cx="2265250" cy="1087500"/>
          </a:xfrm>
        </p:grpSpPr>
        <p:sp>
          <p:nvSpPr>
            <p:cNvPr id="30" name="Google Shape;202;p17">
              <a:extLst>
                <a:ext uri="{FF2B5EF4-FFF2-40B4-BE49-F238E27FC236}">
                  <a16:creationId xmlns:a16="http://schemas.microsoft.com/office/drawing/2014/main" id="{824EAC69-D2BD-789E-533C-CFDDC371412E}"/>
                </a:ext>
              </a:extLst>
            </p:cNvPr>
            <p:cNvSpPr/>
            <p:nvPr/>
          </p:nvSpPr>
          <p:spPr>
            <a:xfrm>
              <a:off x="3866750" y="1484200"/>
              <a:ext cx="1888800" cy="10875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nvGrpSpPr>
            <p:cNvPr id="31" name="Google Shape;203;p17">
              <a:extLst>
                <a:ext uri="{FF2B5EF4-FFF2-40B4-BE49-F238E27FC236}">
                  <a16:creationId xmlns:a16="http://schemas.microsoft.com/office/drawing/2014/main" id="{7D01B5C7-57CF-84B6-3F13-C48B81E0D419}"/>
                </a:ext>
              </a:extLst>
            </p:cNvPr>
            <p:cNvGrpSpPr/>
            <p:nvPr/>
          </p:nvGrpSpPr>
          <p:grpSpPr>
            <a:xfrm>
              <a:off x="3490300" y="1629888"/>
              <a:ext cx="797425" cy="797150"/>
              <a:chOff x="3490300" y="1629888"/>
              <a:chExt cx="797425" cy="797150"/>
            </a:xfrm>
          </p:grpSpPr>
          <p:sp>
            <p:nvSpPr>
              <p:cNvPr id="32" name="Google Shape;204;p17">
                <a:extLst>
                  <a:ext uri="{FF2B5EF4-FFF2-40B4-BE49-F238E27FC236}">
                    <a16:creationId xmlns:a16="http://schemas.microsoft.com/office/drawing/2014/main" id="{6713503B-0F7D-8B90-7F93-19D73833D66D}"/>
                  </a:ext>
                </a:extLst>
              </p:cNvPr>
              <p:cNvSpPr/>
              <p:nvPr/>
            </p:nvSpPr>
            <p:spPr>
              <a:xfrm>
                <a:off x="3501300" y="1641188"/>
                <a:ext cx="774825" cy="774825"/>
              </a:xfrm>
              <a:custGeom>
                <a:avLst/>
                <a:gdLst/>
                <a:ahLst/>
                <a:cxnLst/>
                <a:rect l="l" t="t" r="r" b="b"/>
                <a:pathLst>
                  <a:path w="30993" h="30993" extrusionOk="0">
                    <a:moveTo>
                      <a:pt x="3013" y="1"/>
                    </a:moveTo>
                    <a:cubicBezTo>
                      <a:pt x="1358" y="1"/>
                      <a:pt x="1" y="1334"/>
                      <a:pt x="1" y="3001"/>
                    </a:cubicBezTo>
                    <a:lnTo>
                      <a:pt x="1" y="27992"/>
                    </a:lnTo>
                    <a:cubicBezTo>
                      <a:pt x="1" y="29647"/>
                      <a:pt x="1346" y="30993"/>
                      <a:pt x="3013" y="30993"/>
                    </a:cubicBezTo>
                    <a:lnTo>
                      <a:pt x="3013" y="30981"/>
                    </a:lnTo>
                    <a:lnTo>
                      <a:pt x="27980" y="30981"/>
                    </a:lnTo>
                    <a:cubicBezTo>
                      <a:pt x="29635" y="30981"/>
                      <a:pt x="30993" y="29647"/>
                      <a:pt x="30993" y="27980"/>
                    </a:cubicBezTo>
                    <a:lnTo>
                      <a:pt x="30993" y="3001"/>
                    </a:lnTo>
                    <a:cubicBezTo>
                      <a:pt x="30993" y="1358"/>
                      <a:pt x="29659" y="1"/>
                      <a:pt x="27980"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3" name="Google Shape;205;p17">
                <a:extLst>
                  <a:ext uri="{FF2B5EF4-FFF2-40B4-BE49-F238E27FC236}">
                    <a16:creationId xmlns:a16="http://schemas.microsoft.com/office/drawing/2014/main" id="{4D878314-03F0-EBFA-D7D6-2D165CFFFD5E}"/>
                  </a:ext>
                </a:extLst>
              </p:cNvPr>
              <p:cNvSpPr/>
              <p:nvPr/>
            </p:nvSpPr>
            <p:spPr>
              <a:xfrm>
                <a:off x="3490300" y="1629888"/>
                <a:ext cx="797425" cy="797150"/>
              </a:xfrm>
              <a:custGeom>
                <a:avLst/>
                <a:gdLst/>
                <a:ahLst/>
                <a:cxnLst/>
                <a:rect l="l" t="t" r="r" b="b"/>
                <a:pathLst>
                  <a:path w="31897" h="31886" extrusionOk="0">
                    <a:moveTo>
                      <a:pt x="28432" y="893"/>
                    </a:moveTo>
                    <a:cubicBezTo>
                      <a:pt x="29837" y="893"/>
                      <a:pt x="30992" y="2048"/>
                      <a:pt x="30992" y="3453"/>
                    </a:cubicBezTo>
                    <a:lnTo>
                      <a:pt x="30992" y="28432"/>
                    </a:lnTo>
                    <a:cubicBezTo>
                      <a:pt x="30992" y="29849"/>
                      <a:pt x="29837" y="30992"/>
                      <a:pt x="28432" y="30992"/>
                    </a:cubicBezTo>
                    <a:lnTo>
                      <a:pt x="3453" y="30992"/>
                    </a:lnTo>
                    <a:cubicBezTo>
                      <a:pt x="2036" y="30992"/>
                      <a:pt x="893" y="29849"/>
                      <a:pt x="893" y="28432"/>
                    </a:cubicBezTo>
                    <a:lnTo>
                      <a:pt x="893" y="3453"/>
                    </a:lnTo>
                    <a:cubicBezTo>
                      <a:pt x="893" y="2048"/>
                      <a:pt x="2036" y="893"/>
                      <a:pt x="3453" y="893"/>
                    </a:cubicBezTo>
                    <a:close/>
                    <a:moveTo>
                      <a:pt x="3453" y="0"/>
                    </a:moveTo>
                    <a:cubicBezTo>
                      <a:pt x="1548" y="0"/>
                      <a:pt x="0" y="1548"/>
                      <a:pt x="0" y="3453"/>
                    </a:cubicBezTo>
                    <a:lnTo>
                      <a:pt x="0" y="28432"/>
                    </a:lnTo>
                    <a:cubicBezTo>
                      <a:pt x="0" y="30337"/>
                      <a:pt x="1548" y="31885"/>
                      <a:pt x="3453" y="31885"/>
                    </a:cubicBezTo>
                    <a:lnTo>
                      <a:pt x="28420" y="31885"/>
                    </a:lnTo>
                    <a:cubicBezTo>
                      <a:pt x="30325" y="31885"/>
                      <a:pt x="31885" y="30337"/>
                      <a:pt x="31885" y="28432"/>
                    </a:cubicBezTo>
                    <a:lnTo>
                      <a:pt x="31885" y="3453"/>
                    </a:lnTo>
                    <a:cubicBezTo>
                      <a:pt x="31897" y="1548"/>
                      <a:pt x="30337" y="0"/>
                      <a:pt x="28432"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4" name="Google Shape;206;p17">
                <a:extLst>
                  <a:ext uri="{FF2B5EF4-FFF2-40B4-BE49-F238E27FC236}">
                    <a16:creationId xmlns:a16="http://schemas.microsoft.com/office/drawing/2014/main" id="{C8877A90-B2BB-4B56-3DAF-9E5C9972710B}"/>
                  </a:ext>
                </a:extLst>
              </p:cNvPr>
              <p:cNvSpPr/>
              <p:nvPr/>
            </p:nvSpPr>
            <p:spPr>
              <a:xfrm>
                <a:off x="3571850" y="1818288"/>
                <a:ext cx="287550" cy="296500"/>
              </a:xfrm>
              <a:custGeom>
                <a:avLst/>
                <a:gdLst/>
                <a:ahLst/>
                <a:cxnLst/>
                <a:rect l="l" t="t" r="r" b="b"/>
                <a:pathLst>
                  <a:path w="11502" h="11860" extrusionOk="0">
                    <a:moveTo>
                      <a:pt x="1084" y="1"/>
                    </a:moveTo>
                    <a:cubicBezTo>
                      <a:pt x="489" y="1"/>
                      <a:pt x="0" y="489"/>
                      <a:pt x="0" y="1084"/>
                    </a:cubicBezTo>
                    <a:lnTo>
                      <a:pt x="0" y="11860"/>
                    </a:lnTo>
                    <a:lnTo>
                      <a:pt x="11502" y="11860"/>
                    </a:lnTo>
                    <a:lnTo>
                      <a:pt x="11502" y="1084"/>
                    </a:lnTo>
                    <a:cubicBezTo>
                      <a:pt x="11502" y="489"/>
                      <a:pt x="11014" y="1"/>
                      <a:pt x="10418" y="1"/>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5" name="Google Shape;207;p17">
                <a:extLst>
                  <a:ext uri="{FF2B5EF4-FFF2-40B4-BE49-F238E27FC236}">
                    <a16:creationId xmlns:a16="http://schemas.microsoft.com/office/drawing/2014/main" id="{992DE5A5-9095-5EE0-ECDE-78F9B13FB558}"/>
                  </a:ext>
                </a:extLst>
              </p:cNvPr>
              <p:cNvSpPr/>
              <p:nvPr/>
            </p:nvSpPr>
            <p:spPr>
              <a:xfrm>
                <a:off x="3648650" y="1853138"/>
                <a:ext cx="133375" cy="133350"/>
              </a:xfrm>
              <a:custGeom>
                <a:avLst/>
                <a:gdLst/>
                <a:ahLst/>
                <a:cxnLst/>
                <a:rect l="l" t="t" r="r" b="b"/>
                <a:pathLst>
                  <a:path w="5335" h="5334" extrusionOk="0">
                    <a:moveTo>
                      <a:pt x="2667" y="0"/>
                    </a:moveTo>
                    <a:cubicBezTo>
                      <a:pt x="1203" y="0"/>
                      <a:pt x="0" y="1191"/>
                      <a:pt x="0" y="2667"/>
                    </a:cubicBezTo>
                    <a:cubicBezTo>
                      <a:pt x="0" y="4143"/>
                      <a:pt x="1203" y="5334"/>
                      <a:pt x="2667" y="5334"/>
                    </a:cubicBezTo>
                    <a:cubicBezTo>
                      <a:pt x="4144" y="5334"/>
                      <a:pt x="5334" y="4143"/>
                      <a:pt x="5334" y="2667"/>
                    </a:cubicBezTo>
                    <a:cubicBezTo>
                      <a:pt x="5334" y="1191"/>
                      <a:pt x="4144" y="0"/>
                      <a:pt x="2667"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6" name="Google Shape;208;p17">
                <a:extLst>
                  <a:ext uri="{FF2B5EF4-FFF2-40B4-BE49-F238E27FC236}">
                    <a16:creationId xmlns:a16="http://schemas.microsoft.com/office/drawing/2014/main" id="{5FCB5917-4D9A-BD35-FEAA-DEBEE9460B1A}"/>
                  </a:ext>
                </a:extLst>
              </p:cNvPr>
              <p:cNvSpPr/>
              <p:nvPr/>
            </p:nvSpPr>
            <p:spPr>
              <a:xfrm>
                <a:off x="3622450" y="2010288"/>
                <a:ext cx="186050" cy="78600"/>
              </a:xfrm>
              <a:custGeom>
                <a:avLst/>
                <a:gdLst/>
                <a:ahLst/>
                <a:cxnLst/>
                <a:rect l="l" t="t" r="r" b="b"/>
                <a:pathLst>
                  <a:path w="7442" h="3144" extrusionOk="0">
                    <a:moveTo>
                      <a:pt x="3144" y="0"/>
                    </a:moveTo>
                    <a:cubicBezTo>
                      <a:pt x="1394" y="0"/>
                      <a:pt x="0" y="1417"/>
                      <a:pt x="0" y="3144"/>
                    </a:cubicBezTo>
                    <a:lnTo>
                      <a:pt x="7442" y="3144"/>
                    </a:lnTo>
                    <a:cubicBezTo>
                      <a:pt x="7442" y="1394"/>
                      <a:pt x="6037" y="0"/>
                      <a:pt x="4311"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7" name="Google Shape;209;p17">
                <a:extLst>
                  <a:ext uri="{FF2B5EF4-FFF2-40B4-BE49-F238E27FC236}">
                    <a16:creationId xmlns:a16="http://schemas.microsoft.com/office/drawing/2014/main" id="{788F6C61-06A8-1309-D19D-88AE35A4BA92}"/>
                  </a:ext>
                </a:extLst>
              </p:cNvPr>
              <p:cNvSpPr/>
              <p:nvPr/>
            </p:nvSpPr>
            <p:spPr>
              <a:xfrm>
                <a:off x="3515000" y="1652213"/>
                <a:ext cx="747725" cy="114025"/>
              </a:xfrm>
              <a:custGeom>
                <a:avLst/>
                <a:gdLst/>
                <a:ahLst/>
                <a:cxnLst/>
                <a:rect l="l" t="t" r="r" b="b"/>
                <a:pathLst>
                  <a:path w="29909" h="4561" extrusionOk="0">
                    <a:moveTo>
                      <a:pt x="5489" y="0"/>
                    </a:moveTo>
                    <a:cubicBezTo>
                      <a:pt x="2751" y="0"/>
                      <a:pt x="488" y="1965"/>
                      <a:pt x="0" y="4560"/>
                    </a:cubicBezTo>
                    <a:lnTo>
                      <a:pt x="29909" y="4560"/>
                    </a:lnTo>
                    <a:cubicBezTo>
                      <a:pt x="29421" y="1965"/>
                      <a:pt x="27158" y="0"/>
                      <a:pt x="24420"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8" name="Google Shape;210;p17">
                <a:extLst>
                  <a:ext uri="{FF2B5EF4-FFF2-40B4-BE49-F238E27FC236}">
                    <a16:creationId xmlns:a16="http://schemas.microsoft.com/office/drawing/2014/main" id="{DD40131C-FC84-D4CC-9AE0-4141988B9495}"/>
                  </a:ext>
                </a:extLst>
              </p:cNvPr>
              <p:cNvSpPr/>
              <p:nvPr/>
            </p:nvSpPr>
            <p:spPr>
              <a:xfrm>
                <a:off x="3588225" y="1674538"/>
                <a:ext cx="43175" cy="43175"/>
              </a:xfrm>
              <a:custGeom>
                <a:avLst/>
                <a:gdLst/>
                <a:ahLst/>
                <a:cxnLst/>
                <a:rect l="l" t="t" r="r" b="b"/>
                <a:pathLst>
                  <a:path w="1727" h="1727" extrusionOk="0">
                    <a:moveTo>
                      <a:pt x="858" y="0"/>
                    </a:moveTo>
                    <a:cubicBezTo>
                      <a:pt x="381" y="0"/>
                      <a:pt x="0" y="393"/>
                      <a:pt x="0" y="869"/>
                    </a:cubicBezTo>
                    <a:cubicBezTo>
                      <a:pt x="0" y="1346"/>
                      <a:pt x="381" y="1727"/>
                      <a:pt x="858" y="1727"/>
                    </a:cubicBezTo>
                    <a:cubicBezTo>
                      <a:pt x="1334" y="1727"/>
                      <a:pt x="1727" y="1346"/>
                      <a:pt x="1727" y="869"/>
                    </a:cubicBezTo>
                    <a:cubicBezTo>
                      <a:pt x="1727" y="393"/>
                      <a:pt x="1334" y="0"/>
                      <a:pt x="858"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9" name="Google Shape;211;p17">
                <a:extLst>
                  <a:ext uri="{FF2B5EF4-FFF2-40B4-BE49-F238E27FC236}">
                    <a16:creationId xmlns:a16="http://schemas.microsoft.com/office/drawing/2014/main" id="{9A14716D-3569-3726-8C98-9861049D2AB6}"/>
                  </a:ext>
                </a:extLst>
              </p:cNvPr>
              <p:cNvSpPr/>
              <p:nvPr/>
            </p:nvSpPr>
            <p:spPr>
              <a:xfrm>
                <a:off x="3672750" y="1674538"/>
                <a:ext cx="43200" cy="43175"/>
              </a:xfrm>
              <a:custGeom>
                <a:avLst/>
                <a:gdLst/>
                <a:ahLst/>
                <a:cxnLst/>
                <a:rect l="l" t="t" r="r" b="b"/>
                <a:pathLst>
                  <a:path w="1728" h="1727" extrusionOk="0">
                    <a:moveTo>
                      <a:pt x="858" y="0"/>
                    </a:moveTo>
                    <a:cubicBezTo>
                      <a:pt x="382" y="0"/>
                      <a:pt x="1" y="393"/>
                      <a:pt x="1" y="869"/>
                    </a:cubicBezTo>
                    <a:cubicBezTo>
                      <a:pt x="1" y="1346"/>
                      <a:pt x="382" y="1727"/>
                      <a:pt x="858" y="1727"/>
                    </a:cubicBezTo>
                    <a:cubicBezTo>
                      <a:pt x="1334" y="1727"/>
                      <a:pt x="1727" y="1346"/>
                      <a:pt x="1727" y="869"/>
                    </a:cubicBezTo>
                    <a:cubicBezTo>
                      <a:pt x="1727" y="393"/>
                      <a:pt x="1334" y="0"/>
                      <a:pt x="858"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0" name="Google Shape;212;p17">
                <a:extLst>
                  <a:ext uri="{FF2B5EF4-FFF2-40B4-BE49-F238E27FC236}">
                    <a16:creationId xmlns:a16="http://schemas.microsoft.com/office/drawing/2014/main" id="{0EE59A61-5A81-1875-F1F8-5D112AD5214E}"/>
                  </a:ext>
                </a:extLst>
              </p:cNvPr>
              <p:cNvSpPr/>
              <p:nvPr/>
            </p:nvSpPr>
            <p:spPr>
              <a:xfrm>
                <a:off x="3757000" y="1674538"/>
                <a:ext cx="43175" cy="43175"/>
              </a:xfrm>
              <a:custGeom>
                <a:avLst/>
                <a:gdLst/>
                <a:ahLst/>
                <a:cxnLst/>
                <a:rect l="l" t="t" r="r" b="b"/>
                <a:pathLst>
                  <a:path w="1727" h="1727" extrusionOk="0">
                    <a:moveTo>
                      <a:pt x="869" y="0"/>
                    </a:moveTo>
                    <a:cubicBezTo>
                      <a:pt x="393" y="0"/>
                      <a:pt x="0" y="393"/>
                      <a:pt x="0" y="869"/>
                    </a:cubicBezTo>
                    <a:cubicBezTo>
                      <a:pt x="0" y="1346"/>
                      <a:pt x="393" y="1727"/>
                      <a:pt x="869" y="1727"/>
                    </a:cubicBezTo>
                    <a:cubicBezTo>
                      <a:pt x="1346" y="1727"/>
                      <a:pt x="1727" y="1346"/>
                      <a:pt x="1727" y="869"/>
                    </a:cubicBezTo>
                    <a:cubicBezTo>
                      <a:pt x="1727" y="393"/>
                      <a:pt x="1346" y="0"/>
                      <a:pt x="869"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1" name="Google Shape;213;p17">
                <a:extLst>
                  <a:ext uri="{FF2B5EF4-FFF2-40B4-BE49-F238E27FC236}">
                    <a16:creationId xmlns:a16="http://schemas.microsoft.com/office/drawing/2014/main" id="{DFA8ADC8-04EA-45A6-A373-C77CDA20F768}"/>
                  </a:ext>
                </a:extLst>
              </p:cNvPr>
              <p:cNvSpPr/>
              <p:nvPr/>
            </p:nvSpPr>
            <p:spPr>
              <a:xfrm>
                <a:off x="3576600" y="2180538"/>
                <a:ext cx="532550" cy="14925"/>
              </a:xfrm>
              <a:custGeom>
                <a:avLst/>
                <a:gdLst/>
                <a:ahLst/>
                <a:cxnLst/>
                <a:rect l="l" t="t" r="r" b="b"/>
                <a:pathLst>
                  <a:path w="21302" h="597" extrusionOk="0">
                    <a:moveTo>
                      <a:pt x="1" y="1"/>
                    </a:moveTo>
                    <a:lnTo>
                      <a:pt x="1" y="596"/>
                    </a:lnTo>
                    <a:lnTo>
                      <a:pt x="21301" y="596"/>
                    </a:lnTo>
                    <a:lnTo>
                      <a:pt x="21301" y="1"/>
                    </a:ln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2" name="Google Shape;214;p17">
                <a:extLst>
                  <a:ext uri="{FF2B5EF4-FFF2-40B4-BE49-F238E27FC236}">
                    <a16:creationId xmlns:a16="http://schemas.microsoft.com/office/drawing/2014/main" id="{DF4027E5-8A2F-05B0-702B-083A79401671}"/>
                  </a:ext>
                </a:extLst>
              </p:cNvPr>
              <p:cNvSpPr/>
              <p:nvPr/>
            </p:nvSpPr>
            <p:spPr>
              <a:xfrm>
                <a:off x="3576600" y="2242763"/>
                <a:ext cx="532550" cy="14900"/>
              </a:xfrm>
              <a:custGeom>
                <a:avLst/>
                <a:gdLst/>
                <a:ahLst/>
                <a:cxnLst/>
                <a:rect l="l" t="t" r="r" b="b"/>
                <a:pathLst>
                  <a:path w="21302" h="596" extrusionOk="0">
                    <a:moveTo>
                      <a:pt x="1" y="0"/>
                    </a:moveTo>
                    <a:lnTo>
                      <a:pt x="1" y="596"/>
                    </a:lnTo>
                    <a:lnTo>
                      <a:pt x="21301" y="596"/>
                    </a:lnTo>
                    <a:lnTo>
                      <a:pt x="21301" y="0"/>
                    </a:ln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3" name="Google Shape;215;p17">
                <a:extLst>
                  <a:ext uri="{FF2B5EF4-FFF2-40B4-BE49-F238E27FC236}">
                    <a16:creationId xmlns:a16="http://schemas.microsoft.com/office/drawing/2014/main" id="{0B7140CE-485D-3C8F-5B20-E689DB2C8DAE}"/>
                  </a:ext>
                </a:extLst>
              </p:cNvPr>
              <p:cNvSpPr/>
              <p:nvPr/>
            </p:nvSpPr>
            <p:spPr>
              <a:xfrm>
                <a:off x="3576600" y="2304963"/>
                <a:ext cx="532550" cy="14900"/>
              </a:xfrm>
              <a:custGeom>
                <a:avLst/>
                <a:gdLst/>
                <a:ahLst/>
                <a:cxnLst/>
                <a:rect l="l" t="t" r="r" b="b"/>
                <a:pathLst>
                  <a:path w="21302" h="596" extrusionOk="0">
                    <a:moveTo>
                      <a:pt x="1" y="1"/>
                    </a:moveTo>
                    <a:lnTo>
                      <a:pt x="1" y="596"/>
                    </a:lnTo>
                    <a:lnTo>
                      <a:pt x="21301" y="596"/>
                    </a:lnTo>
                    <a:lnTo>
                      <a:pt x="21301" y="1"/>
                    </a:ln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4" name="Google Shape;216;p17">
                <a:extLst>
                  <a:ext uri="{FF2B5EF4-FFF2-40B4-BE49-F238E27FC236}">
                    <a16:creationId xmlns:a16="http://schemas.microsoft.com/office/drawing/2014/main" id="{9C68F16F-9145-33AE-218E-606A4755445E}"/>
                  </a:ext>
                </a:extLst>
              </p:cNvPr>
              <p:cNvSpPr/>
              <p:nvPr/>
            </p:nvSpPr>
            <p:spPr>
              <a:xfrm>
                <a:off x="4126975" y="2152263"/>
                <a:ext cx="56275" cy="39925"/>
              </a:xfrm>
              <a:custGeom>
                <a:avLst/>
                <a:gdLst/>
                <a:ahLst/>
                <a:cxnLst/>
                <a:rect l="l" t="t" r="r" b="b"/>
                <a:pathLst>
                  <a:path w="2251" h="1597" fill="none" extrusionOk="0">
                    <a:moveTo>
                      <a:pt x="1" y="953"/>
                    </a:moveTo>
                    <a:lnTo>
                      <a:pt x="644" y="1596"/>
                    </a:lnTo>
                    <a:lnTo>
                      <a:pt x="2251" y="1"/>
                    </a:lnTo>
                  </a:path>
                </a:pathLst>
              </a:custGeom>
              <a:noFill/>
              <a:ln w="7450" cap="rnd"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5" name="Google Shape;217;p17">
                <a:extLst>
                  <a:ext uri="{FF2B5EF4-FFF2-40B4-BE49-F238E27FC236}">
                    <a16:creationId xmlns:a16="http://schemas.microsoft.com/office/drawing/2014/main" id="{C1E74B01-73F9-A1E8-C5DA-587BE9BB9FA3}"/>
                  </a:ext>
                </a:extLst>
              </p:cNvPr>
              <p:cNvSpPr/>
              <p:nvPr/>
            </p:nvSpPr>
            <p:spPr>
              <a:xfrm>
                <a:off x="4126975" y="2217763"/>
                <a:ext cx="56275" cy="39900"/>
              </a:xfrm>
              <a:custGeom>
                <a:avLst/>
                <a:gdLst/>
                <a:ahLst/>
                <a:cxnLst/>
                <a:rect l="l" t="t" r="r" b="b"/>
                <a:pathLst>
                  <a:path w="2251" h="1596" fill="none" extrusionOk="0">
                    <a:moveTo>
                      <a:pt x="1" y="953"/>
                    </a:moveTo>
                    <a:lnTo>
                      <a:pt x="644" y="1596"/>
                    </a:lnTo>
                    <a:lnTo>
                      <a:pt x="2251" y="0"/>
                    </a:lnTo>
                  </a:path>
                </a:pathLst>
              </a:custGeom>
              <a:noFill/>
              <a:ln w="7450" cap="rnd"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6" name="Google Shape;218;p17">
                <a:extLst>
                  <a:ext uri="{FF2B5EF4-FFF2-40B4-BE49-F238E27FC236}">
                    <a16:creationId xmlns:a16="http://schemas.microsoft.com/office/drawing/2014/main" id="{84982058-BD37-B34F-62AE-8285807317A4}"/>
                  </a:ext>
                </a:extLst>
              </p:cNvPr>
              <p:cNvSpPr/>
              <p:nvPr/>
            </p:nvSpPr>
            <p:spPr>
              <a:xfrm>
                <a:off x="4126975" y="2279963"/>
                <a:ext cx="56275" cy="40200"/>
              </a:xfrm>
              <a:custGeom>
                <a:avLst/>
                <a:gdLst/>
                <a:ahLst/>
                <a:cxnLst/>
                <a:rect l="l" t="t" r="r" b="b"/>
                <a:pathLst>
                  <a:path w="2251" h="1608" fill="none" extrusionOk="0">
                    <a:moveTo>
                      <a:pt x="1" y="953"/>
                    </a:moveTo>
                    <a:lnTo>
                      <a:pt x="644" y="1608"/>
                    </a:lnTo>
                    <a:lnTo>
                      <a:pt x="2251" y="1"/>
                    </a:lnTo>
                  </a:path>
                </a:pathLst>
              </a:custGeom>
              <a:noFill/>
              <a:ln w="7450" cap="rnd"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7" name="Google Shape;219;p17">
                <a:extLst>
                  <a:ext uri="{FF2B5EF4-FFF2-40B4-BE49-F238E27FC236}">
                    <a16:creationId xmlns:a16="http://schemas.microsoft.com/office/drawing/2014/main" id="{F4837410-559F-B5DC-9779-F19675035169}"/>
                  </a:ext>
                </a:extLst>
              </p:cNvPr>
              <p:cNvSpPr/>
              <p:nvPr/>
            </p:nvSpPr>
            <p:spPr>
              <a:xfrm>
                <a:off x="3903425" y="1818888"/>
                <a:ext cx="301550" cy="296800"/>
              </a:xfrm>
              <a:custGeom>
                <a:avLst/>
                <a:gdLst/>
                <a:ahLst/>
                <a:cxnLst/>
                <a:rect l="l" t="t" r="r" b="b"/>
                <a:pathLst>
                  <a:path w="12062" h="11872" extrusionOk="0">
                    <a:moveTo>
                      <a:pt x="5966" y="3573"/>
                    </a:moveTo>
                    <a:cubicBezTo>
                      <a:pt x="7169" y="3573"/>
                      <a:pt x="8133" y="4549"/>
                      <a:pt x="8133" y="5716"/>
                    </a:cubicBezTo>
                    <a:cubicBezTo>
                      <a:pt x="8133" y="6894"/>
                      <a:pt x="7157" y="7859"/>
                      <a:pt x="5966" y="7859"/>
                    </a:cubicBezTo>
                    <a:cubicBezTo>
                      <a:pt x="4763" y="7859"/>
                      <a:pt x="3787" y="6894"/>
                      <a:pt x="3787" y="5716"/>
                    </a:cubicBezTo>
                    <a:cubicBezTo>
                      <a:pt x="3787" y="4549"/>
                      <a:pt x="4763" y="3573"/>
                      <a:pt x="5966" y="3573"/>
                    </a:cubicBezTo>
                    <a:close/>
                    <a:moveTo>
                      <a:pt x="5418" y="1"/>
                    </a:moveTo>
                    <a:cubicBezTo>
                      <a:pt x="5133" y="1"/>
                      <a:pt x="4894" y="215"/>
                      <a:pt x="4859" y="501"/>
                    </a:cubicBezTo>
                    <a:lnTo>
                      <a:pt x="4775" y="1227"/>
                    </a:lnTo>
                    <a:cubicBezTo>
                      <a:pt x="4347" y="1346"/>
                      <a:pt x="3918" y="1501"/>
                      <a:pt x="3537" y="1727"/>
                    </a:cubicBezTo>
                    <a:lnTo>
                      <a:pt x="2942" y="1263"/>
                    </a:lnTo>
                    <a:cubicBezTo>
                      <a:pt x="2841" y="1184"/>
                      <a:pt x="2724" y="1147"/>
                      <a:pt x="2609" y="1147"/>
                    </a:cubicBezTo>
                    <a:cubicBezTo>
                      <a:pt x="2464" y="1147"/>
                      <a:pt x="2321" y="1205"/>
                      <a:pt x="2216" y="1310"/>
                    </a:cubicBezTo>
                    <a:lnTo>
                      <a:pt x="1287" y="2215"/>
                    </a:lnTo>
                    <a:cubicBezTo>
                      <a:pt x="1096" y="2418"/>
                      <a:pt x="1073" y="2727"/>
                      <a:pt x="1251" y="2954"/>
                    </a:cubicBezTo>
                    <a:lnTo>
                      <a:pt x="1751" y="3573"/>
                    </a:lnTo>
                    <a:cubicBezTo>
                      <a:pt x="1549" y="3930"/>
                      <a:pt x="1394" y="4299"/>
                      <a:pt x="1287" y="4704"/>
                    </a:cubicBezTo>
                    <a:lnTo>
                      <a:pt x="489" y="4799"/>
                    </a:lnTo>
                    <a:cubicBezTo>
                      <a:pt x="203" y="4823"/>
                      <a:pt x="1" y="5061"/>
                      <a:pt x="1" y="5347"/>
                    </a:cubicBezTo>
                    <a:lnTo>
                      <a:pt x="1" y="6609"/>
                    </a:lnTo>
                    <a:cubicBezTo>
                      <a:pt x="1" y="6894"/>
                      <a:pt x="203" y="7121"/>
                      <a:pt x="489" y="7156"/>
                    </a:cubicBezTo>
                    <a:lnTo>
                      <a:pt x="1334" y="7204"/>
                    </a:lnTo>
                    <a:cubicBezTo>
                      <a:pt x="1442" y="7561"/>
                      <a:pt x="1585" y="7918"/>
                      <a:pt x="1787" y="8252"/>
                    </a:cubicBezTo>
                    <a:lnTo>
                      <a:pt x="1251" y="8919"/>
                    </a:lnTo>
                    <a:cubicBezTo>
                      <a:pt x="1073" y="9145"/>
                      <a:pt x="1096" y="9442"/>
                      <a:pt x="1287" y="9633"/>
                    </a:cubicBezTo>
                    <a:lnTo>
                      <a:pt x="2216" y="10538"/>
                    </a:lnTo>
                    <a:cubicBezTo>
                      <a:pt x="2318" y="10647"/>
                      <a:pt x="2463" y="10701"/>
                      <a:pt x="2608" y="10701"/>
                    </a:cubicBezTo>
                    <a:cubicBezTo>
                      <a:pt x="2732" y="10701"/>
                      <a:pt x="2855" y="10662"/>
                      <a:pt x="2954" y="10585"/>
                    </a:cubicBezTo>
                    <a:lnTo>
                      <a:pt x="3632" y="10062"/>
                    </a:lnTo>
                    <a:cubicBezTo>
                      <a:pt x="3966" y="10264"/>
                      <a:pt x="4347" y="10407"/>
                      <a:pt x="4728" y="10526"/>
                    </a:cubicBezTo>
                    <a:lnTo>
                      <a:pt x="4835" y="11371"/>
                    </a:lnTo>
                    <a:cubicBezTo>
                      <a:pt x="4859" y="11657"/>
                      <a:pt x="5097" y="11871"/>
                      <a:pt x="5383" y="11871"/>
                    </a:cubicBezTo>
                    <a:lnTo>
                      <a:pt x="6680" y="11871"/>
                    </a:lnTo>
                    <a:cubicBezTo>
                      <a:pt x="6966" y="11871"/>
                      <a:pt x="7204" y="11657"/>
                      <a:pt x="7228" y="11371"/>
                    </a:cubicBezTo>
                    <a:lnTo>
                      <a:pt x="7323" y="10562"/>
                    </a:lnTo>
                    <a:cubicBezTo>
                      <a:pt x="7740" y="10454"/>
                      <a:pt x="8121" y="10288"/>
                      <a:pt x="8490" y="10097"/>
                    </a:cubicBezTo>
                    <a:lnTo>
                      <a:pt x="9145" y="10597"/>
                    </a:lnTo>
                    <a:cubicBezTo>
                      <a:pt x="9249" y="10679"/>
                      <a:pt x="9371" y="10719"/>
                      <a:pt x="9491" y="10719"/>
                    </a:cubicBezTo>
                    <a:cubicBezTo>
                      <a:pt x="9633" y="10719"/>
                      <a:pt x="9774" y="10665"/>
                      <a:pt x="9883" y="10562"/>
                    </a:cubicBezTo>
                    <a:lnTo>
                      <a:pt x="10788" y="9669"/>
                    </a:lnTo>
                    <a:cubicBezTo>
                      <a:pt x="10990" y="9466"/>
                      <a:pt x="11014" y="9157"/>
                      <a:pt x="10836" y="8930"/>
                    </a:cubicBezTo>
                    <a:lnTo>
                      <a:pt x="10324" y="8311"/>
                    </a:lnTo>
                    <a:cubicBezTo>
                      <a:pt x="10538" y="7954"/>
                      <a:pt x="10693" y="7585"/>
                      <a:pt x="10800" y="7180"/>
                    </a:cubicBezTo>
                    <a:lnTo>
                      <a:pt x="11574" y="7085"/>
                    </a:lnTo>
                    <a:cubicBezTo>
                      <a:pt x="11860" y="7061"/>
                      <a:pt x="12062" y="6823"/>
                      <a:pt x="12062" y="6537"/>
                    </a:cubicBezTo>
                    <a:lnTo>
                      <a:pt x="12062" y="5275"/>
                    </a:lnTo>
                    <a:cubicBezTo>
                      <a:pt x="12062" y="4990"/>
                      <a:pt x="11860" y="4763"/>
                      <a:pt x="11574" y="4728"/>
                    </a:cubicBezTo>
                    <a:lnTo>
                      <a:pt x="10812" y="4632"/>
                    </a:lnTo>
                    <a:cubicBezTo>
                      <a:pt x="10717" y="4239"/>
                      <a:pt x="10550" y="3858"/>
                      <a:pt x="10359" y="3513"/>
                    </a:cubicBezTo>
                    <a:lnTo>
                      <a:pt x="10836" y="2942"/>
                    </a:lnTo>
                    <a:cubicBezTo>
                      <a:pt x="11014" y="2715"/>
                      <a:pt x="10979" y="2418"/>
                      <a:pt x="10788" y="2227"/>
                    </a:cubicBezTo>
                    <a:lnTo>
                      <a:pt x="9859" y="1310"/>
                    </a:lnTo>
                    <a:cubicBezTo>
                      <a:pt x="9756" y="1207"/>
                      <a:pt x="9614" y="1156"/>
                      <a:pt x="9469" y="1156"/>
                    </a:cubicBezTo>
                    <a:cubicBezTo>
                      <a:pt x="9348" y="1156"/>
                      <a:pt x="9225" y="1192"/>
                      <a:pt x="9121" y="1263"/>
                    </a:cubicBezTo>
                    <a:lnTo>
                      <a:pt x="8538" y="1715"/>
                    </a:lnTo>
                    <a:cubicBezTo>
                      <a:pt x="8169" y="1489"/>
                      <a:pt x="7764" y="1322"/>
                      <a:pt x="7335" y="1227"/>
                    </a:cubicBezTo>
                    <a:lnTo>
                      <a:pt x="7240" y="501"/>
                    </a:lnTo>
                    <a:cubicBezTo>
                      <a:pt x="7216" y="215"/>
                      <a:pt x="6978" y="1"/>
                      <a:pt x="6692" y="1"/>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48" name="Google Shape;220;p17">
            <a:extLst>
              <a:ext uri="{FF2B5EF4-FFF2-40B4-BE49-F238E27FC236}">
                <a16:creationId xmlns:a16="http://schemas.microsoft.com/office/drawing/2014/main" id="{540386BA-6BF9-71DE-FE5C-62E33AC9B34E}"/>
              </a:ext>
            </a:extLst>
          </p:cNvPr>
          <p:cNvGrpSpPr/>
          <p:nvPr/>
        </p:nvGrpSpPr>
        <p:grpSpPr>
          <a:xfrm>
            <a:off x="8126307" y="2251648"/>
            <a:ext cx="3227493" cy="1450000"/>
            <a:chOff x="6143300" y="1484200"/>
            <a:chExt cx="2420620" cy="1087500"/>
          </a:xfrm>
        </p:grpSpPr>
        <p:sp>
          <p:nvSpPr>
            <p:cNvPr id="49" name="Google Shape;221;p17">
              <a:extLst>
                <a:ext uri="{FF2B5EF4-FFF2-40B4-BE49-F238E27FC236}">
                  <a16:creationId xmlns:a16="http://schemas.microsoft.com/office/drawing/2014/main" id="{365ED26B-0CC4-0BDA-6A3E-94B684853E13}"/>
                </a:ext>
              </a:extLst>
            </p:cNvPr>
            <p:cNvSpPr/>
            <p:nvPr/>
          </p:nvSpPr>
          <p:spPr>
            <a:xfrm>
              <a:off x="6675120" y="1484200"/>
              <a:ext cx="1888800" cy="10875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nvGrpSpPr>
            <p:cNvPr id="50" name="Google Shape;222;p17">
              <a:extLst>
                <a:ext uri="{FF2B5EF4-FFF2-40B4-BE49-F238E27FC236}">
                  <a16:creationId xmlns:a16="http://schemas.microsoft.com/office/drawing/2014/main" id="{A1121882-B5CF-2ABA-136D-482A81D89088}"/>
                </a:ext>
              </a:extLst>
            </p:cNvPr>
            <p:cNvGrpSpPr/>
            <p:nvPr/>
          </p:nvGrpSpPr>
          <p:grpSpPr>
            <a:xfrm>
              <a:off x="6143300" y="1629888"/>
              <a:ext cx="919775" cy="842100"/>
              <a:chOff x="6143300" y="1629888"/>
              <a:chExt cx="919775" cy="842100"/>
            </a:xfrm>
          </p:grpSpPr>
          <p:sp>
            <p:nvSpPr>
              <p:cNvPr id="51" name="Google Shape;223;p17">
                <a:extLst>
                  <a:ext uri="{FF2B5EF4-FFF2-40B4-BE49-F238E27FC236}">
                    <a16:creationId xmlns:a16="http://schemas.microsoft.com/office/drawing/2014/main" id="{CC7654D5-924C-A756-3A24-BB6AE843BA87}"/>
                  </a:ext>
                </a:extLst>
              </p:cNvPr>
              <p:cNvSpPr/>
              <p:nvPr/>
            </p:nvSpPr>
            <p:spPr>
              <a:xfrm>
                <a:off x="6277250" y="1641188"/>
                <a:ext cx="774825" cy="774825"/>
              </a:xfrm>
              <a:custGeom>
                <a:avLst/>
                <a:gdLst/>
                <a:ahLst/>
                <a:cxnLst/>
                <a:rect l="l" t="t" r="r" b="b"/>
                <a:pathLst>
                  <a:path w="30993" h="30993" extrusionOk="0">
                    <a:moveTo>
                      <a:pt x="3013" y="1"/>
                    </a:moveTo>
                    <a:cubicBezTo>
                      <a:pt x="1358" y="1"/>
                      <a:pt x="0" y="1334"/>
                      <a:pt x="0" y="3001"/>
                    </a:cubicBezTo>
                    <a:lnTo>
                      <a:pt x="0" y="27992"/>
                    </a:lnTo>
                    <a:cubicBezTo>
                      <a:pt x="0" y="29647"/>
                      <a:pt x="1346" y="30993"/>
                      <a:pt x="3013" y="30993"/>
                    </a:cubicBezTo>
                    <a:lnTo>
                      <a:pt x="3013" y="30981"/>
                    </a:lnTo>
                    <a:lnTo>
                      <a:pt x="27980" y="30981"/>
                    </a:lnTo>
                    <a:cubicBezTo>
                      <a:pt x="29635" y="30981"/>
                      <a:pt x="30992" y="29647"/>
                      <a:pt x="30992" y="27980"/>
                    </a:cubicBezTo>
                    <a:lnTo>
                      <a:pt x="30992" y="3001"/>
                    </a:lnTo>
                    <a:cubicBezTo>
                      <a:pt x="30992" y="1358"/>
                      <a:pt x="29647" y="1"/>
                      <a:pt x="27980" y="1"/>
                    </a:cubicBezTo>
                    <a:close/>
                  </a:path>
                </a:pathLst>
              </a:custGeom>
              <a:solidFill>
                <a:srgbClr val="FFFFFF"/>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52" name="Google Shape;224;p17">
                <a:extLst>
                  <a:ext uri="{FF2B5EF4-FFF2-40B4-BE49-F238E27FC236}">
                    <a16:creationId xmlns:a16="http://schemas.microsoft.com/office/drawing/2014/main" id="{715CEACD-48B5-2B30-B344-E6C8AF0C222B}"/>
                  </a:ext>
                </a:extLst>
              </p:cNvPr>
              <p:cNvSpPr/>
              <p:nvPr/>
            </p:nvSpPr>
            <p:spPr>
              <a:xfrm>
                <a:off x="6266225" y="1629888"/>
                <a:ext cx="796850" cy="797150"/>
              </a:xfrm>
              <a:custGeom>
                <a:avLst/>
                <a:gdLst/>
                <a:ahLst/>
                <a:cxnLst/>
                <a:rect l="l" t="t" r="r" b="b"/>
                <a:pathLst>
                  <a:path w="31874" h="31886" extrusionOk="0">
                    <a:moveTo>
                      <a:pt x="28421" y="893"/>
                    </a:moveTo>
                    <a:cubicBezTo>
                      <a:pt x="29838" y="893"/>
                      <a:pt x="30981" y="2048"/>
                      <a:pt x="30981" y="3453"/>
                    </a:cubicBezTo>
                    <a:lnTo>
                      <a:pt x="30981" y="28432"/>
                    </a:lnTo>
                    <a:cubicBezTo>
                      <a:pt x="30981" y="29849"/>
                      <a:pt x="29838" y="30992"/>
                      <a:pt x="28421" y="30992"/>
                    </a:cubicBezTo>
                    <a:lnTo>
                      <a:pt x="3454" y="30992"/>
                    </a:lnTo>
                    <a:cubicBezTo>
                      <a:pt x="2037" y="30992"/>
                      <a:pt x="894" y="29849"/>
                      <a:pt x="894" y="28432"/>
                    </a:cubicBezTo>
                    <a:lnTo>
                      <a:pt x="894" y="3453"/>
                    </a:lnTo>
                    <a:cubicBezTo>
                      <a:pt x="894" y="2048"/>
                      <a:pt x="2037" y="893"/>
                      <a:pt x="3454" y="893"/>
                    </a:cubicBezTo>
                    <a:close/>
                    <a:moveTo>
                      <a:pt x="3454" y="0"/>
                    </a:moveTo>
                    <a:cubicBezTo>
                      <a:pt x="1549" y="0"/>
                      <a:pt x="1" y="1548"/>
                      <a:pt x="1" y="3453"/>
                    </a:cubicBezTo>
                    <a:lnTo>
                      <a:pt x="1" y="28432"/>
                    </a:lnTo>
                    <a:cubicBezTo>
                      <a:pt x="1" y="30337"/>
                      <a:pt x="1549" y="31885"/>
                      <a:pt x="3454" y="31885"/>
                    </a:cubicBezTo>
                    <a:lnTo>
                      <a:pt x="28421" y="31885"/>
                    </a:lnTo>
                    <a:cubicBezTo>
                      <a:pt x="30326" y="31885"/>
                      <a:pt x="31874" y="30337"/>
                      <a:pt x="31874" y="28432"/>
                    </a:cubicBezTo>
                    <a:lnTo>
                      <a:pt x="31874" y="3453"/>
                    </a:lnTo>
                    <a:cubicBezTo>
                      <a:pt x="31874" y="1548"/>
                      <a:pt x="30326" y="0"/>
                      <a:pt x="28421"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3" name="Google Shape;225;p17">
                <a:extLst>
                  <a:ext uri="{FF2B5EF4-FFF2-40B4-BE49-F238E27FC236}">
                    <a16:creationId xmlns:a16="http://schemas.microsoft.com/office/drawing/2014/main" id="{268C4B9A-274E-DF19-BDC3-8A30DF8E1BF8}"/>
                  </a:ext>
                </a:extLst>
              </p:cNvPr>
              <p:cNvSpPr/>
              <p:nvPr/>
            </p:nvSpPr>
            <p:spPr>
              <a:xfrm>
                <a:off x="6290650" y="1652213"/>
                <a:ext cx="748025" cy="114025"/>
              </a:xfrm>
              <a:custGeom>
                <a:avLst/>
                <a:gdLst/>
                <a:ahLst/>
                <a:cxnLst/>
                <a:rect l="l" t="t" r="r" b="b"/>
                <a:pathLst>
                  <a:path w="29921" h="4561" extrusionOk="0">
                    <a:moveTo>
                      <a:pt x="5501" y="0"/>
                    </a:moveTo>
                    <a:cubicBezTo>
                      <a:pt x="2750" y="0"/>
                      <a:pt x="500" y="1965"/>
                      <a:pt x="0" y="4560"/>
                    </a:cubicBezTo>
                    <a:lnTo>
                      <a:pt x="29921" y="4560"/>
                    </a:lnTo>
                    <a:cubicBezTo>
                      <a:pt x="29432" y="1965"/>
                      <a:pt x="27158" y="0"/>
                      <a:pt x="24420"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4" name="Google Shape;226;p17">
                <a:extLst>
                  <a:ext uri="{FF2B5EF4-FFF2-40B4-BE49-F238E27FC236}">
                    <a16:creationId xmlns:a16="http://schemas.microsoft.com/office/drawing/2014/main" id="{E76A9BBD-73BA-3823-6BDE-0D68F84BC4EC}"/>
                  </a:ext>
                </a:extLst>
              </p:cNvPr>
              <p:cNvSpPr/>
              <p:nvPr/>
            </p:nvSpPr>
            <p:spPr>
              <a:xfrm>
                <a:off x="6363875" y="1674538"/>
                <a:ext cx="43175" cy="43175"/>
              </a:xfrm>
              <a:custGeom>
                <a:avLst/>
                <a:gdLst/>
                <a:ahLst/>
                <a:cxnLst/>
                <a:rect l="l" t="t" r="r" b="b"/>
                <a:pathLst>
                  <a:path w="1727" h="1727" extrusionOk="0">
                    <a:moveTo>
                      <a:pt x="869" y="0"/>
                    </a:moveTo>
                    <a:cubicBezTo>
                      <a:pt x="393" y="0"/>
                      <a:pt x="0" y="393"/>
                      <a:pt x="0" y="869"/>
                    </a:cubicBezTo>
                    <a:cubicBezTo>
                      <a:pt x="0" y="1346"/>
                      <a:pt x="393" y="1727"/>
                      <a:pt x="869" y="1727"/>
                    </a:cubicBezTo>
                    <a:cubicBezTo>
                      <a:pt x="1345" y="1727"/>
                      <a:pt x="1726" y="1346"/>
                      <a:pt x="1726" y="869"/>
                    </a:cubicBezTo>
                    <a:cubicBezTo>
                      <a:pt x="1726" y="393"/>
                      <a:pt x="1345" y="0"/>
                      <a:pt x="869"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5" name="Google Shape;227;p17">
                <a:extLst>
                  <a:ext uri="{FF2B5EF4-FFF2-40B4-BE49-F238E27FC236}">
                    <a16:creationId xmlns:a16="http://schemas.microsoft.com/office/drawing/2014/main" id="{57E85485-EC51-298D-AB09-59B24E027909}"/>
                  </a:ext>
                </a:extLst>
              </p:cNvPr>
              <p:cNvSpPr/>
              <p:nvPr/>
            </p:nvSpPr>
            <p:spPr>
              <a:xfrm>
                <a:off x="6448400" y="1674538"/>
                <a:ext cx="43175" cy="43175"/>
              </a:xfrm>
              <a:custGeom>
                <a:avLst/>
                <a:gdLst/>
                <a:ahLst/>
                <a:cxnLst/>
                <a:rect l="l" t="t" r="r" b="b"/>
                <a:pathLst>
                  <a:path w="1727" h="1727" extrusionOk="0">
                    <a:moveTo>
                      <a:pt x="870" y="0"/>
                    </a:moveTo>
                    <a:cubicBezTo>
                      <a:pt x="393" y="0"/>
                      <a:pt x="0" y="393"/>
                      <a:pt x="0" y="869"/>
                    </a:cubicBezTo>
                    <a:cubicBezTo>
                      <a:pt x="0" y="1346"/>
                      <a:pt x="393" y="1727"/>
                      <a:pt x="870" y="1727"/>
                    </a:cubicBezTo>
                    <a:cubicBezTo>
                      <a:pt x="1346" y="1727"/>
                      <a:pt x="1727" y="1346"/>
                      <a:pt x="1727" y="869"/>
                    </a:cubicBezTo>
                    <a:cubicBezTo>
                      <a:pt x="1727" y="393"/>
                      <a:pt x="1346" y="0"/>
                      <a:pt x="870"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6" name="Google Shape;228;p17">
                <a:extLst>
                  <a:ext uri="{FF2B5EF4-FFF2-40B4-BE49-F238E27FC236}">
                    <a16:creationId xmlns:a16="http://schemas.microsoft.com/office/drawing/2014/main" id="{C9B73E49-3081-5B0E-48F9-B0D13508A435}"/>
                  </a:ext>
                </a:extLst>
              </p:cNvPr>
              <p:cNvSpPr/>
              <p:nvPr/>
            </p:nvSpPr>
            <p:spPr>
              <a:xfrm>
                <a:off x="6532925" y="1674538"/>
                <a:ext cx="43200" cy="43175"/>
              </a:xfrm>
              <a:custGeom>
                <a:avLst/>
                <a:gdLst/>
                <a:ahLst/>
                <a:cxnLst/>
                <a:rect l="l" t="t" r="r" b="b"/>
                <a:pathLst>
                  <a:path w="1728" h="1727" extrusionOk="0">
                    <a:moveTo>
                      <a:pt x="870" y="0"/>
                    </a:moveTo>
                    <a:cubicBezTo>
                      <a:pt x="382" y="0"/>
                      <a:pt x="1" y="393"/>
                      <a:pt x="1" y="869"/>
                    </a:cubicBezTo>
                    <a:cubicBezTo>
                      <a:pt x="1" y="1346"/>
                      <a:pt x="382" y="1727"/>
                      <a:pt x="870" y="1727"/>
                    </a:cubicBezTo>
                    <a:cubicBezTo>
                      <a:pt x="1346" y="1727"/>
                      <a:pt x="1727" y="1346"/>
                      <a:pt x="1727" y="869"/>
                    </a:cubicBezTo>
                    <a:cubicBezTo>
                      <a:pt x="1727" y="393"/>
                      <a:pt x="1346" y="0"/>
                      <a:pt x="870" y="0"/>
                    </a:cubicBezTo>
                    <a:close/>
                  </a:path>
                </a:pathLst>
              </a:custGeom>
              <a:solidFill>
                <a:srgbClr val="FEFEFE"/>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7" name="Google Shape;232;p17">
                <a:extLst>
                  <a:ext uri="{FF2B5EF4-FFF2-40B4-BE49-F238E27FC236}">
                    <a16:creationId xmlns:a16="http://schemas.microsoft.com/office/drawing/2014/main" id="{B0636F5B-AAC9-BBB5-C296-0092D9F70B28}"/>
                  </a:ext>
                </a:extLst>
              </p:cNvPr>
              <p:cNvSpPr/>
              <p:nvPr/>
            </p:nvSpPr>
            <p:spPr>
              <a:xfrm>
                <a:off x="6143300" y="2220738"/>
                <a:ext cx="273875" cy="251250"/>
              </a:xfrm>
              <a:custGeom>
                <a:avLst/>
                <a:gdLst/>
                <a:ahLst/>
                <a:cxnLst/>
                <a:rect l="l" t="t" r="r" b="b"/>
                <a:pathLst>
                  <a:path w="10955" h="10050" extrusionOk="0">
                    <a:moveTo>
                      <a:pt x="679" y="0"/>
                    </a:moveTo>
                    <a:cubicBezTo>
                      <a:pt x="298" y="0"/>
                      <a:pt x="1" y="298"/>
                      <a:pt x="1" y="667"/>
                    </a:cubicBezTo>
                    <a:lnTo>
                      <a:pt x="1" y="9382"/>
                    </a:lnTo>
                    <a:cubicBezTo>
                      <a:pt x="1" y="9751"/>
                      <a:pt x="298" y="10049"/>
                      <a:pt x="679" y="10049"/>
                    </a:cubicBezTo>
                    <a:lnTo>
                      <a:pt x="10288" y="10049"/>
                    </a:lnTo>
                    <a:cubicBezTo>
                      <a:pt x="10657" y="10049"/>
                      <a:pt x="10954" y="9751"/>
                      <a:pt x="10954" y="9382"/>
                    </a:cubicBezTo>
                    <a:lnTo>
                      <a:pt x="10954" y="667"/>
                    </a:lnTo>
                    <a:cubicBezTo>
                      <a:pt x="10954" y="298"/>
                      <a:pt x="10657" y="0"/>
                      <a:pt x="10288" y="0"/>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8" name="Google Shape;233;p17">
                <a:extLst>
                  <a:ext uri="{FF2B5EF4-FFF2-40B4-BE49-F238E27FC236}">
                    <a16:creationId xmlns:a16="http://schemas.microsoft.com/office/drawing/2014/main" id="{85AEEA47-3A4C-C9C5-2A42-60811BF083A3}"/>
                  </a:ext>
                </a:extLst>
              </p:cNvPr>
              <p:cNvSpPr/>
              <p:nvPr/>
            </p:nvSpPr>
            <p:spPr>
              <a:xfrm>
                <a:off x="6181700" y="2048688"/>
                <a:ext cx="197375" cy="262550"/>
              </a:xfrm>
              <a:custGeom>
                <a:avLst/>
                <a:gdLst/>
                <a:ahLst/>
                <a:cxnLst/>
                <a:rect l="l" t="t" r="r" b="b"/>
                <a:pathLst>
                  <a:path w="7895" h="10502" extrusionOk="0">
                    <a:moveTo>
                      <a:pt x="3941" y="977"/>
                    </a:moveTo>
                    <a:cubicBezTo>
                      <a:pt x="5584" y="977"/>
                      <a:pt x="6918" y="2322"/>
                      <a:pt x="6918" y="3953"/>
                    </a:cubicBezTo>
                    <a:lnTo>
                      <a:pt x="6918" y="9549"/>
                    </a:lnTo>
                    <a:lnTo>
                      <a:pt x="965" y="9549"/>
                    </a:lnTo>
                    <a:lnTo>
                      <a:pt x="965" y="3953"/>
                    </a:lnTo>
                    <a:cubicBezTo>
                      <a:pt x="965" y="2322"/>
                      <a:pt x="2310" y="977"/>
                      <a:pt x="3941" y="977"/>
                    </a:cubicBezTo>
                    <a:close/>
                    <a:moveTo>
                      <a:pt x="3941" y="0"/>
                    </a:moveTo>
                    <a:cubicBezTo>
                      <a:pt x="1774" y="0"/>
                      <a:pt x="0" y="1763"/>
                      <a:pt x="0" y="3941"/>
                    </a:cubicBezTo>
                    <a:lnTo>
                      <a:pt x="0" y="10025"/>
                    </a:lnTo>
                    <a:cubicBezTo>
                      <a:pt x="0" y="10299"/>
                      <a:pt x="215" y="10502"/>
                      <a:pt x="477" y="10502"/>
                    </a:cubicBezTo>
                    <a:lnTo>
                      <a:pt x="7394" y="10502"/>
                    </a:lnTo>
                    <a:cubicBezTo>
                      <a:pt x="7668" y="10502"/>
                      <a:pt x="7894" y="10299"/>
                      <a:pt x="7894" y="10025"/>
                    </a:cubicBezTo>
                    <a:lnTo>
                      <a:pt x="7894" y="3941"/>
                    </a:lnTo>
                    <a:cubicBezTo>
                      <a:pt x="7894" y="1763"/>
                      <a:pt x="6120" y="0"/>
                      <a:pt x="3941" y="0"/>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9" name="Google Shape;234;p17">
                <a:extLst>
                  <a:ext uri="{FF2B5EF4-FFF2-40B4-BE49-F238E27FC236}">
                    <a16:creationId xmlns:a16="http://schemas.microsoft.com/office/drawing/2014/main" id="{E6286F1A-640E-5E73-B3AF-B0AC6E2CE54B}"/>
                  </a:ext>
                </a:extLst>
              </p:cNvPr>
              <p:cNvSpPr/>
              <p:nvPr/>
            </p:nvSpPr>
            <p:spPr>
              <a:xfrm>
                <a:off x="6236775" y="2288288"/>
                <a:ext cx="87225" cy="86950"/>
              </a:xfrm>
              <a:custGeom>
                <a:avLst/>
                <a:gdLst/>
                <a:ahLst/>
                <a:cxnLst/>
                <a:rect l="l" t="t" r="r" b="b"/>
                <a:pathLst>
                  <a:path w="3489" h="3478" extrusionOk="0">
                    <a:moveTo>
                      <a:pt x="1738" y="1"/>
                    </a:moveTo>
                    <a:cubicBezTo>
                      <a:pt x="774" y="1"/>
                      <a:pt x="0" y="775"/>
                      <a:pt x="0" y="1739"/>
                    </a:cubicBezTo>
                    <a:cubicBezTo>
                      <a:pt x="0" y="2704"/>
                      <a:pt x="774" y="3478"/>
                      <a:pt x="1738" y="3478"/>
                    </a:cubicBezTo>
                    <a:cubicBezTo>
                      <a:pt x="2703" y="3478"/>
                      <a:pt x="3489" y="2704"/>
                      <a:pt x="3489" y="1739"/>
                    </a:cubicBezTo>
                    <a:cubicBezTo>
                      <a:pt x="3489" y="775"/>
                      <a:pt x="2703" y="1"/>
                      <a:pt x="1738"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0" name="Google Shape;235;p17">
                <a:extLst>
                  <a:ext uri="{FF2B5EF4-FFF2-40B4-BE49-F238E27FC236}">
                    <a16:creationId xmlns:a16="http://schemas.microsoft.com/office/drawing/2014/main" id="{9CC81953-5A86-64C4-7091-0E7C187EF15A}"/>
                  </a:ext>
                </a:extLst>
              </p:cNvPr>
              <p:cNvSpPr/>
              <p:nvPr/>
            </p:nvSpPr>
            <p:spPr>
              <a:xfrm>
                <a:off x="6260575" y="2359438"/>
                <a:ext cx="39625" cy="45275"/>
              </a:xfrm>
              <a:custGeom>
                <a:avLst/>
                <a:gdLst/>
                <a:ahLst/>
                <a:cxnLst/>
                <a:rect l="l" t="t" r="r" b="b"/>
                <a:pathLst>
                  <a:path w="1585" h="1811" extrusionOk="0">
                    <a:moveTo>
                      <a:pt x="1" y="0"/>
                    </a:moveTo>
                    <a:lnTo>
                      <a:pt x="1" y="1810"/>
                    </a:lnTo>
                    <a:lnTo>
                      <a:pt x="1584" y="1810"/>
                    </a:lnTo>
                    <a:lnTo>
                      <a:pt x="1584" y="0"/>
                    </a:ln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1" name="Google Shape;237;p17">
                <a:extLst>
                  <a:ext uri="{FF2B5EF4-FFF2-40B4-BE49-F238E27FC236}">
                    <a16:creationId xmlns:a16="http://schemas.microsoft.com/office/drawing/2014/main" id="{ECC69360-1DDE-F399-9C5C-953067955E8F}"/>
                  </a:ext>
                </a:extLst>
              </p:cNvPr>
              <p:cNvSpPr/>
              <p:nvPr/>
            </p:nvSpPr>
            <p:spPr>
              <a:xfrm>
                <a:off x="6858875" y="2183513"/>
                <a:ext cx="71450" cy="71475"/>
              </a:xfrm>
              <a:custGeom>
                <a:avLst/>
                <a:gdLst/>
                <a:ahLst/>
                <a:cxnLst/>
                <a:rect l="l" t="t" r="r" b="b"/>
                <a:pathLst>
                  <a:path w="2858" h="2859" extrusionOk="0">
                    <a:moveTo>
                      <a:pt x="1429" y="1"/>
                    </a:moveTo>
                    <a:cubicBezTo>
                      <a:pt x="643" y="1"/>
                      <a:pt x="0" y="644"/>
                      <a:pt x="0" y="1430"/>
                    </a:cubicBezTo>
                    <a:cubicBezTo>
                      <a:pt x="0" y="2227"/>
                      <a:pt x="643" y="2858"/>
                      <a:pt x="1429" y="2858"/>
                    </a:cubicBezTo>
                    <a:cubicBezTo>
                      <a:pt x="2215" y="2858"/>
                      <a:pt x="2858" y="2227"/>
                      <a:pt x="2858" y="1430"/>
                    </a:cubicBezTo>
                    <a:cubicBezTo>
                      <a:pt x="2858" y="644"/>
                      <a:pt x="2215" y="1"/>
                      <a:pt x="1429"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2" name="Google Shape;238;p17">
                <a:extLst>
                  <a:ext uri="{FF2B5EF4-FFF2-40B4-BE49-F238E27FC236}">
                    <a16:creationId xmlns:a16="http://schemas.microsoft.com/office/drawing/2014/main" id="{8447B483-5376-3CC4-B884-87CBA26FD0F1}"/>
                  </a:ext>
                </a:extLst>
              </p:cNvPr>
              <p:cNvSpPr/>
              <p:nvPr/>
            </p:nvSpPr>
            <p:spPr>
              <a:xfrm>
                <a:off x="6815700" y="2183513"/>
                <a:ext cx="71475" cy="71475"/>
              </a:xfrm>
              <a:custGeom>
                <a:avLst/>
                <a:gdLst/>
                <a:ahLst/>
                <a:cxnLst/>
                <a:rect l="l" t="t" r="r" b="b"/>
                <a:pathLst>
                  <a:path w="2859" h="2859" extrusionOk="0">
                    <a:moveTo>
                      <a:pt x="1429" y="1"/>
                    </a:moveTo>
                    <a:cubicBezTo>
                      <a:pt x="644" y="1"/>
                      <a:pt x="1" y="644"/>
                      <a:pt x="1" y="1430"/>
                    </a:cubicBezTo>
                    <a:cubicBezTo>
                      <a:pt x="1" y="2227"/>
                      <a:pt x="644" y="2858"/>
                      <a:pt x="1429" y="2858"/>
                    </a:cubicBezTo>
                    <a:cubicBezTo>
                      <a:pt x="2215" y="2858"/>
                      <a:pt x="2858" y="2227"/>
                      <a:pt x="2858" y="1430"/>
                    </a:cubicBezTo>
                    <a:cubicBezTo>
                      <a:pt x="2858" y="644"/>
                      <a:pt x="2215" y="1"/>
                      <a:pt x="1429"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63" name="Google Shape;243;p17">
            <a:extLst>
              <a:ext uri="{FF2B5EF4-FFF2-40B4-BE49-F238E27FC236}">
                <a16:creationId xmlns:a16="http://schemas.microsoft.com/office/drawing/2014/main" id="{AE8DAC2D-6177-6CAE-8858-934DAE1E6193}"/>
              </a:ext>
            </a:extLst>
          </p:cNvPr>
          <p:cNvGrpSpPr/>
          <p:nvPr/>
        </p:nvGrpSpPr>
        <p:grpSpPr>
          <a:xfrm>
            <a:off x="4628124" y="4455766"/>
            <a:ext cx="3072067" cy="1536767"/>
            <a:chOff x="727750" y="3211525"/>
            <a:chExt cx="2304050" cy="1152575"/>
          </a:xfrm>
        </p:grpSpPr>
        <p:sp>
          <p:nvSpPr>
            <p:cNvPr id="64" name="Google Shape;244;p17">
              <a:extLst>
                <a:ext uri="{FF2B5EF4-FFF2-40B4-BE49-F238E27FC236}">
                  <a16:creationId xmlns:a16="http://schemas.microsoft.com/office/drawing/2014/main" id="{F0556DB6-CE61-DACB-9B74-9D29C455155F}"/>
                </a:ext>
              </a:extLst>
            </p:cNvPr>
            <p:cNvSpPr/>
            <p:nvPr/>
          </p:nvSpPr>
          <p:spPr>
            <a:xfrm>
              <a:off x="1143000" y="3276600"/>
              <a:ext cx="1888800" cy="10875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nvGrpSpPr>
            <p:cNvPr id="65" name="Google Shape;245;p17">
              <a:extLst>
                <a:ext uri="{FF2B5EF4-FFF2-40B4-BE49-F238E27FC236}">
                  <a16:creationId xmlns:a16="http://schemas.microsoft.com/office/drawing/2014/main" id="{1B9617C0-4495-24A1-89C9-8B213421D0AE}"/>
                </a:ext>
              </a:extLst>
            </p:cNvPr>
            <p:cNvGrpSpPr/>
            <p:nvPr/>
          </p:nvGrpSpPr>
          <p:grpSpPr>
            <a:xfrm>
              <a:off x="727750" y="3211525"/>
              <a:ext cx="895075" cy="1021600"/>
              <a:chOff x="727750" y="3211525"/>
              <a:chExt cx="895075" cy="1021600"/>
            </a:xfrm>
          </p:grpSpPr>
          <p:sp>
            <p:nvSpPr>
              <p:cNvPr id="66" name="Google Shape;246;p17">
                <a:extLst>
                  <a:ext uri="{FF2B5EF4-FFF2-40B4-BE49-F238E27FC236}">
                    <a16:creationId xmlns:a16="http://schemas.microsoft.com/office/drawing/2014/main" id="{5DFB4998-A82B-86A2-32D3-4D4D2E99698E}"/>
                  </a:ext>
                </a:extLst>
              </p:cNvPr>
              <p:cNvSpPr/>
              <p:nvPr/>
            </p:nvSpPr>
            <p:spPr>
              <a:xfrm>
                <a:off x="739050" y="3394900"/>
                <a:ext cx="774525" cy="775100"/>
              </a:xfrm>
              <a:custGeom>
                <a:avLst/>
                <a:gdLst/>
                <a:ahLst/>
                <a:cxnLst/>
                <a:rect l="l" t="t" r="r" b="b"/>
                <a:pathLst>
                  <a:path w="30981" h="31004" extrusionOk="0">
                    <a:moveTo>
                      <a:pt x="3001" y="0"/>
                    </a:moveTo>
                    <a:cubicBezTo>
                      <a:pt x="1358" y="0"/>
                      <a:pt x="1" y="1346"/>
                      <a:pt x="1" y="3012"/>
                    </a:cubicBezTo>
                    <a:lnTo>
                      <a:pt x="1" y="27992"/>
                    </a:lnTo>
                    <a:cubicBezTo>
                      <a:pt x="1" y="29647"/>
                      <a:pt x="1334" y="31004"/>
                      <a:pt x="3001" y="31004"/>
                    </a:cubicBezTo>
                    <a:lnTo>
                      <a:pt x="3001" y="30992"/>
                    </a:lnTo>
                    <a:lnTo>
                      <a:pt x="27980" y="30992"/>
                    </a:lnTo>
                    <a:cubicBezTo>
                      <a:pt x="29635" y="30992"/>
                      <a:pt x="30981" y="29647"/>
                      <a:pt x="30981" y="27980"/>
                    </a:cubicBezTo>
                    <a:lnTo>
                      <a:pt x="30981" y="3012"/>
                    </a:lnTo>
                    <a:cubicBezTo>
                      <a:pt x="30981" y="1358"/>
                      <a:pt x="29647" y="0"/>
                      <a:pt x="27980" y="0"/>
                    </a:cubicBezTo>
                    <a:close/>
                  </a:path>
                </a:pathLst>
              </a:custGeom>
              <a:solidFill>
                <a:srgbClr val="FFFFFF"/>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67" name="Google Shape;247;p17">
                <a:extLst>
                  <a:ext uri="{FF2B5EF4-FFF2-40B4-BE49-F238E27FC236}">
                    <a16:creationId xmlns:a16="http://schemas.microsoft.com/office/drawing/2014/main" id="{81CD00CD-4AE8-BC8D-2613-3216FE677AB9}"/>
                  </a:ext>
                </a:extLst>
              </p:cNvPr>
              <p:cNvSpPr/>
              <p:nvPr/>
            </p:nvSpPr>
            <p:spPr>
              <a:xfrm>
                <a:off x="727750" y="3383875"/>
                <a:ext cx="797150" cy="796850"/>
              </a:xfrm>
              <a:custGeom>
                <a:avLst/>
                <a:gdLst/>
                <a:ahLst/>
                <a:cxnLst/>
                <a:rect l="l" t="t" r="r" b="b"/>
                <a:pathLst>
                  <a:path w="31886" h="31874" extrusionOk="0">
                    <a:moveTo>
                      <a:pt x="28432" y="894"/>
                    </a:moveTo>
                    <a:cubicBezTo>
                      <a:pt x="29849" y="894"/>
                      <a:pt x="30992" y="2037"/>
                      <a:pt x="30992" y="3453"/>
                    </a:cubicBezTo>
                    <a:lnTo>
                      <a:pt x="30992" y="28421"/>
                    </a:lnTo>
                    <a:cubicBezTo>
                      <a:pt x="30992" y="29838"/>
                      <a:pt x="29849" y="30981"/>
                      <a:pt x="28432" y="30981"/>
                    </a:cubicBezTo>
                    <a:lnTo>
                      <a:pt x="3453" y="30981"/>
                    </a:lnTo>
                    <a:cubicBezTo>
                      <a:pt x="2048" y="30981"/>
                      <a:pt x="893" y="29838"/>
                      <a:pt x="893" y="28421"/>
                    </a:cubicBezTo>
                    <a:lnTo>
                      <a:pt x="893" y="3453"/>
                    </a:lnTo>
                    <a:cubicBezTo>
                      <a:pt x="893" y="2037"/>
                      <a:pt x="2048" y="894"/>
                      <a:pt x="3453" y="894"/>
                    </a:cubicBezTo>
                    <a:close/>
                    <a:moveTo>
                      <a:pt x="3453" y="1"/>
                    </a:moveTo>
                    <a:cubicBezTo>
                      <a:pt x="1548" y="1"/>
                      <a:pt x="0" y="1548"/>
                      <a:pt x="0" y="3453"/>
                    </a:cubicBezTo>
                    <a:lnTo>
                      <a:pt x="0" y="28421"/>
                    </a:lnTo>
                    <a:cubicBezTo>
                      <a:pt x="0" y="30326"/>
                      <a:pt x="1548" y="31874"/>
                      <a:pt x="3453" y="31874"/>
                    </a:cubicBezTo>
                    <a:lnTo>
                      <a:pt x="28432" y="31874"/>
                    </a:lnTo>
                    <a:cubicBezTo>
                      <a:pt x="30337" y="31874"/>
                      <a:pt x="31885" y="30326"/>
                      <a:pt x="31885" y="28421"/>
                    </a:cubicBezTo>
                    <a:lnTo>
                      <a:pt x="31885" y="3453"/>
                    </a:lnTo>
                    <a:cubicBezTo>
                      <a:pt x="31885" y="1548"/>
                      <a:pt x="30337" y="1"/>
                      <a:pt x="28432" y="1"/>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8" name="Google Shape;249;p17">
                <a:extLst>
                  <a:ext uri="{FF2B5EF4-FFF2-40B4-BE49-F238E27FC236}">
                    <a16:creationId xmlns:a16="http://schemas.microsoft.com/office/drawing/2014/main" id="{1FB7FAA7-5C8E-C71A-A7BB-F1550C00E053}"/>
                  </a:ext>
                </a:extLst>
              </p:cNvPr>
              <p:cNvSpPr/>
              <p:nvPr/>
            </p:nvSpPr>
            <p:spPr>
              <a:xfrm>
                <a:off x="1288225" y="3211525"/>
                <a:ext cx="52125" cy="11050"/>
              </a:xfrm>
              <a:custGeom>
                <a:avLst/>
                <a:gdLst/>
                <a:ahLst/>
                <a:cxnLst/>
                <a:rect l="l" t="t" r="r" b="b"/>
                <a:pathLst>
                  <a:path w="2085" h="442" extrusionOk="0">
                    <a:moveTo>
                      <a:pt x="227" y="1"/>
                    </a:moveTo>
                    <a:cubicBezTo>
                      <a:pt x="108" y="1"/>
                      <a:pt x="1" y="108"/>
                      <a:pt x="1" y="227"/>
                    </a:cubicBezTo>
                    <a:cubicBezTo>
                      <a:pt x="13" y="346"/>
                      <a:pt x="108" y="441"/>
                      <a:pt x="227" y="441"/>
                    </a:cubicBezTo>
                    <a:lnTo>
                      <a:pt x="1858" y="441"/>
                    </a:lnTo>
                    <a:cubicBezTo>
                      <a:pt x="1977" y="441"/>
                      <a:pt x="2084" y="346"/>
                      <a:pt x="2084" y="227"/>
                    </a:cubicBezTo>
                    <a:cubicBezTo>
                      <a:pt x="2084" y="108"/>
                      <a:pt x="1977" y="1"/>
                      <a:pt x="1858"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9" name="Google Shape;251;p17">
                <a:extLst>
                  <a:ext uri="{FF2B5EF4-FFF2-40B4-BE49-F238E27FC236}">
                    <a16:creationId xmlns:a16="http://schemas.microsoft.com/office/drawing/2014/main" id="{5226C1C0-9636-A2FD-76D1-27AB05EFB8DA}"/>
                  </a:ext>
                </a:extLst>
              </p:cNvPr>
              <p:cNvSpPr/>
              <p:nvPr/>
            </p:nvSpPr>
            <p:spPr>
              <a:xfrm>
                <a:off x="1281075" y="3658625"/>
                <a:ext cx="66400" cy="66400"/>
              </a:xfrm>
              <a:custGeom>
                <a:avLst/>
                <a:gdLst/>
                <a:ahLst/>
                <a:cxnLst/>
                <a:rect l="l" t="t" r="r" b="b"/>
                <a:pathLst>
                  <a:path w="2656" h="2656" extrusionOk="0">
                    <a:moveTo>
                      <a:pt x="1323" y="381"/>
                    </a:moveTo>
                    <a:cubicBezTo>
                      <a:pt x="1858" y="381"/>
                      <a:pt x="2275" y="810"/>
                      <a:pt x="2275" y="1334"/>
                    </a:cubicBezTo>
                    <a:cubicBezTo>
                      <a:pt x="2299" y="1869"/>
                      <a:pt x="1858" y="2286"/>
                      <a:pt x="1323" y="2286"/>
                    </a:cubicBezTo>
                    <a:cubicBezTo>
                      <a:pt x="787" y="2286"/>
                      <a:pt x="370" y="1846"/>
                      <a:pt x="370" y="1334"/>
                    </a:cubicBezTo>
                    <a:cubicBezTo>
                      <a:pt x="370" y="798"/>
                      <a:pt x="811" y="381"/>
                      <a:pt x="1323" y="381"/>
                    </a:cubicBezTo>
                    <a:close/>
                    <a:moveTo>
                      <a:pt x="1323" y="0"/>
                    </a:moveTo>
                    <a:cubicBezTo>
                      <a:pt x="596" y="0"/>
                      <a:pt x="1" y="595"/>
                      <a:pt x="1" y="1334"/>
                    </a:cubicBezTo>
                    <a:cubicBezTo>
                      <a:pt x="1" y="2060"/>
                      <a:pt x="596" y="2655"/>
                      <a:pt x="1323" y="2655"/>
                    </a:cubicBezTo>
                    <a:cubicBezTo>
                      <a:pt x="2049" y="2655"/>
                      <a:pt x="2644" y="2060"/>
                      <a:pt x="2644" y="1334"/>
                    </a:cubicBezTo>
                    <a:cubicBezTo>
                      <a:pt x="2656" y="595"/>
                      <a:pt x="2061" y="0"/>
                      <a:pt x="1323"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70" name="Google Shape;257;p17">
                <a:extLst>
                  <a:ext uri="{FF2B5EF4-FFF2-40B4-BE49-F238E27FC236}">
                    <a16:creationId xmlns:a16="http://schemas.microsoft.com/office/drawing/2014/main" id="{B617D13D-344D-7D89-C779-683D42A8D9E6}"/>
                  </a:ext>
                </a:extLst>
              </p:cNvPr>
              <p:cNvSpPr/>
              <p:nvPr/>
            </p:nvSpPr>
            <p:spPr>
              <a:xfrm>
                <a:off x="1190900" y="3761900"/>
                <a:ext cx="431925" cy="471225"/>
              </a:xfrm>
              <a:custGeom>
                <a:avLst/>
                <a:gdLst/>
                <a:ahLst/>
                <a:cxnLst/>
                <a:rect l="l" t="t" r="r" b="b"/>
                <a:pathLst>
                  <a:path w="17277" h="18849" extrusionOk="0">
                    <a:moveTo>
                      <a:pt x="8597" y="1"/>
                    </a:moveTo>
                    <a:cubicBezTo>
                      <a:pt x="7346" y="858"/>
                      <a:pt x="5703" y="1584"/>
                      <a:pt x="3834" y="2025"/>
                    </a:cubicBezTo>
                    <a:cubicBezTo>
                      <a:pt x="2590" y="2310"/>
                      <a:pt x="1357" y="2442"/>
                      <a:pt x="209" y="2442"/>
                    </a:cubicBezTo>
                    <a:cubicBezTo>
                      <a:pt x="159" y="2442"/>
                      <a:pt x="109" y="2442"/>
                      <a:pt x="60" y="2441"/>
                    </a:cubicBezTo>
                    <a:cubicBezTo>
                      <a:pt x="36" y="2560"/>
                      <a:pt x="0" y="2679"/>
                      <a:pt x="0" y="2799"/>
                    </a:cubicBezTo>
                    <a:cubicBezTo>
                      <a:pt x="0" y="16562"/>
                      <a:pt x="8620" y="18848"/>
                      <a:pt x="8620" y="18848"/>
                    </a:cubicBezTo>
                    <a:cubicBezTo>
                      <a:pt x="8620" y="18848"/>
                      <a:pt x="17241" y="16562"/>
                      <a:pt x="17241" y="2799"/>
                    </a:cubicBezTo>
                    <a:cubicBezTo>
                      <a:pt x="17276" y="2679"/>
                      <a:pt x="17241" y="2560"/>
                      <a:pt x="17217" y="2441"/>
                    </a:cubicBezTo>
                    <a:cubicBezTo>
                      <a:pt x="17167" y="2442"/>
                      <a:pt x="17118" y="2442"/>
                      <a:pt x="17068" y="2442"/>
                    </a:cubicBezTo>
                    <a:cubicBezTo>
                      <a:pt x="15920" y="2442"/>
                      <a:pt x="14698" y="2310"/>
                      <a:pt x="13442" y="2025"/>
                    </a:cubicBezTo>
                    <a:cubicBezTo>
                      <a:pt x="11573" y="1584"/>
                      <a:pt x="9930" y="858"/>
                      <a:pt x="8680" y="1"/>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71" name="Google Shape;258;p17">
                <a:extLst>
                  <a:ext uri="{FF2B5EF4-FFF2-40B4-BE49-F238E27FC236}">
                    <a16:creationId xmlns:a16="http://schemas.microsoft.com/office/drawing/2014/main" id="{8C1158F9-6EC7-4C77-CC96-8B75EDBF5AD5}"/>
                  </a:ext>
                </a:extLst>
              </p:cNvPr>
              <p:cNvSpPr/>
              <p:nvPr/>
            </p:nvSpPr>
            <p:spPr>
              <a:xfrm>
                <a:off x="1315625" y="3911025"/>
                <a:ext cx="198550" cy="144700"/>
              </a:xfrm>
              <a:custGeom>
                <a:avLst/>
                <a:gdLst/>
                <a:ahLst/>
                <a:cxnLst/>
                <a:rect l="l" t="t" r="r" b="b"/>
                <a:pathLst>
                  <a:path w="7942" h="5788" fill="none" extrusionOk="0">
                    <a:moveTo>
                      <a:pt x="0" y="3025"/>
                    </a:moveTo>
                    <a:lnTo>
                      <a:pt x="3024" y="5787"/>
                    </a:lnTo>
                    <a:lnTo>
                      <a:pt x="7942" y="1"/>
                    </a:lnTo>
                  </a:path>
                </a:pathLst>
              </a:custGeom>
              <a:noFill/>
              <a:ln w="14875" cap="rnd" cmpd="sng">
                <a:solidFill>
                  <a:srgbClr val="FFFFFF"/>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72" name="Google Shape;261;p17">
            <a:extLst>
              <a:ext uri="{FF2B5EF4-FFF2-40B4-BE49-F238E27FC236}">
                <a16:creationId xmlns:a16="http://schemas.microsoft.com/office/drawing/2014/main" id="{85265D9C-27C4-F95E-5C70-D059A99357B8}"/>
              </a:ext>
            </a:extLst>
          </p:cNvPr>
          <p:cNvGrpSpPr/>
          <p:nvPr/>
        </p:nvGrpSpPr>
        <p:grpSpPr>
          <a:xfrm>
            <a:off x="4621907" y="3401201"/>
            <a:ext cx="4803975" cy="1599871"/>
            <a:chOff x="3614125" y="2289491"/>
            <a:chExt cx="3602981" cy="1574234"/>
          </a:xfrm>
        </p:grpSpPr>
        <p:sp>
          <p:nvSpPr>
            <p:cNvPr id="73" name="Google Shape;264;p17">
              <a:extLst>
                <a:ext uri="{FF2B5EF4-FFF2-40B4-BE49-F238E27FC236}">
                  <a16:creationId xmlns:a16="http://schemas.microsoft.com/office/drawing/2014/main" id="{ADC30ED6-B09E-2F94-CC03-64BE22FE439B}"/>
                </a:ext>
              </a:extLst>
            </p:cNvPr>
            <p:cNvSpPr/>
            <p:nvPr/>
          </p:nvSpPr>
          <p:spPr>
            <a:xfrm>
              <a:off x="3614125" y="3636301"/>
              <a:ext cx="815600" cy="227424"/>
            </a:xfrm>
            <a:custGeom>
              <a:avLst/>
              <a:gdLst/>
              <a:ahLst/>
              <a:cxnLst/>
              <a:rect l="l" t="t" r="r" b="b"/>
              <a:pathLst>
                <a:path w="32624" h="9097" extrusionOk="0">
                  <a:moveTo>
                    <a:pt x="2084" y="0"/>
                  </a:moveTo>
                  <a:cubicBezTo>
                    <a:pt x="941" y="0"/>
                    <a:pt x="0" y="941"/>
                    <a:pt x="0" y="2084"/>
                  </a:cubicBezTo>
                  <a:lnTo>
                    <a:pt x="0" y="7013"/>
                  </a:lnTo>
                  <a:cubicBezTo>
                    <a:pt x="0" y="8156"/>
                    <a:pt x="941" y="9097"/>
                    <a:pt x="2084" y="9097"/>
                  </a:cubicBezTo>
                  <a:lnTo>
                    <a:pt x="30528" y="9097"/>
                  </a:lnTo>
                  <a:cubicBezTo>
                    <a:pt x="31695" y="9097"/>
                    <a:pt x="32623" y="8156"/>
                    <a:pt x="32611" y="7013"/>
                  </a:cubicBezTo>
                  <a:lnTo>
                    <a:pt x="32611" y="2084"/>
                  </a:lnTo>
                  <a:cubicBezTo>
                    <a:pt x="32611" y="941"/>
                    <a:pt x="31671" y="0"/>
                    <a:pt x="30528" y="0"/>
                  </a:cubicBezTo>
                  <a:close/>
                </a:path>
              </a:pathLst>
            </a:custGeom>
            <a:solidFill>
              <a:schemeClr val="accent4"/>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74" name="Google Shape;265;p17">
              <a:extLst>
                <a:ext uri="{FF2B5EF4-FFF2-40B4-BE49-F238E27FC236}">
                  <a16:creationId xmlns:a16="http://schemas.microsoft.com/office/drawing/2014/main" id="{672E6F81-E5AD-D7EF-9384-223BDE2AFF3C}"/>
                </a:ext>
              </a:extLst>
            </p:cNvPr>
            <p:cNvSpPr/>
            <p:nvPr/>
          </p:nvSpPr>
          <p:spPr>
            <a:xfrm>
              <a:off x="3677225" y="3732425"/>
              <a:ext cx="83350" cy="76225"/>
            </a:xfrm>
            <a:custGeom>
              <a:avLst/>
              <a:gdLst/>
              <a:ahLst/>
              <a:cxnLst/>
              <a:rect l="l" t="t" r="r" b="b"/>
              <a:pathLst>
                <a:path w="3334" h="3049" extrusionOk="0">
                  <a:moveTo>
                    <a:pt x="203" y="1"/>
                  </a:moveTo>
                  <a:cubicBezTo>
                    <a:pt x="84" y="1"/>
                    <a:pt x="0" y="84"/>
                    <a:pt x="0" y="203"/>
                  </a:cubicBezTo>
                  <a:lnTo>
                    <a:pt x="0" y="2846"/>
                  </a:lnTo>
                  <a:cubicBezTo>
                    <a:pt x="0" y="2966"/>
                    <a:pt x="84" y="3049"/>
                    <a:pt x="203" y="3049"/>
                  </a:cubicBezTo>
                  <a:lnTo>
                    <a:pt x="3120" y="3049"/>
                  </a:lnTo>
                  <a:cubicBezTo>
                    <a:pt x="3227" y="3049"/>
                    <a:pt x="3310" y="2966"/>
                    <a:pt x="3334" y="2846"/>
                  </a:cubicBezTo>
                  <a:lnTo>
                    <a:pt x="3334" y="203"/>
                  </a:lnTo>
                  <a:cubicBezTo>
                    <a:pt x="3334" y="84"/>
                    <a:pt x="3239" y="1"/>
                    <a:pt x="3120"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75" name="Google Shape;266;p17">
              <a:extLst>
                <a:ext uri="{FF2B5EF4-FFF2-40B4-BE49-F238E27FC236}">
                  <a16:creationId xmlns:a16="http://schemas.microsoft.com/office/drawing/2014/main" id="{58640BD8-8FF7-FC87-AE44-6E6336D41EEC}"/>
                </a:ext>
              </a:extLst>
            </p:cNvPr>
            <p:cNvSpPr/>
            <p:nvPr/>
          </p:nvSpPr>
          <p:spPr>
            <a:xfrm>
              <a:off x="3688525" y="3680650"/>
              <a:ext cx="60150" cy="79800"/>
            </a:xfrm>
            <a:custGeom>
              <a:avLst/>
              <a:gdLst/>
              <a:ahLst/>
              <a:cxnLst/>
              <a:rect l="l" t="t" r="r" b="b"/>
              <a:pathLst>
                <a:path w="2406" h="3192" extrusionOk="0">
                  <a:moveTo>
                    <a:pt x="1191" y="286"/>
                  </a:moveTo>
                  <a:cubicBezTo>
                    <a:pt x="1703" y="286"/>
                    <a:pt x="2108" y="703"/>
                    <a:pt x="2108" y="1191"/>
                  </a:cubicBezTo>
                  <a:lnTo>
                    <a:pt x="2108" y="2893"/>
                  </a:lnTo>
                  <a:lnTo>
                    <a:pt x="286" y="2893"/>
                  </a:lnTo>
                  <a:lnTo>
                    <a:pt x="286" y="1191"/>
                  </a:lnTo>
                  <a:cubicBezTo>
                    <a:pt x="286" y="691"/>
                    <a:pt x="703" y="286"/>
                    <a:pt x="1191" y="286"/>
                  </a:cubicBezTo>
                  <a:close/>
                  <a:moveTo>
                    <a:pt x="1191" y="0"/>
                  </a:moveTo>
                  <a:cubicBezTo>
                    <a:pt x="536" y="0"/>
                    <a:pt x="1" y="536"/>
                    <a:pt x="1" y="1191"/>
                  </a:cubicBezTo>
                  <a:lnTo>
                    <a:pt x="1" y="3036"/>
                  </a:lnTo>
                  <a:cubicBezTo>
                    <a:pt x="1" y="3132"/>
                    <a:pt x="84" y="3191"/>
                    <a:pt x="155" y="3191"/>
                  </a:cubicBezTo>
                  <a:lnTo>
                    <a:pt x="2251" y="3191"/>
                  </a:lnTo>
                  <a:cubicBezTo>
                    <a:pt x="2322" y="3191"/>
                    <a:pt x="2406" y="3108"/>
                    <a:pt x="2382" y="3036"/>
                  </a:cubicBezTo>
                  <a:lnTo>
                    <a:pt x="2382" y="1191"/>
                  </a:lnTo>
                  <a:cubicBezTo>
                    <a:pt x="2382" y="536"/>
                    <a:pt x="1846" y="0"/>
                    <a:pt x="1191"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76" name="Google Shape;267;p17">
              <a:extLst>
                <a:ext uri="{FF2B5EF4-FFF2-40B4-BE49-F238E27FC236}">
                  <a16:creationId xmlns:a16="http://schemas.microsoft.com/office/drawing/2014/main" id="{CF7DFBB4-DDA7-2C4A-D051-AEEC4187EDB6}"/>
                </a:ext>
              </a:extLst>
            </p:cNvPr>
            <p:cNvSpPr/>
            <p:nvPr/>
          </p:nvSpPr>
          <p:spPr>
            <a:xfrm>
              <a:off x="3804025" y="3701775"/>
              <a:ext cx="124450" cy="98250"/>
            </a:xfrm>
            <a:custGeom>
              <a:avLst/>
              <a:gdLst/>
              <a:ahLst/>
              <a:cxnLst/>
              <a:rect l="l" t="t" r="r" b="b"/>
              <a:pathLst>
                <a:path w="4978" h="3930" extrusionOk="0">
                  <a:moveTo>
                    <a:pt x="0" y="1"/>
                  </a:moveTo>
                  <a:lnTo>
                    <a:pt x="977" y="3930"/>
                  </a:lnTo>
                  <a:lnTo>
                    <a:pt x="1655" y="3930"/>
                  </a:lnTo>
                  <a:lnTo>
                    <a:pt x="2489" y="524"/>
                  </a:lnTo>
                  <a:lnTo>
                    <a:pt x="3322" y="3930"/>
                  </a:lnTo>
                  <a:lnTo>
                    <a:pt x="3989" y="3930"/>
                  </a:lnTo>
                  <a:lnTo>
                    <a:pt x="4977" y="1"/>
                  </a:lnTo>
                  <a:lnTo>
                    <a:pt x="4429" y="1"/>
                  </a:lnTo>
                  <a:lnTo>
                    <a:pt x="3608" y="3322"/>
                  </a:lnTo>
                  <a:lnTo>
                    <a:pt x="2786" y="1"/>
                  </a:lnTo>
                  <a:lnTo>
                    <a:pt x="2179" y="1"/>
                  </a:lnTo>
                  <a:lnTo>
                    <a:pt x="1358" y="3322"/>
                  </a:lnTo>
                  <a:lnTo>
                    <a:pt x="536" y="1"/>
                  </a:ln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77" name="Google Shape;268;p17">
              <a:extLst>
                <a:ext uri="{FF2B5EF4-FFF2-40B4-BE49-F238E27FC236}">
                  <a16:creationId xmlns:a16="http://schemas.microsoft.com/office/drawing/2014/main" id="{99E83B3E-22DC-A4B6-9EB0-8FF47287A2D0}"/>
                </a:ext>
              </a:extLst>
            </p:cNvPr>
            <p:cNvSpPr/>
            <p:nvPr/>
          </p:nvSpPr>
          <p:spPr>
            <a:xfrm>
              <a:off x="3963275" y="3701775"/>
              <a:ext cx="124425" cy="98250"/>
            </a:xfrm>
            <a:custGeom>
              <a:avLst/>
              <a:gdLst/>
              <a:ahLst/>
              <a:cxnLst/>
              <a:rect l="l" t="t" r="r" b="b"/>
              <a:pathLst>
                <a:path w="4977" h="3930" extrusionOk="0">
                  <a:moveTo>
                    <a:pt x="0" y="1"/>
                  </a:moveTo>
                  <a:lnTo>
                    <a:pt x="976" y="3930"/>
                  </a:lnTo>
                  <a:lnTo>
                    <a:pt x="1655" y="3930"/>
                  </a:lnTo>
                  <a:lnTo>
                    <a:pt x="2489" y="524"/>
                  </a:lnTo>
                  <a:lnTo>
                    <a:pt x="3322" y="3930"/>
                  </a:lnTo>
                  <a:lnTo>
                    <a:pt x="3989" y="3930"/>
                  </a:lnTo>
                  <a:lnTo>
                    <a:pt x="4977" y="1"/>
                  </a:lnTo>
                  <a:lnTo>
                    <a:pt x="4429" y="1"/>
                  </a:lnTo>
                  <a:lnTo>
                    <a:pt x="3608" y="3322"/>
                  </a:lnTo>
                  <a:lnTo>
                    <a:pt x="2786" y="1"/>
                  </a:lnTo>
                  <a:lnTo>
                    <a:pt x="2191" y="1"/>
                  </a:lnTo>
                  <a:lnTo>
                    <a:pt x="1357" y="3322"/>
                  </a:lnTo>
                  <a:lnTo>
                    <a:pt x="536" y="1"/>
                  </a:lnTo>
                  <a:close/>
                </a:path>
              </a:pathLst>
            </a:custGeom>
            <a:solidFill>
              <a:srgbClr val="FFFFFF"/>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78" name="Google Shape;269;p17">
              <a:extLst>
                <a:ext uri="{FF2B5EF4-FFF2-40B4-BE49-F238E27FC236}">
                  <a16:creationId xmlns:a16="http://schemas.microsoft.com/office/drawing/2014/main" id="{53BA0A37-12F8-BA08-4602-8D061B4F21DA}"/>
                </a:ext>
              </a:extLst>
            </p:cNvPr>
            <p:cNvSpPr/>
            <p:nvPr/>
          </p:nvSpPr>
          <p:spPr>
            <a:xfrm>
              <a:off x="4122500" y="3701774"/>
              <a:ext cx="124450" cy="98251"/>
            </a:xfrm>
            <a:custGeom>
              <a:avLst/>
              <a:gdLst/>
              <a:ahLst/>
              <a:cxnLst/>
              <a:rect l="l" t="t" r="r" b="b"/>
              <a:pathLst>
                <a:path w="4978" h="3930" extrusionOk="0">
                  <a:moveTo>
                    <a:pt x="1" y="1"/>
                  </a:moveTo>
                  <a:lnTo>
                    <a:pt x="989" y="3930"/>
                  </a:lnTo>
                  <a:lnTo>
                    <a:pt x="1656" y="3930"/>
                  </a:lnTo>
                  <a:lnTo>
                    <a:pt x="2489" y="524"/>
                  </a:lnTo>
                  <a:lnTo>
                    <a:pt x="3323" y="3930"/>
                  </a:lnTo>
                  <a:lnTo>
                    <a:pt x="3990" y="3930"/>
                  </a:lnTo>
                  <a:lnTo>
                    <a:pt x="4978" y="1"/>
                  </a:lnTo>
                  <a:lnTo>
                    <a:pt x="4430" y="1"/>
                  </a:lnTo>
                  <a:lnTo>
                    <a:pt x="3609" y="3322"/>
                  </a:lnTo>
                  <a:lnTo>
                    <a:pt x="2787" y="1"/>
                  </a:lnTo>
                  <a:lnTo>
                    <a:pt x="2192" y="1"/>
                  </a:lnTo>
                  <a:lnTo>
                    <a:pt x="1358" y="3322"/>
                  </a:lnTo>
                  <a:lnTo>
                    <a:pt x="537" y="1"/>
                  </a:lnTo>
                  <a:close/>
                </a:path>
              </a:pathLst>
            </a:custGeom>
            <a:solidFill>
              <a:srgbClr val="FFFFFF"/>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79" name="Google Shape;271;p17">
              <a:extLst>
                <a:ext uri="{FF2B5EF4-FFF2-40B4-BE49-F238E27FC236}">
                  <a16:creationId xmlns:a16="http://schemas.microsoft.com/office/drawing/2014/main" id="{C4005059-CFB1-8F14-2E2E-8E0BC2DE8863}"/>
                </a:ext>
              </a:extLst>
            </p:cNvPr>
            <p:cNvSpPr/>
            <p:nvPr/>
          </p:nvSpPr>
          <p:spPr>
            <a:xfrm>
              <a:off x="7034011" y="2289491"/>
              <a:ext cx="183095" cy="208344"/>
            </a:xfrm>
            <a:custGeom>
              <a:avLst/>
              <a:gdLst/>
              <a:ahLst/>
              <a:cxnLst/>
              <a:rect l="l" t="t" r="r" b="b"/>
              <a:pathLst>
                <a:path w="8026" h="11145" extrusionOk="0">
                  <a:moveTo>
                    <a:pt x="1507" y="1"/>
                  </a:moveTo>
                  <a:cubicBezTo>
                    <a:pt x="1276" y="1"/>
                    <a:pt x="1044" y="61"/>
                    <a:pt x="834" y="190"/>
                  </a:cubicBezTo>
                  <a:cubicBezTo>
                    <a:pt x="203" y="559"/>
                    <a:pt x="1" y="1381"/>
                    <a:pt x="370" y="2000"/>
                  </a:cubicBezTo>
                  <a:lnTo>
                    <a:pt x="5371" y="10489"/>
                  </a:lnTo>
                  <a:cubicBezTo>
                    <a:pt x="5621" y="10906"/>
                    <a:pt x="6061" y="11144"/>
                    <a:pt x="6514" y="11144"/>
                  </a:cubicBezTo>
                  <a:cubicBezTo>
                    <a:pt x="6740" y="11144"/>
                    <a:pt x="6978" y="11085"/>
                    <a:pt x="7192" y="10942"/>
                  </a:cubicBezTo>
                  <a:cubicBezTo>
                    <a:pt x="7811" y="10573"/>
                    <a:pt x="8026" y="9751"/>
                    <a:pt x="7645" y="9132"/>
                  </a:cubicBezTo>
                  <a:lnTo>
                    <a:pt x="2644" y="643"/>
                  </a:lnTo>
                  <a:cubicBezTo>
                    <a:pt x="2400" y="233"/>
                    <a:pt x="1958" y="1"/>
                    <a:pt x="1507" y="1"/>
                  </a:cubicBezTo>
                  <a:close/>
                </a:path>
              </a:pathLst>
            </a:custGeom>
            <a:solidFill>
              <a:schemeClr val="accent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sp>
        <p:nvSpPr>
          <p:cNvPr id="80" name="Google Shape;273;p17">
            <a:extLst>
              <a:ext uri="{FF2B5EF4-FFF2-40B4-BE49-F238E27FC236}">
                <a16:creationId xmlns:a16="http://schemas.microsoft.com/office/drawing/2014/main" id="{D4BC6E88-5161-B9D6-8C8A-16B594A182F3}"/>
              </a:ext>
            </a:extLst>
          </p:cNvPr>
          <p:cNvSpPr txBox="1"/>
          <p:nvPr/>
        </p:nvSpPr>
        <p:spPr>
          <a:xfrm>
            <a:off x="2213057" y="2204651"/>
            <a:ext cx="1472433" cy="1735115"/>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DoS &amp; DDoS Incidents and Preparing How to Handle It</a:t>
            </a:r>
            <a:endParaRPr sz="1600" b="1" dirty="0">
              <a:solidFill>
                <a:schemeClr val="dk1"/>
              </a:solidFill>
              <a:latin typeface="Georgia" panose="02040502050405020303" pitchFamily="18" charset="0"/>
              <a:ea typeface="Fira Sans"/>
              <a:cs typeface="Fira Sans"/>
              <a:sym typeface="Fira Sans"/>
            </a:endParaRPr>
          </a:p>
        </p:txBody>
      </p:sp>
      <p:sp>
        <p:nvSpPr>
          <p:cNvPr id="81" name="Google Shape;276;p17">
            <a:extLst>
              <a:ext uri="{FF2B5EF4-FFF2-40B4-BE49-F238E27FC236}">
                <a16:creationId xmlns:a16="http://schemas.microsoft.com/office/drawing/2014/main" id="{ABF4D462-B8CE-5DF1-A22D-78C8A2BBECB3}"/>
              </a:ext>
            </a:extLst>
          </p:cNvPr>
          <p:cNvSpPr txBox="1"/>
          <p:nvPr/>
        </p:nvSpPr>
        <p:spPr>
          <a:xfrm>
            <a:off x="9743217" y="2520626"/>
            <a:ext cx="1403600" cy="797132"/>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Incident with Many Components</a:t>
            </a:r>
            <a:endParaRPr sz="1600" b="1" dirty="0">
              <a:solidFill>
                <a:schemeClr val="dk1"/>
              </a:solidFill>
              <a:latin typeface="Georgia" panose="02040502050405020303" pitchFamily="18" charset="0"/>
              <a:ea typeface="Fira Sans"/>
              <a:cs typeface="Fira Sans"/>
              <a:sym typeface="Fira Sans"/>
            </a:endParaRPr>
          </a:p>
        </p:txBody>
      </p:sp>
      <p:sp>
        <p:nvSpPr>
          <p:cNvPr id="82" name="Google Shape;279;p17">
            <a:extLst>
              <a:ext uri="{FF2B5EF4-FFF2-40B4-BE49-F238E27FC236}">
                <a16:creationId xmlns:a16="http://schemas.microsoft.com/office/drawing/2014/main" id="{1DE87ED6-1AA4-2BEF-193E-33F9487B627C}"/>
              </a:ext>
            </a:extLst>
          </p:cNvPr>
          <p:cNvSpPr txBox="1"/>
          <p:nvPr/>
        </p:nvSpPr>
        <p:spPr>
          <a:xfrm>
            <a:off x="6055609" y="4672976"/>
            <a:ext cx="1472471" cy="1238120"/>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Monitoring, Auditing, and Protecting Network Tools </a:t>
            </a:r>
            <a:endParaRPr sz="1600" b="1" dirty="0">
              <a:solidFill>
                <a:schemeClr val="dk1"/>
              </a:solidFill>
              <a:latin typeface="Georgia" panose="02040502050405020303" pitchFamily="18" charset="0"/>
              <a:ea typeface="Fira Sans"/>
              <a:cs typeface="Fira Sans"/>
              <a:sym typeface="Fira Sans"/>
            </a:endParaRPr>
          </a:p>
        </p:txBody>
      </p:sp>
      <p:sp>
        <p:nvSpPr>
          <p:cNvPr id="83" name="Google Shape;285;p17">
            <a:extLst>
              <a:ext uri="{FF2B5EF4-FFF2-40B4-BE49-F238E27FC236}">
                <a16:creationId xmlns:a16="http://schemas.microsoft.com/office/drawing/2014/main" id="{201D82EA-3300-E23C-2C5C-0981A8C82979}"/>
              </a:ext>
            </a:extLst>
          </p:cNvPr>
          <p:cNvSpPr txBox="1"/>
          <p:nvPr/>
        </p:nvSpPr>
        <p:spPr>
          <a:xfrm>
            <a:off x="6070291" y="2431536"/>
            <a:ext cx="1697333" cy="1353343"/>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Incident of Unauthorized Access &amp; Inappropriate Usage</a:t>
            </a:r>
            <a:endParaRPr sz="1600" b="1" dirty="0">
              <a:solidFill>
                <a:schemeClr val="dk1"/>
              </a:solidFill>
              <a:latin typeface="Georgia" panose="02040502050405020303" pitchFamily="18" charset="0"/>
              <a:ea typeface="Fira Sans"/>
              <a:cs typeface="Fira Sans"/>
              <a:sym typeface="Fira Sans"/>
            </a:endParaRPr>
          </a:p>
        </p:txBody>
      </p:sp>
      <p:sp>
        <p:nvSpPr>
          <p:cNvPr id="84" name="Google Shape;270;p17">
            <a:extLst>
              <a:ext uri="{FF2B5EF4-FFF2-40B4-BE49-F238E27FC236}">
                <a16:creationId xmlns:a16="http://schemas.microsoft.com/office/drawing/2014/main" id="{DC60756C-5479-2477-63C0-CD8C871D84CE}"/>
              </a:ext>
            </a:extLst>
          </p:cNvPr>
          <p:cNvSpPr/>
          <p:nvPr/>
        </p:nvSpPr>
        <p:spPr>
          <a:xfrm>
            <a:off x="8806956" y="2977768"/>
            <a:ext cx="505600" cy="510951"/>
          </a:xfrm>
          <a:custGeom>
            <a:avLst/>
            <a:gdLst/>
            <a:ahLst/>
            <a:cxnLst/>
            <a:rect l="l" t="t" r="r" b="b"/>
            <a:pathLst>
              <a:path w="21885" h="21872" extrusionOk="0">
                <a:moveTo>
                  <a:pt x="10943" y="2643"/>
                </a:moveTo>
                <a:cubicBezTo>
                  <a:pt x="15527" y="2643"/>
                  <a:pt x="19230" y="6358"/>
                  <a:pt x="19230" y="10942"/>
                </a:cubicBezTo>
                <a:cubicBezTo>
                  <a:pt x="19230" y="15526"/>
                  <a:pt x="15527" y="19229"/>
                  <a:pt x="10943" y="19229"/>
                </a:cubicBezTo>
                <a:cubicBezTo>
                  <a:pt x="6359" y="19229"/>
                  <a:pt x="2656" y="15526"/>
                  <a:pt x="2656" y="10942"/>
                </a:cubicBezTo>
                <a:cubicBezTo>
                  <a:pt x="2656" y="6370"/>
                  <a:pt x="6359" y="2643"/>
                  <a:pt x="10943" y="2643"/>
                </a:cubicBezTo>
                <a:close/>
                <a:moveTo>
                  <a:pt x="10943" y="0"/>
                </a:moveTo>
                <a:cubicBezTo>
                  <a:pt x="4918" y="0"/>
                  <a:pt x="1" y="4905"/>
                  <a:pt x="1" y="10942"/>
                </a:cubicBezTo>
                <a:cubicBezTo>
                  <a:pt x="1" y="16967"/>
                  <a:pt x="4918" y="21872"/>
                  <a:pt x="10943" y="21872"/>
                </a:cubicBezTo>
                <a:cubicBezTo>
                  <a:pt x="16967" y="21872"/>
                  <a:pt x="21885" y="16967"/>
                  <a:pt x="21885" y="10942"/>
                </a:cubicBezTo>
                <a:cubicBezTo>
                  <a:pt x="21885" y="4905"/>
                  <a:pt x="16967" y="0"/>
                  <a:pt x="10943" y="0"/>
                </a:cubicBezTo>
                <a:close/>
              </a:path>
            </a:pathLst>
          </a:custGeom>
          <a:solidFill>
            <a:schemeClr val="accent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nvGrpSpPr>
          <p:cNvPr id="85" name="Google Shape;342;p18">
            <a:extLst>
              <a:ext uri="{FF2B5EF4-FFF2-40B4-BE49-F238E27FC236}">
                <a16:creationId xmlns:a16="http://schemas.microsoft.com/office/drawing/2014/main" id="{57F82ECE-CE58-E3FE-DCD9-B1D4C8646912}"/>
              </a:ext>
            </a:extLst>
          </p:cNvPr>
          <p:cNvGrpSpPr/>
          <p:nvPr/>
        </p:nvGrpSpPr>
        <p:grpSpPr>
          <a:xfrm>
            <a:off x="4477528" y="5282360"/>
            <a:ext cx="605187" cy="628737"/>
            <a:chOff x="2088820" y="4110720"/>
            <a:chExt cx="475964" cy="475964"/>
          </a:xfrm>
        </p:grpSpPr>
        <p:sp>
          <p:nvSpPr>
            <p:cNvPr id="86" name="Google Shape;343;p18">
              <a:extLst>
                <a:ext uri="{FF2B5EF4-FFF2-40B4-BE49-F238E27FC236}">
                  <a16:creationId xmlns:a16="http://schemas.microsoft.com/office/drawing/2014/main" id="{619FD438-4470-314D-B5A9-E0B46EA4987D}"/>
                </a:ext>
              </a:extLst>
            </p:cNvPr>
            <p:cNvSpPr/>
            <p:nvPr/>
          </p:nvSpPr>
          <p:spPr>
            <a:xfrm>
              <a:off x="2088820" y="4110720"/>
              <a:ext cx="475964" cy="475964"/>
            </a:xfrm>
            <a:custGeom>
              <a:avLst/>
              <a:gdLst/>
              <a:ahLst/>
              <a:cxnLst/>
              <a:rect l="l" t="t" r="r" b="b"/>
              <a:pathLst>
                <a:path w="14467" h="14467" extrusionOk="0">
                  <a:moveTo>
                    <a:pt x="7228" y="0"/>
                  </a:moveTo>
                  <a:cubicBezTo>
                    <a:pt x="3239" y="0"/>
                    <a:pt x="1" y="3239"/>
                    <a:pt x="1" y="7239"/>
                  </a:cubicBezTo>
                  <a:cubicBezTo>
                    <a:pt x="1" y="11240"/>
                    <a:pt x="3239" y="14466"/>
                    <a:pt x="7228" y="14466"/>
                  </a:cubicBezTo>
                  <a:cubicBezTo>
                    <a:pt x="11228" y="14466"/>
                    <a:pt x="14467" y="11240"/>
                    <a:pt x="14467" y="7239"/>
                  </a:cubicBezTo>
                  <a:cubicBezTo>
                    <a:pt x="14467" y="3239"/>
                    <a:pt x="11228" y="0"/>
                    <a:pt x="7228" y="0"/>
                  </a:cubicBezTo>
                  <a:close/>
                </a:path>
              </a:pathLst>
            </a:custGeom>
            <a:solidFill>
              <a:schemeClr val="accent4"/>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87" name="Google Shape;344;p18">
              <a:extLst>
                <a:ext uri="{FF2B5EF4-FFF2-40B4-BE49-F238E27FC236}">
                  <a16:creationId xmlns:a16="http://schemas.microsoft.com/office/drawing/2014/main" id="{79442695-7A0C-4DCA-D031-73D99C7F9EAF}"/>
                </a:ext>
              </a:extLst>
            </p:cNvPr>
            <p:cNvSpPr/>
            <p:nvPr/>
          </p:nvSpPr>
          <p:spPr>
            <a:xfrm>
              <a:off x="2167582" y="4189844"/>
              <a:ext cx="318472" cy="318110"/>
            </a:xfrm>
            <a:custGeom>
              <a:avLst/>
              <a:gdLst/>
              <a:ahLst/>
              <a:cxnLst/>
              <a:rect l="l" t="t" r="r" b="b"/>
              <a:pathLst>
                <a:path w="9680" h="9669" fill="none" extrusionOk="0">
                  <a:moveTo>
                    <a:pt x="9680" y="4834"/>
                  </a:moveTo>
                  <a:cubicBezTo>
                    <a:pt x="9680" y="7501"/>
                    <a:pt x="7513" y="9668"/>
                    <a:pt x="4834" y="9668"/>
                  </a:cubicBezTo>
                  <a:cubicBezTo>
                    <a:pt x="2167" y="9668"/>
                    <a:pt x="0" y="7501"/>
                    <a:pt x="0" y="4834"/>
                  </a:cubicBezTo>
                  <a:cubicBezTo>
                    <a:pt x="0" y="2167"/>
                    <a:pt x="2167" y="0"/>
                    <a:pt x="4834" y="0"/>
                  </a:cubicBezTo>
                  <a:cubicBezTo>
                    <a:pt x="7513" y="0"/>
                    <a:pt x="9680" y="2167"/>
                    <a:pt x="9680" y="4834"/>
                  </a:cubicBezTo>
                  <a:close/>
                </a:path>
              </a:pathLst>
            </a:custGeom>
            <a:solidFill>
              <a:schemeClr val="accent4"/>
            </a:solidFill>
            <a:ln w="9525" cap="flat" cmpd="sng">
              <a:solidFill>
                <a:schemeClr val="lt1"/>
              </a:solidFill>
              <a:prstDash val="solid"/>
              <a:miter lim="11906"/>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88" name="Google Shape;345;p18">
              <a:extLst>
                <a:ext uri="{FF2B5EF4-FFF2-40B4-BE49-F238E27FC236}">
                  <a16:creationId xmlns:a16="http://schemas.microsoft.com/office/drawing/2014/main" id="{CC316718-690D-E254-9341-16E55A6A6B1B}"/>
                </a:ext>
              </a:extLst>
            </p:cNvPr>
            <p:cNvSpPr/>
            <p:nvPr/>
          </p:nvSpPr>
          <p:spPr>
            <a:xfrm>
              <a:off x="2233382" y="4189844"/>
              <a:ext cx="186872" cy="318110"/>
            </a:xfrm>
            <a:custGeom>
              <a:avLst/>
              <a:gdLst/>
              <a:ahLst/>
              <a:cxnLst/>
              <a:rect l="l" t="t" r="r" b="b"/>
              <a:pathLst>
                <a:path w="5680" h="9669" fill="none" extrusionOk="0">
                  <a:moveTo>
                    <a:pt x="5680" y="4834"/>
                  </a:moveTo>
                  <a:cubicBezTo>
                    <a:pt x="5680" y="7501"/>
                    <a:pt x="4406" y="9668"/>
                    <a:pt x="2834" y="9668"/>
                  </a:cubicBezTo>
                  <a:cubicBezTo>
                    <a:pt x="1262" y="9668"/>
                    <a:pt x="0" y="7501"/>
                    <a:pt x="0" y="4834"/>
                  </a:cubicBezTo>
                  <a:cubicBezTo>
                    <a:pt x="0" y="2167"/>
                    <a:pt x="1262" y="0"/>
                    <a:pt x="2834" y="0"/>
                  </a:cubicBezTo>
                  <a:cubicBezTo>
                    <a:pt x="4406" y="0"/>
                    <a:pt x="5680" y="2167"/>
                    <a:pt x="5680" y="4834"/>
                  </a:cubicBezTo>
                  <a:close/>
                </a:path>
              </a:pathLst>
            </a:custGeom>
            <a:solidFill>
              <a:schemeClr val="accent4"/>
            </a:solidFill>
            <a:ln w="9525" cap="flat" cmpd="sng">
              <a:solidFill>
                <a:schemeClr val="lt1"/>
              </a:solidFill>
              <a:prstDash val="solid"/>
              <a:miter lim="11906"/>
              <a:headEnd type="none" w="sm" len="sm"/>
              <a:tailEnd type="none" w="sm" len="sm"/>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89" name="Google Shape;346;p18">
              <a:extLst>
                <a:ext uri="{FF2B5EF4-FFF2-40B4-BE49-F238E27FC236}">
                  <a16:creationId xmlns:a16="http://schemas.microsoft.com/office/drawing/2014/main" id="{68C89104-D38D-8385-1E02-6EDA6DC350F5}"/>
                </a:ext>
              </a:extLst>
            </p:cNvPr>
            <p:cNvSpPr/>
            <p:nvPr/>
          </p:nvSpPr>
          <p:spPr>
            <a:xfrm>
              <a:off x="2167582" y="4255250"/>
              <a:ext cx="318472" cy="187267"/>
            </a:xfrm>
            <a:custGeom>
              <a:avLst/>
              <a:gdLst/>
              <a:ahLst/>
              <a:cxnLst/>
              <a:rect l="l" t="t" r="r" b="b"/>
              <a:pathLst>
                <a:path w="9680" h="5692" fill="none" extrusionOk="0">
                  <a:moveTo>
                    <a:pt x="9680" y="2846"/>
                  </a:moveTo>
                  <a:cubicBezTo>
                    <a:pt x="9680" y="4418"/>
                    <a:pt x="7513" y="5692"/>
                    <a:pt x="4834" y="5692"/>
                  </a:cubicBezTo>
                  <a:cubicBezTo>
                    <a:pt x="2167" y="5692"/>
                    <a:pt x="0" y="4418"/>
                    <a:pt x="0" y="2846"/>
                  </a:cubicBezTo>
                  <a:cubicBezTo>
                    <a:pt x="0" y="1275"/>
                    <a:pt x="2167" y="1"/>
                    <a:pt x="4834" y="1"/>
                  </a:cubicBezTo>
                  <a:cubicBezTo>
                    <a:pt x="7513" y="1"/>
                    <a:pt x="9680" y="1275"/>
                    <a:pt x="9680" y="2846"/>
                  </a:cubicBezTo>
                  <a:close/>
                </a:path>
              </a:pathLst>
            </a:custGeom>
            <a:solidFill>
              <a:schemeClr val="accent4"/>
            </a:solidFill>
            <a:ln w="9525" cap="flat" cmpd="sng">
              <a:solidFill>
                <a:schemeClr val="lt1"/>
              </a:solidFill>
              <a:prstDash val="solid"/>
              <a:miter lim="11906"/>
              <a:headEnd type="none" w="sm" len="sm"/>
              <a:tailEnd type="none" w="sm" len="sm"/>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90" name="Google Shape;347;p18">
              <a:extLst>
                <a:ext uri="{FF2B5EF4-FFF2-40B4-BE49-F238E27FC236}">
                  <a16:creationId xmlns:a16="http://schemas.microsoft.com/office/drawing/2014/main" id="{8F1275A5-5CBE-E9B1-BB7D-A01E4C4C32D8}"/>
                </a:ext>
              </a:extLst>
            </p:cNvPr>
            <p:cNvSpPr/>
            <p:nvPr/>
          </p:nvSpPr>
          <p:spPr>
            <a:xfrm>
              <a:off x="2167187" y="4348883"/>
              <a:ext cx="318867" cy="33"/>
            </a:xfrm>
            <a:custGeom>
              <a:avLst/>
              <a:gdLst/>
              <a:ahLst/>
              <a:cxnLst/>
              <a:rect l="l" t="t" r="r" b="b"/>
              <a:pathLst>
                <a:path w="9692" h="1" fill="none" extrusionOk="0">
                  <a:moveTo>
                    <a:pt x="0" y="0"/>
                  </a:moveTo>
                  <a:lnTo>
                    <a:pt x="9692" y="0"/>
                  </a:lnTo>
                </a:path>
              </a:pathLst>
            </a:custGeom>
            <a:solidFill>
              <a:schemeClr val="accent4"/>
            </a:solidFill>
            <a:ln w="6850" cap="flat" cmpd="sng">
              <a:solidFill>
                <a:srgbClr val="FCFCFC"/>
              </a:solidFill>
              <a:prstDash val="solid"/>
              <a:miter lim="11906"/>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spTree>
    <p:extLst>
      <p:ext uri="{BB962C8B-B14F-4D97-AF65-F5344CB8AC3E}">
        <p14:creationId xmlns:p14="http://schemas.microsoft.com/office/powerpoint/2010/main" val="4048410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C58E-EEAA-2E4C-6939-34D9D740BCBB}"/>
              </a:ext>
            </a:extLst>
          </p:cNvPr>
          <p:cNvSpPr>
            <a:spLocks noGrp="1"/>
          </p:cNvSpPr>
          <p:nvPr>
            <p:ph type="title"/>
          </p:nvPr>
        </p:nvSpPr>
        <p:spPr/>
        <p:txBody>
          <a:bodyPr/>
          <a:lstStyle/>
          <a:p>
            <a:r>
              <a:rPr lang="en" sz="2800" dirty="0"/>
              <a:t>DoS and DDoS Incidents </a:t>
            </a:r>
            <a:endParaRPr lang="en-ID" dirty="0"/>
          </a:p>
        </p:txBody>
      </p:sp>
      <p:sp>
        <p:nvSpPr>
          <p:cNvPr id="3" name="Content Placeholder 2">
            <a:extLst>
              <a:ext uri="{FF2B5EF4-FFF2-40B4-BE49-F238E27FC236}">
                <a16:creationId xmlns:a16="http://schemas.microsoft.com/office/drawing/2014/main" id="{579ADB93-D6C8-E61B-EFD9-F75414D6D09A}"/>
              </a:ext>
            </a:extLst>
          </p:cNvPr>
          <p:cNvSpPr>
            <a:spLocks noGrp="1"/>
          </p:cNvSpPr>
          <p:nvPr>
            <p:ph idx="1"/>
          </p:nvPr>
        </p:nvSpPr>
        <p:spPr>
          <a:xfrm>
            <a:off x="838200" y="3858543"/>
            <a:ext cx="10515600" cy="2634332"/>
          </a:xfrm>
        </p:spPr>
        <p:txBody>
          <a:bodyPr>
            <a:normAutofit lnSpcReduction="10000"/>
          </a:bodyPr>
          <a:lstStyle/>
          <a:p>
            <a:r>
              <a:rPr lang="en-US" sz="1800" dirty="0"/>
              <a:t>A denial-of-service (DoS) attack occurs when legitimate users are unable to access information systems, devices, or other network resources due to the actions of a malicious cyber threat actor. Services affected may include email, websites, online accounts (e.g., banking), or other services that rely on the affected computer or network. A denial-of-service condition is accomplished by flooding the targeted host or network with traffic until the target cannot respond or simply crashes, preventing access for legitimate users. DoS attacks can cost an organization both time and money while their resources and services are inaccessible.</a:t>
            </a:r>
          </a:p>
          <a:p>
            <a:r>
              <a:rPr lang="en-US" sz="1800" dirty="0"/>
              <a:t>A distributed denial-of-service (DDoS) attack occurs when multiple machines are operating together to attack one target. DDoS attackers often leverage the use of a botnet—a group of hijacked internet-connected devices to carry out large scale attacks.</a:t>
            </a:r>
          </a:p>
          <a:p>
            <a:endParaRPr lang="en-ID" sz="1800" dirty="0"/>
          </a:p>
        </p:txBody>
      </p:sp>
      <p:pic>
        <p:nvPicPr>
          <p:cNvPr id="4" name="Picture 3">
            <a:extLst>
              <a:ext uri="{FF2B5EF4-FFF2-40B4-BE49-F238E27FC236}">
                <a16:creationId xmlns:a16="http://schemas.microsoft.com/office/drawing/2014/main" id="{94A5BEFB-A4C1-170A-F7E5-52DCBA706BCA}"/>
              </a:ext>
            </a:extLst>
          </p:cNvPr>
          <p:cNvPicPr>
            <a:picLocks noChangeAspect="1"/>
          </p:cNvPicPr>
          <p:nvPr/>
        </p:nvPicPr>
        <p:blipFill>
          <a:blip r:embed="rId2"/>
          <a:stretch>
            <a:fillRect/>
          </a:stretch>
        </p:blipFill>
        <p:spPr>
          <a:xfrm>
            <a:off x="3802184" y="1370859"/>
            <a:ext cx="4587631" cy="2487684"/>
          </a:xfrm>
          <a:prstGeom prst="rect">
            <a:avLst/>
          </a:prstGeom>
        </p:spPr>
      </p:pic>
    </p:spTree>
    <p:extLst>
      <p:ext uri="{BB962C8B-B14F-4D97-AF65-F5344CB8AC3E}">
        <p14:creationId xmlns:p14="http://schemas.microsoft.com/office/powerpoint/2010/main" val="13335551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55EA-73D3-1222-E5EE-AC812976BA44}"/>
              </a:ext>
            </a:extLst>
          </p:cNvPr>
          <p:cNvSpPr>
            <a:spLocks noGrp="1"/>
          </p:cNvSpPr>
          <p:nvPr>
            <p:ph type="title"/>
          </p:nvPr>
        </p:nvSpPr>
        <p:spPr/>
        <p:txBody>
          <a:bodyPr/>
          <a:lstStyle/>
          <a:p>
            <a:r>
              <a:rPr lang="en-US" spc="-5" dirty="0"/>
              <a:t>What </a:t>
            </a:r>
            <a:r>
              <a:rPr lang="en-US" dirty="0"/>
              <a:t>is</a:t>
            </a:r>
            <a:r>
              <a:rPr lang="en-US" spc="-5" dirty="0"/>
              <a:t> </a:t>
            </a:r>
            <a:r>
              <a:rPr lang="en-US" dirty="0"/>
              <a:t>Denial</a:t>
            </a:r>
            <a:r>
              <a:rPr lang="en-US" spc="-5" dirty="0"/>
              <a:t> </a:t>
            </a:r>
            <a:r>
              <a:rPr lang="en-US" spc="5" dirty="0"/>
              <a:t>of</a:t>
            </a:r>
            <a:r>
              <a:rPr lang="en-US" spc="-5" dirty="0"/>
              <a:t> </a:t>
            </a:r>
            <a:r>
              <a:rPr lang="en-US" spc="5" dirty="0"/>
              <a:t>Service?</a:t>
            </a:r>
            <a:endParaRPr lang="en-ID" dirty="0"/>
          </a:p>
        </p:txBody>
      </p:sp>
      <p:sp>
        <p:nvSpPr>
          <p:cNvPr id="3" name="Content Placeholder 2">
            <a:extLst>
              <a:ext uri="{FF2B5EF4-FFF2-40B4-BE49-F238E27FC236}">
                <a16:creationId xmlns:a16="http://schemas.microsoft.com/office/drawing/2014/main" id="{F399278D-A054-8E7F-0DD1-96330DC3940C}"/>
              </a:ext>
            </a:extLst>
          </p:cNvPr>
          <p:cNvSpPr>
            <a:spLocks noGrp="1"/>
          </p:cNvSpPr>
          <p:nvPr>
            <p:ph idx="1"/>
          </p:nvPr>
        </p:nvSpPr>
        <p:spPr/>
        <p:txBody>
          <a:bodyPr/>
          <a:lstStyle/>
          <a:p>
            <a:pPr marL="468140" indent="-457200">
              <a:spcBef>
                <a:spcPts val="408"/>
              </a:spcBef>
              <a:tabLst>
                <a:tab pos="233206" algn="l"/>
              </a:tabLst>
            </a:pPr>
            <a:r>
              <a:rPr lang="en-US" sz="2720" spc="-18" dirty="0">
                <a:cs typeface="Calibri"/>
              </a:rPr>
              <a:t>From </a:t>
            </a:r>
            <a:r>
              <a:rPr lang="en-US" sz="2720" spc="-5" dirty="0">
                <a:cs typeface="Calibri"/>
              </a:rPr>
              <a:t>security</a:t>
            </a:r>
            <a:r>
              <a:rPr lang="en-US" sz="2720" spc="-18" dirty="0">
                <a:cs typeface="Calibri"/>
              </a:rPr>
              <a:t> </a:t>
            </a:r>
            <a:r>
              <a:rPr lang="en-US" sz="2720" spc="-9" dirty="0">
                <a:cs typeface="Calibri"/>
              </a:rPr>
              <a:t>point</a:t>
            </a:r>
            <a:r>
              <a:rPr lang="en-US" sz="2720" spc="-18" dirty="0">
                <a:cs typeface="Calibri"/>
              </a:rPr>
              <a:t> </a:t>
            </a:r>
            <a:r>
              <a:rPr lang="en-US" sz="2720" spc="-5" dirty="0">
                <a:cs typeface="Calibri"/>
              </a:rPr>
              <a:t>of</a:t>
            </a:r>
            <a:r>
              <a:rPr lang="en-US" sz="2720" spc="-14" dirty="0">
                <a:cs typeface="Calibri"/>
              </a:rPr>
              <a:t> view?</a:t>
            </a:r>
            <a:endParaRPr lang="en-US" sz="2720" dirty="0">
              <a:cs typeface="Calibri"/>
            </a:endParaRPr>
          </a:p>
          <a:p>
            <a:pPr marL="796645" lvl="1" indent="-342900">
              <a:spcBef>
                <a:spcPts val="277"/>
              </a:spcBef>
              <a:tabLst>
                <a:tab pos="676010" algn="l"/>
              </a:tabLst>
            </a:pPr>
            <a:r>
              <a:rPr lang="en-US" sz="2358" spc="-18" dirty="0">
                <a:cs typeface="Calibri"/>
              </a:rPr>
              <a:t>Decreased</a:t>
            </a:r>
            <a:r>
              <a:rPr lang="en-US" sz="2358" spc="-50" dirty="0">
                <a:cs typeface="Calibri"/>
              </a:rPr>
              <a:t> </a:t>
            </a:r>
            <a:r>
              <a:rPr lang="en-US" sz="2358" spc="-23" dirty="0">
                <a:cs typeface="Calibri"/>
              </a:rPr>
              <a:t>availability</a:t>
            </a:r>
            <a:endParaRPr lang="en-US" sz="2358" dirty="0">
              <a:cs typeface="Calibri"/>
            </a:endParaRPr>
          </a:p>
          <a:p>
            <a:pPr marL="468140" indent="-457200">
              <a:spcBef>
                <a:spcPts val="617"/>
              </a:spcBef>
              <a:tabLst>
                <a:tab pos="233206" algn="l"/>
              </a:tabLst>
            </a:pPr>
            <a:r>
              <a:rPr lang="en-US" sz="2720" spc="-18" dirty="0">
                <a:cs typeface="Calibri"/>
              </a:rPr>
              <a:t>From</a:t>
            </a:r>
            <a:r>
              <a:rPr lang="en-US" sz="2720" spc="-14" dirty="0">
                <a:cs typeface="Calibri"/>
              </a:rPr>
              <a:t> </a:t>
            </a:r>
            <a:r>
              <a:rPr lang="en-US" sz="2720" spc="-18" dirty="0">
                <a:cs typeface="Calibri"/>
              </a:rPr>
              <a:t>operations</a:t>
            </a:r>
            <a:r>
              <a:rPr lang="en-US" sz="2720" spc="-5" dirty="0">
                <a:cs typeface="Calibri"/>
              </a:rPr>
              <a:t> </a:t>
            </a:r>
            <a:r>
              <a:rPr lang="en-US" sz="2720" spc="-9" dirty="0">
                <a:cs typeface="Calibri"/>
              </a:rPr>
              <a:t>point </a:t>
            </a:r>
            <a:r>
              <a:rPr lang="en-US" sz="2720" spc="-5" dirty="0">
                <a:cs typeface="Calibri"/>
              </a:rPr>
              <a:t>of</a:t>
            </a:r>
            <a:r>
              <a:rPr lang="en-US" sz="2720" spc="-9" dirty="0">
                <a:cs typeface="Calibri"/>
              </a:rPr>
              <a:t> </a:t>
            </a:r>
            <a:r>
              <a:rPr lang="en-US" sz="2720" spc="-14" dirty="0">
                <a:cs typeface="Calibri"/>
              </a:rPr>
              <a:t>view?</a:t>
            </a:r>
            <a:endParaRPr lang="en-US" sz="2720" dirty="0">
              <a:cs typeface="Calibri"/>
            </a:endParaRPr>
          </a:p>
          <a:p>
            <a:pPr marL="796645" lvl="1" indent="-342900">
              <a:spcBef>
                <a:spcPts val="163"/>
              </a:spcBef>
              <a:tabLst>
                <a:tab pos="676010" algn="l"/>
              </a:tabLst>
            </a:pPr>
            <a:r>
              <a:rPr lang="en-US" sz="2358" spc="-14" dirty="0">
                <a:cs typeface="Calibri"/>
              </a:rPr>
              <a:t>An</a:t>
            </a:r>
            <a:r>
              <a:rPr lang="en-US" sz="2358" spc="-54" dirty="0">
                <a:cs typeface="Calibri"/>
              </a:rPr>
              <a:t> </a:t>
            </a:r>
            <a:r>
              <a:rPr lang="en-US" sz="2358" spc="-27" dirty="0">
                <a:cs typeface="Calibri"/>
              </a:rPr>
              <a:t>outage</a:t>
            </a:r>
            <a:endParaRPr lang="en-US" sz="2358" dirty="0">
              <a:cs typeface="Calibri"/>
            </a:endParaRPr>
          </a:p>
          <a:p>
            <a:pPr marL="468140" indent="-457200">
              <a:spcBef>
                <a:spcPts val="617"/>
              </a:spcBef>
              <a:tabLst>
                <a:tab pos="233206" algn="l"/>
              </a:tabLst>
            </a:pPr>
            <a:r>
              <a:rPr lang="en-US" sz="2720" spc="-18" dirty="0">
                <a:cs typeface="Calibri"/>
              </a:rPr>
              <a:t>From</a:t>
            </a:r>
            <a:r>
              <a:rPr lang="en-US" sz="2720" spc="-14" dirty="0">
                <a:cs typeface="Calibri"/>
              </a:rPr>
              <a:t> </a:t>
            </a:r>
            <a:r>
              <a:rPr lang="en-US" sz="2720" spc="-5" dirty="0">
                <a:cs typeface="Calibri"/>
              </a:rPr>
              <a:t>business</a:t>
            </a:r>
            <a:r>
              <a:rPr lang="en-US" sz="2720" spc="-9" dirty="0">
                <a:cs typeface="Calibri"/>
              </a:rPr>
              <a:t> point</a:t>
            </a:r>
            <a:r>
              <a:rPr lang="en-US" sz="2720" spc="-14" dirty="0">
                <a:cs typeface="Calibri"/>
              </a:rPr>
              <a:t> </a:t>
            </a:r>
            <a:r>
              <a:rPr lang="en-US" sz="2720" spc="-5" dirty="0">
                <a:cs typeface="Calibri"/>
              </a:rPr>
              <a:t>of</a:t>
            </a:r>
            <a:r>
              <a:rPr lang="en-US" sz="2720" spc="-14" dirty="0">
                <a:cs typeface="Calibri"/>
              </a:rPr>
              <a:t> view?</a:t>
            </a:r>
            <a:endParaRPr lang="en-US" sz="2720" dirty="0">
              <a:cs typeface="Calibri"/>
            </a:endParaRPr>
          </a:p>
          <a:p>
            <a:pPr marL="796645" lvl="1" indent="-342900">
              <a:spcBef>
                <a:spcPts val="190"/>
              </a:spcBef>
              <a:tabLst>
                <a:tab pos="676010" algn="l"/>
              </a:tabLst>
            </a:pPr>
            <a:r>
              <a:rPr lang="en-US" sz="2358" spc="-18" dirty="0">
                <a:cs typeface="Calibri"/>
              </a:rPr>
              <a:t>Financial</a:t>
            </a:r>
            <a:r>
              <a:rPr lang="en-US" sz="2358" spc="-45" dirty="0">
                <a:cs typeface="Calibri"/>
              </a:rPr>
              <a:t> </a:t>
            </a:r>
            <a:r>
              <a:rPr lang="en-US" sz="2358" spc="-14" dirty="0">
                <a:cs typeface="Calibri"/>
              </a:rPr>
              <a:t>losses</a:t>
            </a:r>
            <a:endParaRPr lang="en-US" sz="2358" dirty="0">
              <a:cs typeface="Calibri"/>
            </a:endParaRPr>
          </a:p>
          <a:p>
            <a:endParaRPr lang="en-ID" dirty="0"/>
          </a:p>
        </p:txBody>
      </p:sp>
    </p:spTree>
    <p:extLst>
      <p:ext uri="{BB962C8B-B14F-4D97-AF65-F5344CB8AC3E}">
        <p14:creationId xmlns:p14="http://schemas.microsoft.com/office/powerpoint/2010/main" val="7491986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27EF-854B-36EA-EBA7-168D57C8F81A}"/>
              </a:ext>
            </a:extLst>
          </p:cNvPr>
          <p:cNvSpPr>
            <a:spLocks noGrp="1"/>
          </p:cNvSpPr>
          <p:nvPr>
            <p:ph type="title"/>
          </p:nvPr>
        </p:nvSpPr>
        <p:spPr/>
        <p:txBody>
          <a:bodyPr/>
          <a:lstStyle/>
          <a:p>
            <a:r>
              <a:rPr lang="en-ID" spc="5" dirty="0"/>
              <a:t>DoS</a:t>
            </a:r>
            <a:r>
              <a:rPr lang="en-ID" spc="-36" dirty="0"/>
              <a:t> </a:t>
            </a:r>
            <a:r>
              <a:rPr lang="en-ID" dirty="0"/>
              <a:t>vs.</a:t>
            </a:r>
            <a:r>
              <a:rPr lang="en-ID" spc="-41" dirty="0"/>
              <a:t> </a:t>
            </a:r>
            <a:r>
              <a:rPr lang="en-ID" spc="5" dirty="0"/>
              <a:t>DDoS</a:t>
            </a:r>
            <a:endParaRPr lang="en-ID" dirty="0"/>
          </a:p>
        </p:txBody>
      </p:sp>
      <p:sp>
        <p:nvSpPr>
          <p:cNvPr id="3" name="Content Placeholder 2">
            <a:extLst>
              <a:ext uri="{FF2B5EF4-FFF2-40B4-BE49-F238E27FC236}">
                <a16:creationId xmlns:a16="http://schemas.microsoft.com/office/drawing/2014/main" id="{75145CC8-2B60-032D-E229-EED39A20544F}"/>
              </a:ext>
            </a:extLst>
          </p:cNvPr>
          <p:cNvSpPr>
            <a:spLocks noGrp="1"/>
          </p:cNvSpPr>
          <p:nvPr>
            <p:ph idx="1"/>
          </p:nvPr>
        </p:nvSpPr>
        <p:spPr/>
        <p:txBody>
          <a:bodyPr/>
          <a:lstStyle/>
          <a:p>
            <a:pPr marL="468140" indent="-457200">
              <a:lnSpc>
                <a:spcPts val="3019"/>
              </a:lnSpc>
              <a:spcBef>
                <a:spcPts val="91"/>
              </a:spcBef>
              <a:tabLst>
                <a:tab pos="233206" algn="l"/>
              </a:tabLst>
            </a:pPr>
            <a:r>
              <a:rPr lang="en-US" sz="2539" spc="-18" dirty="0">
                <a:cs typeface="Calibri"/>
              </a:rPr>
              <a:t>What</a:t>
            </a:r>
            <a:r>
              <a:rPr lang="en-US" sz="2539" spc="-27" dirty="0">
                <a:cs typeface="Calibri"/>
              </a:rPr>
              <a:t> </a:t>
            </a:r>
            <a:r>
              <a:rPr lang="en-US" sz="2539" spc="-5" dirty="0">
                <a:cs typeface="Calibri"/>
              </a:rPr>
              <a:t>is</a:t>
            </a:r>
            <a:r>
              <a:rPr lang="en-US" sz="2539" spc="-32" dirty="0">
                <a:cs typeface="Calibri"/>
              </a:rPr>
              <a:t> </a:t>
            </a:r>
            <a:r>
              <a:rPr lang="en-US" sz="2539" spc="-9" dirty="0">
                <a:cs typeface="Calibri"/>
              </a:rPr>
              <a:t>the</a:t>
            </a:r>
            <a:r>
              <a:rPr lang="en-US" sz="2539" spc="-36" dirty="0">
                <a:cs typeface="Calibri"/>
              </a:rPr>
              <a:t> </a:t>
            </a:r>
            <a:r>
              <a:rPr lang="en-US" sz="2539" spc="-23" dirty="0">
                <a:cs typeface="Calibri"/>
              </a:rPr>
              <a:t>difference?</a:t>
            </a:r>
            <a:endParaRPr lang="en-US" sz="2539" dirty="0">
              <a:cs typeface="Calibri"/>
            </a:endParaRPr>
          </a:p>
          <a:p>
            <a:pPr marL="796645" lvl="1" indent="-342900">
              <a:lnSpc>
                <a:spcPts val="2553"/>
              </a:lnSpc>
              <a:tabLst>
                <a:tab pos="675435" algn="l"/>
                <a:tab pos="676010" algn="l"/>
              </a:tabLst>
            </a:pPr>
            <a:r>
              <a:rPr lang="en-US" sz="2176" spc="-23" dirty="0">
                <a:cs typeface="Calibri"/>
              </a:rPr>
              <a:t>One</a:t>
            </a:r>
            <a:r>
              <a:rPr lang="en-US" sz="2176" spc="-32" dirty="0">
                <a:cs typeface="Calibri"/>
              </a:rPr>
              <a:t> </a:t>
            </a:r>
            <a:r>
              <a:rPr lang="en-US" sz="2176" spc="-36" dirty="0">
                <a:cs typeface="Calibri"/>
              </a:rPr>
              <a:t>system</a:t>
            </a:r>
            <a:r>
              <a:rPr lang="en-US" sz="2176" spc="-41" dirty="0">
                <a:cs typeface="Calibri"/>
              </a:rPr>
              <a:t> </a:t>
            </a:r>
            <a:r>
              <a:rPr lang="en-US" sz="2176" spc="-9" dirty="0">
                <a:cs typeface="Calibri"/>
              </a:rPr>
              <a:t>is</a:t>
            </a:r>
            <a:r>
              <a:rPr lang="en-US" sz="2176" spc="-27" dirty="0">
                <a:cs typeface="Calibri"/>
              </a:rPr>
              <a:t> </a:t>
            </a:r>
            <a:r>
              <a:rPr lang="en-US" sz="2176" spc="-23" dirty="0">
                <a:cs typeface="Calibri"/>
              </a:rPr>
              <a:t>sending</a:t>
            </a:r>
            <a:r>
              <a:rPr lang="en-US" sz="2176" spc="-27" dirty="0">
                <a:cs typeface="Calibri"/>
              </a:rPr>
              <a:t> </a:t>
            </a:r>
            <a:r>
              <a:rPr lang="en-US" sz="2176" spc="-18" dirty="0">
                <a:cs typeface="Calibri"/>
              </a:rPr>
              <a:t>the</a:t>
            </a:r>
            <a:r>
              <a:rPr lang="en-US" sz="2176" spc="-32" dirty="0">
                <a:cs typeface="Calibri"/>
              </a:rPr>
              <a:t> </a:t>
            </a:r>
            <a:r>
              <a:rPr lang="en-US" sz="2176" spc="-27" dirty="0">
                <a:cs typeface="Calibri"/>
              </a:rPr>
              <a:t>traffic</a:t>
            </a:r>
            <a:r>
              <a:rPr lang="en-US" sz="2176" spc="-32" dirty="0">
                <a:cs typeface="Calibri"/>
              </a:rPr>
              <a:t> </a:t>
            </a:r>
            <a:r>
              <a:rPr lang="en-US" sz="2176" spc="-23" dirty="0">
                <a:cs typeface="Calibri"/>
              </a:rPr>
              <a:t>vs</a:t>
            </a:r>
            <a:r>
              <a:rPr lang="en-US" sz="2176" spc="-27" dirty="0">
                <a:cs typeface="Calibri"/>
              </a:rPr>
              <a:t> </a:t>
            </a:r>
            <a:r>
              <a:rPr lang="en-US" sz="2176" spc="-36" dirty="0">
                <a:cs typeface="Calibri"/>
              </a:rPr>
              <a:t>many</a:t>
            </a:r>
            <a:r>
              <a:rPr lang="en-US" sz="2176" spc="-27" dirty="0">
                <a:cs typeface="Calibri"/>
              </a:rPr>
              <a:t> </a:t>
            </a:r>
            <a:r>
              <a:rPr lang="en-US" sz="2176" spc="-36" dirty="0">
                <a:cs typeface="Calibri"/>
              </a:rPr>
              <a:t>systems</a:t>
            </a:r>
            <a:endParaRPr lang="en-US" sz="2176" dirty="0">
              <a:cs typeface="Calibri"/>
            </a:endParaRPr>
          </a:p>
          <a:p>
            <a:pPr marL="796645" lvl="1" indent="-342900">
              <a:lnSpc>
                <a:spcPts val="2580"/>
              </a:lnSpc>
              <a:tabLst>
                <a:tab pos="675435" algn="l"/>
                <a:tab pos="676010" algn="l"/>
              </a:tabLst>
            </a:pPr>
            <a:r>
              <a:rPr lang="en-US" sz="2176" spc="-23" dirty="0">
                <a:cs typeface="Calibri"/>
              </a:rPr>
              <a:t>Consider</a:t>
            </a:r>
            <a:r>
              <a:rPr lang="en-US" sz="2176" spc="-45" dirty="0">
                <a:cs typeface="Calibri"/>
              </a:rPr>
              <a:t> </a:t>
            </a:r>
            <a:r>
              <a:rPr lang="en-US" sz="2176" spc="-27" dirty="0">
                <a:cs typeface="Calibri"/>
              </a:rPr>
              <a:t>reflected</a:t>
            </a:r>
            <a:r>
              <a:rPr lang="en-US" sz="2176" spc="-45" dirty="0">
                <a:cs typeface="Calibri"/>
              </a:rPr>
              <a:t> </a:t>
            </a:r>
            <a:r>
              <a:rPr lang="en-US" sz="2176" spc="-36" dirty="0">
                <a:cs typeface="Calibri"/>
              </a:rPr>
              <a:t>attacks</a:t>
            </a:r>
            <a:endParaRPr lang="en-US" sz="2176" dirty="0">
              <a:cs typeface="Calibri"/>
            </a:endParaRPr>
          </a:p>
          <a:p>
            <a:pPr marL="468140" indent="-457200">
              <a:lnSpc>
                <a:spcPts val="3011"/>
              </a:lnSpc>
              <a:spcBef>
                <a:spcPts val="290"/>
              </a:spcBef>
              <a:tabLst>
                <a:tab pos="233206" algn="l"/>
              </a:tabLst>
            </a:pPr>
            <a:r>
              <a:rPr lang="en-US" sz="2539" spc="-9" dirty="0">
                <a:cs typeface="Calibri"/>
              </a:rPr>
              <a:t>How</a:t>
            </a:r>
            <a:r>
              <a:rPr lang="en-US" sz="2539" spc="-27" dirty="0">
                <a:cs typeface="Calibri"/>
              </a:rPr>
              <a:t> </a:t>
            </a:r>
            <a:r>
              <a:rPr lang="en-US" sz="2539" spc="-14" dirty="0">
                <a:cs typeface="Calibri"/>
              </a:rPr>
              <a:t>does</a:t>
            </a:r>
            <a:r>
              <a:rPr lang="en-US" sz="2539" spc="-32" dirty="0">
                <a:cs typeface="Calibri"/>
              </a:rPr>
              <a:t> </a:t>
            </a:r>
            <a:r>
              <a:rPr lang="en-US" sz="2539" spc="-14" dirty="0">
                <a:cs typeface="Calibri"/>
              </a:rPr>
              <a:t>that change</a:t>
            </a:r>
            <a:r>
              <a:rPr lang="en-US" sz="2539" spc="-32" dirty="0">
                <a:cs typeface="Calibri"/>
              </a:rPr>
              <a:t> </a:t>
            </a:r>
            <a:r>
              <a:rPr lang="en-US" sz="2539" spc="-9" dirty="0">
                <a:cs typeface="Calibri"/>
              </a:rPr>
              <a:t>the</a:t>
            </a:r>
            <a:r>
              <a:rPr lang="en-US" sz="2539" spc="-27" dirty="0">
                <a:cs typeface="Calibri"/>
              </a:rPr>
              <a:t> </a:t>
            </a:r>
            <a:r>
              <a:rPr lang="en-US" sz="2539" spc="-23" dirty="0">
                <a:cs typeface="Calibri"/>
              </a:rPr>
              <a:t>attacks</a:t>
            </a:r>
            <a:r>
              <a:rPr lang="en-US" sz="2539" spc="-32" dirty="0">
                <a:cs typeface="Calibri"/>
              </a:rPr>
              <a:t> </a:t>
            </a:r>
            <a:r>
              <a:rPr lang="en-US" sz="2539" spc="-18" dirty="0">
                <a:cs typeface="Calibri"/>
              </a:rPr>
              <a:t>volume?</a:t>
            </a:r>
            <a:endParaRPr lang="en-US" sz="2539" dirty="0">
              <a:cs typeface="Calibri"/>
            </a:endParaRPr>
          </a:p>
          <a:p>
            <a:pPr marL="796645" lvl="1" indent="-342900">
              <a:lnSpc>
                <a:spcPts val="2575"/>
              </a:lnSpc>
              <a:tabLst>
                <a:tab pos="675435" algn="l"/>
                <a:tab pos="676010" algn="l"/>
              </a:tabLst>
            </a:pPr>
            <a:r>
              <a:rPr lang="en-US" sz="2176" spc="-32" dirty="0">
                <a:cs typeface="Calibri"/>
              </a:rPr>
              <a:t>More</a:t>
            </a:r>
            <a:r>
              <a:rPr lang="en-US" sz="2176" spc="-41" dirty="0">
                <a:cs typeface="Calibri"/>
              </a:rPr>
              <a:t> </a:t>
            </a:r>
            <a:r>
              <a:rPr lang="en-US" sz="2176" spc="-32" dirty="0">
                <a:cs typeface="Calibri"/>
              </a:rPr>
              <a:t>systems</a:t>
            </a:r>
            <a:r>
              <a:rPr lang="en-US" sz="2176" spc="-36" dirty="0">
                <a:cs typeface="Calibri"/>
              </a:rPr>
              <a:t> </a:t>
            </a:r>
            <a:r>
              <a:rPr lang="en-US" sz="2176" dirty="0">
                <a:cs typeface="Calibri"/>
              </a:rPr>
              <a:t>–</a:t>
            </a:r>
            <a:r>
              <a:rPr lang="en-US" sz="2176" spc="-36" dirty="0">
                <a:cs typeface="Calibri"/>
              </a:rPr>
              <a:t> </a:t>
            </a:r>
            <a:r>
              <a:rPr lang="en-US" sz="2176" spc="-27" dirty="0">
                <a:cs typeface="Calibri"/>
              </a:rPr>
              <a:t>more</a:t>
            </a:r>
            <a:r>
              <a:rPr lang="en-US" sz="2176" spc="-36" dirty="0">
                <a:cs typeface="Calibri"/>
              </a:rPr>
              <a:t> </a:t>
            </a:r>
            <a:r>
              <a:rPr lang="en-US" sz="2176" spc="-27" dirty="0">
                <a:cs typeface="Calibri"/>
              </a:rPr>
              <a:t>capacity</a:t>
            </a:r>
            <a:endParaRPr lang="en-US" sz="2176" dirty="0">
              <a:cs typeface="Calibri"/>
            </a:endParaRPr>
          </a:p>
          <a:p>
            <a:endParaRPr lang="en-ID" dirty="0"/>
          </a:p>
        </p:txBody>
      </p:sp>
      <p:grpSp>
        <p:nvGrpSpPr>
          <p:cNvPr id="4" name="object 3">
            <a:extLst>
              <a:ext uri="{FF2B5EF4-FFF2-40B4-BE49-F238E27FC236}">
                <a16:creationId xmlns:a16="http://schemas.microsoft.com/office/drawing/2014/main" id="{8937C2F0-1558-266C-3C19-DBB3B602B913}"/>
              </a:ext>
            </a:extLst>
          </p:cNvPr>
          <p:cNvGrpSpPr/>
          <p:nvPr/>
        </p:nvGrpSpPr>
        <p:grpSpPr>
          <a:xfrm>
            <a:off x="6285038" y="3853908"/>
            <a:ext cx="2145500" cy="2384465"/>
            <a:chOff x="3603685" y="3634950"/>
            <a:chExt cx="2366010" cy="2629535"/>
          </a:xfrm>
        </p:grpSpPr>
        <p:pic>
          <p:nvPicPr>
            <p:cNvPr id="5" name="object 4">
              <a:extLst>
                <a:ext uri="{FF2B5EF4-FFF2-40B4-BE49-F238E27FC236}">
                  <a16:creationId xmlns:a16="http://schemas.microsoft.com/office/drawing/2014/main" id="{288B4D22-C0AD-E74F-03EA-DCC60EF959CF}"/>
                </a:ext>
              </a:extLst>
            </p:cNvPr>
            <p:cNvPicPr/>
            <p:nvPr/>
          </p:nvPicPr>
          <p:blipFill>
            <a:blip r:embed="rId2" cstate="print"/>
            <a:stretch>
              <a:fillRect/>
            </a:stretch>
          </p:blipFill>
          <p:spPr>
            <a:xfrm>
              <a:off x="3624979" y="3653887"/>
              <a:ext cx="673975" cy="941432"/>
            </a:xfrm>
            <a:prstGeom prst="rect">
              <a:avLst/>
            </a:prstGeom>
          </p:spPr>
        </p:pic>
        <p:pic>
          <p:nvPicPr>
            <p:cNvPr id="6" name="object 5">
              <a:extLst>
                <a:ext uri="{FF2B5EF4-FFF2-40B4-BE49-F238E27FC236}">
                  <a16:creationId xmlns:a16="http://schemas.microsoft.com/office/drawing/2014/main" id="{F9BCFBEC-FE4A-9351-E782-BE9581B23472}"/>
                </a:ext>
              </a:extLst>
            </p:cNvPr>
            <p:cNvPicPr/>
            <p:nvPr/>
          </p:nvPicPr>
          <p:blipFill>
            <a:blip r:embed="rId3" cstate="print"/>
            <a:stretch>
              <a:fillRect/>
            </a:stretch>
          </p:blipFill>
          <p:spPr>
            <a:xfrm>
              <a:off x="3617880" y="3653887"/>
              <a:ext cx="1500551" cy="941432"/>
            </a:xfrm>
            <a:prstGeom prst="rect">
              <a:avLst/>
            </a:prstGeom>
          </p:spPr>
        </p:pic>
        <p:pic>
          <p:nvPicPr>
            <p:cNvPr id="7" name="object 6">
              <a:extLst>
                <a:ext uri="{FF2B5EF4-FFF2-40B4-BE49-F238E27FC236}">
                  <a16:creationId xmlns:a16="http://schemas.microsoft.com/office/drawing/2014/main" id="{6D997B60-97B5-6A1A-B692-6DBC04F756AD}"/>
                </a:ext>
              </a:extLst>
            </p:cNvPr>
            <p:cNvPicPr/>
            <p:nvPr/>
          </p:nvPicPr>
          <p:blipFill>
            <a:blip r:embed="rId4" cstate="print"/>
            <a:stretch>
              <a:fillRect/>
            </a:stretch>
          </p:blipFill>
          <p:spPr>
            <a:xfrm>
              <a:off x="3610783" y="3634950"/>
              <a:ext cx="2358917" cy="2578334"/>
            </a:xfrm>
            <a:prstGeom prst="rect">
              <a:avLst/>
            </a:prstGeom>
          </p:spPr>
        </p:pic>
        <p:pic>
          <p:nvPicPr>
            <p:cNvPr id="8" name="object 7">
              <a:extLst>
                <a:ext uri="{FF2B5EF4-FFF2-40B4-BE49-F238E27FC236}">
                  <a16:creationId xmlns:a16="http://schemas.microsoft.com/office/drawing/2014/main" id="{08B4B6C1-CA9E-CB16-1F0E-AAE25ADE974B}"/>
                </a:ext>
              </a:extLst>
            </p:cNvPr>
            <p:cNvPicPr/>
            <p:nvPr/>
          </p:nvPicPr>
          <p:blipFill>
            <a:blip r:embed="rId5" cstate="print"/>
            <a:stretch>
              <a:fillRect/>
            </a:stretch>
          </p:blipFill>
          <p:spPr>
            <a:xfrm>
              <a:off x="3603685" y="3634950"/>
              <a:ext cx="2358917" cy="2629223"/>
            </a:xfrm>
            <a:prstGeom prst="rect">
              <a:avLst/>
            </a:prstGeom>
          </p:spPr>
        </p:pic>
      </p:grpSp>
      <p:grpSp>
        <p:nvGrpSpPr>
          <p:cNvPr id="9" name="object 8">
            <a:extLst>
              <a:ext uri="{FF2B5EF4-FFF2-40B4-BE49-F238E27FC236}">
                <a16:creationId xmlns:a16="http://schemas.microsoft.com/office/drawing/2014/main" id="{7B8BDB76-EDF2-1C1E-8D12-447746567CB7}"/>
              </a:ext>
            </a:extLst>
          </p:cNvPr>
          <p:cNvGrpSpPr/>
          <p:nvPr/>
        </p:nvGrpSpPr>
        <p:grpSpPr>
          <a:xfrm>
            <a:off x="9064345" y="3853908"/>
            <a:ext cx="2289455" cy="2384465"/>
            <a:chOff x="6704986" y="3618974"/>
            <a:chExt cx="2524760" cy="2629535"/>
          </a:xfrm>
        </p:grpSpPr>
        <p:pic>
          <p:nvPicPr>
            <p:cNvPr id="10" name="object 9">
              <a:extLst>
                <a:ext uri="{FF2B5EF4-FFF2-40B4-BE49-F238E27FC236}">
                  <a16:creationId xmlns:a16="http://schemas.microsoft.com/office/drawing/2014/main" id="{033BB1CE-D04B-023B-192B-FB667718185C}"/>
                </a:ext>
              </a:extLst>
            </p:cNvPr>
            <p:cNvPicPr/>
            <p:nvPr/>
          </p:nvPicPr>
          <p:blipFill>
            <a:blip r:embed="rId2" cstate="print"/>
            <a:stretch>
              <a:fillRect/>
            </a:stretch>
          </p:blipFill>
          <p:spPr>
            <a:xfrm>
              <a:off x="6712084" y="3634950"/>
              <a:ext cx="673976" cy="941431"/>
            </a:xfrm>
            <a:prstGeom prst="rect">
              <a:avLst/>
            </a:prstGeom>
          </p:spPr>
        </p:pic>
        <p:pic>
          <p:nvPicPr>
            <p:cNvPr id="11" name="object 10">
              <a:extLst>
                <a:ext uri="{FF2B5EF4-FFF2-40B4-BE49-F238E27FC236}">
                  <a16:creationId xmlns:a16="http://schemas.microsoft.com/office/drawing/2014/main" id="{27F21316-1834-4569-94AF-3FB7CD5BF7CC}"/>
                </a:ext>
              </a:extLst>
            </p:cNvPr>
            <p:cNvPicPr/>
            <p:nvPr/>
          </p:nvPicPr>
          <p:blipFill>
            <a:blip r:embed="rId6" cstate="print"/>
            <a:stretch>
              <a:fillRect/>
            </a:stretch>
          </p:blipFill>
          <p:spPr>
            <a:xfrm>
              <a:off x="6704986" y="3625482"/>
              <a:ext cx="2524232" cy="2578334"/>
            </a:xfrm>
            <a:prstGeom prst="rect">
              <a:avLst/>
            </a:prstGeom>
          </p:spPr>
        </p:pic>
        <p:pic>
          <p:nvPicPr>
            <p:cNvPr id="12" name="object 11">
              <a:extLst>
                <a:ext uri="{FF2B5EF4-FFF2-40B4-BE49-F238E27FC236}">
                  <a16:creationId xmlns:a16="http://schemas.microsoft.com/office/drawing/2014/main" id="{E6F935E4-9048-DCD1-9448-11E49AD69C59}"/>
                </a:ext>
              </a:extLst>
            </p:cNvPr>
            <p:cNvPicPr/>
            <p:nvPr/>
          </p:nvPicPr>
          <p:blipFill>
            <a:blip r:embed="rId7" cstate="print"/>
            <a:stretch>
              <a:fillRect/>
            </a:stretch>
          </p:blipFill>
          <p:spPr>
            <a:xfrm>
              <a:off x="6704986" y="3618974"/>
              <a:ext cx="2524232" cy="2629223"/>
            </a:xfrm>
            <a:prstGeom prst="rect">
              <a:avLst/>
            </a:prstGeom>
          </p:spPr>
        </p:pic>
      </p:grpSp>
      <p:grpSp>
        <p:nvGrpSpPr>
          <p:cNvPr id="13" name="object 13">
            <a:extLst>
              <a:ext uri="{FF2B5EF4-FFF2-40B4-BE49-F238E27FC236}">
                <a16:creationId xmlns:a16="http://schemas.microsoft.com/office/drawing/2014/main" id="{D8DDE11C-82CB-2E66-6648-CB47B7D74BDA}"/>
              </a:ext>
            </a:extLst>
          </p:cNvPr>
          <p:cNvGrpSpPr/>
          <p:nvPr/>
        </p:nvGrpSpPr>
        <p:grpSpPr>
          <a:xfrm>
            <a:off x="3983256" y="4739255"/>
            <a:ext cx="1668147" cy="855091"/>
            <a:chOff x="1101674" y="4595316"/>
            <a:chExt cx="1839595" cy="942975"/>
          </a:xfrm>
        </p:grpSpPr>
        <p:pic>
          <p:nvPicPr>
            <p:cNvPr id="14" name="object 14">
              <a:extLst>
                <a:ext uri="{FF2B5EF4-FFF2-40B4-BE49-F238E27FC236}">
                  <a16:creationId xmlns:a16="http://schemas.microsoft.com/office/drawing/2014/main" id="{C692110D-F9AC-D56C-C8BB-578917737EB5}"/>
                </a:ext>
              </a:extLst>
            </p:cNvPr>
            <p:cNvPicPr/>
            <p:nvPr/>
          </p:nvPicPr>
          <p:blipFill>
            <a:blip r:embed="rId8" cstate="print"/>
            <a:stretch>
              <a:fillRect/>
            </a:stretch>
          </p:blipFill>
          <p:spPr>
            <a:xfrm>
              <a:off x="1113760" y="4595316"/>
              <a:ext cx="681261" cy="942820"/>
            </a:xfrm>
            <a:prstGeom prst="rect">
              <a:avLst/>
            </a:prstGeom>
          </p:spPr>
        </p:pic>
        <p:pic>
          <p:nvPicPr>
            <p:cNvPr id="15" name="object 15">
              <a:extLst>
                <a:ext uri="{FF2B5EF4-FFF2-40B4-BE49-F238E27FC236}">
                  <a16:creationId xmlns:a16="http://schemas.microsoft.com/office/drawing/2014/main" id="{949FFDCB-FB9C-2F2E-7282-F5F19D4359C4}"/>
                </a:ext>
              </a:extLst>
            </p:cNvPr>
            <p:cNvPicPr/>
            <p:nvPr/>
          </p:nvPicPr>
          <p:blipFill>
            <a:blip r:embed="rId9" cstate="print"/>
            <a:stretch>
              <a:fillRect/>
            </a:stretch>
          </p:blipFill>
          <p:spPr>
            <a:xfrm>
              <a:off x="1101674" y="4595318"/>
              <a:ext cx="1839405" cy="942820"/>
            </a:xfrm>
            <a:prstGeom prst="rect">
              <a:avLst/>
            </a:prstGeom>
          </p:spPr>
        </p:pic>
      </p:grpSp>
    </p:spTree>
    <p:extLst>
      <p:ext uri="{BB962C8B-B14F-4D97-AF65-F5344CB8AC3E}">
        <p14:creationId xmlns:p14="http://schemas.microsoft.com/office/powerpoint/2010/main" val="17874044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0E3F9-B274-EF55-BE9F-704CEE5FAA11}"/>
              </a:ext>
            </a:extLst>
          </p:cNvPr>
          <p:cNvSpPr>
            <a:spLocks noGrp="1"/>
          </p:cNvSpPr>
          <p:nvPr>
            <p:ph type="title"/>
          </p:nvPr>
        </p:nvSpPr>
        <p:spPr/>
        <p:txBody>
          <a:bodyPr>
            <a:normAutofit/>
          </a:bodyPr>
          <a:lstStyle/>
          <a:p>
            <a:r>
              <a:rPr lang="en" dirty="0"/>
              <a:t>DoS and DDoS Incidents </a:t>
            </a:r>
            <a:endParaRPr lang="en-ID" dirty="0"/>
          </a:p>
        </p:txBody>
      </p:sp>
      <p:graphicFrame>
        <p:nvGraphicFramePr>
          <p:cNvPr id="4" name="Table 5">
            <a:extLst>
              <a:ext uri="{FF2B5EF4-FFF2-40B4-BE49-F238E27FC236}">
                <a16:creationId xmlns:a16="http://schemas.microsoft.com/office/drawing/2014/main" id="{4C3185DA-5051-5F99-D3B2-F38AE3E167D9}"/>
              </a:ext>
            </a:extLst>
          </p:cNvPr>
          <p:cNvGraphicFramePr>
            <a:graphicFrameLocks noGrp="1"/>
          </p:cNvGraphicFramePr>
          <p:nvPr>
            <p:extLst>
              <p:ext uri="{D42A27DB-BD31-4B8C-83A1-F6EECF244321}">
                <p14:modId xmlns:p14="http://schemas.microsoft.com/office/powerpoint/2010/main" val="3435348299"/>
              </p:ext>
            </p:extLst>
          </p:nvPr>
        </p:nvGraphicFramePr>
        <p:xfrm>
          <a:off x="625642" y="1540042"/>
          <a:ext cx="10892589" cy="4675252"/>
        </p:xfrm>
        <a:graphic>
          <a:graphicData uri="http://schemas.openxmlformats.org/drawingml/2006/table">
            <a:tbl>
              <a:tblPr firstRow="1" bandRow="1">
                <a:tableStyleId>{00A15C55-8517-42AA-B614-E9B94910E393}</a:tableStyleId>
              </a:tblPr>
              <a:tblGrid>
                <a:gridCol w="3630863">
                  <a:extLst>
                    <a:ext uri="{9D8B030D-6E8A-4147-A177-3AD203B41FA5}">
                      <a16:colId xmlns:a16="http://schemas.microsoft.com/office/drawing/2014/main" val="157248277"/>
                    </a:ext>
                  </a:extLst>
                </a:gridCol>
                <a:gridCol w="3630863">
                  <a:extLst>
                    <a:ext uri="{9D8B030D-6E8A-4147-A177-3AD203B41FA5}">
                      <a16:colId xmlns:a16="http://schemas.microsoft.com/office/drawing/2014/main" val="1837816488"/>
                    </a:ext>
                  </a:extLst>
                </a:gridCol>
                <a:gridCol w="3630863">
                  <a:extLst>
                    <a:ext uri="{9D8B030D-6E8A-4147-A177-3AD203B41FA5}">
                      <a16:colId xmlns:a16="http://schemas.microsoft.com/office/drawing/2014/main" val="3433943045"/>
                    </a:ext>
                  </a:extLst>
                </a:gridCol>
              </a:tblGrid>
              <a:tr h="363544">
                <a:tc>
                  <a:txBody>
                    <a:bodyPr/>
                    <a:lstStyle/>
                    <a:p>
                      <a:pPr algn="ctr"/>
                      <a:r>
                        <a:rPr lang="en-US" sz="1500" dirty="0">
                          <a:latin typeface="Georgia" panose="02040502050405020303" pitchFamily="18" charset="0"/>
                        </a:rPr>
                        <a:t>Parameter</a:t>
                      </a:r>
                      <a:endParaRPr lang="en-ID" sz="1500" dirty="0">
                        <a:latin typeface="Georgia" panose="02040502050405020303" pitchFamily="18" charset="0"/>
                      </a:endParaRPr>
                    </a:p>
                  </a:txBody>
                  <a:tcPr marL="121920" marR="121920" marT="60960" marB="60960">
                    <a:solidFill>
                      <a:schemeClr val="accent5">
                        <a:lumMod val="75000"/>
                      </a:schemeClr>
                    </a:solidFill>
                  </a:tcPr>
                </a:tc>
                <a:tc>
                  <a:txBody>
                    <a:bodyPr/>
                    <a:lstStyle/>
                    <a:p>
                      <a:pPr algn="ctr"/>
                      <a:r>
                        <a:rPr lang="en-US" sz="1500" dirty="0">
                          <a:latin typeface="Georgia" panose="02040502050405020303" pitchFamily="18" charset="0"/>
                        </a:rPr>
                        <a:t>DOS</a:t>
                      </a:r>
                      <a:endParaRPr lang="en-ID" sz="1500" dirty="0">
                        <a:latin typeface="Georgia" panose="02040502050405020303" pitchFamily="18" charset="0"/>
                      </a:endParaRPr>
                    </a:p>
                  </a:txBody>
                  <a:tcPr marL="121920" marR="121920" marT="60960" marB="60960">
                    <a:solidFill>
                      <a:schemeClr val="accent5">
                        <a:lumMod val="75000"/>
                      </a:schemeClr>
                    </a:solidFill>
                  </a:tcPr>
                </a:tc>
                <a:tc>
                  <a:txBody>
                    <a:bodyPr/>
                    <a:lstStyle/>
                    <a:p>
                      <a:pPr algn="ctr"/>
                      <a:r>
                        <a:rPr lang="en-US" sz="1500" dirty="0">
                          <a:latin typeface="Georgia" panose="02040502050405020303" pitchFamily="18" charset="0"/>
                        </a:rPr>
                        <a:t>DDOS</a:t>
                      </a:r>
                      <a:endParaRPr lang="en-ID" sz="1500" dirty="0">
                        <a:latin typeface="Georgia" panose="02040502050405020303" pitchFamily="18" charset="0"/>
                      </a:endParaRPr>
                    </a:p>
                  </a:txBody>
                  <a:tcPr marL="121920" marR="121920" marT="60960" marB="60960">
                    <a:solidFill>
                      <a:schemeClr val="accent5">
                        <a:lumMod val="75000"/>
                      </a:schemeClr>
                    </a:solidFill>
                  </a:tcPr>
                </a:tc>
                <a:extLst>
                  <a:ext uri="{0D108BD9-81ED-4DB2-BD59-A6C34878D82A}">
                    <a16:rowId xmlns:a16="http://schemas.microsoft.com/office/drawing/2014/main" val="1771611529"/>
                  </a:ext>
                </a:extLst>
              </a:tr>
              <a:tr h="470819">
                <a:tc>
                  <a:txBody>
                    <a:bodyPr/>
                    <a:lstStyle/>
                    <a:p>
                      <a:r>
                        <a:rPr lang="en-US" sz="1500" dirty="0">
                          <a:latin typeface="Georgia" panose="02040502050405020303" pitchFamily="18" charset="0"/>
                        </a:rPr>
                        <a:t>Full Form</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Denial Of Service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Distributed Denial Of Service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2790216692"/>
                  </a:ext>
                </a:extLst>
              </a:tr>
              <a:tr h="1028367">
                <a:tc>
                  <a:txBody>
                    <a:bodyPr/>
                    <a:lstStyle/>
                    <a:p>
                      <a:r>
                        <a:rPr lang="en-US" sz="1500" dirty="0">
                          <a:latin typeface="Georgia" panose="02040502050405020303" pitchFamily="18" charset="0"/>
                        </a:rPr>
                        <a:t>Source of Attack</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DoS attack typically uses one computer and one internet connection to flood a target system or resource.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DDoS attack uses multiple computers and Internet connections to flood the targeted resource.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1347945685"/>
                  </a:ext>
                </a:extLst>
              </a:tr>
              <a:tr h="656668">
                <a:tc>
                  <a:txBody>
                    <a:bodyPr/>
                    <a:lstStyle/>
                    <a:p>
                      <a:r>
                        <a:rPr lang="en-US" sz="1500" dirty="0">
                          <a:latin typeface="Georgia" panose="02040502050405020303" pitchFamily="18" charset="0"/>
                        </a:rPr>
                        <a:t>Protection</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System can be stopped/protected easily</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Difficult to protect system against DDOS attack</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2029269942"/>
                  </a:ext>
                </a:extLst>
              </a:tr>
              <a:tr h="1028367">
                <a:tc>
                  <a:txBody>
                    <a:bodyPr/>
                    <a:lstStyle/>
                    <a:p>
                      <a:r>
                        <a:rPr lang="en-US" sz="1500" dirty="0">
                          <a:latin typeface="Georgia" panose="02040502050405020303" pitchFamily="18" charset="0"/>
                        </a:rPr>
                        <a:t>Threat Level</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Low threat Level</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Medium to high threat level, as these can be used to do some serious damage to networks and end systems</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3537104530"/>
                  </a:ext>
                </a:extLst>
              </a:tr>
              <a:tr h="656668">
                <a:tc>
                  <a:txBody>
                    <a:bodyPr/>
                    <a:lstStyle/>
                    <a:p>
                      <a:r>
                        <a:rPr lang="en-US" sz="1500" dirty="0">
                          <a:latin typeface="Georgia" panose="02040502050405020303" pitchFamily="18" charset="0"/>
                        </a:rPr>
                        <a:t>Malware Involvement</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No malware involved</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A botnet is usually made up of thousands of infected pc’s</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3293099366"/>
                  </a:ext>
                </a:extLst>
              </a:tr>
              <a:tr h="470819">
                <a:tc>
                  <a:txBody>
                    <a:bodyPr/>
                    <a:lstStyle/>
                    <a:p>
                      <a:r>
                        <a:rPr lang="en-US" sz="1500" dirty="0">
                          <a:latin typeface="Georgia" panose="02040502050405020303" pitchFamily="18" charset="0"/>
                        </a:rPr>
                        <a:t>Cost and Management</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Easier to operate and manage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tc>
                  <a:txBody>
                    <a:bodyPr/>
                    <a:lstStyle/>
                    <a:p>
                      <a:r>
                        <a:rPr lang="en-US" sz="1500" dirty="0">
                          <a:latin typeface="Georgia" panose="02040502050405020303" pitchFamily="18" charset="0"/>
                        </a:rPr>
                        <a:t>Not easy to manage and operate</a:t>
                      </a:r>
                      <a:endParaRPr lang="en-ID" sz="1500" dirty="0">
                        <a:latin typeface="Georgia" panose="02040502050405020303" pitchFamily="18" charset="0"/>
                      </a:endParaRPr>
                    </a:p>
                  </a:txBody>
                  <a:tcPr marL="121920" marR="121920" marT="60960" marB="60960">
                    <a:solidFill>
                      <a:schemeClr val="accent5">
                        <a:lumMod val="40000"/>
                        <a:lumOff val="60000"/>
                      </a:schemeClr>
                    </a:solidFill>
                  </a:tcPr>
                </a:tc>
                <a:extLst>
                  <a:ext uri="{0D108BD9-81ED-4DB2-BD59-A6C34878D82A}">
                    <a16:rowId xmlns:a16="http://schemas.microsoft.com/office/drawing/2014/main" val="2933006406"/>
                  </a:ext>
                </a:extLst>
              </a:tr>
            </a:tbl>
          </a:graphicData>
        </a:graphic>
      </p:graphicFrame>
    </p:spTree>
    <p:extLst>
      <p:ext uri="{BB962C8B-B14F-4D97-AF65-F5344CB8AC3E}">
        <p14:creationId xmlns:p14="http://schemas.microsoft.com/office/powerpoint/2010/main" val="15211169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1440-58F6-DCBD-09B2-C56799E625AB}"/>
              </a:ext>
            </a:extLst>
          </p:cNvPr>
          <p:cNvSpPr>
            <a:spLocks noGrp="1"/>
          </p:cNvSpPr>
          <p:nvPr>
            <p:ph type="title"/>
          </p:nvPr>
        </p:nvSpPr>
        <p:spPr/>
        <p:txBody>
          <a:bodyPr>
            <a:normAutofit/>
          </a:bodyPr>
          <a:lstStyle/>
          <a:p>
            <a:r>
              <a:rPr lang="en" dirty="0"/>
              <a:t>DoS and DDoS Incidents </a:t>
            </a:r>
            <a:endParaRPr lang="en-ID" dirty="0"/>
          </a:p>
        </p:txBody>
      </p:sp>
      <p:pic>
        <p:nvPicPr>
          <p:cNvPr id="4" name="Content Placeholder 3">
            <a:extLst>
              <a:ext uri="{FF2B5EF4-FFF2-40B4-BE49-F238E27FC236}">
                <a16:creationId xmlns:a16="http://schemas.microsoft.com/office/drawing/2014/main" id="{DCECE520-817E-91FF-41C4-18972DA84D51}"/>
              </a:ext>
            </a:extLst>
          </p:cNvPr>
          <p:cNvPicPr>
            <a:picLocks noGrp="1" noChangeAspect="1"/>
          </p:cNvPicPr>
          <p:nvPr>
            <p:ph idx="1"/>
          </p:nvPr>
        </p:nvPicPr>
        <p:blipFill>
          <a:blip r:embed="rId2"/>
          <a:stretch>
            <a:fillRect/>
          </a:stretch>
        </p:blipFill>
        <p:spPr>
          <a:xfrm>
            <a:off x="709864" y="1809583"/>
            <a:ext cx="6323372" cy="4351338"/>
          </a:xfrm>
          <a:prstGeom prst="rect">
            <a:avLst/>
          </a:prstGeom>
        </p:spPr>
      </p:pic>
      <p:pic>
        <p:nvPicPr>
          <p:cNvPr id="5" name="Picture 4">
            <a:extLst>
              <a:ext uri="{FF2B5EF4-FFF2-40B4-BE49-F238E27FC236}">
                <a16:creationId xmlns:a16="http://schemas.microsoft.com/office/drawing/2014/main" id="{851E69BA-3CF1-EBEB-6E59-BE17A663B54B}"/>
              </a:ext>
            </a:extLst>
          </p:cNvPr>
          <p:cNvPicPr>
            <a:picLocks noChangeAspect="1"/>
          </p:cNvPicPr>
          <p:nvPr/>
        </p:nvPicPr>
        <p:blipFill>
          <a:blip r:embed="rId3"/>
          <a:stretch>
            <a:fillRect/>
          </a:stretch>
        </p:blipFill>
        <p:spPr>
          <a:xfrm>
            <a:off x="7033236" y="1494131"/>
            <a:ext cx="4545932" cy="4666790"/>
          </a:xfrm>
          <a:prstGeom prst="rect">
            <a:avLst/>
          </a:prstGeom>
        </p:spPr>
      </p:pic>
    </p:spTree>
    <p:extLst>
      <p:ext uri="{BB962C8B-B14F-4D97-AF65-F5344CB8AC3E}">
        <p14:creationId xmlns:p14="http://schemas.microsoft.com/office/powerpoint/2010/main" val="31051576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0896-C8FB-B2F5-477B-0F721A62F727}"/>
              </a:ext>
            </a:extLst>
          </p:cNvPr>
          <p:cNvSpPr>
            <a:spLocks noGrp="1"/>
          </p:cNvSpPr>
          <p:nvPr>
            <p:ph type="title"/>
          </p:nvPr>
        </p:nvSpPr>
        <p:spPr/>
        <p:txBody>
          <a:bodyPr/>
          <a:lstStyle/>
          <a:p>
            <a:r>
              <a:rPr lang="en" sz="2800" dirty="0"/>
              <a:t>DoS and DDoS Incidents </a:t>
            </a:r>
            <a:endParaRPr lang="en-ID" dirty="0"/>
          </a:p>
        </p:txBody>
      </p:sp>
      <p:sp>
        <p:nvSpPr>
          <p:cNvPr id="3" name="Content Placeholder 2">
            <a:extLst>
              <a:ext uri="{FF2B5EF4-FFF2-40B4-BE49-F238E27FC236}">
                <a16:creationId xmlns:a16="http://schemas.microsoft.com/office/drawing/2014/main" id="{4307A37C-4586-858C-197C-34FA15EE8061}"/>
              </a:ext>
            </a:extLst>
          </p:cNvPr>
          <p:cNvSpPr>
            <a:spLocks noGrp="1"/>
          </p:cNvSpPr>
          <p:nvPr>
            <p:ph idx="1"/>
          </p:nvPr>
        </p:nvSpPr>
        <p:spPr/>
        <p:txBody>
          <a:bodyPr/>
          <a:lstStyle/>
          <a:p>
            <a:endParaRPr lang="en-ID" dirty="0"/>
          </a:p>
        </p:txBody>
      </p:sp>
      <p:grpSp>
        <p:nvGrpSpPr>
          <p:cNvPr id="4" name="Google Shape;367;p19">
            <a:extLst>
              <a:ext uri="{FF2B5EF4-FFF2-40B4-BE49-F238E27FC236}">
                <a16:creationId xmlns:a16="http://schemas.microsoft.com/office/drawing/2014/main" id="{7C57DAB4-5F97-F93C-DA62-5BADF026D1E7}"/>
              </a:ext>
            </a:extLst>
          </p:cNvPr>
          <p:cNvGrpSpPr/>
          <p:nvPr/>
        </p:nvGrpSpPr>
        <p:grpSpPr>
          <a:xfrm>
            <a:off x="6888576" y="4135145"/>
            <a:ext cx="3865320" cy="1696312"/>
            <a:chOff x="5328178" y="3305225"/>
            <a:chExt cx="2898990" cy="1057250"/>
          </a:xfrm>
        </p:grpSpPr>
        <p:cxnSp>
          <p:nvCxnSpPr>
            <p:cNvPr id="5" name="Google Shape;368;p19">
              <a:extLst>
                <a:ext uri="{FF2B5EF4-FFF2-40B4-BE49-F238E27FC236}">
                  <a16:creationId xmlns:a16="http://schemas.microsoft.com/office/drawing/2014/main" id="{0CA705E6-BD0F-66DE-947D-C5E638F68F57}"/>
                </a:ext>
              </a:extLst>
            </p:cNvPr>
            <p:cNvCxnSpPr/>
            <p:nvPr/>
          </p:nvCxnSpPr>
          <p:spPr>
            <a:xfrm rot="10800000">
              <a:off x="5328178" y="3305225"/>
              <a:ext cx="827700" cy="440700"/>
            </a:xfrm>
            <a:prstGeom prst="straightConnector1">
              <a:avLst/>
            </a:prstGeom>
            <a:noFill/>
            <a:ln w="28575" cap="flat" cmpd="sng">
              <a:solidFill>
                <a:schemeClr val="accent6"/>
              </a:solidFill>
              <a:prstDash val="solid"/>
              <a:round/>
              <a:headEnd type="none" w="med" len="med"/>
              <a:tailEnd type="none" w="med" len="med"/>
            </a:ln>
          </p:spPr>
        </p:cxnSp>
        <p:grpSp>
          <p:nvGrpSpPr>
            <p:cNvPr id="6" name="Google Shape;370;p19">
              <a:extLst>
                <a:ext uri="{FF2B5EF4-FFF2-40B4-BE49-F238E27FC236}">
                  <a16:creationId xmlns:a16="http://schemas.microsoft.com/office/drawing/2014/main" id="{05820389-11A1-DFD4-94FA-74C993D287FF}"/>
                </a:ext>
              </a:extLst>
            </p:cNvPr>
            <p:cNvGrpSpPr/>
            <p:nvPr/>
          </p:nvGrpSpPr>
          <p:grpSpPr>
            <a:xfrm>
              <a:off x="6147685" y="3460810"/>
              <a:ext cx="2079483" cy="901665"/>
              <a:chOff x="6147685" y="3460810"/>
              <a:chExt cx="2079483" cy="901665"/>
            </a:xfrm>
          </p:grpSpPr>
          <p:sp>
            <p:nvSpPr>
              <p:cNvPr id="7" name="Google Shape;371;p19">
                <a:extLst>
                  <a:ext uri="{FF2B5EF4-FFF2-40B4-BE49-F238E27FC236}">
                    <a16:creationId xmlns:a16="http://schemas.microsoft.com/office/drawing/2014/main" id="{62CC3515-4554-085C-8034-016FFE8F374C}"/>
                  </a:ext>
                </a:extLst>
              </p:cNvPr>
              <p:cNvSpPr/>
              <p:nvPr/>
            </p:nvSpPr>
            <p:spPr>
              <a:xfrm flipH="1">
                <a:off x="6147685" y="3460810"/>
                <a:ext cx="2079483" cy="901665"/>
              </a:xfrm>
              <a:custGeom>
                <a:avLst/>
                <a:gdLst/>
                <a:ahLst/>
                <a:cxnLst/>
                <a:rect l="l" t="t" r="r" b="b"/>
                <a:pathLst>
                  <a:path w="51722" h="19611" extrusionOk="0">
                    <a:moveTo>
                      <a:pt x="46840" y="19610"/>
                    </a:moveTo>
                    <a:lnTo>
                      <a:pt x="1" y="19610"/>
                    </a:lnTo>
                    <a:lnTo>
                      <a:pt x="1" y="1"/>
                    </a:lnTo>
                    <a:lnTo>
                      <a:pt x="46840" y="1"/>
                    </a:lnTo>
                    <a:cubicBezTo>
                      <a:pt x="49531" y="1"/>
                      <a:pt x="51722" y="2191"/>
                      <a:pt x="51722" y="4882"/>
                    </a:cubicBezTo>
                    <a:lnTo>
                      <a:pt x="51722" y="14729"/>
                    </a:lnTo>
                    <a:cubicBezTo>
                      <a:pt x="51722" y="17431"/>
                      <a:pt x="49531" y="19610"/>
                      <a:pt x="46840" y="19610"/>
                    </a:cubicBezTo>
                    <a:close/>
                  </a:path>
                </a:pathLst>
              </a:custGeom>
              <a:solidFill>
                <a:schemeClr val="accent6"/>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8" name="Google Shape;372;p19">
                <a:extLst>
                  <a:ext uri="{FF2B5EF4-FFF2-40B4-BE49-F238E27FC236}">
                    <a16:creationId xmlns:a16="http://schemas.microsoft.com/office/drawing/2014/main" id="{19D06BB2-103E-5920-5FFA-06278F4C204B}"/>
                  </a:ext>
                </a:extLst>
              </p:cNvPr>
              <p:cNvSpPr/>
              <p:nvPr/>
            </p:nvSpPr>
            <p:spPr>
              <a:xfrm flipH="1">
                <a:off x="6191229" y="3510648"/>
                <a:ext cx="1992841" cy="801986"/>
              </a:xfrm>
              <a:custGeom>
                <a:avLst/>
                <a:gdLst/>
                <a:ahLst/>
                <a:cxnLst/>
                <a:rect l="l" t="t" r="r" b="b"/>
                <a:pathLst>
                  <a:path w="49567" h="17443" extrusionOk="0">
                    <a:moveTo>
                      <a:pt x="0" y="17443"/>
                    </a:moveTo>
                    <a:lnTo>
                      <a:pt x="0" y="0"/>
                    </a:lnTo>
                    <a:lnTo>
                      <a:pt x="40839" y="0"/>
                    </a:lnTo>
                    <a:cubicBezTo>
                      <a:pt x="45649" y="0"/>
                      <a:pt x="49566" y="3917"/>
                      <a:pt x="49566" y="8727"/>
                    </a:cubicBezTo>
                    <a:cubicBezTo>
                      <a:pt x="49566" y="13526"/>
                      <a:pt x="45649" y="17443"/>
                      <a:pt x="40839" y="17443"/>
                    </a:cubicBezTo>
                    <a:lnTo>
                      <a:pt x="0" y="17443"/>
                    </a:lnTo>
                    <a:close/>
                  </a:path>
                </a:pathLst>
              </a:custGeom>
              <a:solidFill>
                <a:schemeClr val="lt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grpSp>
      <p:grpSp>
        <p:nvGrpSpPr>
          <p:cNvPr id="9" name="Google Shape;376;p19">
            <a:extLst>
              <a:ext uri="{FF2B5EF4-FFF2-40B4-BE49-F238E27FC236}">
                <a16:creationId xmlns:a16="http://schemas.microsoft.com/office/drawing/2014/main" id="{8972B70C-3C3B-F464-2905-5AEB52507F29}"/>
              </a:ext>
            </a:extLst>
          </p:cNvPr>
          <p:cNvGrpSpPr/>
          <p:nvPr/>
        </p:nvGrpSpPr>
        <p:grpSpPr>
          <a:xfrm>
            <a:off x="6888576" y="1799228"/>
            <a:ext cx="3865320" cy="1352156"/>
            <a:chOff x="5328178" y="1528475"/>
            <a:chExt cx="2898990" cy="902950"/>
          </a:xfrm>
        </p:grpSpPr>
        <p:cxnSp>
          <p:nvCxnSpPr>
            <p:cNvPr id="10" name="Google Shape;377;p19">
              <a:extLst>
                <a:ext uri="{FF2B5EF4-FFF2-40B4-BE49-F238E27FC236}">
                  <a16:creationId xmlns:a16="http://schemas.microsoft.com/office/drawing/2014/main" id="{60AF0083-1F57-D98B-4F3F-8674C9E13A15}"/>
                </a:ext>
              </a:extLst>
            </p:cNvPr>
            <p:cNvCxnSpPr/>
            <p:nvPr/>
          </p:nvCxnSpPr>
          <p:spPr>
            <a:xfrm flipH="1">
              <a:off x="5328178" y="1990725"/>
              <a:ext cx="827700" cy="440700"/>
            </a:xfrm>
            <a:prstGeom prst="straightConnector1">
              <a:avLst/>
            </a:prstGeom>
            <a:noFill/>
            <a:ln w="28575" cap="flat" cmpd="sng">
              <a:solidFill>
                <a:schemeClr val="accent5"/>
              </a:solidFill>
              <a:prstDash val="solid"/>
              <a:round/>
              <a:headEnd type="none" w="med" len="med"/>
              <a:tailEnd type="none" w="med" len="med"/>
            </a:ln>
          </p:spPr>
        </p:cxnSp>
        <p:grpSp>
          <p:nvGrpSpPr>
            <p:cNvPr id="11" name="Google Shape;378;p19">
              <a:extLst>
                <a:ext uri="{FF2B5EF4-FFF2-40B4-BE49-F238E27FC236}">
                  <a16:creationId xmlns:a16="http://schemas.microsoft.com/office/drawing/2014/main" id="{ECAF3F20-AD1F-ED6A-EA71-BEA11C2B9AEC}"/>
                </a:ext>
              </a:extLst>
            </p:cNvPr>
            <p:cNvGrpSpPr/>
            <p:nvPr/>
          </p:nvGrpSpPr>
          <p:grpSpPr>
            <a:xfrm>
              <a:off x="6147780" y="1528475"/>
              <a:ext cx="2079388" cy="901665"/>
              <a:chOff x="6147780" y="1528475"/>
              <a:chExt cx="2079388" cy="901665"/>
            </a:xfrm>
          </p:grpSpPr>
          <p:grpSp>
            <p:nvGrpSpPr>
              <p:cNvPr id="12" name="Google Shape;379;p19">
                <a:extLst>
                  <a:ext uri="{FF2B5EF4-FFF2-40B4-BE49-F238E27FC236}">
                    <a16:creationId xmlns:a16="http://schemas.microsoft.com/office/drawing/2014/main" id="{8D5081B1-0F88-B45A-8E8B-A41EA09D5942}"/>
                  </a:ext>
                </a:extLst>
              </p:cNvPr>
              <p:cNvGrpSpPr/>
              <p:nvPr/>
            </p:nvGrpSpPr>
            <p:grpSpPr>
              <a:xfrm>
                <a:off x="6147780" y="1528475"/>
                <a:ext cx="2079388" cy="901665"/>
                <a:chOff x="6147780" y="1528475"/>
                <a:chExt cx="2079388" cy="901665"/>
              </a:xfrm>
            </p:grpSpPr>
            <p:sp>
              <p:nvSpPr>
                <p:cNvPr id="14" name="Google Shape;380;p19">
                  <a:extLst>
                    <a:ext uri="{FF2B5EF4-FFF2-40B4-BE49-F238E27FC236}">
                      <a16:creationId xmlns:a16="http://schemas.microsoft.com/office/drawing/2014/main" id="{FBD1CEB5-4E69-C84B-7FFE-81BB5A8981B8}"/>
                    </a:ext>
                  </a:extLst>
                </p:cNvPr>
                <p:cNvSpPr/>
                <p:nvPr/>
              </p:nvSpPr>
              <p:spPr>
                <a:xfrm flipH="1">
                  <a:off x="6147780" y="1528475"/>
                  <a:ext cx="2079388" cy="901665"/>
                </a:xfrm>
                <a:custGeom>
                  <a:avLst/>
                  <a:gdLst/>
                  <a:ahLst/>
                  <a:cxnLst/>
                  <a:rect l="l" t="t" r="r" b="b"/>
                  <a:pathLst>
                    <a:path w="51710" h="19611" extrusionOk="0">
                      <a:moveTo>
                        <a:pt x="46840" y="19610"/>
                      </a:moveTo>
                      <a:lnTo>
                        <a:pt x="0" y="19610"/>
                      </a:lnTo>
                      <a:lnTo>
                        <a:pt x="0" y="1"/>
                      </a:lnTo>
                      <a:lnTo>
                        <a:pt x="46828" y="1"/>
                      </a:lnTo>
                      <a:cubicBezTo>
                        <a:pt x="49530" y="1"/>
                        <a:pt x="51709" y="2191"/>
                        <a:pt x="51709" y="4882"/>
                      </a:cubicBezTo>
                      <a:lnTo>
                        <a:pt x="51709" y="14729"/>
                      </a:lnTo>
                      <a:cubicBezTo>
                        <a:pt x="51697" y="17431"/>
                        <a:pt x="49530" y="19610"/>
                        <a:pt x="46840" y="19610"/>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5" name="Google Shape;381;p19">
                  <a:extLst>
                    <a:ext uri="{FF2B5EF4-FFF2-40B4-BE49-F238E27FC236}">
                      <a16:creationId xmlns:a16="http://schemas.microsoft.com/office/drawing/2014/main" id="{9B7394D5-DBFD-8481-7A3A-9CF2B825CF89}"/>
                    </a:ext>
                  </a:extLst>
                </p:cNvPr>
                <p:cNvSpPr/>
                <p:nvPr/>
              </p:nvSpPr>
              <p:spPr>
                <a:xfrm flipH="1">
                  <a:off x="6191229" y="1578313"/>
                  <a:ext cx="1992841" cy="801986"/>
                </a:xfrm>
                <a:custGeom>
                  <a:avLst/>
                  <a:gdLst/>
                  <a:ahLst/>
                  <a:cxnLst/>
                  <a:rect l="l" t="t" r="r" b="b"/>
                  <a:pathLst>
                    <a:path w="49567" h="17443" extrusionOk="0">
                      <a:moveTo>
                        <a:pt x="0" y="17443"/>
                      </a:moveTo>
                      <a:lnTo>
                        <a:pt x="0" y="0"/>
                      </a:lnTo>
                      <a:lnTo>
                        <a:pt x="40839" y="0"/>
                      </a:lnTo>
                      <a:cubicBezTo>
                        <a:pt x="45649" y="0"/>
                        <a:pt x="49566" y="3917"/>
                        <a:pt x="49566" y="8727"/>
                      </a:cubicBezTo>
                      <a:cubicBezTo>
                        <a:pt x="49566" y="13526"/>
                        <a:pt x="45649" y="17443"/>
                        <a:pt x="40839" y="17443"/>
                      </a:cubicBezTo>
                      <a:close/>
                    </a:path>
                  </a:pathLst>
                </a:custGeom>
                <a:solidFill>
                  <a:schemeClr val="l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sp>
            <p:nvSpPr>
              <p:cNvPr id="13" name="Google Shape;387;p19">
                <a:extLst>
                  <a:ext uri="{FF2B5EF4-FFF2-40B4-BE49-F238E27FC236}">
                    <a16:creationId xmlns:a16="http://schemas.microsoft.com/office/drawing/2014/main" id="{9172A196-9BAC-A2C7-06D2-201791C1B4EB}"/>
                  </a:ext>
                </a:extLst>
              </p:cNvPr>
              <p:cNvSpPr/>
              <p:nvPr/>
            </p:nvSpPr>
            <p:spPr>
              <a:xfrm flipH="1">
                <a:off x="8015635" y="1852071"/>
                <a:ext cx="124324" cy="124829"/>
              </a:xfrm>
              <a:custGeom>
                <a:avLst/>
                <a:gdLst/>
                <a:ahLst/>
                <a:cxnLst/>
                <a:rect l="l" t="t" r="r" b="b"/>
                <a:pathLst>
                  <a:path w="2704" h="2715" extrusionOk="0">
                    <a:moveTo>
                      <a:pt x="1358" y="215"/>
                    </a:moveTo>
                    <a:cubicBezTo>
                      <a:pt x="1989" y="215"/>
                      <a:pt x="2501" y="727"/>
                      <a:pt x="2501" y="1358"/>
                    </a:cubicBezTo>
                    <a:cubicBezTo>
                      <a:pt x="2501" y="2001"/>
                      <a:pt x="1977" y="2501"/>
                      <a:pt x="1358" y="2501"/>
                    </a:cubicBezTo>
                    <a:cubicBezTo>
                      <a:pt x="727" y="2501"/>
                      <a:pt x="203" y="1977"/>
                      <a:pt x="203" y="1358"/>
                    </a:cubicBezTo>
                    <a:cubicBezTo>
                      <a:pt x="203" y="727"/>
                      <a:pt x="715" y="215"/>
                      <a:pt x="1358" y="215"/>
                    </a:cubicBezTo>
                    <a:close/>
                    <a:moveTo>
                      <a:pt x="1358" y="0"/>
                    </a:moveTo>
                    <a:cubicBezTo>
                      <a:pt x="608" y="0"/>
                      <a:pt x="1" y="608"/>
                      <a:pt x="1" y="1358"/>
                    </a:cubicBezTo>
                    <a:cubicBezTo>
                      <a:pt x="1" y="2096"/>
                      <a:pt x="608" y="2715"/>
                      <a:pt x="1358" y="2715"/>
                    </a:cubicBezTo>
                    <a:cubicBezTo>
                      <a:pt x="2096" y="2715"/>
                      <a:pt x="2704" y="2096"/>
                      <a:pt x="2704" y="1358"/>
                    </a:cubicBezTo>
                    <a:cubicBezTo>
                      <a:pt x="2704" y="608"/>
                      <a:pt x="2096" y="0"/>
                      <a:pt x="1358" y="0"/>
                    </a:cubicBezTo>
                    <a:close/>
                  </a:path>
                </a:pathLst>
              </a:custGeom>
              <a:solidFill>
                <a:schemeClr val="l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16" name="Google Shape;389;p19">
            <a:extLst>
              <a:ext uri="{FF2B5EF4-FFF2-40B4-BE49-F238E27FC236}">
                <a16:creationId xmlns:a16="http://schemas.microsoft.com/office/drawing/2014/main" id="{A6C7F7C3-A332-D5AE-CA90-D94E3EB5F2E6}"/>
              </a:ext>
            </a:extLst>
          </p:cNvPr>
          <p:cNvGrpSpPr/>
          <p:nvPr/>
        </p:nvGrpSpPr>
        <p:grpSpPr>
          <a:xfrm>
            <a:off x="7665408" y="1987393"/>
            <a:ext cx="2972208" cy="1085169"/>
            <a:chOff x="7238988" y="1724466"/>
            <a:chExt cx="1233600" cy="950069"/>
          </a:xfrm>
        </p:grpSpPr>
        <p:sp>
          <p:nvSpPr>
            <p:cNvPr id="17" name="Google Shape;390;p19">
              <a:extLst>
                <a:ext uri="{FF2B5EF4-FFF2-40B4-BE49-F238E27FC236}">
                  <a16:creationId xmlns:a16="http://schemas.microsoft.com/office/drawing/2014/main" id="{937FDC1F-700A-342D-313F-D38DAA7AADC0}"/>
                </a:ext>
              </a:extLst>
            </p:cNvPr>
            <p:cNvSpPr txBox="1"/>
            <p:nvPr/>
          </p:nvSpPr>
          <p:spPr>
            <a:xfrm>
              <a:off x="7238988" y="1724466"/>
              <a:ext cx="1233600" cy="200400"/>
            </a:xfrm>
            <a:prstGeom prst="rect">
              <a:avLst/>
            </a:prstGeom>
            <a:noFill/>
            <a:ln>
              <a:noFill/>
            </a:ln>
          </p:spPr>
          <p:txBody>
            <a:bodyPr spcFirstLastPara="1" wrap="square" lIns="0" tIns="121900" rIns="0" bIns="121900" anchor="ctr" anchorCtr="0">
              <a:noAutofit/>
            </a:bodyPr>
            <a:lstStyle/>
            <a:p>
              <a:pPr algn="r"/>
              <a:r>
                <a:rPr lang="en" sz="1600" b="1" dirty="0">
                  <a:solidFill>
                    <a:schemeClr val="dk1"/>
                  </a:solidFill>
                  <a:latin typeface="Georgia" panose="02040502050405020303" pitchFamily="18" charset="0"/>
                  <a:ea typeface="Fira Sans"/>
                  <a:cs typeface="Fira Sans"/>
                  <a:sym typeface="Fira Sans"/>
                </a:rPr>
                <a:t>Application Layer Attack</a:t>
              </a:r>
              <a:endParaRPr sz="1600" b="1" dirty="0">
                <a:solidFill>
                  <a:schemeClr val="dk1"/>
                </a:solidFill>
                <a:latin typeface="Georgia" panose="02040502050405020303" pitchFamily="18" charset="0"/>
                <a:ea typeface="Fira Sans"/>
                <a:cs typeface="Fira Sans"/>
                <a:sym typeface="Fira Sans"/>
              </a:endParaRPr>
            </a:p>
          </p:txBody>
        </p:sp>
        <p:sp>
          <p:nvSpPr>
            <p:cNvPr id="18" name="Google Shape;391;p19">
              <a:extLst>
                <a:ext uri="{FF2B5EF4-FFF2-40B4-BE49-F238E27FC236}">
                  <a16:creationId xmlns:a16="http://schemas.microsoft.com/office/drawing/2014/main" id="{59C81E29-5EDC-9985-17E4-9D78EE41726C}"/>
                </a:ext>
              </a:extLst>
            </p:cNvPr>
            <p:cNvSpPr txBox="1"/>
            <p:nvPr/>
          </p:nvSpPr>
          <p:spPr>
            <a:xfrm>
              <a:off x="7481129" y="1970460"/>
              <a:ext cx="957059" cy="704075"/>
            </a:xfrm>
            <a:prstGeom prst="rect">
              <a:avLst/>
            </a:prstGeom>
            <a:noFill/>
            <a:ln>
              <a:noFill/>
            </a:ln>
          </p:spPr>
          <p:txBody>
            <a:bodyPr spcFirstLastPara="1" wrap="square" lIns="0" tIns="121900" rIns="0" bIns="121900" anchor="ctr" anchorCtr="0">
              <a:noAutofit/>
            </a:bodyPr>
            <a:lstStyle/>
            <a:p>
              <a:pPr algn="r"/>
              <a:r>
                <a:rPr lang="en" sz="1100" dirty="0">
                  <a:solidFill>
                    <a:schemeClr val="dk1"/>
                  </a:solidFill>
                  <a:latin typeface="Georgia" panose="02040502050405020303" pitchFamily="18" charset="0"/>
                  <a:ea typeface="Fira Sans"/>
                  <a:cs typeface="Fira Sans"/>
                  <a:sym typeface="Fira Sans"/>
                </a:rPr>
                <a:t>The attack consumes the application resources or service, thereby making it unavailable to legitimate users </a:t>
              </a:r>
              <a:endParaRPr sz="1100" dirty="0">
                <a:solidFill>
                  <a:schemeClr val="dk1"/>
                </a:solidFill>
                <a:latin typeface="Georgia" panose="02040502050405020303" pitchFamily="18" charset="0"/>
                <a:ea typeface="Fira Sans"/>
                <a:cs typeface="Fira Sans"/>
                <a:sym typeface="Fira Sans"/>
              </a:endParaRPr>
            </a:p>
          </p:txBody>
        </p:sp>
      </p:grpSp>
      <p:grpSp>
        <p:nvGrpSpPr>
          <p:cNvPr id="19" name="Google Shape;392;p19">
            <a:extLst>
              <a:ext uri="{FF2B5EF4-FFF2-40B4-BE49-F238E27FC236}">
                <a16:creationId xmlns:a16="http://schemas.microsoft.com/office/drawing/2014/main" id="{0EC8A0E4-31DB-FB1B-648F-FD8C845AC2B4}"/>
              </a:ext>
            </a:extLst>
          </p:cNvPr>
          <p:cNvGrpSpPr/>
          <p:nvPr/>
        </p:nvGrpSpPr>
        <p:grpSpPr>
          <a:xfrm>
            <a:off x="8208199" y="4549002"/>
            <a:ext cx="2391983" cy="425390"/>
            <a:chOff x="7176488" y="3638450"/>
            <a:chExt cx="1793988" cy="659511"/>
          </a:xfrm>
        </p:grpSpPr>
        <p:sp>
          <p:nvSpPr>
            <p:cNvPr id="20" name="Google Shape;393;p19">
              <a:extLst>
                <a:ext uri="{FF2B5EF4-FFF2-40B4-BE49-F238E27FC236}">
                  <a16:creationId xmlns:a16="http://schemas.microsoft.com/office/drawing/2014/main" id="{491F03F9-50BE-87E5-C0DE-C9804AF4B04A}"/>
                </a:ext>
              </a:extLst>
            </p:cNvPr>
            <p:cNvSpPr txBox="1"/>
            <p:nvPr/>
          </p:nvSpPr>
          <p:spPr>
            <a:xfrm>
              <a:off x="7176488" y="3638450"/>
              <a:ext cx="1793988" cy="213399"/>
            </a:xfrm>
            <a:prstGeom prst="rect">
              <a:avLst/>
            </a:prstGeom>
            <a:noFill/>
            <a:ln>
              <a:noFill/>
            </a:ln>
          </p:spPr>
          <p:txBody>
            <a:bodyPr spcFirstLastPara="1" wrap="square" lIns="0" tIns="121900" rIns="0" bIns="121900" anchor="ctr" anchorCtr="0">
              <a:noAutofit/>
            </a:bodyPr>
            <a:lstStyle/>
            <a:p>
              <a:pPr algn="r"/>
              <a:r>
                <a:rPr lang="en" sz="1600" b="1" dirty="0">
                  <a:solidFill>
                    <a:schemeClr val="dk1"/>
                  </a:solidFill>
                  <a:latin typeface="Georgia" panose="02040502050405020303" pitchFamily="18" charset="0"/>
                  <a:ea typeface="Fira Sans"/>
                  <a:cs typeface="Fira Sans"/>
                  <a:sym typeface="Fira Sans"/>
                </a:rPr>
                <a:t>Permanent Dos Attack</a:t>
              </a:r>
              <a:endParaRPr sz="1600" b="1" dirty="0">
                <a:solidFill>
                  <a:schemeClr val="dk1"/>
                </a:solidFill>
                <a:latin typeface="Georgia" panose="02040502050405020303" pitchFamily="18" charset="0"/>
                <a:ea typeface="Fira Sans"/>
                <a:cs typeface="Fira Sans"/>
                <a:sym typeface="Fira Sans"/>
              </a:endParaRPr>
            </a:p>
          </p:txBody>
        </p:sp>
        <p:sp>
          <p:nvSpPr>
            <p:cNvPr id="21" name="Google Shape;394;p19">
              <a:extLst>
                <a:ext uri="{FF2B5EF4-FFF2-40B4-BE49-F238E27FC236}">
                  <a16:creationId xmlns:a16="http://schemas.microsoft.com/office/drawing/2014/main" id="{B13BD37D-67D1-6257-0A33-BBF0DF0C1805}"/>
                </a:ext>
              </a:extLst>
            </p:cNvPr>
            <p:cNvSpPr txBox="1"/>
            <p:nvPr/>
          </p:nvSpPr>
          <p:spPr>
            <a:xfrm>
              <a:off x="7234099" y="3819197"/>
              <a:ext cx="1696433" cy="478764"/>
            </a:xfrm>
            <a:prstGeom prst="rect">
              <a:avLst/>
            </a:prstGeom>
            <a:noFill/>
            <a:ln>
              <a:noFill/>
            </a:ln>
          </p:spPr>
          <p:txBody>
            <a:bodyPr spcFirstLastPara="1" wrap="square" lIns="0" tIns="121900" rIns="0" bIns="121900" anchor="ctr" anchorCtr="0">
              <a:noAutofit/>
            </a:bodyPr>
            <a:lstStyle/>
            <a:p>
              <a:pPr algn="r"/>
              <a:endParaRPr sz="1600" dirty="0">
                <a:solidFill>
                  <a:schemeClr val="dk1"/>
                </a:solidFill>
                <a:latin typeface="Georgia" panose="02040502050405020303" pitchFamily="18" charset="0"/>
                <a:ea typeface="Fira Sans"/>
                <a:cs typeface="Fira Sans"/>
                <a:sym typeface="Fira Sans"/>
              </a:endParaRPr>
            </a:p>
          </p:txBody>
        </p:sp>
      </p:grpSp>
      <p:grpSp>
        <p:nvGrpSpPr>
          <p:cNvPr id="22" name="Google Shape;395;p19">
            <a:extLst>
              <a:ext uri="{FF2B5EF4-FFF2-40B4-BE49-F238E27FC236}">
                <a16:creationId xmlns:a16="http://schemas.microsoft.com/office/drawing/2014/main" id="{3C6436D9-3FA7-8F1C-9114-1066CC028AD4}"/>
              </a:ext>
            </a:extLst>
          </p:cNvPr>
          <p:cNvGrpSpPr/>
          <p:nvPr/>
        </p:nvGrpSpPr>
        <p:grpSpPr>
          <a:xfrm>
            <a:off x="1001163" y="4140764"/>
            <a:ext cx="3888205" cy="1690693"/>
            <a:chOff x="916800" y="3305225"/>
            <a:chExt cx="2916154" cy="1057250"/>
          </a:xfrm>
        </p:grpSpPr>
        <p:cxnSp>
          <p:nvCxnSpPr>
            <p:cNvPr id="23" name="Google Shape;396;p19">
              <a:extLst>
                <a:ext uri="{FF2B5EF4-FFF2-40B4-BE49-F238E27FC236}">
                  <a16:creationId xmlns:a16="http://schemas.microsoft.com/office/drawing/2014/main" id="{41D1B90D-6E02-D8FA-2654-3A39E0EB5F04}"/>
                </a:ext>
              </a:extLst>
            </p:cNvPr>
            <p:cNvCxnSpPr/>
            <p:nvPr/>
          </p:nvCxnSpPr>
          <p:spPr>
            <a:xfrm rot="10800000" flipH="1">
              <a:off x="2930854" y="3305225"/>
              <a:ext cx="902100" cy="440700"/>
            </a:xfrm>
            <a:prstGeom prst="straightConnector1">
              <a:avLst/>
            </a:prstGeom>
            <a:noFill/>
            <a:ln w="28575" cap="flat" cmpd="sng">
              <a:solidFill>
                <a:schemeClr val="accent3"/>
              </a:solidFill>
              <a:prstDash val="solid"/>
              <a:round/>
              <a:headEnd type="none" w="med" len="med"/>
              <a:tailEnd type="none" w="med" len="med"/>
            </a:ln>
          </p:spPr>
        </p:cxnSp>
        <p:grpSp>
          <p:nvGrpSpPr>
            <p:cNvPr id="24" name="Google Shape;397;p19">
              <a:extLst>
                <a:ext uri="{FF2B5EF4-FFF2-40B4-BE49-F238E27FC236}">
                  <a16:creationId xmlns:a16="http://schemas.microsoft.com/office/drawing/2014/main" id="{672565CC-C9C6-E549-6E80-E10E94E7A9A4}"/>
                </a:ext>
              </a:extLst>
            </p:cNvPr>
            <p:cNvGrpSpPr/>
            <p:nvPr/>
          </p:nvGrpSpPr>
          <p:grpSpPr>
            <a:xfrm>
              <a:off x="916800" y="3460810"/>
              <a:ext cx="2079518" cy="901665"/>
              <a:chOff x="916800" y="3460810"/>
              <a:chExt cx="2079518" cy="901665"/>
            </a:xfrm>
          </p:grpSpPr>
          <p:grpSp>
            <p:nvGrpSpPr>
              <p:cNvPr id="25" name="Google Shape;398;p19">
                <a:extLst>
                  <a:ext uri="{FF2B5EF4-FFF2-40B4-BE49-F238E27FC236}">
                    <a16:creationId xmlns:a16="http://schemas.microsoft.com/office/drawing/2014/main" id="{2CE8DFD6-A0E1-E321-92EC-0D5BE43BD5A1}"/>
                  </a:ext>
                </a:extLst>
              </p:cNvPr>
              <p:cNvGrpSpPr/>
              <p:nvPr/>
            </p:nvGrpSpPr>
            <p:grpSpPr>
              <a:xfrm>
                <a:off x="916800" y="3460810"/>
                <a:ext cx="2079518" cy="901665"/>
                <a:chOff x="916800" y="3460810"/>
                <a:chExt cx="2079518" cy="901665"/>
              </a:xfrm>
            </p:grpSpPr>
            <p:sp>
              <p:nvSpPr>
                <p:cNvPr id="27" name="Google Shape;399;p19">
                  <a:extLst>
                    <a:ext uri="{FF2B5EF4-FFF2-40B4-BE49-F238E27FC236}">
                      <a16:creationId xmlns:a16="http://schemas.microsoft.com/office/drawing/2014/main" id="{28DD7658-3330-2AD4-37F0-A33CB5AA264E}"/>
                    </a:ext>
                  </a:extLst>
                </p:cNvPr>
                <p:cNvSpPr/>
                <p:nvPr/>
              </p:nvSpPr>
              <p:spPr>
                <a:xfrm>
                  <a:off x="916800" y="3460810"/>
                  <a:ext cx="2079518" cy="901665"/>
                </a:xfrm>
                <a:custGeom>
                  <a:avLst/>
                  <a:gdLst/>
                  <a:ahLst/>
                  <a:cxnLst/>
                  <a:rect l="l" t="t" r="r" b="b"/>
                  <a:pathLst>
                    <a:path w="51710" h="19611" extrusionOk="0">
                      <a:moveTo>
                        <a:pt x="46840" y="19610"/>
                      </a:moveTo>
                      <a:lnTo>
                        <a:pt x="0" y="19610"/>
                      </a:lnTo>
                      <a:lnTo>
                        <a:pt x="0" y="1"/>
                      </a:lnTo>
                      <a:lnTo>
                        <a:pt x="46828" y="1"/>
                      </a:lnTo>
                      <a:cubicBezTo>
                        <a:pt x="49530" y="1"/>
                        <a:pt x="51709" y="2191"/>
                        <a:pt x="51709" y="4882"/>
                      </a:cubicBezTo>
                      <a:lnTo>
                        <a:pt x="51709" y="14729"/>
                      </a:lnTo>
                      <a:cubicBezTo>
                        <a:pt x="51697" y="17431"/>
                        <a:pt x="49530" y="19610"/>
                        <a:pt x="46840" y="19610"/>
                      </a:cubicBezTo>
                      <a:close/>
                    </a:path>
                  </a:pathLst>
                </a:custGeom>
                <a:solidFill>
                  <a:schemeClr val="accent3"/>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8" name="Google Shape;400;p19">
                  <a:extLst>
                    <a:ext uri="{FF2B5EF4-FFF2-40B4-BE49-F238E27FC236}">
                      <a16:creationId xmlns:a16="http://schemas.microsoft.com/office/drawing/2014/main" id="{F7F75380-39B1-818B-7B82-9F40106B946C}"/>
                    </a:ext>
                  </a:extLst>
                </p:cNvPr>
                <p:cNvSpPr/>
                <p:nvPr/>
              </p:nvSpPr>
              <p:spPr>
                <a:xfrm>
                  <a:off x="959868" y="3510648"/>
                  <a:ext cx="1992854" cy="801986"/>
                </a:xfrm>
                <a:custGeom>
                  <a:avLst/>
                  <a:gdLst/>
                  <a:ahLst/>
                  <a:cxnLst/>
                  <a:rect l="l" t="t" r="r" b="b"/>
                  <a:pathLst>
                    <a:path w="49555" h="17443" extrusionOk="0">
                      <a:moveTo>
                        <a:pt x="1" y="17443"/>
                      </a:moveTo>
                      <a:lnTo>
                        <a:pt x="1" y="0"/>
                      </a:lnTo>
                      <a:lnTo>
                        <a:pt x="40839" y="0"/>
                      </a:lnTo>
                      <a:cubicBezTo>
                        <a:pt x="45650" y="0"/>
                        <a:pt x="49555" y="3917"/>
                        <a:pt x="49555" y="8727"/>
                      </a:cubicBezTo>
                      <a:cubicBezTo>
                        <a:pt x="49555" y="13526"/>
                        <a:pt x="45650" y="17443"/>
                        <a:pt x="40839" y="17443"/>
                      </a:cubicBezTo>
                      <a:lnTo>
                        <a:pt x="1" y="17443"/>
                      </a:lnTo>
                      <a:close/>
                    </a:path>
                  </a:pathLst>
                </a:custGeom>
                <a:solidFill>
                  <a:schemeClr val="lt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sp>
            <p:nvSpPr>
              <p:cNvPr id="26" name="Google Shape;407;p19">
                <a:extLst>
                  <a:ext uri="{FF2B5EF4-FFF2-40B4-BE49-F238E27FC236}">
                    <a16:creationId xmlns:a16="http://schemas.microsoft.com/office/drawing/2014/main" id="{163C0D47-EAAF-AD9F-BDC4-94420334F2C8}"/>
                  </a:ext>
                </a:extLst>
              </p:cNvPr>
              <p:cNvSpPr/>
              <p:nvPr/>
            </p:nvSpPr>
            <p:spPr>
              <a:xfrm>
                <a:off x="1017106" y="3987152"/>
                <a:ext cx="102991" cy="102392"/>
              </a:xfrm>
              <a:custGeom>
                <a:avLst/>
                <a:gdLst/>
                <a:ahLst/>
                <a:cxnLst/>
                <a:rect l="l" t="t" r="r" b="b"/>
                <a:pathLst>
                  <a:path w="2240" h="2227" extrusionOk="0">
                    <a:moveTo>
                      <a:pt x="1120" y="0"/>
                    </a:moveTo>
                    <a:cubicBezTo>
                      <a:pt x="1060" y="0"/>
                      <a:pt x="1013" y="36"/>
                      <a:pt x="1013" y="107"/>
                    </a:cubicBezTo>
                    <a:lnTo>
                      <a:pt x="1013" y="858"/>
                    </a:lnTo>
                    <a:lnTo>
                      <a:pt x="477" y="322"/>
                    </a:lnTo>
                    <a:cubicBezTo>
                      <a:pt x="459" y="304"/>
                      <a:pt x="435" y="295"/>
                      <a:pt x="410" y="295"/>
                    </a:cubicBezTo>
                    <a:cubicBezTo>
                      <a:pt x="385" y="295"/>
                      <a:pt x="358" y="304"/>
                      <a:pt x="334" y="322"/>
                    </a:cubicBezTo>
                    <a:cubicBezTo>
                      <a:pt x="286" y="369"/>
                      <a:pt x="286" y="429"/>
                      <a:pt x="334" y="477"/>
                    </a:cubicBezTo>
                    <a:lnTo>
                      <a:pt x="870" y="1012"/>
                    </a:lnTo>
                    <a:lnTo>
                      <a:pt x="108" y="1012"/>
                    </a:lnTo>
                    <a:cubicBezTo>
                      <a:pt x="48" y="1012"/>
                      <a:pt x="1" y="1060"/>
                      <a:pt x="1" y="1119"/>
                    </a:cubicBezTo>
                    <a:cubicBezTo>
                      <a:pt x="1" y="1179"/>
                      <a:pt x="48" y="1215"/>
                      <a:pt x="108" y="1215"/>
                    </a:cubicBezTo>
                    <a:lnTo>
                      <a:pt x="870" y="1215"/>
                    </a:lnTo>
                    <a:lnTo>
                      <a:pt x="334" y="1750"/>
                    </a:lnTo>
                    <a:cubicBezTo>
                      <a:pt x="286" y="1798"/>
                      <a:pt x="286" y="1858"/>
                      <a:pt x="334" y="1905"/>
                    </a:cubicBezTo>
                    <a:cubicBezTo>
                      <a:pt x="346" y="1917"/>
                      <a:pt x="382" y="1929"/>
                      <a:pt x="406" y="1929"/>
                    </a:cubicBezTo>
                    <a:cubicBezTo>
                      <a:pt x="441" y="1929"/>
                      <a:pt x="453" y="1917"/>
                      <a:pt x="477" y="1905"/>
                    </a:cubicBezTo>
                    <a:lnTo>
                      <a:pt x="1013" y="1369"/>
                    </a:lnTo>
                    <a:lnTo>
                      <a:pt x="1013" y="2131"/>
                    </a:lnTo>
                    <a:cubicBezTo>
                      <a:pt x="1013" y="2191"/>
                      <a:pt x="1060" y="2227"/>
                      <a:pt x="1120" y="2227"/>
                    </a:cubicBezTo>
                    <a:cubicBezTo>
                      <a:pt x="1179" y="2227"/>
                      <a:pt x="1227" y="2191"/>
                      <a:pt x="1227" y="2131"/>
                    </a:cubicBezTo>
                    <a:lnTo>
                      <a:pt x="1227" y="1369"/>
                    </a:lnTo>
                    <a:lnTo>
                      <a:pt x="1763" y="1905"/>
                    </a:lnTo>
                    <a:cubicBezTo>
                      <a:pt x="1775" y="1917"/>
                      <a:pt x="1810" y="1929"/>
                      <a:pt x="1834" y="1929"/>
                    </a:cubicBezTo>
                    <a:cubicBezTo>
                      <a:pt x="1870" y="1929"/>
                      <a:pt x="1882" y="1917"/>
                      <a:pt x="1906" y="1905"/>
                    </a:cubicBezTo>
                    <a:cubicBezTo>
                      <a:pt x="1953" y="1858"/>
                      <a:pt x="1953" y="1798"/>
                      <a:pt x="1906" y="1750"/>
                    </a:cubicBezTo>
                    <a:lnTo>
                      <a:pt x="1370" y="1215"/>
                    </a:lnTo>
                    <a:lnTo>
                      <a:pt x="2132" y="1215"/>
                    </a:lnTo>
                    <a:cubicBezTo>
                      <a:pt x="2191" y="1215"/>
                      <a:pt x="2239" y="1179"/>
                      <a:pt x="2239" y="1119"/>
                    </a:cubicBezTo>
                    <a:cubicBezTo>
                      <a:pt x="2239" y="1060"/>
                      <a:pt x="2191" y="1012"/>
                      <a:pt x="2132" y="1012"/>
                    </a:cubicBezTo>
                    <a:lnTo>
                      <a:pt x="1370" y="1012"/>
                    </a:lnTo>
                    <a:lnTo>
                      <a:pt x="1906" y="477"/>
                    </a:lnTo>
                    <a:cubicBezTo>
                      <a:pt x="1953" y="429"/>
                      <a:pt x="1953" y="369"/>
                      <a:pt x="1906" y="322"/>
                    </a:cubicBezTo>
                    <a:cubicBezTo>
                      <a:pt x="1888" y="304"/>
                      <a:pt x="1864" y="295"/>
                      <a:pt x="1839" y="295"/>
                    </a:cubicBezTo>
                    <a:cubicBezTo>
                      <a:pt x="1813" y="295"/>
                      <a:pt x="1787" y="304"/>
                      <a:pt x="1763" y="322"/>
                    </a:cubicBezTo>
                    <a:lnTo>
                      <a:pt x="1227" y="858"/>
                    </a:lnTo>
                    <a:lnTo>
                      <a:pt x="1227" y="107"/>
                    </a:lnTo>
                    <a:cubicBezTo>
                      <a:pt x="1227" y="48"/>
                      <a:pt x="1179" y="0"/>
                      <a:pt x="1120" y="0"/>
                    </a:cubicBezTo>
                    <a:close/>
                  </a:path>
                </a:pathLst>
              </a:custGeom>
              <a:solidFill>
                <a:schemeClr val="l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grpSp>
        <p:nvGrpSpPr>
          <p:cNvPr id="29" name="Google Shape;408;p19">
            <a:extLst>
              <a:ext uri="{FF2B5EF4-FFF2-40B4-BE49-F238E27FC236}">
                <a16:creationId xmlns:a16="http://schemas.microsoft.com/office/drawing/2014/main" id="{9FBA5AE2-8F2B-CA56-F33E-AB28334943CB}"/>
              </a:ext>
            </a:extLst>
          </p:cNvPr>
          <p:cNvGrpSpPr/>
          <p:nvPr/>
        </p:nvGrpSpPr>
        <p:grpSpPr>
          <a:xfrm>
            <a:off x="1006739" y="1799228"/>
            <a:ext cx="3888205" cy="1354083"/>
            <a:chOff x="916800" y="1528475"/>
            <a:chExt cx="2916154" cy="902950"/>
          </a:xfrm>
        </p:grpSpPr>
        <p:cxnSp>
          <p:nvCxnSpPr>
            <p:cNvPr id="30" name="Google Shape;409;p19">
              <a:extLst>
                <a:ext uri="{FF2B5EF4-FFF2-40B4-BE49-F238E27FC236}">
                  <a16:creationId xmlns:a16="http://schemas.microsoft.com/office/drawing/2014/main" id="{A336E188-9035-0268-72DD-C46F9869EBAF}"/>
                </a:ext>
              </a:extLst>
            </p:cNvPr>
            <p:cNvCxnSpPr/>
            <p:nvPr/>
          </p:nvCxnSpPr>
          <p:spPr>
            <a:xfrm>
              <a:off x="2930854" y="1990725"/>
              <a:ext cx="902100" cy="440700"/>
            </a:xfrm>
            <a:prstGeom prst="straightConnector1">
              <a:avLst/>
            </a:prstGeom>
            <a:noFill/>
            <a:ln w="28575" cap="flat" cmpd="sng">
              <a:solidFill>
                <a:schemeClr val="accent2"/>
              </a:solidFill>
              <a:prstDash val="solid"/>
              <a:round/>
              <a:headEnd type="none" w="med" len="med"/>
              <a:tailEnd type="none" w="med" len="med"/>
            </a:ln>
          </p:spPr>
        </p:cxnSp>
        <p:grpSp>
          <p:nvGrpSpPr>
            <p:cNvPr id="31" name="Google Shape;411;p19">
              <a:extLst>
                <a:ext uri="{FF2B5EF4-FFF2-40B4-BE49-F238E27FC236}">
                  <a16:creationId xmlns:a16="http://schemas.microsoft.com/office/drawing/2014/main" id="{F25DE799-0683-3DF6-D5F1-E5F7FBD025C4}"/>
                </a:ext>
              </a:extLst>
            </p:cNvPr>
            <p:cNvGrpSpPr/>
            <p:nvPr/>
          </p:nvGrpSpPr>
          <p:grpSpPr>
            <a:xfrm>
              <a:off x="916800" y="1528475"/>
              <a:ext cx="2079518" cy="901665"/>
              <a:chOff x="916800" y="1528475"/>
              <a:chExt cx="2079518" cy="901665"/>
            </a:xfrm>
          </p:grpSpPr>
          <p:sp>
            <p:nvSpPr>
              <p:cNvPr id="32" name="Google Shape;412;p19">
                <a:extLst>
                  <a:ext uri="{FF2B5EF4-FFF2-40B4-BE49-F238E27FC236}">
                    <a16:creationId xmlns:a16="http://schemas.microsoft.com/office/drawing/2014/main" id="{9166E84B-6170-5D44-1100-4EA3B6F73B8E}"/>
                  </a:ext>
                </a:extLst>
              </p:cNvPr>
              <p:cNvSpPr/>
              <p:nvPr/>
            </p:nvSpPr>
            <p:spPr>
              <a:xfrm>
                <a:off x="916800" y="1528475"/>
                <a:ext cx="2079518" cy="901665"/>
              </a:xfrm>
              <a:custGeom>
                <a:avLst/>
                <a:gdLst/>
                <a:ahLst/>
                <a:cxnLst/>
                <a:rect l="l" t="t" r="r" b="b"/>
                <a:pathLst>
                  <a:path w="51710" h="19611" extrusionOk="0">
                    <a:moveTo>
                      <a:pt x="46840" y="19610"/>
                    </a:moveTo>
                    <a:lnTo>
                      <a:pt x="0" y="19610"/>
                    </a:lnTo>
                    <a:lnTo>
                      <a:pt x="0" y="1"/>
                    </a:lnTo>
                    <a:lnTo>
                      <a:pt x="46828" y="1"/>
                    </a:lnTo>
                    <a:cubicBezTo>
                      <a:pt x="49530" y="1"/>
                      <a:pt x="51709" y="2191"/>
                      <a:pt x="51709" y="4882"/>
                    </a:cubicBezTo>
                    <a:lnTo>
                      <a:pt x="51709" y="14729"/>
                    </a:lnTo>
                    <a:cubicBezTo>
                      <a:pt x="51697" y="17431"/>
                      <a:pt x="49530" y="19610"/>
                      <a:pt x="46840" y="1961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3" name="Google Shape;413;p19">
                <a:extLst>
                  <a:ext uri="{FF2B5EF4-FFF2-40B4-BE49-F238E27FC236}">
                    <a16:creationId xmlns:a16="http://schemas.microsoft.com/office/drawing/2014/main" id="{7EA972E5-ABC6-F326-0BA0-7FD5811AC5FC}"/>
                  </a:ext>
                </a:extLst>
              </p:cNvPr>
              <p:cNvSpPr/>
              <p:nvPr/>
            </p:nvSpPr>
            <p:spPr>
              <a:xfrm>
                <a:off x="959868" y="1578313"/>
                <a:ext cx="1992854" cy="801986"/>
              </a:xfrm>
              <a:custGeom>
                <a:avLst/>
                <a:gdLst/>
                <a:ahLst/>
                <a:cxnLst/>
                <a:rect l="l" t="t" r="r" b="b"/>
                <a:pathLst>
                  <a:path w="49555" h="17443" extrusionOk="0">
                    <a:moveTo>
                      <a:pt x="1" y="17443"/>
                    </a:moveTo>
                    <a:lnTo>
                      <a:pt x="1" y="0"/>
                    </a:lnTo>
                    <a:lnTo>
                      <a:pt x="40839" y="0"/>
                    </a:lnTo>
                    <a:cubicBezTo>
                      <a:pt x="45650" y="0"/>
                      <a:pt x="49555" y="3917"/>
                      <a:pt x="49555" y="8727"/>
                    </a:cubicBezTo>
                    <a:cubicBezTo>
                      <a:pt x="49555" y="13526"/>
                      <a:pt x="45650" y="17443"/>
                      <a:pt x="40839" y="17443"/>
                    </a:cubicBezTo>
                    <a:close/>
                  </a:path>
                </a:pathLst>
              </a:custGeom>
              <a:solidFill>
                <a:schemeClr val="lt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grpSp>
      </p:grpSp>
      <p:grpSp>
        <p:nvGrpSpPr>
          <p:cNvPr id="34" name="Google Shape;421;p19">
            <a:extLst>
              <a:ext uri="{FF2B5EF4-FFF2-40B4-BE49-F238E27FC236}">
                <a16:creationId xmlns:a16="http://schemas.microsoft.com/office/drawing/2014/main" id="{4F828C8D-4367-305B-ED91-BA7DD46D2047}"/>
              </a:ext>
            </a:extLst>
          </p:cNvPr>
          <p:cNvGrpSpPr/>
          <p:nvPr/>
        </p:nvGrpSpPr>
        <p:grpSpPr>
          <a:xfrm>
            <a:off x="1173839" y="2005710"/>
            <a:ext cx="2304093" cy="863645"/>
            <a:chOff x="1449550" y="1606026"/>
            <a:chExt cx="1347293" cy="770569"/>
          </a:xfrm>
        </p:grpSpPr>
        <p:sp>
          <p:nvSpPr>
            <p:cNvPr id="35" name="Google Shape;422;p19">
              <a:extLst>
                <a:ext uri="{FF2B5EF4-FFF2-40B4-BE49-F238E27FC236}">
                  <a16:creationId xmlns:a16="http://schemas.microsoft.com/office/drawing/2014/main" id="{AE5B6D57-BD11-5947-2889-ED00D810A582}"/>
                </a:ext>
              </a:extLst>
            </p:cNvPr>
            <p:cNvSpPr txBox="1"/>
            <p:nvPr/>
          </p:nvSpPr>
          <p:spPr>
            <a:xfrm>
              <a:off x="1449550" y="1606026"/>
              <a:ext cx="1347293" cy="200400"/>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Volumetric Attack</a:t>
              </a:r>
              <a:endParaRPr sz="1600" b="1" dirty="0">
                <a:solidFill>
                  <a:schemeClr val="dk1"/>
                </a:solidFill>
                <a:latin typeface="Georgia" panose="02040502050405020303" pitchFamily="18" charset="0"/>
                <a:ea typeface="Fira Sans"/>
                <a:cs typeface="Fira Sans"/>
                <a:sym typeface="Fira Sans"/>
              </a:endParaRPr>
            </a:p>
          </p:txBody>
        </p:sp>
        <p:sp>
          <p:nvSpPr>
            <p:cNvPr id="36" name="Google Shape;423;p19">
              <a:extLst>
                <a:ext uri="{FF2B5EF4-FFF2-40B4-BE49-F238E27FC236}">
                  <a16:creationId xmlns:a16="http://schemas.microsoft.com/office/drawing/2014/main" id="{BABA4B2F-09FC-3DA8-7986-94CCC0B5BD59}"/>
                </a:ext>
              </a:extLst>
            </p:cNvPr>
            <p:cNvSpPr txBox="1"/>
            <p:nvPr/>
          </p:nvSpPr>
          <p:spPr>
            <a:xfrm>
              <a:off x="1479473" y="1934395"/>
              <a:ext cx="1233600" cy="442200"/>
            </a:xfrm>
            <a:prstGeom prst="rect">
              <a:avLst/>
            </a:prstGeom>
            <a:noFill/>
            <a:ln>
              <a:noFill/>
            </a:ln>
          </p:spPr>
          <p:txBody>
            <a:bodyPr spcFirstLastPara="1" wrap="square" lIns="0" tIns="121900" rIns="0" bIns="121900" anchor="ctr" anchorCtr="0">
              <a:noAutofit/>
            </a:bodyPr>
            <a:lstStyle/>
            <a:p>
              <a:r>
                <a:rPr lang="en" sz="1100" dirty="0">
                  <a:solidFill>
                    <a:schemeClr val="dk1"/>
                  </a:solidFill>
                  <a:latin typeface="Georgia" panose="02040502050405020303" pitchFamily="18" charset="0"/>
                  <a:ea typeface="Fira Sans"/>
                  <a:cs typeface="Fira Sans"/>
                  <a:sym typeface="Fira Sans"/>
                </a:rPr>
                <a:t>The attack consumes the bandwidth of the target network or service</a:t>
              </a:r>
              <a:endParaRPr sz="1100" dirty="0">
                <a:solidFill>
                  <a:schemeClr val="dk1"/>
                </a:solidFill>
                <a:latin typeface="Georgia" panose="02040502050405020303" pitchFamily="18" charset="0"/>
                <a:ea typeface="Fira Sans"/>
                <a:cs typeface="Fira Sans"/>
                <a:sym typeface="Fira Sans"/>
              </a:endParaRPr>
            </a:p>
          </p:txBody>
        </p:sp>
      </p:grpSp>
      <p:grpSp>
        <p:nvGrpSpPr>
          <p:cNvPr id="37" name="Google Shape;424;p19">
            <a:extLst>
              <a:ext uri="{FF2B5EF4-FFF2-40B4-BE49-F238E27FC236}">
                <a16:creationId xmlns:a16="http://schemas.microsoft.com/office/drawing/2014/main" id="{C1ED34E8-1B84-A7FA-7E82-DD360318215F}"/>
              </a:ext>
            </a:extLst>
          </p:cNvPr>
          <p:cNvGrpSpPr/>
          <p:nvPr/>
        </p:nvGrpSpPr>
        <p:grpSpPr>
          <a:xfrm>
            <a:off x="1196485" y="4354288"/>
            <a:ext cx="3961284" cy="1100268"/>
            <a:chOff x="1569872" y="3579975"/>
            <a:chExt cx="1233600" cy="402488"/>
          </a:xfrm>
        </p:grpSpPr>
        <p:sp>
          <p:nvSpPr>
            <p:cNvPr id="38" name="Google Shape;425;p19">
              <a:extLst>
                <a:ext uri="{FF2B5EF4-FFF2-40B4-BE49-F238E27FC236}">
                  <a16:creationId xmlns:a16="http://schemas.microsoft.com/office/drawing/2014/main" id="{7B9B2AC2-0FA7-E2F6-9CEE-68074A0585AF}"/>
                </a:ext>
              </a:extLst>
            </p:cNvPr>
            <p:cNvSpPr txBox="1"/>
            <p:nvPr/>
          </p:nvSpPr>
          <p:spPr>
            <a:xfrm>
              <a:off x="1569872" y="3579975"/>
              <a:ext cx="1233600" cy="200400"/>
            </a:xfrm>
            <a:prstGeom prst="rect">
              <a:avLst/>
            </a:prstGeom>
            <a:noFill/>
            <a:ln>
              <a:noFill/>
            </a:ln>
          </p:spPr>
          <p:txBody>
            <a:bodyPr spcFirstLastPara="1" wrap="square" lIns="0" tIns="121900" rIns="0" bIns="121900" anchor="ctr" anchorCtr="0">
              <a:noAutofit/>
            </a:bodyPr>
            <a:lstStyle/>
            <a:p>
              <a:r>
                <a:rPr lang="en" sz="1600" b="1" dirty="0">
                  <a:solidFill>
                    <a:schemeClr val="dk1"/>
                  </a:solidFill>
                  <a:latin typeface="Georgia" panose="02040502050405020303" pitchFamily="18" charset="0"/>
                  <a:ea typeface="Fira Sans"/>
                  <a:cs typeface="Fira Sans"/>
                  <a:sym typeface="Fira Sans"/>
                </a:rPr>
                <a:t>Protocol Attack</a:t>
              </a:r>
              <a:endParaRPr sz="1600" b="1" dirty="0">
                <a:solidFill>
                  <a:schemeClr val="dk1"/>
                </a:solidFill>
                <a:latin typeface="Georgia" panose="02040502050405020303" pitchFamily="18" charset="0"/>
                <a:ea typeface="Fira Sans"/>
                <a:cs typeface="Fira Sans"/>
                <a:sym typeface="Fira Sans"/>
              </a:endParaRPr>
            </a:p>
          </p:txBody>
        </p:sp>
        <p:sp>
          <p:nvSpPr>
            <p:cNvPr id="39" name="Google Shape;426;p19">
              <a:extLst>
                <a:ext uri="{FF2B5EF4-FFF2-40B4-BE49-F238E27FC236}">
                  <a16:creationId xmlns:a16="http://schemas.microsoft.com/office/drawing/2014/main" id="{DC33912D-AF9F-4922-2573-C69960B785C7}"/>
                </a:ext>
              </a:extLst>
            </p:cNvPr>
            <p:cNvSpPr txBox="1"/>
            <p:nvPr/>
          </p:nvSpPr>
          <p:spPr>
            <a:xfrm>
              <a:off x="1574249" y="3829106"/>
              <a:ext cx="749607" cy="153357"/>
            </a:xfrm>
            <a:prstGeom prst="rect">
              <a:avLst/>
            </a:prstGeom>
            <a:noFill/>
            <a:ln>
              <a:noFill/>
            </a:ln>
          </p:spPr>
          <p:txBody>
            <a:bodyPr spcFirstLastPara="1" wrap="square" lIns="0" tIns="121900" rIns="0" bIns="121900" anchor="ctr" anchorCtr="0">
              <a:noAutofit/>
            </a:bodyPr>
            <a:lstStyle/>
            <a:p>
              <a:r>
                <a:rPr lang="en" sz="1100" dirty="0">
                  <a:solidFill>
                    <a:schemeClr val="dk1"/>
                  </a:solidFill>
                  <a:latin typeface="Georgia" panose="02040502050405020303" pitchFamily="18" charset="0"/>
                  <a:ea typeface="Fira Sans"/>
                  <a:cs typeface="Fira Sans"/>
                  <a:sym typeface="Fira Sans"/>
                </a:rPr>
                <a:t>The attack consumes othe types of resources like connection state tables present in the network infrastructure components such as load-balancers, firewall, and application servers</a:t>
              </a:r>
              <a:endParaRPr sz="1100" dirty="0">
                <a:solidFill>
                  <a:schemeClr val="dk1"/>
                </a:solidFill>
                <a:latin typeface="Georgia" panose="02040502050405020303" pitchFamily="18" charset="0"/>
                <a:ea typeface="Fira Sans"/>
                <a:cs typeface="Fira Sans"/>
                <a:sym typeface="Fira Sans"/>
              </a:endParaRPr>
            </a:p>
          </p:txBody>
        </p:sp>
      </p:grpSp>
      <p:grpSp>
        <p:nvGrpSpPr>
          <p:cNvPr id="40" name="Google Shape;428;p19">
            <a:extLst>
              <a:ext uri="{FF2B5EF4-FFF2-40B4-BE49-F238E27FC236}">
                <a16:creationId xmlns:a16="http://schemas.microsoft.com/office/drawing/2014/main" id="{6D2692C1-013F-C7C7-177A-AF166E1135F7}"/>
              </a:ext>
            </a:extLst>
          </p:cNvPr>
          <p:cNvGrpSpPr/>
          <p:nvPr/>
        </p:nvGrpSpPr>
        <p:grpSpPr>
          <a:xfrm>
            <a:off x="4705395" y="2406373"/>
            <a:ext cx="2349889" cy="2349449"/>
            <a:chOff x="3686748" y="2130133"/>
            <a:chExt cx="1762417" cy="1762087"/>
          </a:xfrm>
        </p:grpSpPr>
        <p:sp>
          <p:nvSpPr>
            <p:cNvPr id="41" name="Google Shape;430;p19">
              <a:extLst>
                <a:ext uri="{FF2B5EF4-FFF2-40B4-BE49-F238E27FC236}">
                  <a16:creationId xmlns:a16="http://schemas.microsoft.com/office/drawing/2014/main" id="{0366E797-785C-E089-0D84-FCCA0899A583}"/>
                </a:ext>
              </a:extLst>
            </p:cNvPr>
            <p:cNvSpPr/>
            <p:nvPr/>
          </p:nvSpPr>
          <p:spPr>
            <a:xfrm>
              <a:off x="4127482" y="3737293"/>
              <a:ext cx="880932" cy="154927"/>
            </a:xfrm>
            <a:custGeom>
              <a:avLst/>
              <a:gdLst/>
              <a:ahLst/>
              <a:cxnLst/>
              <a:rect l="l" t="t" r="r" b="b"/>
              <a:pathLst>
                <a:path w="33315" h="5859" extrusionOk="0">
                  <a:moveTo>
                    <a:pt x="33314" y="1394"/>
                  </a:moveTo>
                  <a:lnTo>
                    <a:pt x="32505" y="1"/>
                  </a:lnTo>
                  <a:cubicBezTo>
                    <a:pt x="27838" y="2703"/>
                    <a:pt x="22432" y="4251"/>
                    <a:pt x="16658" y="4251"/>
                  </a:cubicBezTo>
                  <a:cubicBezTo>
                    <a:pt x="10883" y="4251"/>
                    <a:pt x="5466" y="2703"/>
                    <a:pt x="810" y="1"/>
                  </a:cubicBezTo>
                  <a:lnTo>
                    <a:pt x="1" y="1394"/>
                  </a:lnTo>
                  <a:cubicBezTo>
                    <a:pt x="4918" y="4239"/>
                    <a:pt x="10597" y="5859"/>
                    <a:pt x="16658" y="5859"/>
                  </a:cubicBezTo>
                  <a:cubicBezTo>
                    <a:pt x="22718" y="5859"/>
                    <a:pt x="28421" y="4239"/>
                    <a:pt x="33314" y="1394"/>
                  </a:cubicBezTo>
                  <a:close/>
                </a:path>
              </a:pathLst>
            </a:custGeom>
            <a:solidFill>
              <a:schemeClr val="accent1"/>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2" name="Google Shape;431;p19">
              <a:extLst>
                <a:ext uri="{FF2B5EF4-FFF2-40B4-BE49-F238E27FC236}">
                  <a16:creationId xmlns:a16="http://schemas.microsoft.com/office/drawing/2014/main" id="{E611748D-7F15-9636-C70E-5A099F051CD1}"/>
                </a:ext>
              </a:extLst>
            </p:cNvPr>
            <p:cNvSpPr/>
            <p:nvPr/>
          </p:nvSpPr>
          <p:spPr>
            <a:xfrm>
              <a:off x="4986950" y="2248195"/>
              <a:ext cx="462215" cy="763157"/>
            </a:xfrm>
            <a:custGeom>
              <a:avLst/>
              <a:gdLst/>
              <a:ahLst/>
              <a:cxnLst/>
              <a:rect l="l" t="t" r="r" b="b"/>
              <a:pathLst>
                <a:path w="17480" h="28861" extrusionOk="0">
                  <a:moveTo>
                    <a:pt x="810" y="0"/>
                  </a:moveTo>
                  <a:lnTo>
                    <a:pt x="1" y="1393"/>
                  </a:lnTo>
                  <a:cubicBezTo>
                    <a:pt x="9490" y="6894"/>
                    <a:pt x="15872" y="17145"/>
                    <a:pt x="15872" y="28861"/>
                  </a:cubicBezTo>
                  <a:lnTo>
                    <a:pt x="17479" y="28861"/>
                  </a:lnTo>
                  <a:cubicBezTo>
                    <a:pt x="17479" y="16550"/>
                    <a:pt x="10764" y="5775"/>
                    <a:pt x="810" y="0"/>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3" name="Google Shape;432;p19">
              <a:extLst>
                <a:ext uri="{FF2B5EF4-FFF2-40B4-BE49-F238E27FC236}">
                  <a16:creationId xmlns:a16="http://schemas.microsoft.com/office/drawing/2014/main" id="{09818E07-48B3-FBD9-0BC7-BD8B0C72E94B}"/>
                </a:ext>
              </a:extLst>
            </p:cNvPr>
            <p:cNvSpPr/>
            <p:nvPr/>
          </p:nvSpPr>
          <p:spPr>
            <a:xfrm>
              <a:off x="4127482" y="2130133"/>
              <a:ext cx="880932" cy="154927"/>
            </a:xfrm>
            <a:custGeom>
              <a:avLst/>
              <a:gdLst/>
              <a:ahLst/>
              <a:cxnLst/>
              <a:rect l="l" t="t" r="r" b="b"/>
              <a:pathLst>
                <a:path w="33315" h="5859" extrusionOk="0">
                  <a:moveTo>
                    <a:pt x="1" y="4465"/>
                  </a:moveTo>
                  <a:lnTo>
                    <a:pt x="810" y="5858"/>
                  </a:lnTo>
                  <a:cubicBezTo>
                    <a:pt x="5478" y="3156"/>
                    <a:pt x="10883" y="1608"/>
                    <a:pt x="16658" y="1608"/>
                  </a:cubicBezTo>
                  <a:cubicBezTo>
                    <a:pt x="22432" y="1608"/>
                    <a:pt x="27849" y="3156"/>
                    <a:pt x="32505" y="5858"/>
                  </a:cubicBezTo>
                  <a:lnTo>
                    <a:pt x="33314" y="4465"/>
                  </a:lnTo>
                  <a:cubicBezTo>
                    <a:pt x="28397" y="1620"/>
                    <a:pt x="22718" y="0"/>
                    <a:pt x="16658" y="0"/>
                  </a:cubicBezTo>
                  <a:cubicBezTo>
                    <a:pt x="10597" y="0"/>
                    <a:pt x="4906" y="1620"/>
                    <a:pt x="1" y="4465"/>
                  </a:cubicBezTo>
                  <a:close/>
                </a:path>
              </a:pathLst>
            </a:custGeom>
            <a:solidFill>
              <a:schemeClr val="accent1"/>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4" name="Google Shape;433;p19">
              <a:extLst>
                <a:ext uri="{FF2B5EF4-FFF2-40B4-BE49-F238E27FC236}">
                  <a16:creationId xmlns:a16="http://schemas.microsoft.com/office/drawing/2014/main" id="{FECEF1F9-FB89-D445-BC7C-4A4F9E00EA6F}"/>
                </a:ext>
              </a:extLst>
            </p:cNvPr>
            <p:cNvSpPr/>
            <p:nvPr/>
          </p:nvSpPr>
          <p:spPr>
            <a:xfrm>
              <a:off x="4986950" y="3011306"/>
              <a:ext cx="462215" cy="762866"/>
            </a:xfrm>
            <a:custGeom>
              <a:avLst/>
              <a:gdLst/>
              <a:ahLst/>
              <a:cxnLst/>
              <a:rect l="l" t="t" r="r" b="b"/>
              <a:pathLst>
                <a:path w="17480" h="28850" extrusionOk="0">
                  <a:moveTo>
                    <a:pt x="1" y="27457"/>
                  </a:moveTo>
                  <a:lnTo>
                    <a:pt x="810" y="28850"/>
                  </a:lnTo>
                  <a:cubicBezTo>
                    <a:pt x="10764" y="23075"/>
                    <a:pt x="17479" y="12300"/>
                    <a:pt x="17479" y="1"/>
                  </a:cubicBezTo>
                  <a:lnTo>
                    <a:pt x="15872" y="1"/>
                  </a:lnTo>
                  <a:cubicBezTo>
                    <a:pt x="15872" y="11705"/>
                    <a:pt x="9490" y="21968"/>
                    <a:pt x="1" y="27457"/>
                  </a:cubicBezTo>
                  <a:close/>
                </a:path>
              </a:pathLst>
            </a:custGeom>
            <a:solidFill>
              <a:schemeClr val="accent6"/>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5" name="Google Shape;434;p19">
              <a:extLst>
                <a:ext uri="{FF2B5EF4-FFF2-40B4-BE49-F238E27FC236}">
                  <a16:creationId xmlns:a16="http://schemas.microsoft.com/office/drawing/2014/main" id="{322285B6-D094-864D-0737-5AE30944E389}"/>
                </a:ext>
              </a:extLst>
            </p:cNvPr>
            <p:cNvSpPr/>
            <p:nvPr/>
          </p:nvSpPr>
          <p:spPr>
            <a:xfrm>
              <a:off x="3686748" y="3011306"/>
              <a:ext cx="462188" cy="762866"/>
            </a:xfrm>
            <a:custGeom>
              <a:avLst/>
              <a:gdLst/>
              <a:ahLst/>
              <a:cxnLst/>
              <a:rect l="l" t="t" r="r" b="b"/>
              <a:pathLst>
                <a:path w="17479" h="28850" extrusionOk="0">
                  <a:moveTo>
                    <a:pt x="16669" y="28850"/>
                  </a:moveTo>
                  <a:lnTo>
                    <a:pt x="17478" y="27457"/>
                  </a:lnTo>
                  <a:cubicBezTo>
                    <a:pt x="8001" y="21968"/>
                    <a:pt x="1607" y="11705"/>
                    <a:pt x="1607" y="1"/>
                  </a:cubicBezTo>
                  <a:lnTo>
                    <a:pt x="0" y="1"/>
                  </a:lnTo>
                  <a:cubicBezTo>
                    <a:pt x="0" y="12300"/>
                    <a:pt x="6715" y="23075"/>
                    <a:pt x="16669" y="28850"/>
                  </a:cubicBezTo>
                  <a:close/>
                </a:path>
              </a:pathLst>
            </a:custGeom>
            <a:solidFill>
              <a:schemeClr val="accent3"/>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46" name="Google Shape;435;p19">
              <a:extLst>
                <a:ext uri="{FF2B5EF4-FFF2-40B4-BE49-F238E27FC236}">
                  <a16:creationId xmlns:a16="http://schemas.microsoft.com/office/drawing/2014/main" id="{AB8C077C-820A-4879-197E-2F9B5F997C72}"/>
                </a:ext>
              </a:extLst>
            </p:cNvPr>
            <p:cNvSpPr/>
            <p:nvPr/>
          </p:nvSpPr>
          <p:spPr>
            <a:xfrm>
              <a:off x="3686748" y="2248195"/>
              <a:ext cx="462188" cy="763157"/>
            </a:xfrm>
            <a:custGeom>
              <a:avLst/>
              <a:gdLst/>
              <a:ahLst/>
              <a:cxnLst/>
              <a:rect l="l" t="t" r="r" b="b"/>
              <a:pathLst>
                <a:path w="17479" h="28861" extrusionOk="0">
                  <a:moveTo>
                    <a:pt x="17478" y="1393"/>
                  </a:moveTo>
                  <a:lnTo>
                    <a:pt x="16669" y="0"/>
                  </a:lnTo>
                  <a:cubicBezTo>
                    <a:pt x="6715" y="5775"/>
                    <a:pt x="0" y="16550"/>
                    <a:pt x="0" y="28861"/>
                  </a:cubicBezTo>
                  <a:lnTo>
                    <a:pt x="1607" y="28861"/>
                  </a:lnTo>
                  <a:cubicBezTo>
                    <a:pt x="1607" y="17145"/>
                    <a:pt x="8001" y="6894"/>
                    <a:pt x="17478" y="1393"/>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nvGrpSpPr>
          <p:cNvPr id="47" name="Google Shape;1501;p27">
            <a:extLst>
              <a:ext uri="{FF2B5EF4-FFF2-40B4-BE49-F238E27FC236}">
                <a16:creationId xmlns:a16="http://schemas.microsoft.com/office/drawing/2014/main" id="{0B1144DD-9A7C-B93C-C3A5-C1ECAA8B3018}"/>
              </a:ext>
            </a:extLst>
          </p:cNvPr>
          <p:cNvGrpSpPr/>
          <p:nvPr/>
        </p:nvGrpSpPr>
        <p:grpSpPr>
          <a:xfrm>
            <a:off x="4810506" y="2621549"/>
            <a:ext cx="2176684" cy="1945373"/>
            <a:chOff x="3355801" y="3849989"/>
            <a:chExt cx="1002151" cy="877877"/>
          </a:xfrm>
        </p:grpSpPr>
        <p:sp>
          <p:nvSpPr>
            <p:cNvPr id="48" name="Google Shape;1502;p27">
              <a:extLst>
                <a:ext uri="{FF2B5EF4-FFF2-40B4-BE49-F238E27FC236}">
                  <a16:creationId xmlns:a16="http://schemas.microsoft.com/office/drawing/2014/main" id="{37217516-4FA2-2DCA-06F6-5584E4077015}"/>
                </a:ext>
              </a:extLst>
            </p:cNvPr>
            <p:cNvSpPr/>
            <p:nvPr/>
          </p:nvSpPr>
          <p:spPr>
            <a:xfrm>
              <a:off x="3355801" y="3849989"/>
              <a:ext cx="1002151" cy="877877"/>
            </a:xfrm>
            <a:custGeom>
              <a:avLst/>
              <a:gdLst/>
              <a:ahLst/>
              <a:cxnLst/>
              <a:rect l="l" t="t" r="r" b="b"/>
              <a:pathLst>
                <a:path w="35756" h="31322" extrusionOk="0">
                  <a:moveTo>
                    <a:pt x="17900" y="1"/>
                  </a:moveTo>
                  <a:cubicBezTo>
                    <a:pt x="12487" y="1"/>
                    <a:pt x="7223" y="2812"/>
                    <a:pt x="4323" y="7837"/>
                  </a:cubicBezTo>
                  <a:cubicBezTo>
                    <a:pt x="1" y="15326"/>
                    <a:pt x="2561" y="24899"/>
                    <a:pt x="10050" y="29221"/>
                  </a:cubicBezTo>
                  <a:cubicBezTo>
                    <a:pt x="12517" y="30644"/>
                    <a:pt x="15210" y="31321"/>
                    <a:pt x="17867" y="31321"/>
                  </a:cubicBezTo>
                  <a:cubicBezTo>
                    <a:pt x="23276" y="31321"/>
                    <a:pt x="28535" y="28516"/>
                    <a:pt x="31433" y="23494"/>
                  </a:cubicBezTo>
                  <a:cubicBezTo>
                    <a:pt x="35755" y="16005"/>
                    <a:pt x="33195" y="6432"/>
                    <a:pt x="25706" y="2098"/>
                  </a:cubicBezTo>
                  <a:cubicBezTo>
                    <a:pt x="23243" y="676"/>
                    <a:pt x="20553" y="1"/>
                    <a:pt x="17900" y="1"/>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nvGrpSpPr>
            <p:cNvPr id="49" name="Google Shape;1503;p27">
              <a:extLst>
                <a:ext uri="{FF2B5EF4-FFF2-40B4-BE49-F238E27FC236}">
                  <a16:creationId xmlns:a16="http://schemas.microsoft.com/office/drawing/2014/main" id="{34950E41-4A45-7F82-5147-1DEE6E3D5B2D}"/>
                </a:ext>
              </a:extLst>
            </p:cNvPr>
            <p:cNvGrpSpPr/>
            <p:nvPr/>
          </p:nvGrpSpPr>
          <p:grpSpPr>
            <a:xfrm>
              <a:off x="3691514" y="4040139"/>
              <a:ext cx="330388" cy="454214"/>
              <a:chOff x="3691514" y="4040139"/>
              <a:chExt cx="330388" cy="454214"/>
            </a:xfrm>
          </p:grpSpPr>
          <p:sp>
            <p:nvSpPr>
              <p:cNvPr id="50" name="Google Shape;1504;p27">
                <a:extLst>
                  <a:ext uri="{FF2B5EF4-FFF2-40B4-BE49-F238E27FC236}">
                    <a16:creationId xmlns:a16="http://schemas.microsoft.com/office/drawing/2014/main" id="{85B94EA3-3406-620B-B2DB-0BD97B362A2B}"/>
                  </a:ext>
                </a:extLst>
              </p:cNvPr>
              <p:cNvSpPr/>
              <p:nvPr/>
            </p:nvSpPr>
            <p:spPr>
              <a:xfrm>
                <a:off x="3691514" y="4040139"/>
                <a:ext cx="330388" cy="454214"/>
              </a:xfrm>
              <a:custGeom>
                <a:avLst/>
                <a:gdLst/>
                <a:ahLst/>
                <a:cxnLst/>
                <a:rect l="l" t="t" r="r" b="b"/>
                <a:pathLst>
                  <a:path w="11788" h="16206" extrusionOk="0">
                    <a:moveTo>
                      <a:pt x="5894" y="1"/>
                    </a:moveTo>
                    <a:cubicBezTo>
                      <a:pt x="2644" y="1"/>
                      <a:pt x="0" y="2632"/>
                      <a:pt x="0" y="5894"/>
                    </a:cubicBezTo>
                    <a:lnTo>
                      <a:pt x="0" y="10312"/>
                    </a:lnTo>
                    <a:cubicBezTo>
                      <a:pt x="0" y="13574"/>
                      <a:pt x="2644" y="16205"/>
                      <a:pt x="5894" y="16205"/>
                    </a:cubicBezTo>
                    <a:cubicBezTo>
                      <a:pt x="9156" y="16205"/>
                      <a:pt x="11788" y="13574"/>
                      <a:pt x="11788" y="10312"/>
                    </a:cubicBezTo>
                    <a:lnTo>
                      <a:pt x="11788" y="5894"/>
                    </a:lnTo>
                    <a:cubicBezTo>
                      <a:pt x="11788" y="2632"/>
                      <a:pt x="9156" y="1"/>
                      <a:pt x="5894" y="1"/>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1" name="Google Shape;1505;p27">
                <a:extLst>
                  <a:ext uri="{FF2B5EF4-FFF2-40B4-BE49-F238E27FC236}">
                    <a16:creationId xmlns:a16="http://schemas.microsoft.com/office/drawing/2014/main" id="{87622B6A-B86D-AC78-403A-C836D77DD966}"/>
                  </a:ext>
                </a:extLst>
              </p:cNvPr>
              <p:cNvSpPr/>
              <p:nvPr/>
            </p:nvSpPr>
            <p:spPr>
              <a:xfrm>
                <a:off x="3691514" y="4040139"/>
                <a:ext cx="330388" cy="454214"/>
              </a:xfrm>
              <a:custGeom>
                <a:avLst/>
                <a:gdLst/>
                <a:ahLst/>
                <a:cxnLst/>
                <a:rect l="l" t="t" r="r" b="b"/>
                <a:pathLst>
                  <a:path w="11788" h="16206" fill="none" extrusionOk="0">
                    <a:moveTo>
                      <a:pt x="0" y="10312"/>
                    </a:moveTo>
                    <a:cubicBezTo>
                      <a:pt x="0" y="13574"/>
                      <a:pt x="2644" y="16205"/>
                      <a:pt x="5894" y="16205"/>
                    </a:cubicBezTo>
                    <a:cubicBezTo>
                      <a:pt x="9156" y="16205"/>
                      <a:pt x="11788" y="13574"/>
                      <a:pt x="11788" y="10312"/>
                    </a:cubicBezTo>
                    <a:lnTo>
                      <a:pt x="11788" y="5894"/>
                    </a:lnTo>
                    <a:cubicBezTo>
                      <a:pt x="11788" y="2632"/>
                      <a:pt x="9156" y="1"/>
                      <a:pt x="5894" y="1"/>
                    </a:cubicBezTo>
                    <a:cubicBezTo>
                      <a:pt x="2644" y="1"/>
                      <a:pt x="0" y="2632"/>
                      <a:pt x="0" y="5894"/>
                    </a:cubicBezTo>
                    <a:close/>
                  </a:path>
                </a:pathLst>
              </a:custGeom>
              <a:noFill/>
              <a:ln w="11300" cap="rnd"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2" name="Google Shape;1506;p27">
                <a:extLst>
                  <a:ext uri="{FF2B5EF4-FFF2-40B4-BE49-F238E27FC236}">
                    <a16:creationId xmlns:a16="http://schemas.microsoft.com/office/drawing/2014/main" id="{76705F21-CC35-5F8B-B936-40CD8AD9B821}"/>
                  </a:ext>
                </a:extLst>
              </p:cNvPr>
              <p:cNvSpPr/>
              <p:nvPr/>
            </p:nvSpPr>
            <p:spPr>
              <a:xfrm>
                <a:off x="3691514" y="4195327"/>
                <a:ext cx="330052" cy="144173"/>
              </a:xfrm>
              <a:custGeom>
                <a:avLst/>
                <a:gdLst/>
                <a:ahLst/>
                <a:cxnLst/>
                <a:rect l="l" t="t" r="r" b="b"/>
                <a:pathLst>
                  <a:path w="11776" h="5144" extrusionOk="0">
                    <a:moveTo>
                      <a:pt x="0" y="0"/>
                    </a:moveTo>
                    <a:lnTo>
                      <a:pt x="0" y="5144"/>
                    </a:lnTo>
                    <a:lnTo>
                      <a:pt x="11776" y="5144"/>
                    </a:lnTo>
                    <a:lnTo>
                      <a:pt x="11776" y="0"/>
                    </a:lnTo>
                    <a:close/>
                  </a:path>
                </a:pathLst>
              </a:custGeom>
              <a:solidFill>
                <a:srgbClr val="000000"/>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53" name="Google Shape;1507;p27">
                <a:extLst>
                  <a:ext uri="{FF2B5EF4-FFF2-40B4-BE49-F238E27FC236}">
                    <a16:creationId xmlns:a16="http://schemas.microsoft.com/office/drawing/2014/main" id="{25A16DB1-1EA5-DC28-15C9-0FCC0DA7374F}"/>
                  </a:ext>
                </a:extLst>
              </p:cNvPr>
              <p:cNvSpPr/>
              <p:nvPr/>
            </p:nvSpPr>
            <p:spPr>
              <a:xfrm>
                <a:off x="3712535" y="4215675"/>
                <a:ext cx="102805" cy="88231"/>
              </a:xfrm>
              <a:custGeom>
                <a:avLst/>
                <a:gdLst/>
                <a:ahLst/>
                <a:cxnLst/>
                <a:rect l="l" t="t" r="r" b="b"/>
                <a:pathLst>
                  <a:path w="3668" h="3148" extrusionOk="0">
                    <a:moveTo>
                      <a:pt x="727" y="0"/>
                    </a:moveTo>
                    <a:lnTo>
                      <a:pt x="727" y="0"/>
                    </a:lnTo>
                    <a:cubicBezTo>
                      <a:pt x="1" y="750"/>
                      <a:pt x="1" y="2227"/>
                      <a:pt x="1477" y="2941"/>
                    </a:cubicBezTo>
                    <a:cubicBezTo>
                      <a:pt x="1770" y="3089"/>
                      <a:pt x="2033" y="3148"/>
                      <a:pt x="2267" y="3148"/>
                    </a:cubicBezTo>
                    <a:cubicBezTo>
                      <a:pt x="3203" y="3148"/>
                      <a:pt x="3668" y="2203"/>
                      <a:pt x="3668" y="2203"/>
                    </a:cubicBezTo>
                    <a:lnTo>
                      <a:pt x="727" y="0"/>
                    </a:ln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4" name="Google Shape;1508;p27">
                <a:extLst>
                  <a:ext uri="{FF2B5EF4-FFF2-40B4-BE49-F238E27FC236}">
                    <a16:creationId xmlns:a16="http://schemas.microsoft.com/office/drawing/2014/main" id="{2968227D-DDCA-B9D9-1015-A3531DC7C9F6}"/>
                  </a:ext>
                </a:extLst>
              </p:cNvPr>
              <p:cNvSpPr/>
              <p:nvPr/>
            </p:nvSpPr>
            <p:spPr>
              <a:xfrm>
                <a:off x="3898077" y="4215675"/>
                <a:ext cx="103141" cy="88231"/>
              </a:xfrm>
              <a:custGeom>
                <a:avLst/>
                <a:gdLst/>
                <a:ahLst/>
                <a:cxnLst/>
                <a:rect l="l" t="t" r="r" b="b"/>
                <a:pathLst>
                  <a:path w="3680" h="3148" extrusionOk="0">
                    <a:moveTo>
                      <a:pt x="2953" y="0"/>
                    </a:moveTo>
                    <a:lnTo>
                      <a:pt x="0" y="2203"/>
                    </a:lnTo>
                    <a:cubicBezTo>
                      <a:pt x="0" y="2203"/>
                      <a:pt x="465" y="3148"/>
                      <a:pt x="1407" y="3148"/>
                    </a:cubicBezTo>
                    <a:cubicBezTo>
                      <a:pt x="1643" y="3148"/>
                      <a:pt x="1908" y="3089"/>
                      <a:pt x="2203" y="2941"/>
                    </a:cubicBezTo>
                    <a:cubicBezTo>
                      <a:pt x="3679" y="2227"/>
                      <a:pt x="3679" y="750"/>
                      <a:pt x="2953" y="0"/>
                    </a:cubicBezTo>
                    <a:close/>
                  </a:path>
                </a:pathLst>
              </a:custGeom>
              <a:solidFill>
                <a:srgbClr val="FFFFFF"/>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grpSp>
      </p:grpSp>
      <p:sp>
        <p:nvSpPr>
          <p:cNvPr id="55" name="TextBox 54">
            <a:extLst>
              <a:ext uri="{FF2B5EF4-FFF2-40B4-BE49-F238E27FC236}">
                <a16:creationId xmlns:a16="http://schemas.microsoft.com/office/drawing/2014/main" id="{D336C8E3-7F05-0CAC-B923-3FD651DE3B7D}"/>
              </a:ext>
            </a:extLst>
          </p:cNvPr>
          <p:cNvSpPr txBox="1"/>
          <p:nvPr/>
        </p:nvSpPr>
        <p:spPr>
          <a:xfrm>
            <a:off x="8050235" y="4766611"/>
            <a:ext cx="2772517" cy="769441"/>
          </a:xfrm>
          <a:prstGeom prst="rect">
            <a:avLst/>
          </a:prstGeom>
          <a:noFill/>
        </p:spPr>
        <p:txBody>
          <a:bodyPr wrap="square">
            <a:spAutoFit/>
          </a:bodyPr>
          <a:lstStyle/>
          <a:p>
            <a:r>
              <a:rPr lang="en-US" sz="1100" dirty="0" err="1">
                <a:latin typeface="Georgia" panose="02040502050405020303" pitchFamily="18" charset="0"/>
              </a:rPr>
              <a:t>PDoS</a:t>
            </a:r>
            <a:r>
              <a:rPr lang="en-US" sz="1100" dirty="0">
                <a:latin typeface="Georgia" panose="02040502050405020303" pitchFamily="18" charset="0"/>
              </a:rPr>
              <a:t> attack is a denial of service via hardware sabotage. One method of conducting a </a:t>
            </a:r>
            <a:r>
              <a:rPr lang="en-US" sz="1100" dirty="0" err="1">
                <a:latin typeface="Georgia" panose="02040502050405020303" pitchFamily="18" charset="0"/>
              </a:rPr>
              <a:t>PDoS</a:t>
            </a:r>
            <a:r>
              <a:rPr lang="en-US" sz="1100" dirty="0">
                <a:latin typeface="Georgia" panose="02040502050405020303" pitchFamily="18" charset="0"/>
              </a:rPr>
              <a:t> attack is commonly referred to as </a:t>
            </a:r>
            <a:r>
              <a:rPr lang="en-US" sz="1100" dirty="0" err="1">
                <a:latin typeface="Georgia" panose="02040502050405020303" pitchFamily="18" charset="0"/>
              </a:rPr>
              <a:t>phlashing</a:t>
            </a:r>
            <a:endParaRPr lang="en-ID" sz="1100" dirty="0">
              <a:latin typeface="Georgia" panose="02040502050405020303" pitchFamily="18" charset="0"/>
            </a:endParaRPr>
          </a:p>
        </p:txBody>
      </p:sp>
    </p:spTree>
    <p:extLst>
      <p:ext uri="{BB962C8B-B14F-4D97-AF65-F5344CB8AC3E}">
        <p14:creationId xmlns:p14="http://schemas.microsoft.com/office/powerpoint/2010/main" val="29778496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4A51-8FDD-78B5-40DD-4D9054D48E29}"/>
              </a:ext>
            </a:extLst>
          </p:cNvPr>
          <p:cNvSpPr>
            <a:spLocks noGrp="1"/>
          </p:cNvSpPr>
          <p:nvPr>
            <p:ph type="title"/>
          </p:nvPr>
        </p:nvSpPr>
        <p:spPr/>
        <p:txBody>
          <a:bodyPr/>
          <a:lstStyle/>
          <a:p>
            <a:r>
              <a:rPr lang="en" sz="2800" dirty="0"/>
              <a:t>Indications of a DoS/DDoS Attack</a:t>
            </a:r>
            <a:endParaRPr lang="en-ID" dirty="0"/>
          </a:p>
        </p:txBody>
      </p:sp>
      <p:sp>
        <p:nvSpPr>
          <p:cNvPr id="3" name="Content Placeholder 2">
            <a:extLst>
              <a:ext uri="{FF2B5EF4-FFF2-40B4-BE49-F238E27FC236}">
                <a16:creationId xmlns:a16="http://schemas.microsoft.com/office/drawing/2014/main" id="{4A65C594-8477-253B-F397-80C6DFA1A401}"/>
              </a:ext>
            </a:extLst>
          </p:cNvPr>
          <p:cNvSpPr>
            <a:spLocks noGrp="1"/>
          </p:cNvSpPr>
          <p:nvPr>
            <p:ph idx="1"/>
          </p:nvPr>
        </p:nvSpPr>
        <p:spPr/>
        <p:txBody>
          <a:bodyPr/>
          <a:lstStyle/>
          <a:p>
            <a:endParaRPr lang="en-ID"/>
          </a:p>
        </p:txBody>
      </p:sp>
      <p:graphicFrame>
        <p:nvGraphicFramePr>
          <p:cNvPr id="4" name="Google Shape;446;p20">
            <a:extLst>
              <a:ext uri="{FF2B5EF4-FFF2-40B4-BE49-F238E27FC236}">
                <a16:creationId xmlns:a16="http://schemas.microsoft.com/office/drawing/2014/main" id="{0239DCAA-868A-1432-A086-ECA904C8E754}"/>
              </a:ext>
            </a:extLst>
          </p:cNvPr>
          <p:cNvGraphicFramePr/>
          <p:nvPr>
            <p:extLst>
              <p:ext uri="{D42A27DB-BD31-4B8C-83A1-F6EECF244321}">
                <p14:modId xmlns:p14="http://schemas.microsoft.com/office/powerpoint/2010/main" val="1324038499"/>
              </p:ext>
            </p:extLst>
          </p:nvPr>
        </p:nvGraphicFramePr>
        <p:xfrm>
          <a:off x="919018" y="1690688"/>
          <a:ext cx="10353964" cy="4555724"/>
        </p:xfrm>
        <a:graphic>
          <a:graphicData uri="http://schemas.openxmlformats.org/drawingml/2006/table">
            <a:tbl>
              <a:tblPr>
                <a:noFill/>
              </a:tblPr>
              <a:tblGrid>
                <a:gridCol w="3946192">
                  <a:extLst>
                    <a:ext uri="{9D8B030D-6E8A-4147-A177-3AD203B41FA5}">
                      <a16:colId xmlns:a16="http://schemas.microsoft.com/office/drawing/2014/main" val="20000"/>
                    </a:ext>
                  </a:extLst>
                </a:gridCol>
                <a:gridCol w="6407772">
                  <a:extLst>
                    <a:ext uri="{9D8B030D-6E8A-4147-A177-3AD203B41FA5}">
                      <a16:colId xmlns:a16="http://schemas.microsoft.com/office/drawing/2014/main" val="20001"/>
                    </a:ext>
                  </a:extLst>
                </a:gridCol>
              </a:tblGrid>
              <a:tr h="911894">
                <a:tc>
                  <a:txBody>
                    <a:bodyPr/>
                    <a:lstStyle/>
                    <a:p>
                      <a:pPr marL="0" lvl="0" indent="0" algn="l" rtl="0">
                        <a:spcBef>
                          <a:spcPts val="0"/>
                        </a:spcBef>
                        <a:spcAft>
                          <a:spcPts val="0"/>
                        </a:spcAft>
                        <a:buNone/>
                      </a:pPr>
                      <a:r>
                        <a:rPr lang="en" sz="2400" b="1" dirty="0">
                          <a:solidFill>
                            <a:schemeClr val="lt1"/>
                          </a:solidFill>
                          <a:latin typeface="Georgia" panose="02040502050405020303" pitchFamily="18" charset="0"/>
                          <a:ea typeface="Fira Sans"/>
                          <a:cs typeface="Fira Sans"/>
                          <a:sym typeface="Fira Sans"/>
                        </a:rPr>
                        <a:t>Network Services</a:t>
                      </a:r>
                      <a:endParaRPr sz="2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 sz="1300" dirty="0">
                          <a:solidFill>
                            <a:srgbClr val="000000"/>
                          </a:solidFill>
                          <a:latin typeface="Georgia" panose="02040502050405020303" pitchFamily="18" charset="0"/>
                          <a:ea typeface="Fira Sans"/>
                          <a:cs typeface="Fira Sans"/>
                          <a:sym typeface="Fira Sans"/>
                        </a:rPr>
                        <a:t>User Reports regarding system unavailability</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300" dirty="0">
                          <a:solidFill>
                            <a:srgbClr val="000000"/>
                          </a:solidFill>
                          <a:latin typeface="Georgia" panose="02040502050405020303" pitchFamily="18" charset="0"/>
                          <a:sym typeface="Fira Sans"/>
                        </a:rPr>
                        <a:t>Undefined connection losses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300" dirty="0">
                          <a:solidFill>
                            <a:srgbClr val="000000"/>
                          </a:solidFill>
                          <a:latin typeface="Georgia" panose="02040502050405020303" pitchFamily="18" charset="0"/>
                          <a:sym typeface="Fira Sans"/>
                        </a:rPr>
                        <a:t>Alert from IPS/NIDS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300" dirty="0">
                          <a:solidFill>
                            <a:srgbClr val="000000"/>
                          </a:solidFill>
                          <a:latin typeface="Georgia" panose="02040502050405020303" pitchFamily="18" charset="0"/>
                          <a:sym typeface="Fira Sans"/>
                        </a:rPr>
                        <a:t>Increasing and abnormal bandwith network traffic</a:t>
                      </a:r>
                      <a:endParaRPr sz="13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911894">
                <a:tc>
                  <a:txBody>
                    <a:bodyPr/>
                    <a:lstStyle/>
                    <a:p>
                      <a:pPr marL="0" lvl="0" indent="0" algn="l" rtl="0">
                        <a:spcBef>
                          <a:spcPts val="0"/>
                        </a:spcBef>
                        <a:spcAft>
                          <a:spcPts val="0"/>
                        </a:spcAft>
                        <a:buNone/>
                      </a:pPr>
                      <a:r>
                        <a:rPr lang="en" sz="2400" b="1" dirty="0">
                          <a:solidFill>
                            <a:schemeClr val="lt1"/>
                          </a:solidFill>
                          <a:latin typeface="Georgia" panose="02040502050405020303" pitchFamily="18" charset="0"/>
                          <a:ea typeface="Fira Sans"/>
                          <a:cs typeface="Fira Sans"/>
                          <a:sym typeface="Fira Sans"/>
                        </a:rPr>
                        <a:t> Host</a:t>
                      </a:r>
                      <a:endParaRPr sz="2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3"/>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ea typeface="Fira Sans"/>
                          <a:cs typeface="Fira Sans"/>
                          <a:sym typeface="Fira Sans"/>
                        </a:rPr>
                        <a:t>User Reports regarding system unavailability</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Undefined connection losses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Alert from HIDS/HIPS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Increasing and abnormal </a:t>
                      </a:r>
                      <a:r>
                        <a:rPr lang="en-US" sz="1300" dirty="0" err="1">
                          <a:solidFill>
                            <a:srgbClr val="000000"/>
                          </a:solidFill>
                          <a:latin typeface="Georgia" panose="02040502050405020303" pitchFamily="18" charset="0"/>
                          <a:sym typeface="Fira Sans"/>
                        </a:rPr>
                        <a:t>bandwith</a:t>
                      </a:r>
                      <a:r>
                        <a:rPr lang="en-US" sz="1300" dirty="0">
                          <a:solidFill>
                            <a:srgbClr val="000000"/>
                          </a:solidFill>
                          <a:latin typeface="Georgia" panose="02040502050405020303" pitchFamily="18" charset="0"/>
                          <a:sym typeface="Fira Sans"/>
                        </a:rPr>
                        <a:t> network traffic</a:t>
                      </a:r>
                      <a:endParaRPr lang="en-US" sz="13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1260573">
                <a:tc>
                  <a:txBody>
                    <a:bodyPr/>
                    <a:lstStyle/>
                    <a:p>
                      <a:pPr marL="0" lvl="0" indent="0" algn="l" rtl="0">
                        <a:spcBef>
                          <a:spcPts val="0"/>
                        </a:spcBef>
                        <a:spcAft>
                          <a:spcPts val="0"/>
                        </a:spcAft>
                        <a:buNone/>
                      </a:pPr>
                      <a:r>
                        <a:rPr lang="en" sz="2400" b="1" dirty="0">
                          <a:solidFill>
                            <a:schemeClr val="lt1"/>
                          </a:solidFill>
                          <a:latin typeface="Georgia" panose="02040502050405020303" pitchFamily="18" charset="0"/>
                          <a:ea typeface="Fira Sans"/>
                          <a:cs typeface="Fira Sans"/>
                          <a:sym typeface="Fira Sans"/>
                        </a:rPr>
                        <a:t>Operating Systems</a:t>
                      </a:r>
                      <a:endParaRPr sz="2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4"/>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ea typeface="Fira Sans"/>
                          <a:cs typeface="Fira Sans"/>
                          <a:sym typeface="Fira Sans"/>
                        </a:rPr>
                        <a:t>User Reports regarding inaccessibility of a system and/ or an installed application</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Alert from IDS/IPS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Firewall Alerts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300" dirty="0">
                          <a:solidFill>
                            <a:srgbClr val="000000"/>
                          </a:solidFill>
                          <a:latin typeface="Georgia" panose="02040502050405020303" pitchFamily="18" charset="0"/>
                          <a:sym typeface="Fira Sans"/>
                        </a:rPr>
                        <a:t>Operating system-generated logs</a:t>
                      </a:r>
                    </a:p>
                    <a:p>
                      <a:pPr marL="171450" marR="0" lvl="0" indent="-171450" algn="just" rtl="0">
                        <a:spcBef>
                          <a:spcPts val="0"/>
                        </a:spcBef>
                        <a:spcAft>
                          <a:spcPts val="0"/>
                        </a:spcAft>
                        <a:buClr>
                          <a:srgbClr val="000000"/>
                        </a:buClr>
                        <a:buSzPts val="1100"/>
                        <a:buFont typeface="Arial" panose="020B0604020202020204" pitchFamily="34" charset="0"/>
                        <a:buChar char="•"/>
                      </a:pPr>
                      <a:endParaRPr lang="en-US" sz="13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1050644">
                <a:tc>
                  <a:txBody>
                    <a:bodyPr/>
                    <a:lstStyle/>
                    <a:p>
                      <a:pPr marL="0" lvl="0" indent="0" algn="l" rtl="0">
                        <a:spcBef>
                          <a:spcPts val="0"/>
                        </a:spcBef>
                        <a:spcAft>
                          <a:spcPts val="0"/>
                        </a:spcAft>
                        <a:buNone/>
                      </a:pPr>
                      <a:r>
                        <a:rPr lang="en" sz="2400" b="1" dirty="0">
                          <a:solidFill>
                            <a:schemeClr val="lt1"/>
                          </a:solidFill>
                          <a:latin typeface="Georgia" panose="02040502050405020303" pitchFamily="18" charset="0"/>
                          <a:ea typeface="Fira Sans"/>
                          <a:cs typeface="Fira Sans"/>
                          <a:sym typeface="Fira Sans"/>
                        </a:rPr>
                        <a:t>System Application</a:t>
                      </a:r>
                      <a:endParaRPr sz="2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5"/>
                    </a:solidFill>
                  </a:tcPr>
                </a:tc>
                <a:tc>
                  <a:txBody>
                    <a:bodyPr/>
                    <a:lstStyle/>
                    <a:p>
                      <a:pPr marL="171450" marR="0" lvl="0" indent="-171450" algn="just" rtl="0">
                        <a:spcBef>
                          <a:spcPts val="0"/>
                        </a:spcBef>
                        <a:spcAft>
                          <a:spcPts val="0"/>
                        </a:spcAft>
                        <a:buFont typeface="Arial" panose="020B0604020202020204" pitchFamily="34" charset="0"/>
                        <a:buChar char="•"/>
                      </a:pPr>
                      <a:r>
                        <a:rPr lang="en-US" sz="1300" dirty="0">
                          <a:latin typeface="Georgia" panose="02040502050405020303" pitchFamily="18" charset="0"/>
                          <a:ea typeface="Fira Sans"/>
                          <a:cs typeface="Fira Sans"/>
                          <a:sym typeface="Fira Sans"/>
                        </a:rPr>
                        <a:t>User reports of application unavailability</a:t>
                      </a:r>
                    </a:p>
                    <a:p>
                      <a:pPr marL="171450" marR="0" lvl="0" indent="-171450" algn="just" rtl="0">
                        <a:spcBef>
                          <a:spcPts val="0"/>
                        </a:spcBef>
                        <a:spcAft>
                          <a:spcPts val="0"/>
                        </a:spcAft>
                        <a:buFont typeface="Arial" panose="020B0604020202020204" pitchFamily="34" charset="0"/>
                        <a:buChar char="•"/>
                      </a:pPr>
                      <a:r>
                        <a:rPr lang="en-US" sz="1300" dirty="0">
                          <a:latin typeface="Georgia" panose="02040502050405020303" pitchFamily="18" charset="0"/>
                          <a:ea typeface="Fira Sans"/>
                          <a:cs typeface="Fira Sans"/>
                          <a:sym typeface="Fira Sans"/>
                        </a:rPr>
                        <a:t>Alert from IDS/IPS</a:t>
                      </a:r>
                    </a:p>
                    <a:p>
                      <a:pPr marL="171450" marR="0" lvl="0" indent="-171450" algn="just" rtl="0">
                        <a:spcBef>
                          <a:spcPts val="0"/>
                        </a:spcBef>
                        <a:spcAft>
                          <a:spcPts val="0"/>
                        </a:spcAft>
                        <a:buFont typeface="Arial" panose="020B0604020202020204" pitchFamily="34" charset="0"/>
                        <a:buChar char="•"/>
                      </a:pPr>
                      <a:r>
                        <a:rPr lang="en-US" sz="1300" dirty="0">
                          <a:latin typeface="Georgia" panose="02040502050405020303" pitchFamily="18" charset="0"/>
                          <a:ea typeface="Fira Sans"/>
                          <a:cs typeface="Fira Sans"/>
                          <a:sym typeface="Fira Sans"/>
                        </a:rPr>
                        <a:t>Unprecedented application log entries</a:t>
                      </a:r>
                    </a:p>
                    <a:p>
                      <a:pPr marL="171450" marR="0" lvl="0" indent="-171450" algn="just" rtl="0">
                        <a:spcBef>
                          <a:spcPts val="0"/>
                        </a:spcBef>
                        <a:spcAft>
                          <a:spcPts val="0"/>
                        </a:spcAft>
                        <a:buFont typeface="Arial" panose="020B0604020202020204" pitchFamily="34" charset="0"/>
                        <a:buChar char="•"/>
                      </a:pPr>
                      <a:r>
                        <a:rPr lang="en-US" sz="1300" dirty="0">
                          <a:latin typeface="Georgia" panose="02040502050405020303" pitchFamily="18" charset="0"/>
                          <a:ea typeface="Fira Sans"/>
                          <a:cs typeface="Fira Sans"/>
                          <a:sym typeface="Fira Sans"/>
                        </a:rPr>
                        <a:t>Data packets with abnormal source addresses   </a:t>
                      </a:r>
                      <a:endParaRPr sz="1300" dirty="0">
                        <a:latin typeface="Georgia" panose="02040502050405020303" pitchFamily="18" charset="0"/>
                        <a:ea typeface="Fira Sans"/>
                        <a:cs typeface="Fira Sans"/>
                        <a:sym typeface="Fira Sans"/>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304295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D2EF-F356-B9DA-7E4A-C519D795C334}"/>
              </a:ext>
            </a:extLst>
          </p:cNvPr>
          <p:cNvSpPr>
            <a:spLocks noGrp="1"/>
          </p:cNvSpPr>
          <p:nvPr>
            <p:ph type="title"/>
          </p:nvPr>
        </p:nvSpPr>
        <p:spPr/>
        <p:txBody>
          <a:bodyPr>
            <a:normAutofit/>
          </a:bodyPr>
          <a:lstStyle/>
          <a:p>
            <a:r>
              <a:rPr lang="en" dirty="0"/>
              <a:t>Detecting DoS/DDoS Attack</a:t>
            </a:r>
            <a:endParaRPr lang="en-ID" dirty="0"/>
          </a:p>
        </p:txBody>
      </p:sp>
      <p:sp>
        <p:nvSpPr>
          <p:cNvPr id="3" name="Content Placeholder 2">
            <a:extLst>
              <a:ext uri="{FF2B5EF4-FFF2-40B4-BE49-F238E27FC236}">
                <a16:creationId xmlns:a16="http://schemas.microsoft.com/office/drawing/2014/main" id="{576AFA50-1154-D2BD-6004-4DE36D2DCFAD}"/>
              </a:ext>
            </a:extLst>
          </p:cNvPr>
          <p:cNvSpPr>
            <a:spLocks noGrp="1"/>
          </p:cNvSpPr>
          <p:nvPr>
            <p:ph idx="1"/>
          </p:nvPr>
        </p:nvSpPr>
        <p:spPr/>
        <p:txBody>
          <a:bodyPr>
            <a:normAutofit fontScale="92500" lnSpcReduction="10000"/>
          </a:bodyPr>
          <a:lstStyle/>
          <a:p>
            <a:pPr marL="380990" indent="-380990" fontAlgn="base"/>
            <a:r>
              <a:rPr lang="en-ID" dirty="0"/>
              <a:t>Poll-Based Monitoring and Detection : </a:t>
            </a:r>
            <a:r>
              <a:rPr lang="en-US" dirty="0"/>
              <a:t>examine the current reporting capabilities of the hardware and software in your infrastructure</a:t>
            </a:r>
          </a:p>
          <a:p>
            <a:pPr marL="380990" indent="-380990" fontAlgn="base"/>
            <a:r>
              <a:rPr lang="en-ID" dirty="0"/>
              <a:t>Flow-Based Network Parameter Detections :  </a:t>
            </a:r>
            <a:r>
              <a:rPr lang="en-US" dirty="0"/>
              <a:t>a flow-based network detection is push-based. the device information is collected on the device itself and pushed to the collector.</a:t>
            </a:r>
          </a:p>
          <a:p>
            <a:pPr marL="380990" indent="-380990" fontAlgn="base"/>
            <a:r>
              <a:rPr lang="en-US" dirty="0"/>
              <a:t>Network Mirrors and Deep Packet Inspection : In order to detect the specifics of the attack, we need to actually look at the contents of the packets instead of relying on just the header. This is typically done by placing a network mirror that identify a source port on a network device, makes a copy of the transmitted packet, and transmits out of the mirror port.</a:t>
            </a:r>
          </a:p>
        </p:txBody>
      </p:sp>
    </p:spTree>
    <p:extLst>
      <p:ext uri="{BB962C8B-B14F-4D97-AF65-F5344CB8AC3E}">
        <p14:creationId xmlns:p14="http://schemas.microsoft.com/office/powerpoint/2010/main" val="30715761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FA4E6-72F2-FDF7-687D-B327F46B4342}"/>
              </a:ext>
            </a:extLst>
          </p:cNvPr>
          <p:cNvSpPr>
            <a:spLocks noGrp="1"/>
          </p:cNvSpPr>
          <p:nvPr>
            <p:ph type="title"/>
          </p:nvPr>
        </p:nvSpPr>
        <p:spPr/>
        <p:txBody>
          <a:bodyPr>
            <a:normAutofit/>
          </a:bodyPr>
          <a:lstStyle/>
          <a:p>
            <a:r>
              <a:rPr lang="en" dirty="0"/>
              <a:t>Preparing For a DoS/DDoS attack and </a:t>
            </a:r>
            <a:br>
              <a:rPr lang="en" dirty="0"/>
            </a:br>
            <a:r>
              <a:rPr lang="en" dirty="0"/>
              <a:t>How to Handle It</a:t>
            </a:r>
            <a:endParaRPr lang="en-ID" dirty="0"/>
          </a:p>
        </p:txBody>
      </p:sp>
      <p:sp>
        <p:nvSpPr>
          <p:cNvPr id="3" name="Content Placeholder 2">
            <a:extLst>
              <a:ext uri="{FF2B5EF4-FFF2-40B4-BE49-F238E27FC236}">
                <a16:creationId xmlns:a16="http://schemas.microsoft.com/office/drawing/2014/main" id="{416E9BA1-39AF-C25E-47E0-7D15AA0FB9C2}"/>
              </a:ext>
            </a:extLst>
          </p:cNvPr>
          <p:cNvSpPr>
            <a:spLocks noGrp="1"/>
          </p:cNvSpPr>
          <p:nvPr>
            <p:ph idx="1"/>
          </p:nvPr>
        </p:nvSpPr>
        <p:spPr/>
        <p:txBody>
          <a:bodyPr/>
          <a:lstStyle/>
          <a:p>
            <a:endParaRPr lang="en-ID" dirty="0"/>
          </a:p>
        </p:txBody>
      </p:sp>
      <p:sp>
        <p:nvSpPr>
          <p:cNvPr id="4" name="Google Shape;882;p23">
            <a:extLst>
              <a:ext uri="{FF2B5EF4-FFF2-40B4-BE49-F238E27FC236}">
                <a16:creationId xmlns:a16="http://schemas.microsoft.com/office/drawing/2014/main" id="{0492FDDA-E424-94EE-2382-D30EE9780CF2}"/>
              </a:ext>
            </a:extLst>
          </p:cNvPr>
          <p:cNvSpPr/>
          <p:nvPr/>
        </p:nvSpPr>
        <p:spPr>
          <a:xfrm>
            <a:off x="9569451" y="2209850"/>
            <a:ext cx="1874671" cy="2084184"/>
          </a:xfrm>
          <a:custGeom>
            <a:avLst/>
            <a:gdLst/>
            <a:ahLst/>
            <a:cxnLst/>
            <a:rect l="l" t="t" r="r" b="b"/>
            <a:pathLst>
              <a:path w="42077" h="48019" extrusionOk="0">
                <a:moveTo>
                  <a:pt x="1393" y="0"/>
                </a:moveTo>
                <a:cubicBezTo>
                  <a:pt x="619" y="0"/>
                  <a:pt x="0" y="620"/>
                  <a:pt x="0" y="1382"/>
                </a:cubicBezTo>
                <a:lnTo>
                  <a:pt x="0" y="46637"/>
                </a:lnTo>
                <a:cubicBezTo>
                  <a:pt x="0" y="47399"/>
                  <a:pt x="619" y="48018"/>
                  <a:pt x="1393" y="48018"/>
                </a:cubicBezTo>
                <a:lnTo>
                  <a:pt x="40696" y="48018"/>
                </a:lnTo>
                <a:cubicBezTo>
                  <a:pt x="41458" y="48018"/>
                  <a:pt x="42077" y="47399"/>
                  <a:pt x="42077" y="46637"/>
                </a:cubicBezTo>
                <a:lnTo>
                  <a:pt x="42077" y="1382"/>
                </a:lnTo>
                <a:cubicBezTo>
                  <a:pt x="42077" y="620"/>
                  <a:pt x="41458" y="0"/>
                  <a:pt x="40696" y="0"/>
                </a:cubicBezTo>
                <a:close/>
              </a:path>
            </a:pathLst>
          </a:custGeom>
          <a:solidFill>
            <a:schemeClr val="dk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5" name="Google Shape;883;p23">
            <a:extLst>
              <a:ext uri="{FF2B5EF4-FFF2-40B4-BE49-F238E27FC236}">
                <a16:creationId xmlns:a16="http://schemas.microsoft.com/office/drawing/2014/main" id="{E876EF29-61A5-D3EC-2CCB-E1ABCAFE64F1}"/>
              </a:ext>
            </a:extLst>
          </p:cNvPr>
          <p:cNvSpPr/>
          <p:nvPr/>
        </p:nvSpPr>
        <p:spPr>
          <a:xfrm>
            <a:off x="10155054" y="1546615"/>
            <a:ext cx="703987" cy="703987"/>
          </a:xfrm>
          <a:custGeom>
            <a:avLst/>
            <a:gdLst/>
            <a:ahLst/>
            <a:cxnLst/>
            <a:rect l="l" t="t" r="r" b="b"/>
            <a:pathLst>
              <a:path w="15801" h="15801" extrusionOk="0">
                <a:moveTo>
                  <a:pt x="7894" y="1"/>
                </a:moveTo>
                <a:cubicBezTo>
                  <a:pt x="3537" y="1"/>
                  <a:pt x="1" y="3537"/>
                  <a:pt x="1" y="7895"/>
                </a:cubicBezTo>
                <a:cubicBezTo>
                  <a:pt x="1" y="12252"/>
                  <a:pt x="3537" y="15800"/>
                  <a:pt x="7894" y="15800"/>
                </a:cubicBezTo>
                <a:cubicBezTo>
                  <a:pt x="12264" y="15800"/>
                  <a:pt x="15800" y="12252"/>
                  <a:pt x="15800" y="7895"/>
                </a:cubicBezTo>
                <a:cubicBezTo>
                  <a:pt x="15800" y="3537"/>
                  <a:pt x="12264" y="1"/>
                  <a:pt x="7894" y="1"/>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6" name="Google Shape;884;p23">
            <a:extLst>
              <a:ext uri="{FF2B5EF4-FFF2-40B4-BE49-F238E27FC236}">
                <a16:creationId xmlns:a16="http://schemas.microsoft.com/office/drawing/2014/main" id="{F3F9FFC9-0922-6945-6225-773922D77F1F}"/>
              </a:ext>
            </a:extLst>
          </p:cNvPr>
          <p:cNvSpPr/>
          <p:nvPr/>
        </p:nvSpPr>
        <p:spPr>
          <a:xfrm>
            <a:off x="10185842" y="1600302"/>
            <a:ext cx="619068" cy="596168"/>
          </a:xfrm>
          <a:custGeom>
            <a:avLst/>
            <a:gdLst/>
            <a:ahLst/>
            <a:cxnLst/>
            <a:rect l="l" t="t" r="r" b="b"/>
            <a:pathLst>
              <a:path w="13895" h="13381" extrusionOk="0">
                <a:moveTo>
                  <a:pt x="7215" y="0"/>
                </a:moveTo>
                <a:cubicBezTo>
                  <a:pt x="5472" y="0"/>
                  <a:pt x="3759" y="681"/>
                  <a:pt x="2477" y="1963"/>
                </a:cubicBezTo>
                <a:cubicBezTo>
                  <a:pt x="572" y="3868"/>
                  <a:pt x="0" y="6749"/>
                  <a:pt x="1024" y="9249"/>
                </a:cubicBezTo>
                <a:cubicBezTo>
                  <a:pt x="2060" y="11750"/>
                  <a:pt x="4501" y="13381"/>
                  <a:pt x="7203" y="13381"/>
                </a:cubicBezTo>
                <a:cubicBezTo>
                  <a:pt x="10894" y="13369"/>
                  <a:pt x="13895" y="10380"/>
                  <a:pt x="13895" y="6690"/>
                </a:cubicBezTo>
                <a:cubicBezTo>
                  <a:pt x="13895" y="3987"/>
                  <a:pt x="12264" y="1546"/>
                  <a:pt x="9775" y="510"/>
                </a:cubicBezTo>
                <a:cubicBezTo>
                  <a:pt x="8947" y="167"/>
                  <a:pt x="8077" y="0"/>
                  <a:pt x="7215" y="0"/>
                </a:cubicBezTo>
                <a:close/>
              </a:path>
            </a:pathLst>
          </a:custGeom>
          <a:solidFill>
            <a:srgbClr val="FFFFFF"/>
          </a:solidFill>
          <a:ln>
            <a:noFill/>
          </a:ln>
        </p:spPr>
        <p:txBody>
          <a:bodyPr spcFirstLastPara="1" wrap="square" lIns="121900" tIns="121900" rIns="121900" bIns="121900" anchor="ctr" anchorCtr="0">
            <a:noAutofit/>
          </a:bodyPr>
          <a:lstStyle/>
          <a:p>
            <a:pPr algn="ctr"/>
            <a:r>
              <a:rPr lang="en" b="1" dirty="0">
                <a:latin typeface="Georgia" panose="02040502050405020303" pitchFamily="18" charset="0"/>
                <a:ea typeface="Fira Sans"/>
                <a:cs typeface="Fira Sans"/>
                <a:sym typeface="Fira Sans"/>
              </a:rPr>
              <a:t>04</a:t>
            </a:r>
            <a:endParaRPr b="1" dirty="0">
              <a:latin typeface="Georgia" panose="02040502050405020303" pitchFamily="18" charset="0"/>
              <a:ea typeface="Fira Sans"/>
              <a:cs typeface="Fira Sans"/>
              <a:sym typeface="Fira Sans"/>
            </a:endParaRPr>
          </a:p>
        </p:txBody>
      </p:sp>
      <p:sp>
        <p:nvSpPr>
          <p:cNvPr id="7" name="Google Shape;885;p23">
            <a:extLst>
              <a:ext uri="{FF2B5EF4-FFF2-40B4-BE49-F238E27FC236}">
                <a16:creationId xmlns:a16="http://schemas.microsoft.com/office/drawing/2014/main" id="{1BAE96BE-0E52-4091-3EB5-0A717ED884F0}"/>
              </a:ext>
            </a:extLst>
          </p:cNvPr>
          <p:cNvSpPr/>
          <p:nvPr/>
        </p:nvSpPr>
        <p:spPr>
          <a:xfrm>
            <a:off x="3694068" y="1794378"/>
            <a:ext cx="1874715" cy="2084184"/>
          </a:xfrm>
          <a:custGeom>
            <a:avLst/>
            <a:gdLst/>
            <a:ahLst/>
            <a:cxnLst/>
            <a:rect l="l" t="t" r="r" b="b"/>
            <a:pathLst>
              <a:path w="42078" h="48019" extrusionOk="0">
                <a:moveTo>
                  <a:pt x="1263" y="0"/>
                </a:moveTo>
                <a:cubicBezTo>
                  <a:pt x="560" y="0"/>
                  <a:pt x="1" y="560"/>
                  <a:pt x="1" y="1262"/>
                </a:cubicBezTo>
                <a:lnTo>
                  <a:pt x="1" y="46756"/>
                </a:lnTo>
                <a:cubicBezTo>
                  <a:pt x="1" y="47459"/>
                  <a:pt x="560" y="48018"/>
                  <a:pt x="1263" y="48018"/>
                </a:cubicBezTo>
                <a:lnTo>
                  <a:pt x="40803" y="48018"/>
                </a:lnTo>
                <a:cubicBezTo>
                  <a:pt x="41506" y="48018"/>
                  <a:pt x="42077" y="47459"/>
                  <a:pt x="42077" y="46756"/>
                </a:cubicBezTo>
                <a:lnTo>
                  <a:pt x="42077" y="1262"/>
                </a:lnTo>
                <a:cubicBezTo>
                  <a:pt x="42077" y="560"/>
                  <a:pt x="41506" y="0"/>
                  <a:pt x="40803" y="0"/>
                </a:cubicBezTo>
                <a:close/>
              </a:path>
            </a:pathLst>
          </a:custGeom>
          <a:solidFill>
            <a:schemeClr val="dk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8" name="Google Shape;886;p23">
            <a:extLst>
              <a:ext uri="{FF2B5EF4-FFF2-40B4-BE49-F238E27FC236}">
                <a16:creationId xmlns:a16="http://schemas.microsoft.com/office/drawing/2014/main" id="{5E045E1A-AFD3-3605-BDCC-0DF7B30444F0}"/>
              </a:ext>
            </a:extLst>
          </p:cNvPr>
          <p:cNvSpPr/>
          <p:nvPr/>
        </p:nvSpPr>
        <p:spPr>
          <a:xfrm>
            <a:off x="4279195" y="1133817"/>
            <a:ext cx="703943" cy="703943"/>
          </a:xfrm>
          <a:custGeom>
            <a:avLst/>
            <a:gdLst/>
            <a:ahLst/>
            <a:cxnLst/>
            <a:rect l="l" t="t" r="r" b="b"/>
            <a:pathLst>
              <a:path w="15800" h="15800" extrusionOk="0">
                <a:moveTo>
                  <a:pt x="7906" y="0"/>
                </a:moveTo>
                <a:cubicBezTo>
                  <a:pt x="3536" y="0"/>
                  <a:pt x="0" y="3536"/>
                  <a:pt x="0" y="7906"/>
                </a:cubicBezTo>
                <a:cubicBezTo>
                  <a:pt x="0" y="12264"/>
                  <a:pt x="3536" y="15800"/>
                  <a:pt x="7906" y="15800"/>
                </a:cubicBezTo>
                <a:cubicBezTo>
                  <a:pt x="12264" y="15800"/>
                  <a:pt x="15800" y="12264"/>
                  <a:pt x="15800" y="7906"/>
                </a:cubicBezTo>
                <a:cubicBezTo>
                  <a:pt x="15800" y="3536"/>
                  <a:pt x="12264" y="0"/>
                  <a:pt x="7906" y="0"/>
                </a:cubicBezTo>
                <a:close/>
              </a:path>
            </a:pathLst>
          </a:custGeom>
          <a:solidFill>
            <a:schemeClr val="accent3"/>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9" name="Google Shape;887;p23">
            <a:extLst>
              <a:ext uri="{FF2B5EF4-FFF2-40B4-BE49-F238E27FC236}">
                <a16:creationId xmlns:a16="http://schemas.microsoft.com/office/drawing/2014/main" id="{D67674BB-996C-E242-0919-572073244125}"/>
              </a:ext>
            </a:extLst>
          </p:cNvPr>
          <p:cNvSpPr/>
          <p:nvPr/>
        </p:nvSpPr>
        <p:spPr>
          <a:xfrm>
            <a:off x="4309937" y="1187994"/>
            <a:ext cx="619648" cy="595679"/>
          </a:xfrm>
          <a:custGeom>
            <a:avLst/>
            <a:gdLst/>
            <a:ahLst/>
            <a:cxnLst/>
            <a:rect l="l" t="t" r="r" b="b"/>
            <a:pathLst>
              <a:path w="13908" h="13370" extrusionOk="0">
                <a:moveTo>
                  <a:pt x="7212" y="0"/>
                </a:moveTo>
                <a:cubicBezTo>
                  <a:pt x="5472" y="0"/>
                  <a:pt x="3763" y="678"/>
                  <a:pt x="2489" y="1951"/>
                </a:cubicBezTo>
                <a:cubicBezTo>
                  <a:pt x="572" y="3868"/>
                  <a:pt x="1" y="6749"/>
                  <a:pt x="1037" y="9250"/>
                </a:cubicBezTo>
                <a:cubicBezTo>
                  <a:pt x="2073" y="11738"/>
                  <a:pt x="4513" y="13369"/>
                  <a:pt x="7216" y="13369"/>
                </a:cubicBezTo>
                <a:cubicBezTo>
                  <a:pt x="10907" y="13369"/>
                  <a:pt x="13895" y="10381"/>
                  <a:pt x="13907" y="6690"/>
                </a:cubicBezTo>
                <a:cubicBezTo>
                  <a:pt x="13907" y="3975"/>
                  <a:pt x="12276" y="1546"/>
                  <a:pt x="9776" y="511"/>
                </a:cubicBezTo>
                <a:cubicBezTo>
                  <a:pt x="8947" y="167"/>
                  <a:pt x="8076" y="0"/>
                  <a:pt x="7212" y="0"/>
                </a:cubicBezTo>
                <a:close/>
              </a:path>
            </a:pathLst>
          </a:custGeom>
          <a:solidFill>
            <a:srgbClr val="FFFFFF"/>
          </a:solidFill>
          <a:ln>
            <a:noFill/>
          </a:ln>
        </p:spPr>
        <p:txBody>
          <a:bodyPr spcFirstLastPara="1" wrap="square" lIns="121900" tIns="121900" rIns="121900" bIns="121900" anchor="ctr" anchorCtr="0">
            <a:noAutofit/>
          </a:bodyPr>
          <a:lstStyle/>
          <a:p>
            <a:pPr algn="ctr">
              <a:buClr>
                <a:schemeClr val="dk1"/>
              </a:buClr>
              <a:buSzPts val="1100"/>
            </a:pPr>
            <a:r>
              <a:rPr lang="en" b="1">
                <a:solidFill>
                  <a:schemeClr val="dk1"/>
                </a:solidFill>
                <a:latin typeface="Georgia" panose="02040502050405020303" pitchFamily="18" charset="0"/>
                <a:ea typeface="Fira Sans"/>
                <a:cs typeface="Fira Sans"/>
                <a:sym typeface="Fira Sans"/>
              </a:rPr>
              <a:t>02</a:t>
            </a:r>
            <a:endParaRPr>
              <a:latin typeface="Georgia" panose="02040502050405020303" pitchFamily="18" charset="0"/>
            </a:endParaRPr>
          </a:p>
        </p:txBody>
      </p:sp>
      <p:sp>
        <p:nvSpPr>
          <p:cNvPr id="10" name="Google Shape;933;p23">
            <a:extLst>
              <a:ext uri="{FF2B5EF4-FFF2-40B4-BE49-F238E27FC236}">
                <a16:creationId xmlns:a16="http://schemas.microsoft.com/office/drawing/2014/main" id="{58A76388-15E2-3927-398A-1EFF34D5FEE1}"/>
              </a:ext>
            </a:extLst>
          </p:cNvPr>
          <p:cNvSpPr/>
          <p:nvPr/>
        </p:nvSpPr>
        <p:spPr>
          <a:xfrm>
            <a:off x="798597" y="2195397"/>
            <a:ext cx="1874671" cy="2098637"/>
          </a:xfrm>
          <a:custGeom>
            <a:avLst/>
            <a:gdLst/>
            <a:ahLst/>
            <a:cxnLst/>
            <a:rect l="l" t="t" r="r" b="b"/>
            <a:pathLst>
              <a:path w="42077" h="48352" extrusionOk="0">
                <a:moveTo>
                  <a:pt x="1619" y="0"/>
                </a:moveTo>
                <a:cubicBezTo>
                  <a:pt x="714" y="0"/>
                  <a:pt x="0" y="714"/>
                  <a:pt x="0" y="1607"/>
                </a:cubicBezTo>
                <a:lnTo>
                  <a:pt x="0" y="46744"/>
                </a:lnTo>
                <a:cubicBezTo>
                  <a:pt x="0" y="47637"/>
                  <a:pt x="714" y="48351"/>
                  <a:pt x="1619" y="48351"/>
                </a:cubicBezTo>
                <a:lnTo>
                  <a:pt x="40458" y="48351"/>
                </a:lnTo>
                <a:cubicBezTo>
                  <a:pt x="41350" y="48351"/>
                  <a:pt x="42077" y="47637"/>
                  <a:pt x="42077" y="46744"/>
                </a:cubicBezTo>
                <a:lnTo>
                  <a:pt x="42077" y="1607"/>
                </a:lnTo>
                <a:cubicBezTo>
                  <a:pt x="42077" y="714"/>
                  <a:pt x="41350" y="0"/>
                  <a:pt x="40458" y="0"/>
                </a:cubicBezTo>
                <a:close/>
              </a:path>
            </a:pathLst>
          </a:custGeom>
          <a:solidFill>
            <a:schemeClr val="dk2"/>
          </a:solidFill>
          <a:ln>
            <a:noFill/>
          </a:ln>
        </p:spPr>
        <p:txBody>
          <a:bodyPr spcFirstLastPara="1" wrap="square" lIns="121900" tIns="121900" rIns="121900" bIns="121900" anchor="ctr" anchorCtr="0">
            <a:noAutofit/>
          </a:bodyPr>
          <a:lstStyle/>
          <a:p>
            <a:endParaRPr sz="2400" dirty="0">
              <a:latin typeface="Georgia" panose="02040502050405020303" pitchFamily="18" charset="0"/>
            </a:endParaRPr>
          </a:p>
        </p:txBody>
      </p:sp>
      <p:sp>
        <p:nvSpPr>
          <p:cNvPr id="11" name="Google Shape;934;p23">
            <a:extLst>
              <a:ext uri="{FF2B5EF4-FFF2-40B4-BE49-F238E27FC236}">
                <a16:creationId xmlns:a16="http://schemas.microsoft.com/office/drawing/2014/main" id="{3F54708B-F51F-4F4E-1D3A-1FAF4C20788E}"/>
              </a:ext>
            </a:extLst>
          </p:cNvPr>
          <p:cNvSpPr/>
          <p:nvPr/>
        </p:nvSpPr>
        <p:spPr>
          <a:xfrm>
            <a:off x="1383687" y="1548220"/>
            <a:ext cx="703987" cy="703943"/>
          </a:xfrm>
          <a:custGeom>
            <a:avLst/>
            <a:gdLst/>
            <a:ahLst/>
            <a:cxnLst/>
            <a:rect l="l" t="t" r="r" b="b"/>
            <a:pathLst>
              <a:path w="15801" h="15800" extrusionOk="0">
                <a:moveTo>
                  <a:pt x="7906" y="0"/>
                </a:moveTo>
                <a:cubicBezTo>
                  <a:pt x="3537" y="0"/>
                  <a:pt x="1" y="3537"/>
                  <a:pt x="1" y="7894"/>
                </a:cubicBezTo>
                <a:cubicBezTo>
                  <a:pt x="1" y="12264"/>
                  <a:pt x="3537" y="15800"/>
                  <a:pt x="7906" y="15800"/>
                </a:cubicBezTo>
                <a:cubicBezTo>
                  <a:pt x="12264" y="15800"/>
                  <a:pt x="15800" y="12264"/>
                  <a:pt x="15800" y="7894"/>
                </a:cubicBezTo>
                <a:cubicBezTo>
                  <a:pt x="15800" y="3537"/>
                  <a:pt x="12264" y="0"/>
                  <a:pt x="7906" y="0"/>
                </a:cubicBezTo>
                <a:close/>
              </a:path>
            </a:pathLst>
          </a:custGeom>
          <a:solidFill>
            <a:schemeClr val="accent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2" name="Google Shape;935;p23">
            <a:extLst>
              <a:ext uri="{FF2B5EF4-FFF2-40B4-BE49-F238E27FC236}">
                <a16:creationId xmlns:a16="http://schemas.microsoft.com/office/drawing/2014/main" id="{DF4BC359-7F98-CDD0-7240-751A664F04B1}"/>
              </a:ext>
            </a:extLst>
          </p:cNvPr>
          <p:cNvSpPr/>
          <p:nvPr/>
        </p:nvSpPr>
        <p:spPr>
          <a:xfrm>
            <a:off x="1414473" y="1601906"/>
            <a:ext cx="619603" cy="596168"/>
          </a:xfrm>
          <a:custGeom>
            <a:avLst/>
            <a:gdLst/>
            <a:ahLst/>
            <a:cxnLst/>
            <a:rect l="l" t="t" r="r" b="b"/>
            <a:pathLst>
              <a:path w="13907" h="13381" extrusionOk="0">
                <a:moveTo>
                  <a:pt x="7218" y="0"/>
                </a:moveTo>
                <a:cubicBezTo>
                  <a:pt x="5479" y="0"/>
                  <a:pt x="3771" y="680"/>
                  <a:pt x="2489" y="1962"/>
                </a:cubicBezTo>
                <a:cubicBezTo>
                  <a:pt x="572" y="3879"/>
                  <a:pt x="0" y="6749"/>
                  <a:pt x="1036" y="9249"/>
                </a:cubicBezTo>
                <a:cubicBezTo>
                  <a:pt x="2072" y="11749"/>
                  <a:pt x="4513" y="13381"/>
                  <a:pt x="7215" y="13381"/>
                </a:cubicBezTo>
                <a:cubicBezTo>
                  <a:pt x="10906" y="13381"/>
                  <a:pt x="13895" y="10380"/>
                  <a:pt x="13907" y="6689"/>
                </a:cubicBezTo>
                <a:cubicBezTo>
                  <a:pt x="13907" y="3987"/>
                  <a:pt x="12276" y="1546"/>
                  <a:pt x="9775" y="510"/>
                </a:cubicBezTo>
                <a:cubicBezTo>
                  <a:pt x="8947" y="167"/>
                  <a:pt x="8079" y="0"/>
                  <a:pt x="7218" y="0"/>
                </a:cubicBezTo>
                <a:close/>
              </a:path>
            </a:pathLst>
          </a:custGeom>
          <a:solidFill>
            <a:srgbClr val="FFFFFF"/>
          </a:solidFill>
          <a:ln>
            <a:noFill/>
          </a:ln>
        </p:spPr>
        <p:txBody>
          <a:bodyPr spcFirstLastPara="1" wrap="square" lIns="121900" tIns="121900" rIns="121900" bIns="121900" anchor="ctr" anchorCtr="0">
            <a:noAutofit/>
          </a:bodyPr>
          <a:lstStyle/>
          <a:p>
            <a:pPr algn="ctr">
              <a:buClr>
                <a:schemeClr val="dk1"/>
              </a:buClr>
              <a:buSzPts val="1100"/>
            </a:pPr>
            <a:r>
              <a:rPr lang="en" b="1" dirty="0">
                <a:solidFill>
                  <a:schemeClr val="dk1"/>
                </a:solidFill>
                <a:latin typeface="Georgia" panose="02040502050405020303" pitchFamily="18" charset="0"/>
                <a:ea typeface="Fira Sans"/>
                <a:cs typeface="Fira Sans"/>
                <a:sym typeface="Fira Sans"/>
              </a:rPr>
              <a:t>01</a:t>
            </a:r>
            <a:endParaRPr dirty="0">
              <a:latin typeface="Georgia" panose="02040502050405020303" pitchFamily="18" charset="0"/>
            </a:endParaRPr>
          </a:p>
        </p:txBody>
      </p:sp>
      <p:sp>
        <p:nvSpPr>
          <p:cNvPr id="13" name="Google Shape;936;p23">
            <a:extLst>
              <a:ext uri="{FF2B5EF4-FFF2-40B4-BE49-F238E27FC236}">
                <a16:creationId xmlns:a16="http://schemas.microsoft.com/office/drawing/2014/main" id="{5A698375-4A7A-A753-F482-557F6C72EF98}"/>
              </a:ext>
            </a:extLst>
          </p:cNvPr>
          <p:cNvSpPr/>
          <p:nvPr/>
        </p:nvSpPr>
        <p:spPr>
          <a:xfrm>
            <a:off x="6701143" y="1786609"/>
            <a:ext cx="1874715" cy="2091953"/>
          </a:xfrm>
          <a:custGeom>
            <a:avLst/>
            <a:gdLst/>
            <a:ahLst/>
            <a:cxnLst/>
            <a:rect l="l" t="t" r="r" b="b"/>
            <a:pathLst>
              <a:path w="42078" h="48198" extrusionOk="0">
                <a:moveTo>
                  <a:pt x="1382" y="1"/>
                </a:moveTo>
                <a:cubicBezTo>
                  <a:pt x="608" y="1"/>
                  <a:pt x="0" y="620"/>
                  <a:pt x="0" y="1382"/>
                </a:cubicBezTo>
                <a:lnTo>
                  <a:pt x="0" y="46828"/>
                </a:lnTo>
                <a:cubicBezTo>
                  <a:pt x="0" y="47590"/>
                  <a:pt x="608" y="48197"/>
                  <a:pt x="1382" y="48197"/>
                </a:cubicBezTo>
                <a:lnTo>
                  <a:pt x="40696" y="48197"/>
                </a:lnTo>
                <a:cubicBezTo>
                  <a:pt x="41458" y="48197"/>
                  <a:pt x="42077" y="47590"/>
                  <a:pt x="42077" y="46828"/>
                </a:cubicBezTo>
                <a:lnTo>
                  <a:pt x="42077" y="1382"/>
                </a:lnTo>
                <a:cubicBezTo>
                  <a:pt x="42077" y="620"/>
                  <a:pt x="41458" y="1"/>
                  <a:pt x="40696" y="1"/>
                </a:cubicBezTo>
                <a:close/>
              </a:path>
            </a:pathLst>
          </a:custGeom>
          <a:solidFill>
            <a:schemeClr val="dk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4" name="Google Shape;937;p23">
            <a:extLst>
              <a:ext uri="{FF2B5EF4-FFF2-40B4-BE49-F238E27FC236}">
                <a16:creationId xmlns:a16="http://schemas.microsoft.com/office/drawing/2014/main" id="{68DCD919-E44C-9184-38CB-B558B9D7C5EF}"/>
              </a:ext>
            </a:extLst>
          </p:cNvPr>
          <p:cNvSpPr/>
          <p:nvPr/>
        </p:nvSpPr>
        <p:spPr>
          <a:xfrm>
            <a:off x="7286220" y="1133817"/>
            <a:ext cx="703987" cy="703943"/>
          </a:xfrm>
          <a:custGeom>
            <a:avLst/>
            <a:gdLst/>
            <a:ahLst/>
            <a:cxnLst/>
            <a:rect l="l" t="t" r="r" b="b"/>
            <a:pathLst>
              <a:path w="15801" h="15800" extrusionOk="0">
                <a:moveTo>
                  <a:pt x="7895" y="0"/>
                </a:moveTo>
                <a:cubicBezTo>
                  <a:pt x="3537" y="0"/>
                  <a:pt x="1" y="3536"/>
                  <a:pt x="1" y="7906"/>
                </a:cubicBezTo>
                <a:cubicBezTo>
                  <a:pt x="1" y="12264"/>
                  <a:pt x="3537" y="15800"/>
                  <a:pt x="7895" y="15800"/>
                </a:cubicBezTo>
                <a:cubicBezTo>
                  <a:pt x="12264" y="15800"/>
                  <a:pt x="15801" y="12264"/>
                  <a:pt x="15801" y="7906"/>
                </a:cubicBezTo>
                <a:cubicBezTo>
                  <a:pt x="15801" y="3536"/>
                  <a:pt x="12264" y="0"/>
                  <a:pt x="7895" y="0"/>
                </a:cubicBezTo>
                <a:close/>
              </a:path>
            </a:pathLst>
          </a:custGeom>
          <a:solidFill>
            <a:schemeClr val="accent4"/>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15" name="Google Shape;938;p23">
            <a:extLst>
              <a:ext uri="{FF2B5EF4-FFF2-40B4-BE49-F238E27FC236}">
                <a16:creationId xmlns:a16="http://schemas.microsoft.com/office/drawing/2014/main" id="{5DD46EC4-9F1B-6D2E-37AF-E0884D309312}"/>
              </a:ext>
            </a:extLst>
          </p:cNvPr>
          <p:cNvSpPr/>
          <p:nvPr/>
        </p:nvSpPr>
        <p:spPr>
          <a:xfrm>
            <a:off x="7317008" y="1187994"/>
            <a:ext cx="619113" cy="595679"/>
          </a:xfrm>
          <a:custGeom>
            <a:avLst/>
            <a:gdLst/>
            <a:ahLst/>
            <a:cxnLst/>
            <a:rect l="l" t="t" r="r" b="b"/>
            <a:pathLst>
              <a:path w="13896" h="13370" extrusionOk="0">
                <a:moveTo>
                  <a:pt x="7212" y="0"/>
                </a:moveTo>
                <a:cubicBezTo>
                  <a:pt x="5470" y="0"/>
                  <a:pt x="3758" y="678"/>
                  <a:pt x="2477" y="1951"/>
                </a:cubicBezTo>
                <a:cubicBezTo>
                  <a:pt x="572" y="3868"/>
                  <a:pt x="1" y="6749"/>
                  <a:pt x="1036" y="9250"/>
                </a:cubicBezTo>
                <a:cubicBezTo>
                  <a:pt x="2072" y="11738"/>
                  <a:pt x="4501" y="13369"/>
                  <a:pt x="7204" y="13369"/>
                </a:cubicBezTo>
                <a:cubicBezTo>
                  <a:pt x="10907" y="13369"/>
                  <a:pt x="13895" y="10381"/>
                  <a:pt x="13895" y="6690"/>
                </a:cubicBezTo>
                <a:cubicBezTo>
                  <a:pt x="13895" y="3975"/>
                  <a:pt x="12276" y="1546"/>
                  <a:pt x="9776" y="511"/>
                </a:cubicBezTo>
                <a:cubicBezTo>
                  <a:pt x="8946" y="167"/>
                  <a:pt x="8076" y="0"/>
                  <a:pt x="7212" y="0"/>
                </a:cubicBezTo>
                <a:close/>
              </a:path>
            </a:pathLst>
          </a:custGeom>
          <a:solidFill>
            <a:srgbClr val="FFFFFF"/>
          </a:solidFill>
          <a:ln>
            <a:noFill/>
          </a:ln>
        </p:spPr>
        <p:txBody>
          <a:bodyPr spcFirstLastPara="1" wrap="square" lIns="121900" tIns="121900" rIns="121900" bIns="121900" anchor="ctr" anchorCtr="0">
            <a:noAutofit/>
          </a:bodyPr>
          <a:lstStyle/>
          <a:p>
            <a:pPr algn="ctr">
              <a:buClr>
                <a:schemeClr val="dk1"/>
              </a:buClr>
              <a:buSzPts val="1100"/>
            </a:pPr>
            <a:r>
              <a:rPr lang="en" b="1">
                <a:solidFill>
                  <a:schemeClr val="dk1"/>
                </a:solidFill>
                <a:latin typeface="Georgia" panose="02040502050405020303" pitchFamily="18" charset="0"/>
                <a:ea typeface="Fira Sans"/>
                <a:cs typeface="Fira Sans"/>
                <a:sym typeface="Fira Sans"/>
              </a:rPr>
              <a:t>03</a:t>
            </a:r>
            <a:endParaRPr>
              <a:latin typeface="Georgia" panose="02040502050405020303" pitchFamily="18" charset="0"/>
            </a:endParaRPr>
          </a:p>
        </p:txBody>
      </p:sp>
      <p:grpSp>
        <p:nvGrpSpPr>
          <p:cNvPr id="16" name="Google Shape;988;p23">
            <a:extLst>
              <a:ext uri="{FF2B5EF4-FFF2-40B4-BE49-F238E27FC236}">
                <a16:creationId xmlns:a16="http://schemas.microsoft.com/office/drawing/2014/main" id="{A75A0E57-3CD0-8F70-39E5-4DA7E68ACF58}"/>
              </a:ext>
            </a:extLst>
          </p:cNvPr>
          <p:cNvGrpSpPr/>
          <p:nvPr/>
        </p:nvGrpSpPr>
        <p:grpSpPr>
          <a:xfrm>
            <a:off x="733190" y="2367430"/>
            <a:ext cx="1977538" cy="1365200"/>
            <a:chOff x="506000" y="3445625"/>
            <a:chExt cx="1366500" cy="1023900"/>
          </a:xfrm>
        </p:grpSpPr>
        <p:sp>
          <p:nvSpPr>
            <p:cNvPr id="17" name="Google Shape;989;p23">
              <a:extLst>
                <a:ext uri="{FF2B5EF4-FFF2-40B4-BE49-F238E27FC236}">
                  <a16:creationId xmlns:a16="http://schemas.microsoft.com/office/drawing/2014/main" id="{C47749E1-6AB8-00FC-91DE-BFC6402DCEA1}"/>
                </a:ext>
              </a:extLst>
            </p:cNvPr>
            <p:cNvSpPr txBox="1"/>
            <p:nvPr/>
          </p:nvSpPr>
          <p:spPr>
            <a:xfrm>
              <a:off x="514550" y="3445625"/>
              <a:ext cx="13494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Preparation</a:t>
              </a:r>
              <a:endParaRPr sz="1600" b="1" dirty="0">
                <a:solidFill>
                  <a:schemeClr val="bg1"/>
                </a:solidFill>
                <a:latin typeface="Georgia" panose="02040502050405020303" pitchFamily="18" charset="0"/>
                <a:ea typeface="Fira Sans"/>
                <a:cs typeface="Fira Sans"/>
                <a:sym typeface="Fira Sans"/>
              </a:endParaRPr>
            </a:p>
          </p:txBody>
        </p:sp>
        <p:sp>
          <p:nvSpPr>
            <p:cNvPr id="18" name="Google Shape;990;p23">
              <a:extLst>
                <a:ext uri="{FF2B5EF4-FFF2-40B4-BE49-F238E27FC236}">
                  <a16:creationId xmlns:a16="http://schemas.microsoft.com/office/drawing/2014/main" id="{D6F3BE4A-BF6A-B34C-E62F-1899607D8CBA}"/>
                </a:ext>
              </a:extLst>
            </p:cNvPr>
            <p:cNvSpPr txBox="1"/>
            <p:nvPr/>
          </p:nvSpPr>
          <p:spPr>
            <a:xfrm>
              <a:off x="506000" y="3925925"/>
              <a:ext cx="1366500" cy="543600"/>
            </a:xfrm>
            <a:prstGeom prst="rect">
              <a:avLst/>
            </a:prstGeom>
            <a:noFill/>
            <a:ln>
              <a:noFill/>
            </a:ln>
          </p:spPr>
          <p:txBody>
            <a:bodyPr spcFirstLastPara="1" wrap="square" lIns="243833" tIns="121900" rIns="243833" bIns="121900" anchor="ctr" anchorCtr="0">
              <a:noAutofit/>
            </a:bodyPr>
            <a:lstStyle/>
            <a:p>
              <a:pPr algn="ctr"/>
              <a:r>
                <a:rPr lang="en" sz="1067" dirty="0">
                  <a:solidFill>
                    <a:schemeClr val="bg1"/>
                  </a:solidFill>
                  <a:latin typeface="Georgia" panose="02040502050405020303" pitchFamily="18" charset="0"/>
                  <a:ea typeface="Fira Sans"/>
                  <a:cs typeface="Fira Sans"/>
                  <a:sym typeface="Fira Sans"/>
                </a:rPr>
                <a:t>ISP Support, Inventory (Whitelist IP &amp; Documenting IT Infra), Network Infrastructure, Internal Contacts</a:t>
              </a:r>
              <a:endParaRPr sz="1067" dirty="0">
                <a:solidFill>
                  <a:schemeClr val="bg1"/>
                </a:solidFill>
                <a:latin typeface="Georgia" panose="02040502050405020303" pitchFamily="18" charset="0"/>
                <a:ea typeface="Fira Sans"/>
                <a:cs typeface="Fira Sans"/>
                <a:sym typeface="Fira Sans"/>
              </a:endParaRPr>
            </a:p>
          </p:txBody>
        </p:sp>
      </p:grpSp>
      <p:grpSp>
        <p:nvGrpSpPr>
          <p:cNvPr id="19" name="Google Shape;991;p23">
            <a:extLst>
              <a:ext uri="{FF2B5EF4-FFF2-40B4-BE49-F238E27FC236}">
                <a16:creationId xmlns:a16="http://schemas.microsoft.com/office/drawing/2014/main" id="{5E25DF34-868A-E1AE-9BCE-8B5AAD435DE2}"/>
              </a:ext>
            </a:extLst>
          </p:cNvPr>
          <p:cNvGrpSpPr/>
          <p:nvPr/>
        </p:nvGrpSpPr>
        <p:grpSpPr>
          <a:xfrm>
            <a:off x="3668014" y="1910565"/>
            <a:ext cx="1886099" cy="1452857"/>
            <a:chOff x="2760696" y="3445650"/>
            <a:chExt cx="1366500" cy="1089643"/>
          </a:xfrm>
        </p:grpSpPr>
        <p:sp>
          <p:nvSpPr>
            <p:cNvPr id="20" name="Google Shape;992;p23">
              <a:extLst>
                <a:ext uri="{FF2B5EF4-FFF2-40B4-BE49-F238E27FC236}">
                  <a16:creationId xmlns:a16="http://schemas.microsoft.com/office/drawing/2014/main" id="{FC9CB864-5BD2-BDB2-9B96-C589F6B06784}"/>
                </a:ext>
              </a:extLst>
            </p:cNvPr>
            <p:cNvSpPr txBox="1"/>
            <p:nvPr/>
          </p:nvSpPr>
          <p:spPr>
            <a:xfrm>
              <a:off x="2769448" y="3445650"/>
              <a:ext cx="13494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Identification</a:t>
              </a:r>
              <a:endParaRPr sz="1600" b="1" dirty="0">
                <a:solidFill>
                  <a:schemeClr val="bg1"/>
                </a:solidFill>
                <a:latin typeface="Georgia" panose="02040502050405020303" pitchFamily="18" charset="0"/>
                <a:ea typeface="Fira Sans"/>
                <a:cs typeface="Fira Sans"/>
                <a:sym typeface="Fira Sans"/>
              </a:endParaRPr>
            </a:p>
          </p:txBody>
        </p:sp>
        <p:sp>
          <p:nvSpPr>
            <p:cNvPr id="21" name="Google Shape;993;p23">
              <a:extLst>
                <a:ext uri="{FF2B5EF4-FFF2-40B4-BE49-F238E27FC236}">
                  <a16:creationId xmlns:a16="http://schemas.microsoft.com/office/drawing/2014/main" id="{9FF71533-BC67-A10F-3517-305BA209C313}"/>
                </a:ext>
              </a:extLst>
            </p:cNvPr>
            <p:cNvSpPr txBox="1"/>
            <p:nvPr/>
          </p:nvSpPr>
          <p:spPr>
            <a:xfrm>
              <a:off x="2760696" y="3991693"/>
              <a:ext cx="1366500" cy="543600"/>
            </a:xfrm>
            <a:prstGeom prst="rect">
              <a:avLst/>
            </a:prstGeom>
            <a:noFill/>
            <a:ln>
              <a:noFill/>
            </a:ln>
          </p:spPr>
          <p:txBody>
            <a:bodyPr spcFirstLastPara="1" wrap="square" lIns="243833" tIns="121900" rIns="243833" bIns="121900" anchor="ctr" anchorCtr="0">
              <a:noAutofit/>
            </a:bodyPr>
            <a:lstStyle/>
            <a:p>
              <a:pPr algn="ctr"/>
              <a:r>
                <a:rPr lang="en-US" sz="1067" dirty="0">
                  <a:solidFill>
                    <a:schemeClr val="bg1"/>
                  </a:solidFill>
                  <a:latin typeface="Georgia" panose="02040502050405020303" pitchFamily="18" charset="0"/>
                  <a:ea typeface="Fira Sans"/>
                  <a:cs typeface="Fira Sans"/>
                  <a:sym typeface="Fira Sans"/>
                </a:rPr>
                <a:t>Analyze attack, Involve internal &amp; external actors, Check the background such as competitor, hacktivist, former employees</a:t>
              </a:r>
              <a:endParaRPr sz="1067" dirty="0">
                <a:solidFill>
                  <a:schemeClr val="bg1"/>
                </a:solidFill>
                <a:latin typeface="Georgia" panose="02040502050405020303" pitchFamily="18" charset="0"/>
                <a:ea typeface="Fira Sans"/>
                <a:cs typeface="Fira Sans"/>
                <a:sym typeface="Fira Sans"/>
              </a:endParaRPr>
            </a:p>
          </p:txBody>
        </p:sp>
      </p:grpSp>
      <p:grpSp>
        <p:nvGrpSpPr>
          <p:cNvPr id="22" name="Google Shape;994;p23">
            <a:extLst>
              <a:ext uri="{FF2B5EF4-FFF2-40B4-BE49-F238E27FC236}">
                <a16:creationId xmlns:a16="http://schemas.microsoft.com/office/drawing/2014/main" id="{1075C7F2-1A5B-55B4-5DAB-92EAAFF9BDD7}"/>
              </a:ext>
            </a:extLst>
          </p:cNvPr>
          <p:cNvGrpSpPr/>
          <p:nvPr/>
        </p:nvGrpSpPr>
        <p:grpSpPr>
          <a:xfrm>
            <a:off x="6780044" y="1879515"/>
            <a:ext cx="1822000" cy="1365200"/>
            <a:chOff x="5015990" y="3445625"/>
            <a:chExt cx="1366500" cy="1023900"/>
          </a:xfrm>
        </p:grpSpPr>
        <p:sp>
          <p:nvSpPr>
            <p:cNvPr id="23" name="Google Shape;995;p23">
              <a:extLst>
                <a:ext uri="{FF2B5EF4-FFF2-40B4-BE49-F238E27FC236}">
                  <a16:creationId xmlns:a16="http://schemas.microsoft.com/office/drawing/2014/main" id="{0D340292-67E1-B544-C588-0C9EDCFFEA54}"/>
                </a:ext>
              </a:extLst>
            </p:cNvPr>
            <p:cNvSpPr txBox="1"/>
            <p:nvPr/>
          </p:nvSpPr>
          <p:spPr>
            <a:xfrm>
              <a:off x="5024540" y="3445625"/>
              <a:ext cx="13494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Containment</a:t>
              </a:r>
              <a:endParaRPr sz="1600" b="1" dirty="0">
                <a:solidFill>
                  <a:schemeClr val="bg1"/>
                </a:solidFill>
                <a:latin typeface="Georgia" panose="02040502050405020303" pitchFamily="18" charset="0"/>
                <a:ea typeface="Fira Sans"/>
                <a:cs typeface="Fira Sans"/>
                <a:sym typeface="Fira Sans"/>
              </a:endParaRPr>
            </a:p>
          </p:txBody>
        </p:sp>
        <p:sp>
          <p:nvSpPr>
            <p:cNvPr id="24" name="Google Shape;996;p23">
              <a:extLst>
                <a:ext uri="{FF2B5EF4-FFF2-40B4-BE49-F238E27FC236}">
                  <a16:creationId xmlns:a16="http://schemas.microsoft.com/office/drawing/2014/main" id="{5EF8F5E0-D184-B603-DE61-657BB79D8E8C}"/>
                </a:ext>
              </a:extLst>
            </p:cNvPr>
            <p:cNvSpPr txBox="1"/>
            <p:nvPr/>
          </p:nvSpPr>
          <p:spPr>
            <a:xfrm flipH="1">
              <a:off x="5015990" y="3925925"/>
              <a:ext cx="1366500" cy="543600"/>
            </a:xfrm>
            <a:prstGeom prst="rect">
              <a:avLst/>
            </a:prstGeom>
            <a:noFill/>
            <a:ln>
              <a:noFill/>
            </a:ln>
          </p:spPr>
          <p:txBody>
            <a:bodyPr spcFirstLastPara="1" wrap="square" lIns="243833" tIns="121900" rIns="243833" bIns="121900" anchor="ctr" anchorCtr="0">
              <a:noAutofit/>
            </a:bodyPr>
            <a:lstStyle/>
            <a:p>
              <a:pPr algn="ctr"/>
              <a:r>
                <a:rPr lang="en" sz="1200" dirty="0">
                  <a:solidFill>
                    <a:schemeClr val="bg1"/>
                  </a:solidFill>
                  <a:latin typeface="Georgia" panose="02040502050405020303" pitchFamily="18" charset="0"/>
                  <a:ea typeface="Fira Sans"/>
                  <a:cs typeface="Fira Sans"/>
                  <a:sym typeface="Fira Sans"/>
                </a:rPr>
                <a:t>Block &amp; absorb the attack, shutdown services, load balancing, throttling</a:t>
              </a:r>
              <a:endParaRPr sz="1200" dirty="0">
                <a:solidFill>
                  <a:schemeClr val="bg1"/>
                </a:solidFill>
                <a:latin typeface="Georgia" panose="02040502050405020303" pitchFamily="18" charset="0"/>
                <a:ea typeface="Fira Sans"/>
                <a:cs typeface="Fira Sans"/>
                <a:sym typeface="Fira Sans"/>
              </a:endParaRPr>
            </a:p>
          </p:txBody>
        </p:sp>
      </p:grpSp>
      <p:grpSp>
        <p:nvGrpSpPr>
          <p:cNvPr id="25" name="Google Shape;997;p23">
            <a:extLst>
              <a:ext uri="{FF2B5EF4-FFF2-40B4-BE49-F238E27FC236}">
                <a16:creationId xmlns:a16="http://schemas.microsoft.com/office/drawing/2014/main" id="{C292C6F7-FF4C-A656-5FE6-770A0157E7CA}"/>
              </a:ext>
            </a:extLst>
          </p:cNvPr>
          <p:cNvGrpSpPr/>
          <p:nvPr/>
        </p:nvGrpSpPr>
        <p:grpSpPr>
          <a:xfrm>
            <a:off x="9629376" y="2296428"/>
            <a:ext cx="1822800" cy="1365167"/>
            <a:chOff x="7271009" y="3445650"/>
            <a:chExt cx="1367100" cy="1023875"/>
          </a:xfrm>
        </p:grpSpPr>
        <p:sp>
          <p:nvSpPr>
            <p:cNvPr id="26" name="Google Shape;998;p23">
              <a:extLst>
                <a:ext uri="{FF2B5EF4-FFF2-40B4-BE49-F238E27FC236}">
                  <a16:creationId xmlns:a16="http://schemas.microsoft.com/office/drawing/2014/main" id="{0A453005-9CAE-0F3C-2233-DDE55623E537}"/>
                </a:ext>
              </a:extLst>
            </p:cNvPr>
            <p:cNvSpPr txBox="1"/>
            <p:nvPr/>
          </p:nvSpPr>
          <p:spPr>
            <a:xfrm>
              <a:off x="7271009" y="3445650"/>
              <a:ext cx="13671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Remediation</a:t>
              </a:r>
              <a:endParaRPr sz="1600" b="1" dirty="0">
                <a:solidFill>
                  <a:schemeClr val="bg1"/>
                </a:solidFill>
                <a:latin typeface="Georgia" panose="02040502050405020303" pitchFamily="18" charset="0"/>
                <a:ea typeface="Fira Sans"/>
                <a:cs typeface="Fira Sans"/>
                <a:sym typeface="Fira Sans"/>
              </a:endParaRPr>
            </a:p>
          </p:txBody>
        </p:sp>
        <p:sp>
          <p:nvSpPr>
            <p:cNvPr id="27" name="Google Shape;999;p23">
              <a:extLst>
                <a:ext uri="{FF2B5EF4-FFF2-40B4-BE49-F238E27FC236}">
                  <a16:creationId xmlns:a16="http://schemas.microsoft.com/office/drawing/2014/main" id="{9E9170A7-4862-CD4A-4197-8DE9570DA37A}"/>
                </a:ext>
              </a:extLst>
            </p:cNvPr>
            <p:cNvSpPr txBox="1"/>
            <p:nvPr/>
          </p:nvSpPr>
          <p:spPr>
            <a:xfrm flipH="1">
              <a:off x="7271309" y="3925925"/>
              <a:ext cx="1366500" cy="543600"/>
            </a:xfrm>
            <a:prstGeom prst="rect">
              <a:avLst/>
            </a:prstGeom>
            <a:noFill/>
            <a:ln>
              <a:noFill/>
            </a:ln>
          </p:spPr>
          <p:txBody>
            <a:bodyPr spcFirstLastPara="1" wrap="square" lIns="243833" tIns="121900" rIns="243833" bIns="121900" anchor="ctr" anchorCtr="0">
              <a:noAutofit/>
            </a:bodyPr>
            <a:lstStyle/>
            <a:p>
              <a:pPr algn="ctr"/>
              <a:r>
                <a:rPr lang="en" sz="1200" dirty="0">
                  <a:solidFill>
                    <a:schemeClr val="bg1"/>
                  </a:solidFill>
                  <a:latin typeface="Georgia" panose="02040502050405020303" pitchFamily="18" charset="0"/>
                  <a:ea typeface="Fira Sans"/>
                  <a:cs typeface="Fira Sans"/>
                  <a:sym typeface="Fira Sans"/>
                </a:rPr>
                <a:t>Rate limiting, Remediation by ISP, IP Reputation Filtering, Egress &amp; Ingress filtering</a:t>
              </a:r>
              <a:endParaRPr sz="1200" dirty="0">
                <a:solidFill>
                  <a:schemeClr val="bg1"/>
                </a:solidFill>
                <a:latin typeface="Georgia" panose="02040502050405020303" pitchFamily="18" charset="0"/>
                <a:ea typeface="Fira Sans"/>
                <a:cs typeface="Fira Sans"/>
                <a:sym typeface="Fira Sans"/>
              </a:endParaRPr>
            </a:p>
          </p:txBody>
        </p:sp>
      </p:grpSp>
      <p:sp>
        <p:nvSpPr>
          <p:cNvPr id="28" name="Google Shape;882;p23">
            <a:extLst>
              <a:ext uri="{FF2B5EF4-FFF2-40B4-BE49-F238E27FC236}">
                <a16:creationId xmlns:a16="http://schemas.microsoft.com/office/drawing/2014/main" id="{D357CA89-7EFC-801C-A0F0-36D56BE2306F}"/>
              </a:ext>
            </a:extLst>
          </p:cNvPr>
          <p:cNvSpPr/>
          <p:nvPr/>
        </p:nvSpPr>
        <p:spPr>
          <a:xfrm>
            <a:off x="3510825" y="4172182"/>
            <a:ext cx="1874671" cy="2084184"/>
          </a:xfrm>
          <a:custGeom>
            <a:avLst/>
            <a:gdLst/>
            <a:ahLst/>
            <a:cxnLst/>
            <a:rect l="l" t="t" r="r" b="b"/>
            <a:pathLst>
              <a:path w="42077" h="48019" extrusionOk="0">
                <a:moveTo>
                  <a:pt x="1393" y="0"/>
                </a:moveTo>
                <a:cubicBezTo>
                  <a:pt x="619" y="0"/>
                  <a:pt x="0" y="620"/>
                  <a:pt x="0" y="1382"/>
                </a:cubicBezTo>
                <a:lnTo>
                  <a:pt x="0" y="46637"/>
                </a:lnTo>
                <a:cubicBezTo>
                  <a:pt x="0" y="47399"/>
                  <a:pt x="619" y="48018"/>
                  <a:pt x="1393" y="48018"/>
                </a:cubicBezTo>
                <a:lnTo>
                  <a:pt x="40696" y="48018"/>
                </a:lnTo>
                <a:cubicBezTo>
                  <a:pt x="41458" y="48018"/>
                  <a:pt x="42077" y="47399"/>
                  <a:pt x="42077" y="46637"/>
                </a:cubicBezTo>
                <a:lnTo>
                  <a:pt x="42077" y="1382"/>
                </a:lnTo>
                <a:cubicBezTo>
                  <a:pt x="42077" y="620"/>
                  <a:pt x="41458" y="0"/>
                  <a:pt x="40696" y="0"/>
                </a:cubicBezTo>
                <a:close/>
              </a:path>
            </a:pathLst>
          </a:custGeom>
          <a:solidFill>
            <a:schemeClr val="dk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29" name="Google Shape;883;p23">
            <a:extLst>
              <a:ext uri="{FF2B5EF4-FFF2-40B4-BE49-F238E27FC236}">
                <a16:creationId xmlns:a16="http://schemas.microsoft.com/office/drawing/2014/main" id="{8E4A2569-A731-B16D-71C8-ECD8E123985B}"/>
              </a:ext>
            </a:extLst>
          </p:cNvPr>
          <p:cNvSpPr/>
          <p:nvPr/>
        </p:nvSpPr>
        <p:spPr>
          <a:xfrm>
            <a:off x="4116748" y="3672849"/>
            <a:ext cx="703987" cy="703987"/>
          </a:xfrm>
          <a:custGeom>
            <a:avLst/>
            <a:gdLst/>
            <a:ahLst/>
            <a:cxnLst/>
            <a:rect l="l" t="t" r="r" b="b"/>
            <a:pathLst>
              <a:path w="15801" h="15801" extrusionOk="0">
                <a:moveTo>
                  <a:pt x="7894" y="1"/>
                </a:moveTo>
                <a:cubicBezTo>
                  <a:pt x="3537" y="1"/>
                  <a:pt x="1" y="3537"/>
                  <a:pt x="1" y="7895"/>
                </a:cubicBezTo>
                <a:cubicBezTo>
                  <a:pt x="1" y="12252"/>
                  <a:pt x="3537" y="15800"/>
                  <a:pt x="7894" y="15800"/>
                </a:cubicBezTo>
                <a:cubicBezTo>
                  <a:pt x="12264" y="15800"/>
                  <a:pt x="15800" y="12252"/>
                  <a:pt x="15800" y="7895"/>
                </a:cubicBezTo>
                <a:cubicBezTo>
                  <a:pt x="15800" y="3537"/>
                  <a:pt x="12264" y="1"/>
                  <a:pt x="7894" y="1"/>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0" name="Google Shape;884;p23">
            <a:extLst>
              <a:ext uri="{FF2B5EF4-FFF2-40B4-BE49-F238E27FC236}">
                <a16:creationId xmlns:a16="http://schemas.microsoft.com/office/drawing/2014/main" id="{9441B97C-65A6-4035-4BAF-9C39F72B7FD2}"/>
              </a:ext>
            </a:extLst>
          </p:cNvPr>
          <p:cNvSpPr/>
          <p:nvPr/>
        </p:nvSpPr>
        <p:spPr>
          <a:xfrm>
            <a:off x="4147535" y="3726535"/>
            <a:ext cx="619068" cy="596168"/>
          </a:xfrm>
          <a:custGeom>
            <a:avLst/>
            <a:gdLst/>
            <a:ahLst/>
            <a:cxnLst/>
            <a:rect l="l" t="t" r="r" b="b"/>
            <a:pathLst>
              <a:path w="13895" h="13381" extrusionOk="0">
                <a:moveTo>
                  <a:pt x="7215" y="0"/>
                </a:moveTo>
                <a:cubicBezTo>
                  <a:pt x="5472" y="0"/>
                  <a:pt x="3759" y="681"/>
                  <a:pt x="2477" y="1963"/>
                </a:cubicBezTo>
                <a:cubicBezTo>
                  <a:pt x="572" y="3868"/>
                  <a:pt x="0" y="6749"/>
                  <a:pt x="1024" y="9249"/>
                </a:cubicBezTo>
                <a:cubicBezTo>
                  <a:pt x="2060" y="11750"/>
                  <a:pt x="4501" y="13381"/>
                  <a:pt x="7203" y="13381"/>
                </a:cubicBezTo>
                <a:cubicBezTo>
                  <a:pt x="10894" y="13369"/>
                  <a:pt x="13895" y="10380"/>
                  <a:pt x="13895" y="6690"/>
                </a:cubicBezTo>
                <a:cubicBezTo>
                  <a:pt x="13895" y="3987"/>
                  <a:pt x="12264" y="1546"/>
                  <a:pt x="9775" y="510"/>
                </a:cubicBezTo>
                <a:cubicBezTo>
                  <a:pt x="8947" y="167"/>
                  <a:pt x="8077" y="0"/>
                  <a:pt x="7215" y="0"/>
                </a:cubicBezTo>
                <a:close/>
              </a:path>
            </a:pathLst>
          </a:custGeom>
          <a:solidFill>
            <a:srgbClr val="FFFFFF"/>
          </a:solidFill>
          <a:ln>
            <a:noFill/>
          </a:ln>
        </p:spPr>
        <p:txBody>
          <a:bodyPr spcFirstLastPara="1" wrap="square" lIns="121900" tIns="121900" rIns="121900" bIns="121900" anchor="ctr" anchorCtr="0">
            <a:noAutofit/>
          </a:bodyPr>
          <a:lstStyle/>
          <a:p>
            <a:pPr algn="ctr"/>
            <a:r>
              <a:rPr lang="en" b="1" dirty="0">
                <a:latin typeface="Georgia" panose="02040502050405020303" pitchFamily="18" charset="0"/>
                <a:ea typeface="Fira Sans"/>
                <a:cs typeface="Fira Sans"/>
                <a:sym typeface="Fira Sans"/>
              </a:rPr>
              <a:t>05</a:t>
            </a:r>
            <a:endParaRPr b="1" dirty="0">
              <a:latin typeface="Georgia" panose="02040502050405020303" pitchFamily="18" charset="0"/>
              <a:ea typeface="Fira Sans"/>
              <a:cs typeface="Fira Sans"/>
              <a:sym typeface="Fira Sans"/>
            </a:endParaRPr>
          </a:p>
        </p:txBody>
      </p:sp>
      <p:grpSp>
        <p:nvGrpSpPr>
          <p:cNvPr id="31" name="Google Shape;997;p23">
            <a:extLst>
              <a:ext uri="{FF2B5EF4-FFF2-40B4-BE49-F238E27FC236}">
                <a16:creationId xmlns:a16="http://schemas.microsoft.com/office/drawing/2014/main" id="{55A69F5F-40BC-4532-B9C6-00D6987B499C}"/>
              </a:ext>
            </a:extLst>
          </p:cNvPr>
          <p:cNvGrpSpPr/>
          <p:nvPr/>
        </p:nvGrpSpPr>
        <p:grpSpPr>
          <a:xfrm>
            <a:off x="3536760" y="4336846"/>
            <a:ext cx="1822800" cy="1478118"/>
            <a:chOff x="7270821" y="3360937"/>
            <a:chExt cx="1367100" cy="1108588"/>
          </a:xfrm>
        </p:grpSpPr>
        <p:sp>
          <p:nvSpPr>
            <p:cNvPr id="32" name="Google Shape;998;p23">
              <a:extLst>
                <a:ext uri="{FF2B5EF4-FFF2-40B4-BE49-F238E27FC236}">
                  <a16:creationId xmlns:a16="http://schemas.microsoft.com/office/drawing/2014/main" id="{3A80099C-2C8A-A7DC-BCBB-710773A67D41}"/>
                </a:ext>
              </a:extLst>
            </p:cNvPr>
            <p:cNvSpPr txBox="1"/>
            <p:nvPr/>
          </p:nvSpPr>
          <p:spPr>
            <a:xfrm>
              <a:off x="7270821" y="3360937"/>
              <a:ext cx="13671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Recovery</a:t>
              </a:r>
              <a:endParaRPr sz="1600" b="1" dirty="0">
                <a:solidFill>
                  <a:schemeClr val="bg1"/>
                </a:solidFill>
                <a:latin typeface="Georgia" panose="02040502050405020303" pitchFamily="18" charset="0"/>
                <a:ea typeface="Fira Sans"/>
                <a:cs typeface="Fira Sans"/>
                <a:sym typeface="Fira Sans"/>
              </a:endParaRPr>
            </a:p>
          </p:txBody>
        </p:sp>
        <p:sp>
          <p:nvSpPr>
            <p:cNvPr id="33" name="Google Shape;999;p23">
              <a:extLst>
                <a:ext uri="{FF2B5EF4-FFF2-40B4-BE49-F238E27FC236}">
                  <a16:creationId xmlns:a16="http://schemas.microsoft.com/office/drawing/2014/main" id="{C29083D8-D027-4F02-A699-D4AA454EF3B6}"/>
                </a:ext>
              </a:extLst>
            </p:cNvPr>
            <p:cNvSpPr txBox="1"/>
            <p:nvPr/>
          </p:nvSpPr>
          <p:spPr>
            <a:xfrm flipH="1">
              <a:off x="7271309" y="3925925"/>
              <a:ext cx="1366500" cy="543600"/>
            </a:xfrm>
            <a:prstGeom prst="rect">
              <a:avLst/>
            </a:prstGeom>
            <a:noFill/>
            <a:ln>
              <a:noFill/>
            </a:ln>
          </p:spPr>
          <p:txBody>
            <a:bodyPr spcFirstLastPara="1" wrap="square" lIns="243833" tIns="121900" rIns="243833" bIns="121900" anchor="ctr" anchorCtr="0">
              <a:noAutofit/>
            </a:bodyPr>
            <a:lstStyle/>
            <a:p>
              <a:pPr algn="ctr"/>
              <a:r>
                <a:rPr lang="en" sz="1200" dirty="0">
                  <a:solidFill>
                    <a:schemeClr val="bg1"/>
                  </a:solidFill>
                  <a:latin typeface="Georgia" panose="02040502050405020303" pitchFamily="18" charset="0"/>
                  <a:ea typeface="Fira Sans"/>
                  <a:cs typeface="Fira Sans"/>
                  <a:sym typeface="Fira Sans"/>
                </a:rPr>
                <a:t>Re-start stopped services, Ensure the infrastructure performance is back to your baseline performance</a:t>
              </a:r>
              <a:endParaRPr sz="1200" dirty="0">
                <a:solidFill>
                  <a:schemeClr val="bg1"/>
                </a:solidFill>
                <a:latin typeface="Georgia" panose="02040502050405020303" pitchFamily="18" charset="0"/>
                <a:ea typeface="Fira Sans"/>
                <a:cs typeface="Fira Sans"/>
                <a:sym typeface="Fira Sans"/>
              </a:endParaRPr>
            </a:p>
          </p:txBody>
        </p:sp>
      </p:grpSp>
      <p:sp>
        <p:nvSpPr>
          <p:cNvPr id="34" name="Google Shape;882;p23">
            <a:extLst>
              <a:ext uri="{FF2B5EF4-FFF2-40B4-BE49-F238E27FC236}">
                <a16:creationId xmlns:a16="http://schemas.microsoft.com/office/drawing/2014/main" id="{2BE90626-64FD-D898-39D3-4407B2BC241E}"/>
              </a:ext>
            </a:extLst>
          </p:cNvPr>
          <p:cNvSpPr/>
          <p:nvPr/>
        </p:nvSpPr>
        <p:spPr>
          <a:xfrm>
            <a:off x="6738625" y="4172182"/>
            <a:ext cx="1874671" cy="2084184"/>
          </a:xfrm>
          <a:custGeom>
            <a:avLst/>
            <a:gdLst/>
            <a:ahLst/>
            <a:cxnLst/>
            <a:rect l="l" t="t" r="r" b="b"/>
            <a:pathLst>
              <a:path w="42077" h="48019" extrusionOk="0">
                <a:moveTo>
                  <a:pt x="1393" y="0"/>
                </a:moveTo>
                <a:cubicBezTo>
                  <a:pt x="619" y="0"/>
                  <a:pt x="0" y="620"/>
                  <a:pt x="0" y="1382"/>
                </a:cubicBezTo>
                <a:lnTo>
                  <a:pt x="0" y="46637"/>
                </a:lnTo>
                <a:cubicBezTo>
                  <a:pt x="0" y="47399"/>
                  <a:pt x="619" y="48018"/>
                  <a:pt x="1393" y="48018"/>
                </a:cubicBezTo>
                <a:lnTo>
                  <a:pt x="40696" y="48018"/>
                </a:lnTo>
                <a:cubicBezTo>
                  <a:pt x="41458" y="48018"/>
                  <a:pt x="42077" y="47399"/>
                  <a:pt x="42077" y="46637"/>
                </a:cubicBezTo>
                <a:lnTo>
                  <a:pt x="42077" y="1382"/>
                </a:lnTo>
                <a:cubicBezTo>
                  <a:pt x="42077" y="620"/>
                  <a:pt x="41458" y="0"/>
                  <a:pt x="40696" y="0"/>
                </a:cubicBezTo>
                <a:close/>
              </a:path>
            </a:pathLst>
          </a:custGeom>
          <a:solidFill>
            <a:schemeClr val="dk2"/>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5" name="Google Shape;883;p23">
            <a:extLst>
              <a:ext uri="{FF2B5EF4-FFF2-40B4-BE49-F238E27FC236}">
                <a16:creationId xmlns:a16="http://schemas.microsoft.com/office/drawing/2014/main" id="{77115D14-E6E2-2E5A-3689-FEBD1D30BD60}"/>
              </a:ext>
            </a:extLst>
          </p:cNvPr>
          <p:cNvSpPr/>
          <p:nvPr/>
        </p:nvSpPr>
        <p:spPr>
          <a:xfrm>
            <a:off x="7324228" y="3508947"/>
            <a:ext cx="703987" cy="703987"/>
          </a:xfrm>
          <a:custGeom>
            <a:avLst/>
            <a:gdLst/>
            <a:ahLst/>
            <a:cxnLst/>
            <a:rect l="l" t="t" r="r" b="b"/>
            <a:pathLst>
              <a:path w="15801" h="15801" extrusionOk="0">
                <a:moveTo>
                  <a:pt x="7894" y="1"/>
                </a:moveTo>
                <a:cubicBezTo>
                  <a:pt x="3537" y="1"/>
                  <a:pt x="1" y="3537"/>
                  <a:pt x="1" y="7895"/>
                </a:cubicBezTo>
                <a:cubicBezTo>
                  <a:pt x="1" y="12252"/>
                  <a:pt x="3537" y="15800"/>
                  <a:pt x="7894" y="15800"/>
                </a:cubicBezTo>
                <a:cubicBezTo>
                  <a:pt x="12264" y="15800"/>
                  <a:pt x="15800" y="12252"/>
                  <a:pt x="15800" y="7895"/>
                </a:cubicBezTo>
                <a:cubicBezTo>
                  <a:pt x="15800" y="3537"/>
                  <a:pt x="12264" y="1"/>
                  <a:pt x="7894" y="1"/>
                </a:cubicBezTo>
                <a:close/>
              </a:path>
            </a:pathLst>
          </a:custGeom>
          <a:solidFill>
            <a:schemeClr val="accent5"/>
          </a:solidFill>
          <a:ln>
            <a:noFill/>
          </a:ln>
        </p:spPr>
        <p:txBody>
          <a:bodyPr spcFirstLastPara="1" wrap="square" lIns="121900" tIns="121900" rIns="121900" bIns="121900" anchor="ctr" anchorCtr="0">
            <a:noAutofit/>
          </a:bodyPr>
          <a:lstStyle/>
          <a:p>
            <a:endParaRPr sz="2400">
              <a:latin typeface="Georgia" panose="02040502050405020303" pitchFamily="18" charset="0"/>
            </a:endParaRPr>
          </a:p>
        </p:txBody>
      </p:sp>
      <p:sp>
        <p:nvSpPr>
          <p:cNvPr id="36" name="Google Shape;884;p23">
            <a:extLst>
              <a:ext uri="{FF2B5EF4-FFF2-40B4-BE49-F238E27FC236}">
                <a16:creationId xmlns:a16="http://schemas.microsoft.com/office/drawing/2014/main" id="{AF6C0CC6-19EC-5D37-221F-159EEE9E4D17}"/>
              </a:ext>
            </a:extLst>
          </p:cNvPr>
          <p:cNvSpPr/>
          <p:nvPr/>
        </p:nvSpPr>
        <p:spPr>
          <a:xfrm>
            <a:off x="7355015" y="3562634"/>
            <a:ext cx="619068" cy="596168"/>
          </a:xfrm>
          <a:custGeom>
            <a:avLst/>
            <a:gdLst/>
            <a:ahLst/>
            <a:cxnLst/>
            <a:rect l="l" t="t" r="r" b="b"/>
            <a:pathLst>
              <a:path w="13895" h="13381" extrusionOk="0">
                <a:moveTo>
                  <a:pt x="7215" y="0"/>
                </a:moveTo>
                <a:cubicBezTo>
                  <a:pt x="5472" y="0"/>
                  <a:pt x="3759" y="681"/>
                  <a:pt x="2477" y="1963"/>
                </a:cubicBezTo>
                <a:cubicBezTo>
                  <a:pt x="572" y="3868"/>
                  <a:pt x="0" y="6749"/>
                  <a:pt x="1024" y="9249"/>
                </a:cubicBezTo>
                <a:cubicBezTo>
                  <a:pt x="2060" y="11750"/>
                  <a:pt x="4501" y="13381"/>
                  <a:pt x="7203" y="13381"/>
                </a:cubicBezTo>
                <a:cubicBezTo>
                  <a:pt x="10894" y="13369"/>
                  <a:pt x="13895" y="10380"/>
                  <a:pt x="13895" y="6690"/>
                </a:cubicBezTo>
                <a:cubicBezTo>
                  <a:pt x="13895" y="3987"/>
                  <a:pt x="12264" y="1546"/>
                  <a:pt x="9775" y="510"/>
                </a:cubicBezTo>
                <a:cubicBezTo>
                  <a:pt x="8947" y="167"/>
                  <a:pt x="8077" y="0"/>
                  <a:pt x="7215" y="0"/>
                </a:cubicBezTo>
                <a:close/>
              </a:path>
            </a:pathLst>
          </a:custGeom>
          <a:solidFill>
            <a:srgbClr val="FFFFFF"/>
          </a:solidFill>
          <a:ln>
            <a:noFill/>
          </a:ln>
        </p:spPr>
        <p:txBody>
          <a:bodyPr spcFirstLastPara="1" wrap="square" lIns="121900" tIns="121900" rIns="121900" bIns="121900" anchor="ctr" anchorCtr="0">
            <a:noAutofit/>
          </a:bodyPr>
          <a:lstStyle/>
          <a:p>
            <a:pPr algn="ctr"/>
            <a:r>
              <a:rPr lang="en" b="1" dirty="0">
                <a:latin typeface="Georgia" panose="02040502050405020303" pitchFamily="18" charset="0"/>
                <a:ea typeface="Fira Sans"/>
                <a:cs typeface="Fira Sans"/>
                <a:sym typeface="Fira Sans"/>
              </a:rPr>
              <a:t>06</a:t>
            </a:r>
            <a:endParaRPr b="1" dirty="0">
              <a:latin typeface="Georgia" panose="02040502050405020303" pitchFamily="18" charset="0"/>
              <a:ea typeface="Fira Sans"/>
              <a:cs typeface="Fira Sans"/>
              <a:sym typeface="Fira Sans"/>
            </a:endParaRPr>
          </a:p>
        </p:txBody>
      </p:sp>
      <p:grpSp>
        <p:nvGrpSpPr>
          <p:cNvPr id="37" name="Google Shape;997;p23">
            <a:extLst>
              <a:ext uri="{FF2B5EF4-FFF2-40B4-BE49-F238E27FC236}">
                <a16:creationId xmlns:a16="http://schemas.microsoft.com/office/drawing/2014/main" id="{69588C20-9EC8-BBB8-803F-BDC3F2B38060}"/>
              </a:ext>
            </a:extLst>
          </p:cNvPr>
          <p:cNvGrpSpPr/>
          <p:nvPr/>
        </p:nvGrpSpPr>
        <p:grpSpPr>
          <a:xfrm>
            <a:off x="6764560" y="4369478"/>
            <a:ext cx="1822800" cy="1445486"/>
            <a:chOff x="7270821" y="3385411"/>
            <a:chExt cx="1367100" cy="1084114"/>
          </a:xfrm>
        </p:grpSpPr>
        <p:sp>
          <p:nvSpPr>
            <p:cNvPr id="38" name="Google Shape;998;p23">
              <a:extLst>
                <a:ext uri="{FF2B5EF4-FFF2-40B4-BE49-F238E27FC236}">
                  <a16:creationId xmlns:a16="http://schemas.microsoft.com/office/drawing/2014/main" id="{F4009DEC-E0A7-169F-CCBF-2A45AE68F7BA}"/>
                </a:ext>
              </a:extLst>
            </p:cNvPr>
            <p:cNvSpPr txBox="1"/>
            <p:nvPr/>
          </p:nvSpPr>
          <p:spPr>
            <a:xfrm>
              <a:off x="7270821" y="3385411"/>
              <a:ext cx="1367100" cy="370500"/>
            </a:xfrm>
            <a:prstGeom prst="rect">
              <a:avLst/>
            </a:prstGeom>
            <a:noFill/>
            <a:ln>
              <a:noFill/>
            </a:ln>
          </p:spPr>
          <p:txBody>
            <a:bodyPr spcFirstLastPara="1" wrap="square" lIns="121900" tIns="121900" rIns="121900" bIns="121900" anchor="ctr" anchorCtr="0">
              <a:noAutofit/>
            </a:bodyPr>
            <a:lstStyle/>
            <a:p>
              <a:pPr algn="ctr"/>
              <a:r>
                <a:rPr lang="en" sz="1600" b="1" dirty="0">
                  <a:solidFill>
                    <a:schemeClr val="bg1"/>
                  </a:solidFill>
                  <a:latin typeface="Georgia" panose="02040502050405020303" pitchFamily="18" charset="0"/>
                  <a:ea typeface="Fira Sans"/>
                  <a:cs typeface="Fira Sans"/>
                  <a:sym typeface="Fira Sans"/>
                </a:rPr>
                <a:t>Post-Incident</a:t>
              </a:r>
              <a:endParaRPr sz="1600" b="1" dirty="0">
                <a:solidFill>
                  <a:schemeClr val="bg1"/>
                </a:solidFill>
                <a:latin typeface="Georgia" panose="02040502050405020303" pitchFamily="18" charset="0"/>
                <a:ea typeface="Fira Sans"/>
                <a:cs typeface="Fira Sans"/>
                <a:sym typeface="Fira Sans"/>
              </a:endParaRPr>
            </a:p>
          </p:txBody>
        </p:sp>
        <p:sp>
          <p:nvSpPr>
            <p:cNvPr id="39" name="Google Shape;999;p23">
              <a:extLst>
                <a:ext uri="{FF2B5EF4-FFF2-40B4-BE49-F238E27FC236}">
                  <a16:creationId xmlns:a16="http://schemas.microsoft.com/office/drawing/2014/main" id="{9F519531-F6A2-4C0C-6145-9B60829D9D81}"/>
                </a:ext>
              </a:extLst>
            </p:cNvPr>
            <p:cNvSpPr txBox="1"/>
            <p:nvPr/>
          </p:nvSpPr>
          <p:spPr>
            <a:xfrm flipH="1">
              <a:off x="7271309" y="3925925"/>
              <a:ext cx="1366500" cy="543600"/>
            </a:xfrm>
            <a:prstGeom prst="rect">
              <a:avLst/>
            </a:prstGeom>
            <a:noFill/>
            <a:ln>
              <a:noFill/>
            </a:ln>
          </p:spPr>
          <p:txBody>
            <a:bodyPr spcFirstLastPara="1" wrap="square" lIns="243833" tIns="121900" rIns="243833" bIns="121900" anchor="ctr" anchorCtr="0">
              <a:noAutofit/>
            </a:bodyPr>
            <a:lstStyle/>
            <a:p>
              <a:pPr algn="ctr"/>
              <a:r>
                <a:rPr lang="en" sz="1200" dirty="0">
                  <a:solidFill>
                    <a:schemeClr val="bg1"/>
                  </a:solidFill>
                  <a:latin typeface="Georgia" panose="02040502050405020303" pitchFamily="18" charset="0"/>
                  <a:ea typeface="Fira Sans"/>
                  <a:cs typeface="Fira Sans"/>
                  <a:sym typeface="Fira Sans"/>
                </a:rPr>
                <a:t>Document the incident and adjust plans for defences</a:t>
              </a:r>
              <a:endParaRPr sz="1200" dirty="0">
                <a:solidFill>
                  <a:schemeClr val="bg1"/>
                </a:solidFill>
                <a:latin typeface="Georgia" panose="02040502050405020303" pitchFamily="18" charset="0"/>
                <a:ea typeface="Fira Sans"/>
                <a:cs typeface="Fira Sans"/>
                <a:sym typeface="Fira Sans"/>
              </a:endParaRPr>
            </a:p>
          </p:txBody>
        </p:sp>
      </p:grpSp>
    </p:spTree>
    <p:extLst>
      <p:ext uri="{BB962C8B-B14F-4D97-AF65-F5344CB8AC3E}">
        <p14:creationId xmlns:p14="http://schemas.microsoft.com/office/powerpoint/2010/main" val="2061591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A5E4-B03F-2FE3-0668-4783496647FA}"/>
              </a:ext>
            </a:extLst>
          </p:cNvPr>
          <p:cNvSpPr>
            <a:spLocks noGrp="1"/>
          </p:cNvSpPr>
          <p:nvPr>
            <p:ph type="title"/>
          </p:nvPr>
        </p:nvSpPr>
        <p:spPr/>
        <p:txBody>
          <a:bodyPr>
            <a:normAutofit/>
          </a:bodyPr>
          <a:lstStyle/>
          <a:p>
            <a:r>
              <a:rPr lang="en-US" dirty="0">
                <a:ea typeface="Fira Sans"/>
                <a:cs typeface="Fira Sans"/>
                <a:sym typeface="Fira Sans"/>
              </a:rPr>
              <a:t>Incident of Unauthorized Access</a:t>
            </a:r>
            <a:endParaRPr lang="en-ID" dirty="0"/>
          </a:p>
        </p:txBody>
      </p:sp>
      <p:sp>
        <p:nvSpPr>
          <p:cNvPr id="3" name="Content Placeholder 2">
            <a:extLst>
              <a:ext uri="{FF2B5EF4-FFF2-40B4-BE49-F238E27FC236}">
                <a16:creationId xmlns:a16="http://schemas.microsoft.com/office/drawing/2014/main" id="{CCCB3A5B-FDB6-B083-D3E3-3390BB1DFD42}"/>
              </a:ext>
            </a:extLst>
          </p:cNvPr>
          <p:cNvSpPr>
            <a:spLocks noGrp="1"/>
          </p:cNvSpPr>
          <p:nvPr>
            <p:ph idx="1"/>
          </p:nvPr>
        </p:nvSpPr>
        <p:spPr>
          <a:xfrm>
            <a:off x="838200" y="1825625"/>
            <a:ext cx="7824537" cy="4351338"/>
          </a:xfrm>
        </p:spPr>
        <p:txBody>
          <a:bodyPr>
            <a:normAutofit fontScale="92500" lnSpcReduction="10000"/>
          </a:bodyPr>
          <a:lstStyle/>
          <a:p>
            <a:r>
              <a:rPr lang="en-US" dirty="0"/>
              <a:t>Unauthorized access Incident are those where an attacker or an intruder gains unauthorized access to the system or network resources by various malicious means.</a:t>
            </a:r>
          </a:p>
          <a:p>
            <a:r>
              <a:rPr lang="en-US" dirty="0"/>
              <a:t>Intruders involved in unauthorized access include casual hackers, professional hackers, and organizational employees.</a:t>
            </a:r>
          </a:p>
          <a:p>
            <a:r>
              <a:rPr lang="en-US" dirty="0"/>
              <a:t>Methods of Unauthorized Access :</a:t>
            </a:r>
          </a:p>
          <a:p>
            <a:pPr lvl="1"/>
            <a:r>
              <a:rPr lang="en-US" dirty="0"/>
              <a:t>Exploiting Vulnerabilities</a:t>
            </a:r>
          </a:p>
          <a:p>
            <a:pPr lvl="1"/>
            <a:r>
              <a:rPr lang="en-US" dirty="0"/>
              <a:t>Stealing Access of Data</a:t>
            </a:r>
          </a:p>
          <a:p>
            <a:pPr lvl="1"/>
            <a:r>
              <a:rPr lang="en-US" dirty="0"/>
              <a:t>Social Engineering</a:t>
            </a:r>
          </a:p>
          <a:p>
            <a:pPr lvl="1"/>
            <a:r>
              <a:rPr lang="en-US" dirty="0"/>
              <a:t>Insider Threats</a:t>
            </a:r>
            <a:endParaRPr lang="en-ID" dirty="0"/>
          </a:p>
          <a:p>
            <a:endParaRPr lang="en-ID" dirty="0"/>
          </a:p>
        </p:txBody>
      </p:sp>
      <p:pic>
        <p:nvPicPr>
          <p:cNvPr id="4" name="Picture 3">
            <a:extLst>
              <a:ext uri="{FF2B5EF4-FFF2-40B4-BE49-F238E27FC236}">
                <a16:creationId xmlns:a16="http://schemas.microsoft.com/office/drawing/2014/main" id="{FC9C5C6B-63C2-DB13-B535-737EF4F40105}"/>
              </a:ext>
            </a:extLst>
          </p:cNvPr>
          <p:cNvPicPr>
            <a:picLocks noChangeAspect="1"/>
          </p:cNvPicPr>
          <p:nvPr/>
        </p:nvPicPr>
        <p:blipFill>
          <a:blip r:embed="rId2"/>
          <a:stretch>
            <a:fillRect/>
          </a:stretch>
        </p:blipFill>
        <p:spPr>
          <a:xfrm>
            <a:off x="8889218" y="1987334"/>
            <a:ext cx="2786075" cy="2883331"/>
          </a:xfrm>
          <a:prstGeom prst="rect">
            <a:avLst/>
          </a:prstGeom>
        </p:spPr>
      </p:pic>
    </p:spTree>
    <p:extLst>
      <p:ext uri="{BB962C8B-B14F-4D97-AF65-F5344CB8AC3E}">
        <p14:creationId xmlns:p14="http://schemas.microsoft.com/office/powerpoint/2010/main" val="27142265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3218-865B-F4FB-B8D2-21144FDADF6F}"/>
              </a:ext>
            </a:extLst>
          </p:cNvPr>
          <p:cNvSpPr>
            <a:spLocks noGrp="1"/>
          </p:cNvSpPr>
          <p:nvPr>
            <p:ph type="title"/>
          </p:nvPr>
        </p:nvSpPr>
        <p:spPr/>
        <p:txBody>
          <a:bodyPr>
            <a:normAutofit/>
          </a:bodyPr>
          <a:lstStyle/>
          <a:p>
            <a:r>
              <a:rPr lang="en-US" dirty="0">
                <a:ea typeface="Fira Sans"/>
                <a:cs typeface="Fira Sans"/>
                <a:sym typeface="Fira Sans"/>
              </a:rPr>
              <a:t>Incident of Unauthorized Access</a:t>
            </a:r>
            <a:endParaRPr lang="en-ID" dirty="0"/>
          </a:p>
        </p:txBody>
      </p:sp>
      <p:pic>
        <p:nvPicPr>
          <p:cNvPr id="4" name="Content Placeholder 3">
            <a:extLst>
              <a:ext uri="{FF2B5EF4-FFF2-40B4-BE49-F238E27FC236}">
                <a16:creationId xmlns:a16="http://schemas.microsoft.com/office/drawing/2014/main" id="{5C8D71FE-B024-CF1D-6FCE-B8745C60FD44}"/>
              </a:ext>
            </a:extLst>
          </p:cNvPr>
          <p:cNvPicPr>
            <a:picLocks noGrp="1" noChangeAspect="1"/>
          </p:cNvPicPr>
          <p:nvPr>
            <p:ph idx="1"/>
          </p:nvPr>
        </p:nvPicPr>
        <p:blipFill>
          <a:blip r:embed="rId2"/>
          <a:stretch>
            <a:fillRect/>
          </a:stretch>
        </p:blipFill>
        <p:spPr>
          <a:xfrm>
            <a:off x="838200" y="1690688"/>
            <a:ext cx="5967369" cy="4351338"/>
          </a:xfrm>
          <a:prstGeom prst="rect">
            <a:avLst/>
          </a:prstGeom>
        </p:spPr>
      </p:pic>
      <p:pic>
        <p:nvPicPr>
          <p:cNvPr id="5" name="Picture 4">
            <a:extLst>
              <a:ext uri="{FF2B5EF4-FFF2-40B4-BE49-F238E27FC236}">
                <a16:creationId xmlns:a16="http://schemas.microsoft.com/office/drawing/2014/main" id="{E830E4BE-D41A-7DAD-98AE-6E55A29A64DD}"/>
              </a:ext>
            </a:extLst>
          </p:cNvPr>
          <p:cNvPicPr>
            <a:picLocks noChangeAspect="1"/>
          </p:cNvPicPr>
          <p:nvPr/>
        </p:nvPicPr>
        <p:blipFill>
          <a:blip r:embed="rId3"/>
          <a:stretch>
            <a:fillRect/>
          </a:stretch>
        </p:blipFill>
        <p:spPr>
          <a:xfrm>
            <a:off x="7072710" y="1512655"/>
            <a:ext cx="4370137" cy="4529371"/>
          </a:xfrm>
          <a:prstGeom prst="rect">
            <a:avLst/>
          </a:prstGeom>
        </p:spPr>
      </p:pic>
    </p:spTree>
    <p:extLst>
      <p:ext uri="{BB962C8B-B14F-4D97-AF65-F5344CB8AC3E}">
        <p14:creationId xmlns:p14="http://schemas.microsoft.com/office/powerpoint/2010/main" val="5880774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1E62-AAA1-0009-E31A-1E812135156C}"/>
              </a:ext>
            </a:extLst>
          </p:cNvPr>
          <p:cNvSpPr>
            <a:spLocks noGrp="1"/>
          </p:cNvSpPr>
          <p:nvPr>
            <p:ph type="title"/>
          </p:nvPr>
        </p:nvSpPr>
        <p:spPr/>
        <p:txBody>
          <a:bodyPr>
            <a:normAutofit/>
          </a:bodyPr>
          <a:lstStyle/>
          <a:p>
            <a:r>
              <a:rPr lang="en-US" dirty="0">
                <a:ea typeface="Fira Sans"/>
                <a:cs typeface="Fira Sans"/>
                <a:sym typeface="Fira Sans"/>
              </a:rPr>
              <a:t>Indication of Unauthorized Access Incidents</a:t>
            </a:r>
            <a:endParaRPr lang="en-ID" dirty="0"/>
          </a:p>
        </p:txBody>
      </p:sp>
      <p:sp>
        <p:nvSpPr>
          <p:cNvPr id="3" name="Content Placeholder 2">
            <a:extLst>
              <a:ext uri="{FF2B5EF4-FFF2-40B4-BE49-F238E27FC236}">
                <a16:creationId xmlns:a16="http://schemas.microsoft.com/office/drawing/2014/main" id="{DAA02DDB-1BCD-532C-EFCF-E9DF1D8C124A}"/>
              </a:ext>
            </a:extLst>
          </p:cNvPr>
          <p:cNvSpPr>
            <a:spLocks noGrp="1"/>
          </p:cNvSpPr>
          <p:nvPr>
            <p:ph idx="1"/>
          </p:nvPr>
        </p:nvSpPr>
        <p:spPr/>
        <p:txBody>
          <a:bodyPr/>
          <a:lstStyle/>
          <a:p>
            <a:endParaRPr lang="en-ID" dirty="0"/>
          </a:p>
        </p:txBody>
      </p:sp>
      <p:sp>
        <p:nvSpPr>
          <p:cNvPr id="4" name="Google Shape;1273;p25">
            <a:extLst>
              <a:ext uri="{FF2B5EF4-FFF2-40B4-BE49-F238E27FC236}">
                <a16:creationId xmlns:a16="http://schemas.microsoft.com/office/drawing/2014/main" id="{1EBF8868-44CA-02FE-69F5-3F653BBFEFDB}"/>
              </a:ext>
            </a:extLst>
          </p:cNvPr>
          <p:cNvSpPr/>
          <p:nvPr/>
        </p:nvSpPr>
        <p:spPr>
          <a:xfrm>
            <a:off x="2685916" y="4340091"/>
            <a:ext cx="52" cy="487307"/>
          </a:xfrm>
          <a:custGeom>
            <a:avLst/>
            <a:gdLst/>
            <a:ahLst/>
            <a:cxnLst/>
            <a:rect l="l" t="t" r="r" b="b"/>
            <a:pathLst>
              <a:path w="1" h="9883" extrusionOk="0">
                <a:moveTo>
                  <a:pt x="1" y="1"/>
                </a:moveTo>
                <a:lnTo>
                  <a:pt x="1" y="9883"/>
                </a:lnTo>
              </a:path>
            </a:pathLst>
          </a:custGeom>
          <a:solidFill>
            <a:srgbClr val="251733"/>
          </a:solidFill>
          <a:ln>
            <a:noFill/>
          </a:ln>
        </p:spPr>
        <p:txBody>
          <a:bodyPr spcFirstLastPara="1" wrap="square" lIns="121900" tIns="121900" rIns="121900" bIns="121900" anchor="ctr" anchorCtr="0">
            <a:noAutofit/>
          </a:bodyPr>
          <a:lstStyle/>
          <a:p>
            <a:endParaRPr sz="2400"/>
          </a:p>
        </p:txBody>
      </p:sp>
      <p:sp>
        <p:nvSpPr>
          <p:cNvPr id="5" name="Google Shape;1275;p25">
            <a:extLst>
              <a:ext uri="{FF2B5EF4-FFF2-40B4-BE49-F238E27FC236}">
                <a16:creationId xmlns:a16="http://schemas.microsoft.com/office/drawing/2014/main" id="{B70AAAEA-95B7-1267-3C21-63841A9D4566}"/>
              </a:ext>
            </a:extLst>
          </p:cNvPr>
          <p:cNvSpPr/>
          <p:nvPr/>
        </p:nvSpPr>
        <p:spPr>
          <a:xfrm>
            <a:off x="2067332" y="4340091"/>
            <a:ext cx="52" cy="487307"/>
          </a:xfrm>
          <a:custGeom>
            <a:avLst/>
            <a:gdLst/>
            <a:ahLst/>
            <a:cxnLst/>
            <a:rect l="l" t="t" r="r" b="b"/>
            <a:pathLst>
              <a:path w="1" h="9883" extrusionOk="0">
                <a:moveTo>
                  <a:pt x="0" y="1"/>
                </a:moveTo>
                <a:lnTo>
                  <a:pt x="0" y="9883"/>
                </a:lnTo>
              </a:path>
            </a:pathLst>
          </a:custGeom>
          <a:solidFill>
            <a:srgbClr val="251733"/>
          </a:solidFill>
          <a:ln>
            <a:noFill/>
          </a:ln>
        </p:spPr>
        <p:txBody>
          <a:bodyPr spcFirstLastPara="1" wrap="square" lIns="121900" tIns="121900" rIns="121900" bIns="121900" anchor="ctr" anchorCtr="0">
            <a:noAutofit/>
          </a:bodyPr>
          <a:lstStyle/>
          <a:p>
            <a:endParaRPr sz="2400"/>
          </a:p>
        </p:txBody>
      </p:sp>
      <p:graphicFrame>
        <p:nvGraphicFramePr>
          <p:cNvPr id="6" name="Google Shape;446;p20">
            <a:extLst>
              <a:ext uri="{FF2B5EF4-FFF2-40B4-BE49-F238E27FC236}">
                <a16:creationId xmlns:a16="http://schemas.microsoft.com/office/drawing/2014/main" id="{0ABAFC49-C66E-2E6F-028E-A54FF24B762B}"/>
              </a:ext>
            </a:extLst>
          </p:cNvPr>
          <p:cNvGraphicFramePr/>
          <p:nvPr>
            <p:extLst>
              <p:ext uri="{D42A27DB-BD31-4B8C-83A1-F6EECF244321}">
                <p14:modId xmlns:p14="http://schemas.microsoft.com/office/powerpoint/2010/main" val="792331989"/>
              </p:ext>
            </p:extLst>
          </p:nvPr>
        </p:nvGraphicFramePr>
        <p:xfrm>
          <a:off x="564650" y="1362541"/>
          <a:ext cx="5227782" cy="4937600"/>
        </p:xfrm>
        <a:graphic>
          <a:graphicData uri="http://schemas.openxmlformats.org/drawingml/2006/table">
            <a:tbl>
              <a:tblPr>
                <a:noFill/>
              </a:tblPr>
              <a:tblGrid>
                <a:gridCol w="2196121">
                  <a:extLst>
                    <a:ext uri="{9D8B030D-6E8A-4147-A177-3AD203B41FA5}">
                      <a16:colId xmlns:a16="http://schemas.microsoft.com/office/drawing/2014/main" val="20000"/>
                    </a:ext>
                  </a:extLst>
                </a:gridCol>
                <a:gridCol w="3031661">
                  <a:extLst>
                    <a:ext uri="{9D8B030D-6E8A-4147-A177-3AD203B41FA5}">
                      <a16:colId xmlns:a16="http://schemas.microsoft.com/office/drawing/2014/main" val="20001"/>
                    </a:ext>
                  </a:extLst>
                </a:gridCol>
              </a:tblGrid>
              <a:tr h="982910">
                <a:tc>
                  <a:txBody>
                    <a:bodyPr/>
                    <a:lstStyle/>
                    <a:p>
                      <a:pPr marL="0" lvl="0" indent="0" algn="l" rtl="0">
                        <a:spcBef>
                          <a:spcPts val="0"/>
                        </a:spcBef>
                        <a:spcAft>
                          <a:spcPts val="0"/>
                        </a:spcAft>
                        <a:buNone/>
                      </a:pPr>
                      <a:r>
                        <a:rPr lang="en" sz="1000" b="1" dirty="0">
                          <a:solidFill>
                            <a:schemeClr val="lt1"/>
                          </a:solidFill>
                          <a:latin typeface="Georgia" panose="02040502050405020303" pitchFamily="18" charset="0"/>
                          <a:ea typeface="Fira Sans"/>
                          <a:cs typeface="Fira Sans"/>
                          <a:sym typeface="Fira Sans"/>
                        </a:rPr>
                        <a:t>Physical Instrusion</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 sz="1000" dirty="0">
                          <a:solidFill>
                            <a:srgbClr val="000000"/>
                          </a:solidFill>
                          <a:latin typeface="Georgia" panose="02040502050405020303" pitchFamily="18" charset="0"/>
                          <a:ea typeface="Fira Sans"/>
                          <a:cs typeface="Fira Sans"/>
                          <a:sym typeface="Fira Sans"/>
                        </a:rPr>
                        <a:t>User Reports regarding network or system unavailability</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000" dirty="0">
                          <a:solidFill>
                            <a:srgbClr val="000000"/>
                          </a:solidFill>
                          <a:latin typeface="Georgia" panose="02040502050405020303" pitchFamily="18" charset="0"/>
                          <a:sym typeface="Fira Sans"/>
                        </a:rPr>
                        <a:t>System status changes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000" dirty="0">
                          <a:solidFill>
                            <a:srgbClr val="000000"/>
                          </a:solidFill>
                          <a:latin typeface="Georgia" panose="02040502050405020303" pitchFamily="18" charset="0"/>
                          <a:sym typeface="Fira Sans"/>
                        </a:rPr>
                        <a:t>Misplaced Hardware Parts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000" dirty="0">
                          <a:solidFill>
                            <a:srgbClr val="000000"/>
                          </a:solidFill>
                          <a:latin typeface="Georgia" panose="02040502050405020303" pitchFamily="18" charset="0"/>
                          <a:sym typeface="Fira Sans"/>
                        </a:rPr>
                        <a:t>Unauthorized hardware found</a:t>
                      </a:r>
                      <a:endParaRPr sz="10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280773">
                <a:tc>
                  <a:txBody>
                    <a:bodyPr/>
                    <a:lstStyle/>
                    <a:p>
                      <a:pPr marL="0" lvl="0" indent="0" algn="l" rtl="0">
                        <a:spcBef>
                          <a:spcPts val="0"/>
                        </a:spcBef>
                        <a:spcAft>
                          <a:spcPts val="0"/>
                        </a:spcAft>
                        <a:buNone/>
                      </a:pPr>
                      <a:r>
                        <a:rPr lang="en" sz="1000" b="1" dirty="0">
                          <a:solidFill>
                            <a:schemeClr val="lt1"/>
                          </a:solidFill>
                          <a:latin typeface="Georgia" panose="02040502050405020303" pitchFamily="18" charset="0"/>
                          <a:ea typeface="Fira Sans"/>
                          <a:cs typeface="Fira Sans"/>
                          <a:sym typeface="Fira Sans"/>
                        </a:rPr>
                        <a:t>Changes in System Configuration</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3"/>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ea typeface="Fira Sans"/>
                          <a:cs typeface="Fira Sans"/>
                          <a:sym typeface="Fira Sans"/>
                        </a:rPr>
                        <a:t>Modifications or addition of services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Unpredicted open ports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Network Interface card set to promiscuous mode</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Suspicious tools or exploits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Unauthorized system shuts down or restarts</a:t>
                      </a:r>
                      <a:endParaRPr lang="en-US" sz="10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1429705">
                <a:tc>
                  <a:txBody>
                    <a:bodyPr/>
                    <a:lstStyle/>
                    <a:p>
                      <a:pPr marL="0" lvl="0" indent="0" algn="l" rtl="0">
                        <a:spcBef>
                          <a:spcPts val="0"/>
                        </a:spcBef>
                        <a:spcAft>
                          <a:spcPts val="0"/>
                        </a:spcAft>
                        <a:buNone/>
                      </a:pPr>
                      <a:r>
                        <a:rPr lang="en" sz="1000" b="1" dirty="0">
                          <a:solidFill>
                            <a:schemeClr val="lt1"/>
                          </a:solidFill>
                          <a:latin typeface="Georgia" panose="02040502050405020303" pitchFamily="18" charset="0"/>
                          <a:ea typeface="Fira Sans"/>
                          <a:cs typeface="Fira Sans"/>
                          <a:sym typeface="Fira Sans"/>
                        </a:rPr>
                        <a:t>Changes in Network</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4"/>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ea typeface="Fira Sans"/>
                          <a:cs typeface="Fira Sans"/>
                          <a:sym typeface="Fira Sans"/>
                        </a:rPr>
                        <a:t>Strange network traffic</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User reports of system unavailability</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Alerts of network and host intrusion detection</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solidFill>
                            <a:srgbClr val="000000"/>
                          </a:solidFill>
                          <a:latin typeface="Georgia" panose="02040502050405020303" pitchFamily="18" charset="0"/>
                          <a:sym typeface="Fira Sans"/>
                        </a:rPr>
                        <a:t>IDS, IPS, and firewall alert for data access through FTP, HTTP, and other protocols</a:t>
                      </a:r>
                    </a:p>
                    <a:p>
                      <a:pPr marL="171450" marR="0" lvl="0" indent="-171450" algn="just" rtl="0">
                        <a:spcBef>
                          <a:spcPts val="0"/>
                        </a:spcBef>
                        <a:spcAft>
                          <a:spcPts val="0"/>
                        </a:spcAft>
                        <a:buClr>
                          <a:srgbClr val="000000"/>
                        </a:buClr>
                        <a:buSzPts val="1100"/>
                        <a:buFont typeface="Arial" panose="020B0604020202020204" pitchFamily="34" charset="0"/>
                        <a:buChar char="•"/>
                      </a:pPr>
                      <a:endParaRPr lang="en-US" sz="10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1131841">
                <a:tc>
                  <a:txBody>
                    <a:bodyPr/>
                    <a:lstStyle/>
                    <a:p>
                      <a:pPr marL="0" lvl="0" indent="0" algn="l" rtl="0">
                        <a:spcBef>
                          <a:spcPts val="0"/>
                        </a:spcBef>
                        <a:spcAft>
                          <a:spcPts val="0"/>
                        </a:spcAft>
                        <a:buNone/>
                      </a:pPr>
                      <a:r>
                        <a:rPr lang="en" sz="1000" b="1" dirty="0">
                          <a:solidFill>
                            <a:schemeClr val="lt1"/>
                          </a:solidFill>
                          <a:latin typeface="Georgia" panose="02040502050405020303" pitchFamily="18" charset="0"/>
                          <a:ea typeface="Fira Sans"/>
                          <a:cs typeface="Fira Sans"/>
                          <a:sym typeface="Fira Sans"/>
                        </a:rPr>
                        <a:t>Changes in Administrator Settings</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lgn="ctr">
                      <a:solidFill>
                        <a:srgbClr val="FFFFFF"/>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5"/>
                    </a:solidFill>
                  </a:tcPr>
                </a:tc>
                <a:tc>
                  <a:txBody>
                    <a:bodyPr/>
                    <a:lstStyle/>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Changes in log and audit policies</a:t>
                      </a:r>
                    </a:p>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Creation of new admin account or user  account</a:t>
                      </a:r>
                    </a:p>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Change in critical files such as OS files, system library</a:t>
                      </a:r>
                    </a:p>
                    <a:p>
                      <a:pPr marL="0" marR="0" lvl="0" indent="0" algn="just" rtl="0">
                        <a:spcBef>
                          <a:spcPts val="0"/>
                        </a:spcBef>
                        <a:spcAft>
                          <a:spcPts val="0"/>
                        </a:spcAft>
                        <a:buFont typeface="Arial" panose="020B0604020202020204" pitchFamily="34" charset="0"/>
                        <a:buNone/>
                      </a:pPr>
                      <a:r>
                        <a:rPr lang="en-US" sz="1000" dirty="0">
                          <a:latin typeface="Georgia" panose="02040502050405020303" pitchFamily="18" charset="0"/>
                          <a:ea typeface="Fira Sans"/>
                          <a:cs typeface="Fira Sans"/>
                          <a:sym typeface="Fira Sans"/>
                        </a:rPr>
                        <a:t>   </a:t>
                      </a:r>
                      <a:endParaRPr sz="1000" dirty="0">
                        <a:latin typeface="Georgia" panose="02040502050405020303" pitchFamily="18" charset="0"/>
                        <a:ea typeface="Fira Sans"/>
                        <a:cs typeface="Fira Sans"/>
                        <a:sym typeface="Fira Sans"/>
                      </a:endParaRPr>
                    </a:p>
                  </a:txBody>
                  <a:tcPr marL="243833" marR="365733" marT="121900" marB="121900" anchor="ctr">
                    <a:lnL w="38100" cap="flat" cmpd="sng" algn="ctr">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graphicFrame>
        <p:nvGraphicFramePr>
          <p:cNvPr id="7" name="Google Shape;446;p20">
            <a:extLst>
              <a:ext uri="{FF2B5EF4-FFF2-40B4-BE49-F238E27FC236}">
                <a16:creationId xmlns:a16="http://schemas.microsoft.com/office/drawing/2014/main" id="{F3659ADD-ADA6-CDFB-0065-3EEC5485AE59}"/>
              </a:ext>
            </a:extLst>
          </p:cNvPr>
          <p:cNvGraphicFramePr/>
          <p:nvPr>
            <p:extLst>
              <p:ext uri="{D42A27DB-BD31-4B8C-83A1-F6EECF244321}">
                <p14:modId xmlns:p14="http://schemas.microsoft.com/office/powerpoint/2010/main" val="2134660242"/>
              </p:ext>
            </p:extLst>
          </p:nvPr>
        </p:nvGraphicFramePr>
        <p:xfrm>
          <a:off x="6096001" y="1474913"/>
          <a:ext cx="5902963" cy="3038751"/>
        </p:xfrm>
        <a:graphic>
          <a:graphicData uri="http://schemas.openxmlformats.org/drawingml/2006/table">
            <a:tbl>
              <a:tblPr>
                <a:noFill/>
              </a:tblPr>
              <a:tblGrid>
                <a:gridCol w="2479755">
                  <a:extLst>
                    <a:ext uri="{9D8B030D-6E8A-4147-A177-3AD203B41FA5}">
                      <a16:colId xmlns:a16="http://schemas.microsoft.com/office/drawing/2014/main" val="20000"/>
                    </a:ext>
                  </a:extLst>
                </a:gridCol>
                <a:gridCol w="3423208">
                  <a:extLst>
                    <a:ext uri="{9D8B030D-6E8A-4147-A177-3AD203B41FA5}">
                      <a16:colId xmlns:a16="http://schemas.microsoft.com/office/drawing/2014/main" val="20001"/>
                    </a:ext>
                  </a:extLst>
                </a:gridCol>
              </a:tblGrid>
              <a:tr h="1027138">
                <a:tc>
                  <a:txBody>
                    <a:bodyPr/>
                    <a:lstStyle/>
                    <a:p>
                      <a:pPr marL="0" lvl="0" indent="0" algn="l" rtl="0">
                        <a:spcBef>
                          <a:spcPts val="0"/>
                        </a:spcBef>
                        <a:spcAft>
                          <a:spcPts val="0"/>
                        </a:spcAft>
                        <a:buNone/>
                      </a:pPr>
                      <a:r>
                        <a:rPr lang="en-US" sz="1000" b="1" dirty="0">
                          <a:solidFill>
                            <a:schemeClr val="lt1"/>
                          </a:solidFill>
                          <a:latin typeface="Georgia" panose="02040502050405020303" pitchFamily="18" charset="0"/>
                          <a:ea typeface="Fira Sans"/>
                          <a:cs typeface="Fira Sans"/>
                          <a:sym typeface="Fira Sans"/>
                        </a:rPr>
                        <a:t>Unauthorized Data Access</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rgbClr val="92D050"/>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latin typeface="Georgia" panose="02040502050405020303" pitchFamily="18" charset="0"/>
                        </a:rPr>
                        <a:t>IDS/IPS system alerts of attempts to gain access to the restricted data</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latin typeface="Georgia" panose="02040502050405020303" pitchFamily="18" charset="0"/>
                        </a:rPr>
                        <a:t>Logs system showing attempts to critical and sensitive data or files</a:t>
                      </a:r>
                      <a:endParaRPr sz="1000" dirty="0">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2011613">
                <a:tc>
                  <a:txBody>
                    <a:bodyPr/>
                    <a:lstStyle/>
                    <a:p>
                      <a:pPr marL="0" lvl="0" indent="0" algn="l" rtl="0">
                        <a:spcBef>
                          <a:spcPts val="0"/>
                        </a:spcBef>
                        <a:spcAft>
                          <a:spcPts val="0"/>
                        </a:spcAft>
                        <a:buNone/>
                      </a:pPr>
                      <a:r>
                        <a:rPr lang="en-US" sz="1000" b="1" dirty="0">
                          <a:solidFill>
                            <a:schemeClr val="lt1"/>
                          </a:solidFill>
                          <a:latin typeface="Georgia" panose="02040502050405020303" pitchFamily="18" charset="0"/>
                          <a:ea typeface="Fira Sans"/>
                          <a:cs typeface="Fira Sans"/>
                          <a:sym typeface="Fira Sans"/>
                        </a:rPr>
                        <a:t>Unauthorized Usage of Standard User Account</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lgn="ctr">
                      <a:solidFill>
                        <a:srgbClr val="FFFFFF"/>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tx1">
                        <a:lumMod val="65000"/>
                        <a:lumOff val="35000"/>
                      </a:schemeClr>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latin typeface="Georgia" panose="02040502050405020303" pitchFamily="18" charset="0"/>
                        </a:rPr>
                        <a:t>Usage of secret account</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latin typeface="Georgia" panose="02040502050405020303" pitchFamily="18" charset="0"/>
                        </a:rPr>
                        <a:t>Unauthorized access attempts to important files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000" dirty="0">
                          <a:latin typeface="Georgia" panose="02040502050405020303" pitchFamily="18" charset="0"/>
                        </a:rPr>
                        <a:t>Logs showing downloads of the attacker’s tools</a:t>
                      </a:r>
                    </a:p>
                  </a:txBody>
                  <a:tcPr marL="243833" marR="365733" marT="121900" marB="121900" anchor="ctr">
                    <a:lnL w="38100" cap="flat" cmpd="sng" algn="ctr">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F9AA9DAB-051D-8513-6CFE-5096EAA551AF}"/>
              </a:ext>
            </a:extLst>
          </p:cNvPr>
          <p:cNvGraphicFramePr>
            <a:graphicFrameLocks noGrp="1"/>
          </p:cNvGraphicFramePr>
          <p:nvPr>
            <p:extLst>
              <p:ext uri="{D42A27DB-BD31-4B8C-83A1-F6EECF244321}">
                <p14:modId xmlns:p14="http://schemas.microsoft.com/office/powerpoint/2010/main" val="3420090674"/>
              </p:ext>
            </p:extLst>
          </p:nvPr>
        </p:nvGraphicFramePr>
        <p:xfrm>
          <a:off x="6096000" y="4513665"/>
          <a:ext cx="5902964" cy="1310600"/>
        </p:xfrm>
        <a:graphic>
          <a:graphicData uri="http://schemas.openxmlformats.org/drawingml/2006/table">
            <a:tbl>
              <a:tblPr>
                <a:noFill/>
              </a:tblPr>
              <a:tblGrid>
                <a:gridCol w="2487026">
                  <a:extLst>
                    <a:ext uri="{9D8B030D-6E8A-4147-A177-3AD203B41FA5}">
                      <a16:colId xmlns:a16="http://schemas.microsoft.com/office/drawing/2014/main" val="531463995"/>
                    </a:ext>
                  </a:extLst>
                </a:gridCol>
                <a:gridCol w="3415938">
                  <a:extLst>
                    <a:ext uri="{9D8B030D-6E8A-4147-A177-3AD203B41FA5}">
                      <a16:colId xmlns:a16="http://schemas.microsoft.com/office/drawing/2014/main" val="1320376988"/>
                    </a:ext>
                  </a:extLst>
                </a:gridCol>
              </a:tblGrid>
              <a:tr h="1254970">
                <a:tc>
                  <a:txBody>
                    <a:bodyPr/>
                    <a:lstStyle/>
                    <a:p>
                      <a:pPr marL="0" lvl="0" indent="0" algn="l" rtl="0">
                        <a:spcBef>
                          <a:spcPts val="0"/>
                        </a:spcBef>
                        <a:spcAft>
                          <a:spcPts val="0"/>
                        </a:spcAft>
                        <a:buNone/>
                      </a:pPr>
                      <a:r>
                        <a:rPr lang="en-US" sz="1000" b="1" dirty="0">
                          <a:solidFill>
                            <a:schemeClr val="lt1"/>
                          </a:solidFill>
                          <a:latin typeface="Georgia" panose="02040502050405020303" pitchFamily="18" charset="0"/>
                          <a:ea typeface="Fira Sans"/>
                          <a:cs typeface="Fira Sans"/>
                          <a:sym typeface="Fira Sans"/>
                        </a:rPr>
                        <a:t>Unauthorized Data Modification</a:t>
                      </a:r>
                      <a:endParaRPr sz="10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lgn="ctr">
                      <a:solidFill>
                        <a:srgbClr val="FFFFFF"/>
                      </a:solidFill>
                      <a:prstDash val="solid"/>
                      <a:round/>
                      <a:headEnd type="none" w="sm" len="sm"/>
                      <a:tailEnd type="none" w="sm" len="sm"/>
                    </a:lnR>
                    <a:lnT w="38100" cap="flat" cmpd="sng" algn="ctr">
                      <a:solidFill>
                        <a:schemeClr val="lt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5"/>
                    </a:solidFill>
                  </a:tcPr>
                </a:tc>
                <a:tc>
                  <a:txBody>
                    <a:bodyPr/>
                    <a:lstStyle/>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User reports regarding unexpected data modifications</a:t>
                      </a:r>
                    </a:p>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Changes in critical </a:t>
                      </a:r>
                      <a:r>
                        <a:rPr lang="en-US" sz="1000" dirty="0" err="1">
                          <a:latin typeface="Georgia" panose="02040502050405020303" pitchFamily="18" charset="0"/>
                          <a:ea typeface="Fira Sans"/>
                          <a:cs typeface="Fira Sans"/>
                          <a:sym typeface="Fira Sans"/>
                        </a:rPr>
                        <a:t>fiels</a:t>
                      </a:r>
                      <a:endParaRPr lang="en-US" sz="1000" dirty="0">
                        <a:latin typeface="Georgia" panose="02040502050405020303" pitchFamily="18" charset="0"/>
                        <a:ea typeface="Fira Sans"/>
                        <a:cs typeface="Fira Sans"/>
                        <a:sym typeface="Fira Sans"/>
                      </a:endParaRPr>
                    </a:p>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Creation of new files or directories with unusual names</a:t>
                      </a:r>
                    </a:p>
                    <a:p>
                      <a:pPr marL="171450" marR="0" lvl="0" indent="-171450" algn="just" rtl="0">
                        <a:spcBef>
                          <a:spcPts val="0"/>
                        </a:spcBef>
                        <a:spcAft>
                          <a:spcPts val="0"/>
                        </a:spcAft>
                        <a:buFont typeface="Arial" panose="020B0604020202020204" pitchFamily="34" charset="0"/>
                        <a:buChar char="•"/>
                      </a:pPr>
                      <a:r>
                        <a:rPr lang="en-US" sz="1000" dirty="0">
                          <a:latin typeface="Georgia" panose="02040502050405020303" pitchFamily="18" charset="0"/>
                          <a:ea typeface="Fira Sans"/>
                          <a:cs typeface="Fira Sans"/>
                          <a:sym typeface="Fira Sans"/>
                        </a:rPr>
                        <a:t>Logs entries showing access attempts to the critical files</a:t>
                      </a:r>
                      <a:endParaRPr sz="1000" dirty="0">
                        <a:latin typeface="Georgia" panose="02040502050405020303" pitchFamily="18" charset="0"/>
                        <a:ea typeface="Fira Sans"/>
                        <a:cs typeface="Fira Sans"/>
                        <a:sym typeface="Fira Sans"/>
                      </a:endParaRPr>
                    </a:p>
                  </a:txBody>
                  <a:tcPr marL="243833" marR="365733" marT="121900" marB="121900" anchor="ctr">
                    <a:lnL w="38100" cap="flat" cmpd="sng" algn="ctr">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lgn="ctr">
                      <a:solidFill>
                        <a:schemeClr val="lt1"/>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2"/>
                    </a:solidFill>
                  </a:tcPr>
                </a:tc>
                <a:extLst>
                  <a:ext uri="{0D108BD9-81ED-4DB2-BD59-A6C34878D82A}">
                    <a16:rowId xmlns:a16="http://schemas.microsoft.com/office/drawing/2014/main" val="4010613593"/>
                  </a:ext>
                </a:extLst>
              </a:tr>
            </a:tbl>
          </a:graphicData>
        </a:graphic>
      </p:graphicFrame>
    </p:spTree>
    <p:extLst>
      <p:ext uri="{BB962C8B-B14F-4D97-AF65-F5344CB8AC3E}">
        <p14:creationId xmlns:p14="http://schemas.microsoft.com/office/powerpoint/2010/main" val="26881434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0C64-C192-2EEE-AAFF-F733347BE2F5}"/>
              </a:ext>
            </a:extLst>
          </p:cNvPr>
          <p:cNvSpPr>
            <a:spLocks noGrp="1"/>
          </p:cNvSpPr>
          <p:nvPr>
            <p:ph type="title"/>
          </p:nvPr>
        </p:nvSpPr>
        <p:spPr/>
        <p:txBody>
          <a:bodyPr/>
          <a:lstStyle/>
          <a:p>
            <a:r>
              <a:rPr lang="en-US" dirty="0">
                <a:ea typeface="Fira Sans"/>
                <a:cs typeface="Fira Sans"/>
                <a:sym typeface="Fira Sans"/>
              </a:rPr>
              <a:t>Incident of Inappropriate Usage</a:t>
            </a:r>
            <a:endParaRPr lang="en-ID" dirty="0"/>
          </a:p>
        </p:txBody>
      </p:sp>
      <p:sp>
        <p:nvSpPr>
          <p:cNvPr id="3" name="Content Placeholder 2">
            <a:extLst>
              <a:ext uri="{FF2B5EF4-FFF2-40B4-BE49-F238E27FC236}">
                <a16:creationId xmlns:a16="http://schemas.microsoft.com/office/drawing/2014/main" id="{14A83ADB-DDAD-E6D0-87A4-7104F998136B}"/>
              </a:ext>
            </a:extLst>
          </p:cNvPr>
          <p:cNvSpPr>
            <a:spLocks noGrp="1"/>
          </p:cNvSpPr>
          <p:nvPr>
            <p:ph idx="1"/>
          </p:nvPr>
        </p:nvSpPr>
        <p:spPr>
          <a:xfrm>
            <a:off x="838200" y="1825625"/>
            <a:ext cx="7648074" cy="4351338"/>
          </a:xfrm>
        </p:spPr>
        <p:txBody>
          <a:bodyPr>
            <a:normAutofit/>
          </a:bodyPr>
          <a:lstStyle/>
          <a:p>
            <a:r>
              <a:rPr lang="en-US" dirty="0"/>
              <a:t>An inappropriate usage incident results when a user abuses the acceptable use policy.</a:t>
            </a:r>
          </a:p>
          <a:p>
            <a:r>
              <a:rPr lang="en-US" dirty="0"/>
              <a:t>Examples :</a:t>
            </a:r>
          </a:p>
          <a:p>
            <a:pPr lvl="1"/>
            <a:r>
              <a:rPr lang="en-US" dirty="0"/>
              <a:t>Sending critical data outside the company</a:t>
            </a:r>
          </a:p>
          <a:p>
            <a:pPr lvl="1"/>
            <a:r>
              <a:rPr lang="en-US" dirty="0"/>
              <a:t>Downloading tools not matching for their jobs</a:t>
            </a:r>
          </a:p>
          <a:p>
            <a:pPr lvl="1"/>
            <a:r>
              <a:rPr lang="en-US" dirty="0"/>
              <a:t>Sending spam emails which promote the personal business</a:t>
            </a:r>
          </a:p>
          <a:p>
            <a:pPr lvl="1"/>
            <a:r>
              <a:rPr lang="en-US" dirty="0"/>
              <a:t>Performing cyber security attack against other organizations using the company’s resources</a:t>
            </a:r>
          </a:p>
          <a:p>
            <a:pPr lvl="1"/>
            <a:r>
              <a:rPr lang="en-US" dirty="0" err="1"/>
              <a:t>etc</a:t>
            </a:r>
            <a:endParaRPr lang="en-US" dirty="0"/>
          </a:p>
          <a:p>
            <a:endParaRPr lang="en-ID" dirty="0"/>
          </a:p>
        </p:txBody>
      </p:sp>
      <p:grpSp>
        <p:nvGrpSpPr>
          <p:cNvPr id="7" name="Google Shape;2335;p32">
            <a:extLst>
              <a:ext uri="{FF2B5EF4-FFF2-40B4-BE49-F238E27FC236}">
                <a16:creationId xmlns:a16="http://schemas.microsoft.com/office/drawing/2014/main" id="{3542811C-95F7-4450-AE02-6600156B0C2E}"/>
              </a:ext>
            </a:extLst>
          </p:cNvPr>
          <p:cNvGrpSpPr/>
          <p:nvPr/>
        </p:nvGrpSpPr>
        <p:grpSpPr>
          <a:xfrm>
            <a:off x="8610219" y="1980594"/>
            <a:ext cx="2865120" cy="2896811"/>
            <a:chOff x="2874288" y="1572950"/>
            <a:chExt cx="3360871" cy="2758870"/>
          </a:xfrm>
        </p:grpSpPr>
        <p:sp>
          <p:nvSpPr>
            <p:cNvPr id="8" name="Google Shape;2336;p32">
              <a:extLst>
                <a:ext uri="{FF2B5EF4-FFF2-40B4-BE49-F238E27FC236}">
                  <a16:creationId xmlns:a16="http://schemas.microsoft.com/office/drawing/2014/main" id="{737948F9-6836-4113-A173-AB1DD7D0531B}"/>
                </a:ext>
              </a:extLst>
            </p:cNvPr>
            <p:cNvSpPr/>
            <p:nvPr/>
          </p:nvSpPr>
          <p:spPr>
            <a:xfrm>
              <a:off x="2874288" y="1848875"/>
              <a:ext cx="3360871" cy="2282562"/>
            </a:xfrm>
            <a:custGeom>
              <a:avLst/>
              <a:gdLst/>
              <a:ahLst/>
              <a:cxnLst/>
              <a:rect l="l" t="t" r="r" b="b"/>
              <a:pathLst>
                <a:path w="84833" h="57615" extrusionOk="0">
                  <a:moveTo>
                    <a:pt x="84833" y="57615"/>
                  </a:moveTo>
                  <a:lnTo>
                    <a:pt x="84833" y="42422"/>
                  </a:lnTo>
                  <a:cubicBezTo>
                    <a:pt x="84833" y="18991"/>
                    <a:pt x="65842" y="1"/>
                    <a:pt x="42423" y="1"/>
                  </a:cubicBezTo>
                  <a:lnTo>
                    <a:pt x="42423" y="1"/>
                  </a:lnTo>
                  <a:cubicBezTo>
                    <a:pt x="18991" y="1"/>
                    <a:pt x="1" y="18991"/>
                    <a:pt x="1" y="42422"/>
                  </a:cubicBezTo>
                  <a:lnTo>
                    <a:pt x="1" y="57615"/>
                  </a:lnTo>
                  <a:close/>
                </a:path>
              </a:pathLst>
            </a:custGeom>
            <a:gradFill>
              <a:gsLst>
                <a:gs pos="0">
                  <a:srgbClr val="2A2A9A"/>
                </a:gs>
                <a:gs pos="100000">
                  <a:srgbClr val="111131"/>
                </a:gs>
              </a:gsLst>
              <a:lin ang="5400012" scaled="0"/>
            </a:gradFill>
            <a:ln>
              <a:noFill/>
            </a:ln>
          </p:spPr>
          <p:txBody>
            <a:bodyPr spcFirstLastPara="1" wrap="square" lIns="121900" tIns="121900" rIns="121900" bIns="121900" anchor="ctr" anchorCtr="0">
              <a:noAutofit/>
            </a:bodyPr>
            <a:lstStyle/>
            <a:p>
              <a:endParaRPr sz="2400"/>
            </a:p>
          </p:txBody>
        </p:sp>
        <p:sp>
          <p:nvSpPr>
            <p:cNvPr id="9" name="Google Shape;2337;p32">
              <a:extLst>
                <a:ext uri="{FF2B5EF4-FFF2-40B4-BE49-F238E27FC236}">
                  <a16:creationId xmlns:a16="http://schemas.microsoft.com/office/drawing/2014/main" id="{702118A6-70E0-44EF-A21C-3C463C087BFA}"/>
                </a:ext>
              </a:extLst>
            </p:cNvPr>
            <p:cNvSpPr/>
            <p:nvPr/>
          </p:nvSpPr>
          <p:spPr>
            <a:xfrm>
              <a:off x="2874288" y="3930851"/>
              <a:ext cx="3360871" cy="400969"/>
            </a:xfrm>
            <a:custGeom>
              <a:avLst/>
              <a:gdLst/>
              <a:ahLst/>
              <a:cxnLst/>
              <a:rect l="l" t="t" r="r" b="b"/>
              <a:pathLst>
                <a:path w="84833" h="10121" extrusionOk="0">
                  <a:moveTo>
                    <a:pt x="84833" y="5061"/>
                  </a:moveTo>
                  <a:cubicBezTo>
                    <a:pt x="84833" y="7847"/>
                    <a:pt x="65842" y="10121"/>
                    <a:pt x="42423" y="10121"/>
                  </a:cubicBezTo>
                  <a:cubicBezTo>
                    <a:pt x="18991" y="10121"/>
                    <a:pt x="1" y="7847"/>
                    <a:pt x="1" y="5061"/>
                  </a:cubicBezTo>
                  <a:cubicBezTo>
                    <a:pt x="1" y="2263"/>
                    <a:pt x="18991" y="1"/>
                    <a:pt x="42423" y="1"/>
                  </a:cubicBezTo>
                  <a:cubicBezTo>
                    <a:pt x="65842" y="1"/>
                    <a:pt x="84833" y="2263"/>
                    <a:pt x="84833" y="5061"/>
                  </a:cubicBezTo>
                  <a:close/>
                </a:path>
              </a:pathLst>
            </a:custGeom>
            <a:gradFill>
              <a:gsLst>
                <a:gs pos="0">
                  <a:srgbClr val="A588D1"/>
                </a:gs>
                <a:gs pos="100000">
                  <a:srgbClr val="634393"/>
                </a:gs>
              </a:gsLst>
              <a:lin ang="5400012" scaled="0"/>
            </a:gradFill>
            <a:ln>
              <a:noFill/>
            </a:ln>
          </p:spPr>
          <p:txBody>
            <a:bodyPr spcFirstLastPara="1" wrap="square" lIns="121900" tIns="121900" rIns="121900" bIns="121900" anchor="ctr" anchorCtr="0">
              <a:noAutofit/>
            </a:bodyPr>
            <a:lstStyle/>
            <a:p>
              <a:endParaRPr sz="2400"/>
            </a:p>
          </p:txBody>
        </p:sp>
        <p:sp>
          <p:nvSpPr>
            <p:cNvPr id="10" name="Google Shape;2338;p32">
              <a:extLst>
                <a:ext uri="{FF2B5EF4-FFF2-40B4-BE49-F238E27FC236}">
                  <a16:creationId xmlns:a16="http://schemas.microsoft.com/office/drawing/2014/main" id="{0608285F-34FE-44F1-AC5B-88DC288EEC4E}"/>
                </a:ext>
              </a:extLst>
            </p:cNvPr>
            <p:cNvSpPr/>
            <p:nvPr/>
          </p:nvSpPr>
          <p:spPr>
            <a:xfrm>
              <a:off x="2874288" y="2124800"/>
              <a:ext cx="2059001" cy="2195800"/>
            </a:xfrm>
            <a:custGeom>
              <a:avLst/>
              <a:gdLst/>
              <a:ahLst/>
              <a:cxnLst/>
              <a:rect l="l" t="t" r="r" b="b"/>
              <a:pathLst>
                <a:path w="51972" h="55425" extrusionOk="0">
                  <a:moveTo>
                    <a:pt x="18896" y="1"/>
                  </a:moveTo>
                  <a:lnTo>
                    <a:pt x="1" y="50650"/>
                  </a:lnTo>
                  <a:lnTo>
                    <a:pt x="28397" y="55424"/>
                  </a:lnTo>
                  <a:lnTo>
                    <a:pt x="18670" y="47757"/>
                  </a:lnTo>
                  <a:lnTo>
                    <a:pt x="51971" y="36100"/>
                  </a:lnTo>
                  <a:lnTo>
                    <a:pt x="38517" y="1"/>
                  </a:lnTo>
                  <a:close/>
                </a:path>
              </a:pathLst>
            </a:custGeom>
            <a:gradFill>
              <a:gsLst>
                <a:gs pos="0">
                  <a:srgbClr val="FFFFFF"/>
                </a:gs>
                <a:gs pos="100000">
                  <a:srgbClr val="BEBEBE"/>
                </a:gs>
              </a:gsLst>
              <a:lin ang="5400012" scaled="0"/>
            </a:gradFill>
            <a:ln>
              <a:noFill/>
            </a:ln>
          </p:spPr>
          <p:txBody>
            <a:bodyPr spcFirstLastPara="1" wrap="square" lIns="121900" tIns="121900" rIns="121900" bIns="121900" anchor="ctr" anchorCtr="0">
              <a:noAutofit/>
            </a:bodyPr>
            <a:lstStyle/>
            <a:p>
              <a:endParaRPr sz="2400"/>
            </a:p>
          </p:txBody>
        </p:sp>
        <p:sp>
          <p:nvSpPr>
            <p:cNvPr id="11" name="Google Shape;2339;p32">
              <a:extLst>
                <a:ext uri="{FF2B5EF4-FFF2-40B4-BE49-F238E27FC236}">
                  <a16:creationId xmlns:a16="http://schemas.microsoft.com/office/drawing/2014/main" id="{FEE7E8E8-E42C-4E75-ABAD-0131F5AAA845}"/>
                </a:ext>
              </a:extLst>
            </p:cNvPr>
            <p:cNvSpPr/>
            <p:nvPr/>
          </p:nvSpPr>
          <p:spPr>
            <a:xfrm>
              <a:off x="3261059" y="2124800"/>
              <a:ext cx="1500037" cy="1918913"/>
            </a:xfrm>
            <a:custGeom>
              <a:avLst/>
              <a:gdLst/>
              <a:ahLst/>
              <a:cxnLst/>
              <a:rect l="l" t="t" r="r" b="b"/>
              <a:pathLst>
                <a:path w="37863" h="48436" extrusionOk="0">
                  <a:moveTo>
                    <a:pt x="25754" y="1"/>
                  </a:moveTo>
                  <a:lnTo>
                    <a:pt x="18932" y="1"/>
                  </a:lnTo>
                  <a:lnTo>
                    <a:pt x="12133" y="1"/>
                  </a:lnTo>
                  <a:lnTo>
                    <a:pt x="1" y="48435"/>
                  </a:lnTo>
                  <a:lnTo>
                    <a:pt x="18932" y="48435"/>
                  </a:lnTo>
                  <a:lnTo>
                    <a:pt x="37863" y="48435"/>
                  </a:lnTo>
                  <a:close/>
                </a:path>
              </a:pathLst>
            </a:custGeom>
            <a:solidFill>
              <a:srgbClr val="FFFFFF">
                <a:alpha val="35110"/>
              </a:srgbClr>
            </a:solidFill>
            <a:ln>
              <a:noFill/>
            </a:ln>
          </p:spPr>
          <p:txBody>
            <a:bodyPr spcFirstLastPara="1" wrap="square" lIns="121900" tIns="121900" rIns="121900" bIns="121900" anchor="ctr" anchorCtr="0">
              <a:noAutofit/>
            </a:bodyPr>
            <a:lstStyle/>
            <a:p>
              <a:endParaRPr sz="2400"/>
            </a:p>
          </p:txBody>
        </p:sp>
        <p:sp>
          <p:nvSpPr>
            <p:cNvPr id="12" name="Google Shape;2340;p32">
              <a:extLst>
                <a:ext uri="{FF2B5EF4-FFF2-40B4-BE49-F238E27FC236}">
                  <a16:creationId xmlns:a16="http://schemas.microsoft.com/office/drawing/2014/main" id="{A98E5BFD-8ACB-43E9-B5C5-E2AF8FE5AA60}"/>
                </a:ext>
              </a:extLst>
            </p:cNvPr>
            <p:cNvSpPr/>
            <p:nvPr/>
          </p:nvSpPr>
          <p:spPr>
            <a:xfrm>
              <a:off x="3976128" y="1963959"/>
              <a:ext cx="69846" cy="2014193"/>
            </a:xfrm>
            <a:custGeom>
              <a:avLst/>
              <a:gdLst/>
              <a:ahLst/>
              <a:cxnLst/>
              <a:rect l="l" t="t" r="r" b="b"/>
              <a:pathLst>
                <a:path w="1763" h="50841" extrusionOk="0">
                  <a:moveTo>
                    <a:pt x="1" y="1"/>
                  </a:moveTo>
                  <a:lnTo>
                    <a:pt x="1763" y="1"/>
                  </a:lnTo>
                  <a:lnTo>
                    <a:pt x="1763" y="50840"/>
                  </a:lnTo>
                  <a:lnTo>
                    <a:pt x="1" y="50840"/>
                  </a:ln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13" name="Google Shape;2341;p32">
              <a:extLst>
                <a:ext uri="{FF2B5EF4-FFF2-40B4-BE49-F238E27FC236}">
                  <a16:creationId xmlns:a16="http://schemas.microsoft.com/office/drawing/2014/main" id="{1BBFF079-89ED-4C0C-9797-581356DE1CD5}"/>
                </a:ext>
              </a:extLst>
            </p:cNvPr>
            <p:cNvSpPr/>
            <p:nvPr/>
          </p:nvSpPr>
          <p:spPr>
            <a:xfrm>
              <a:off x="4378468" y="2284254"/>
              <a:ext cx="1268433" cy="1108022"/>
            </a:xfrm>
            <a:custGeom>
              <a:avLst/>
              <a:gdLst/>
              <a:ahLst/>
              <a:cxnLst/>
              <a:rect l="l" t="t" r="r" b="b"/>
              <a:pathLst>
                <a:path w="32017" h="27968" extrusionOk="0">
                  <a:moveTo>
                    <a:pt x="32016" y="0"/>
                  </a:moveTo>
                  <a:lnTo>
                    <a:pt x="10311" y="0"/>
                  </a:lnTo>
                  <a:lnTo>
                    <a:pt x="8133" y="0"/>
                  </a:lnTo>
                  <a:lnTo>
                    <a:pt x="7192" y="0"/>
                  </a:lnTo>
                  <a:cubicBezTo>
                    <a:pt x="4858" y="0"/>
                    <a:pt x="2894" y="1750"/>
                    <a:pt x="2632" y="4072"/>
                  </a:cubicBezTo>
                  <a:lnTo>
                    <a:pt x="1" y="27968"/>
                  </a:lnTo>
                  <a:lnTo>
                    <a:pt x="12478" y="27968"/>
                  </a:lnTo>
                  <a:lnTo>
                    <a:pt x="12478" y="23836"/>
                  </a:lnTo>
                  <a:lnTo>
                    <a:pt x="32005" y="23836"/>
                  </a:lnTo>
                  <a:lnTo>
                    <a:pt x="32005" y="0"/>
                  </a:lnTo>
                  <a:close/>
                </a:path>
              </a:pathLst>
            </a:custGeom>
            <a:gradFill>
              <a:gsLst>
                <a:gs pos="0">
                  <a:srgbClr val="A588D1"/>
                </a:gs>
                <a:gs pos="100000">
                  <a:srgbClr val="634393"/>
                </a:gs>
              </a:gsLst>
              <a:lin ang="5400012" scaled="0"/>
            </a:gradFill>
            <a:ln>
              <a:noFill/>
            </a:ln>
          </p:spPr>
          <p:txBody>
            <a:bodyPr spcFirstLastPara="1" wrap="square" lIns="121900" tIns="121900" rIns="121900" bIns="121900" anchor="ctr" anchorCtr="0">
              <a:noAutofit/>
            </a:bodyPr>
            <a:lstStyle/>
            <a:p>
              <a:endParaRPr sz="2400"/>
            </a:p>
          </p:txBody>
        </p:sp>
        <p:sp>
          <p:nvSpPr>
            <p:cNvPr id="14" name="Google Shape;2342;p32">
              <a:extLst>
                <a:ext uri="{FF2B5EF4-FFF2-40B4-BE49-F238E27FC236}">
                  <a16:creationId xmlns:a16="http://schemas.microsoft.com/office/drawing/2014/main" id="{BE83C44F-FD67-4510-88AB-8B1B3DCB07B8}"/>
                </a:ext>
              </a:extLst>
            </p:cNvPr>
            <p:cNvSpPr/>
            <p:nvPr/>
          </p:nvSpPr>
          <p:spPr>
            <a:xfrm>
              <a:off x="5297282" y="2284254"/>
              <a:ext cx="493911" cy="1108498"/>
            </a:xfrm>
            <a:custGeom>
              <a:avLst/>
              <a:gdLst/>
              <a:ahLst/>
              <a:cxnLst/>
              <a:rect l="l" t="t" r="r" b="b"/>
              <a:pathLst>
                <a:path w="12467" h="27980" extrusionOk="0">
                  <a:moveTo>
                    <a:pt x="12467" y="27980"/>
                  </a:moveTo>
                  <a:lnTo>
                    <a:pt x="1" y="27980"/>
                  </a:lnTo>
                  <a:lnTo>
                    <a:pt x="2632" y="4072"/>
                  </a:lnTo>
                  <a:cubicBezTo>
                    <a:pt x="2882" y="1750"/>
                    <a:pt x="4847" y="0"/>
                    <a:pt x="7180" y="0"/>
                  </a:cubicBezTo>
                  <a:lnTo>
                    <a:pt x="10300" y="0"/>
                  </a:lnTo>
                  <a:cubicBezTo>
                    <a:pt x="11502" y="0"/>
                    <a:pt x="12467" y="964"/>
                    <a:pt x="12467" y="2167"/>
                  </a:cubicBezTo>
                  <a:close/>
                </a:path>
              </a:pathLst>
            </a:custGeom>
            <a:gradFill>
              <a:gsLst>
                <a:gs pos="0">
                  <a:srgbClr val="BA8CC4"/>
                </a:gs>
                <a:gs pos="100000">
                  <a:srgbClr val="784D80"/>
                </a:gs>
              </a:gsLst>
              <a:lin ang="5400012" scaled="0"/>
            </a:gradFill>
            <a:ln>
              <a:noFill/>
            </a:ln>
          </p:spPr>
          <p:txBody>
            <a:bodyPr spcFirstLastPara="1" wrap="square" lIns="121900" tIns="121900" rIns="121900" bIns="121900" anchor="ctr" anchorCtr="0">
              <a:noAutofit/>
            </a:bodyPr>
            <a:lstStyle/>
            <a:p>
              <a:endParaRPr sz="2400"/>
            </a:p>
          </p:txBody>
        </p:sp>
        <p:sp>
          <p:nvSpPr>
            <p:cNvPr id="15" name="Google Shape;2343;p32">
              <a:extLst>
                <a:ext uri="{FF2B5EF4-FFF2-40B4-BE49-F238E27FC236}">
                  <a16:creationId xmlns:a16="http://schemas.microsoft.com/office/drawing/2014/main" id="{289D1F16-B51F-43B3-9E36-8250B45ABF36}"/>
                </a:ext>
              </a:extLst>
            </p:cNvPr>
            <p:cNvSpPr/>
            <p:nvPr/>
          </p:nvSpPr>
          <p:spPr>
            <a:xfrm>
              <a:off x="3779910" y="2935144"/>
              <a:ext cx="786843" cy="1108537"/>
            </a:xfrm>
            <a:custGeom>
              <a:avLst/>
              <a:gdLst/>
              <a:ahLst/>
              <a:cxnLst/>
              <a:rect l="l" t="t" r="r" b="b"/>
              <a:pathLst>
                <a:path w="19861" h="27981" extrusionOk="0">
                  <a:moveTo>
                    <a:pt x="1" y="1"/>
                  </a:moveTo>
                  <a:lnTo>
                    <a:pt x="1" y="27980"/>
                  </a:lnTo>
                  <a:lnTo>
                    <a:pt x="18312" y="27980"/>
                  </a:lnTo>
                  <a:cubicBezTo>
                    <a:pt x="19158" y="27980"/>
                    <a:pt x="19860" y="27290"/>
                    <a:pt x="19836" y="26432"/>
                  </a:cubicBezTo>
                  <a:lnTo>
                    <a:pt x="19836" y="1525"/>
                  </a:lnTo>
                  <a:cubicBezTo>
                    <a:pt x="19836" y="679"/>
                    <a:pt x="19158" y="1"/>
                    <a:pt x="18312" y="1"/>
                  </a:cubicBezTo>
                  <a:close/>
                </a:path>
              </a:pathLst>
            </a:custGeom>
            <a:gradFill>
              <a:gsLst>
                <a:gs pos="0">
                  <a:srgbClr val="A588D1"/>
                </a:gs>
                <a:gs pos="100000">
                  <a:srgbClr val="634393"/>
                </a:gs>
              </a:gsLst>
              <a:lin ang="5400012" scaled="0"/>
            </a:gradFill>
            <a:ln>
              <a:noFill/>
            </a:ln>
          </p:spPr>
          <p:txBody>
            <a:bodyPr spcFirstLastPara="1" wrap="square" lIns="121900" tIns="121900" rIns="121900" bIns="121900" anchor="ctr" anchorCtr="0">
              <a:noAutofit/>
            </a:bodyPr>
            <a:lstStyle/>
            <a:p>
              <a:endParaRPr sz="2400"/>
            </a:p>
          </p:txBody>
        </p:sp>
        <p:sp>
          <p:nvSpPr>
            <p:cNvPr id="16" name="Google Shape;2344;p32">
              <a:extLst>
                <a:ext uri="{FF2B5EF4-FFF2-40B4-BE49-F238E27FC236}">
                  <a16:creationId xmlns:a16="http://schemas.microsoft.com/office/drawing/2014/main" id="{62FB087E-8216-4DB7-A317-78A5565D4062}"/>
                </a:ext>
              </a:extLst>
            </p:cNvPr>
            <p:cNvSpPr/>
            <p:nvPr/>
          </p:nvSpPr>
          <p:spPr>
            <a:xfrm>
              <a:off x="3593596" y="2935144"/>
              <a:ext cx="372682" cy="1108537"/>
            </a:xfrm>
            <a:custGeom>
              <a:avLst/>
              <a:gdLst/>
              <a:ahLst/>
              <a:cxnLst/>
              <a:rect l="l" t="t" r="r" b="b"/>
              <a:pathLst>
                <a:path w="9407" h="27981" extrusionOk="0">
                  <a:moveTo>
                    <a:pt x="9407" y="27980"/>
                  </a:moveTo>
                  <a:lnTo>
                    <a:pt x="1167" y="27980"/>
                  </a:lnTo>
                  <a:cubicBezTo>
                    <a:pt x="524" y="27980"/>
                    <a:pt x="1" y="27456"/>
                    <a:pt x="1" y="26813"/>
                  </a:cubicBezTo>
                  <a:lnTo>
                    <a:pt x="1" y="2763"/>
                  </a:lnTo>
                  <a:cubicBezTo>
                    <a:pt x="1" y="1227"/>
                    <a:pt x="1239" y="1"/>
                    <a:pt x="2775" y="1"/>
                  </a:cubicBezTo>
                  <a:lnTo>
                    <a:pt x="6632" y="1"/>
                  </a:lnTo>
                  <a:cubicBezTo>
                    <a:pt x="8156" y="1"/>
                    <a:pt x="9395" y="1227"/>
                    <a:pt x="9395" y="2763"/>
                  </a:cubicBezTo>
                  <a:lnTo>
                    <a:pt x="9395" y="27980"/>
                  </a:lnTo>
                  <a:close/>
                </a:path>
              </a:pathLst>
            </a:custGeom>
            <a:gradFill>
              <a:gsLst>
                <a:gs pos="0">
                  <a:srgbClr val="BA8CC4"/>
                </a:gs>
                <a:gs pos="100000">
                  <a:srgbClr val="784D80"/>
                </a:gs>
              </a:gsLst>
              <a:lin ang="5400012" scaled="0"/>
            </a:gradFill>
            <a:ln>
              <a:noFill/>
            </a:ln>
          </p:spPr>
          <p:txBody>
            <a:bodyPr spcFirstLastPara="1" wrap="square" lIns="121900" tIns="121900" rIns="121900" bIns="121900" anchor="ctr" anchorCtr="0">
              <a:noAutofit/>
            </a:bodyPr>
            <a:lstStyle/>
            <a:p>
              <a:endParaRPr sz="2400"/>
            </a:p>
          </p:txBody>
        </p:sp>
        <p:sp>
          <p:nvSpPr>
            <p:cNvPr id="17" name="Google Shape;2345;p32">
              <a:extLst>
                <a:ext uri="{FF2B5EF4-FFF2-40B4-BE49-F238E27FC236}">
                  <a16:creationId xmlns:a16="http://schemas.microsoft.com/office/drawing/2014/main" id="{CF450973-3F9A-4351-8641-67A5DCD99657}"/>
                </a:ext>
              </a:extLst>
            </p:cNvPr>
            <p:cNvSpPr/>
            <p:nvPr/>
          </p:nvSpPr>
          <p:spPr>
            <a:xfrm>
              <a:off x="3966224" y="3360619"/>
              <a:ext cx="1150492" cy="332074"/>
            </a:xfrm>
            <a:custGeom>
              <a:avLst/>
              <a:gdLst/>
              <a:ahLst/>
              <a:cxnLst/>
              <a:rect l="l" t="t" r="r" b="b"/>
              <a:pathLst>
                <a:path w="29040" h="8382" extrusionOk="0">
                  <a:moveTo>
                    <a:pt x="1" y="0"/>
                  </a:moveTo>
                  <a:lnTo>
                    <a:pt x="29040" y="0"/>
                  </a:lnTo>
                  <a:lnTo>
                    <a:pt x="29040" y="8382"/>
                  </a:lnTo>
                  <a:lnTo>
                    <a:pt x="1" y="8382"/>
                  </a:lnTo>
                  <a:close/>
                </a:path>
              </a:pathLst>
            </a:custGeom>
            <a:gradFill>
              <a:gsLst>
                <a:gs pos="0">
                  <a:srgbClr val="BA8CC4"/>
                </a:gs>
                <a:gs pos="100000">
                  <a:srgbClr val="784D80"/>
                </a:gs>
              </a:gsLst>
              <a:lin ang="5400012" scaled="0"/>
            </a:gradFill>
            <a:ln>
              <a:noFill/>
            </a:ln>
          </p:spPr>
          <p:txBody>
            <a:bodyPr spcFirstLastPara="1" wrap="square" lIns="121900" tIns="121900" rIns="121900" bIns="121900" anchor="ctr" anchorCtr="0">
              <a:noAutofit/>
            </a:bodyPr>
            <a:lstStyle/>
            <a:p>
              <a:endParaRPr sz="2400"/>
            </a:p>
          </p:txBody>
        </p:sp>
        <p:sp>
          <p:nvSpPr>
            <p:cNvPr id="18" name="Google Shape;2346;p32">
              <a:extLst>
                <a:ext uri="{FF2B5EF4-FFF2-40B4-BE49-F238E27FC236}">
                  <a16:creationId xmlns:a16="http://schemas.microsoft.com/office/drawing/2014/main" id="{A851EB13-13E4-42E0-84C3-A77CDDEC2DE7}"/>
                </a:ext>
              </a:extLst>
            </p:cNvPr>
            <p:cNvSpPr/>
            <p:nvPr/>
          </p:nvSpPr>
          <p:spPr>
            <a:xfrm>
              <a:off x="3966224" y="3692680"/>
              <a:ext cx="1150492" cy="350496"/>
            </a:xfrm>
            <a:custGeom>
              <a:avLst/>
              <a:gdLst/>
              <a:ahLst/>
              <a:cxnLst/>
              <a:rect l="l" t="t" r="r" b="b"/>
              <a:pathLst>
                <a:path w="29040" h="8847" extrusionOk="0">
                  <a:moveTo>
                    <a:pt x="1" y="0"/>
                  </a:moveTo>
                  <a:lnTo>
                    <a:pt x="29040" y="0"/>
                  </a:lnTo>
                  <a:lnTo>
                    <a:pt x="29040" y="8846"/>
                  </a:lnTo>
                  <a:lnTo>
                    <a:pt x="1" y="8846"/>
                  </a:lnTo>
                  <a:close/>
                </a:path>
              </a:pathLst>
            </a:custGeom>
            <a:gradFill>
              <a:gsLst>
                <a:gs pos="0">
                  <a:srgbClr val="A588D1"/>
                </a:gs>
                <a:gs pos="100000">
                  <a:srgbClr val="634393"/>
                </a:gs>
              </a:gsLst>
              <a:lin ang="5400012" scaled="0"/>
            </a:gradFill>
            <a:ln>
              <a:noFill/>
            </a:ln>
          </p:spPr>
          <p:txBody>
            <a:bodyPr spcFirstLastPara="1" wrap="square" lIns="121900" tIns="121900" rIns="121900" bIns="121900" anchor="ctr" anchorCtr="0">
              <a:noAutofit/>
            </a:bodyPr>
            <a:lstStyle/>
            <a:p>
              <a:endParaRPr sz="2400"/>
            </a:p>
          </p:txBody>
        </p:sp>
        <p:sp>
          <p:nvSpPr>
            <p:cNvPr id="19" name="Google Shape;2347;p32">
              <a:extLst>
                <a:ext uri="{FF2B5EF4-FFF2-40B4-BE49-F238E27FC236}">
                  <a16:creationId xmlns:a16="http://schemas.microsoft.com/office/drawing/2014/main" id="{6C82090B-E536-4800-88F2-BC92DC075A79}"/>
                </a:ext>
              </a:extLst>
            </p:cNvPr>
            <p:cNvSpPr/>
            <p:nvPr/>
          </p:nvSpPr>
          <p:spPr>
            <a:xfrm>
              <a:off x="4909124" y="3211069"/>
              <a:ext cx="259455" cy="149596"/>
            </a:xfrm>
            <a:custGeom>
              <a:avLst/>
              <a:gdLst/>
              <a:ahLst/>
              <a:cxnLst/>
              <a:rect l="l" t="t" r="r" b="b"/>
              <a:pathLst>
                <a:path w="6549" h="3776" extrusionOk="0">
                  <a:moveTo>
                    <a:pt x="0" y="1"/>
                  </a:moveTo>
                  <a:lnTo>
                    <a:pt x="0" y="3775"/>
                  </a:lnTo>
                  <a:lnTo>
                    <a:pt x="6549" y="3775"/>
                  </a:lnTo>
                  <a:lnTo>
                    <a:pt x="6549" y="1"/>
                  </a:lnTo>
                  <a:close/>
                </a:path>
              </a:pathLst>
            </a:custGeom>
            <a:solidFill>
              <a:srgbClr val="763B94"/>
            </a:solidFill>
            <a:ln>
              <a:noFill/>
            </a:ln>
          </p:spPr>
          <p:txBody>
            <a:bodyPr spcFirstLastPara="1" wrap="square" lIns="121900" tIns="121900" rIns="121900" bIns="121900" anchor="ctr" anchorCtr="0">
              <a:noAutofit/>
            </a:bodyPr>
            <a:lstStyle/>
            <a:p>
              <a:endParaRPr sz="2400"/>
            </a:p>
          </p:txBody>
        </p:sp>
        <p:sp>
          <p:nvSpPr>
            <p:cNvPr id="20" name="Google Shape;2348;p32">
              <a:extLst>
                <a:ext uri="{FF2B5EF4-FFF2-40B4-BE49-F238E27FC236}">
                  <a16:creationId xmlns:a16="http://schemas.microsoft.com/office/drawing/2014/main" id="{89100E40-DC2E-4C57-B618-A3607A95CF18}"/>
                </a:ext>
              </a:extLst>
            </p:cNvPr>
            <p:cNvSpPr/>
            <p:nvPr/>
          </p:nvSpPr>
          <p:spPr>
            <a:xfrm>
              <a:off x="4553452" y="2567548"/>
              <a:ext cx="320347" cy="384924"/>
            </a:xfrm>
            <a:custGeom>
              <a:avLst/>
              <a:gdLst/>
              <a:ahLst/>
              <a:cxnLst/>
              <a:rect l="l" t="t" r="r" b="b"/>
              <a:pathLst>
                <a:path w="8086" h="9716" extrusionOk="0">
                  <a:moveTo>
                    <a:pt x="5476" y="0"/>
                  </a:moveTo>
                  <a:cubicBezTo>
                    <a:pt x="4671" y="0"/>
                    <a:pt x="3891" y="428"/>
                    <a:pt x="3477" y="1183"/>
                  </a:cubicBezTo>
                  <a:lnTo>
                    <a:pt x="608" y="6315"/>
                  </a:lnTo>
                  <a:cubicBezTo>
                    <a:pt x="1" y="7410"/>
                    <a:pt x="406" y="8815"/>
                    <a:pt x="1501" y="9422"/>
                  </a:cubicBezTo>
                  <a:cubicBezTo>
                    <a:pt x="1856" y="9621"/>
                    <a:pt x="2241" y="9715"/>
                    <a:pt x="2621" y="9715"/>
                  </a:cubicBezTo>
                  <a:cubicBezTo>
                    <a:pt x="3427" y="9715"/>
                    <a:pt x="4208" y="9290"/>
                    <a:pt x="4620" y="8530"/>
                  </a:cubicBezTo>
                  <a:lnTo>
                    <a:pt x="7478" y="3398"/>
                  </a:lnTo>
                  <a:cubicBezTo>
                    <a:pt x="8085" y="2291"/>
                    <a:pt x="7680" y="898"/>
                    <a:pt x="6585" y="290"/>
                  </a:cubicBezTo>
                  <a:cubicBezTo>
                    <a:pt x="6233" y="93"/>
                    <a:pt x="5851" y="0"/>
                    <a:pt x="5476" y="0"/>
                  </a:cubicBezTo>
                  <a:close/>
                </a:path>
              </a:pathLst>
            </a:custGeom>
            <a:gradFill>
              <a:gsLst>
                <a:gs pos="0">
                  <a:srgbClr val="5C698E"/>
                </a:gs>
                <a:gs pos="100000">
                  <a:srgbClr val="2C303B"/>
                </a:gs>
              </a:gsLst>
              <a:lin ang="5400012" scaled="0"/>
            </a:gradFill>
            <a:ln>
              <a:noFill/>
            </a:ln>
          </p:spPr>
          <p:txBody>
            <a:bodyPr spcFirstLastPara="1" wrap="square" lIns="121900" tIns="121900" rIns="121900" bIns="121900" anchor="ctr" anchorCtr="0">
              <a:noAutofit/>
            </a:bodyPr>
            <a:lstStyle/>
            <a:p>
              <a:endParaRPr sz="2400"/>
            </a:p>
          </p:txBody>
        </p:sp>
        <p:sp>
          <p:nvSpPr>
            <p:cNvPr id="21" name="Google Shape;2349;p32">
              <a:extLst>
                <a:ext uri="{FF2B5EF4-FFF2-40B4-BE49-F238E27FC236}">
                  <a16:creationId xmlns:a16="http://schemas.microsoft.com/office/drawing/2014/main" id="{C6874AAD-21B6-4A1C-B402-3D0C0B7765D9}"/>
                </a:ext>
              </a:extLst>
            </p:cNvPr>
            <p:cNvSpPr/>
            <p:nvPr/>
          </p:nvSpPr>
          <p:spPr>
            <a:xfrm>
              <a:off x="4265285" y="2811582"/>
              <a:ext cx="553338" cy="155697"/>
            </a:xfrm>
            <a:custGeom>
              <a:avLst/>
              <a:gdLst/>
              <a:ahLst/>
              <a:cxnLst/>
              <a:rect l="l" t="t" r="r" b="b"/>
              <a:pathLst>
                <a:path w="13967" h="3930" extrusionOk="0">
                  <a:moveTo>
                    <a:pt x="13966" y="1965"/>
                  </a:moveTo>
                  <a:lnTo>
                    <a:pt x="13966" y="1965"/>
                  </a:lnTo>
                  <a:cubicBezTo>
                    <a:pt x="13966" y="3048"/>
                    <a:pt x="13085" y="3929"/>
                    <a:pt x="12002" y="3929"/>
                  </a:cubicBezTo>
                  <a:lnTo>
                    <a:pt x="1965" y="3929"/>
                  </a:lnTo>
                  <a:cubicBezTo>
                    <a:pt x="881" y="3929"/>
                    <a:pt x="0" y="3060"/>
                    <a:pt x="0" y="1965"/>
                  </a:cubicBezTo>
                  <a:lnTo>
                    <a:pt x="0" y="1965"/>
                  </a:lnTo>
                  <a:cubicBezTo>
                    <a:pt x="0" y="881"/>
                    <a:pt x="881" y="0"/>
                    <a:pt x="1965" y="0"/>
                  </a:cubicBezTo>
                  <a:lnTo>
                    <a:pt x="12002" y="0"/>
                  </a:lnTo>
                  <a:cubicBezTo>
                    <a:pt x="13073" y="0"/>
                    <a:pt x="13966" y="881"/>
                    <a:pt x="13966" y="1965"/>
                  </a:cubicBezTo>
                  <a:close/>
                </a:path>
              </a:pathLst>
            </a:custGeom>
            <a:solidFill>
              <a:srgbClr val="BCBAB0"/>
            </a:solidFill>
            <a:ln>
              <a:noFill/>
            </a:ln>
          </p:spPr>
          <p:txBody>
            <a:bodyPr spcFirstLastPara="1" wrap="square" lIns="121900" tIns="121900" rIns="121900" bIns="121900" anchor="ctr" anchorCtr="0">
              <a:noAutofit/>
            </a:bodyPr>
            <a:lstStyle/>
            <a:p>
              <a:endParaRPr sz="2400"/>
            </a:p>
          </p:txBody>
        </p:sp>
        <p:sp>
          <p:nvSpPr>
            <p:cNvPr id="22" name="Google Shape;2350;p32">
              <a:extLst>
                <a:ext uri="{FF2B5EF4-FFF2-40B4-BE49-F238E27FC236}">
                  <a16:creationId xmlns:a16="http://schemas.microsoft.com/office/drawing/2014/main" id="{BDB03F12-9D77-4158-AD2C-FE882FE1A724}"/>
                </a:ext>
              </a:extLst>
            </p:cNvPr>
            <p:cNvSpPr/>
            <p:nvPr/>
          </p:nvSpPr>
          <p:spPr>
            <a:xfrm>
              <a:off x="4179913" y="2811582"/>
              <a:ext cx="216985" cy="207120"/>
            </a:xfrm>
            <a:custGeom>
              <a:avLst/>
              <a:gdLst/>
              <a:ahLst/>
              <a:cxnLst/>
              <a:rect l="l" t="t" r="r" b="b"/>
              <a:pathLst>
                <a:path w="5477" h="5228" extrusionOk="0">
                  <a:moveTo>
                    <a:pt x="1465" y="0"/>
                  </a:moveTo>
                  <a:cubicBezTo>
                    <a:pt x="655" y="0"/>
                    <a:pt x="0" y="655"/>
                    <a:pt x="0" y="1477"/>
                  </a:cubicBezTo>
                  <a:lnTo>
                    <a:pt x="0" y="4525"/>
                  </a:lnTo>
                  <a:cubicBezTo>
                    <a:pt x="0" y="4917"/>
                    <a:pt x="310" y="5227"/>
                    <a:pt x="703" y="5227"/>
                  </a:cubicBezTo>
                  <a:lnTo>
                    <a:pt x="4774" y="5227"/>
                  </a:lnTo>
                  <a:cubicBezTo>
                    <a:pt x="5167" y="5227"/>
                    <a:pt x="5477" y="4917"/>
                    <a:pt x="5477" y="4525"/>
                  </a:cubicBezTo>
                  <a:lnTo>
                    <a:pt x="5477" y="703"/>
                  </a:lnTo>
                  <a:cubicBezTo>
                    <a:pt x="5477" y="310"/>
                    <a:pt x="5167" y="0"/>
                    <a:pt x="4774" y="0"/>
                  </a:cubicBezTo>
                  <a:close/>
                </a:path>
              </a:pathLst>
            </a:custGeom>
            <a:solidFill>
              <a:srgbClr val="FFA163"/>
            </a:solidFill>
            <a:ln>
              <a:noFill/>
            </a:ln>
          </p:spPr>
          <p:txBody>
            <a:bodyPr spcFirstLastPara="1" wrap="square" lIns="121900" tIns="121900" rIns="121900" bIns="121900" anchor="ctr" anchorCtr="0">
              <a:noAutofit/>
            </a:bodyPr>
            <a:lstStyle/>
            <a:p>
              <a:endParaRPr sz="2400"/>
            </a:p>
          </p:txBody>
        </p:sp>
        <p:sp>
          <p:nvSpPr>
            <p:cNvPr id="23" name="Google Shape;2351;p32">
              <a:extLst>
                <a:ext uri="{FF2B5EF4-FFF2-40B4-BE49-F238E27FC236}">
                  <a16:creationId xmlns:a16="http://schemas.microsoft.com/office/drawing/2014/main" id="{44E24666-D41E-4C59-A37A-33D558C407FD}"/>
                </a:ext>
              </a:extLst>
            </p:cNvPr>
            <p:cNvSpPr/>
            <p:nvPr/>
          </p:nvSpPr>
          <p:spPr>
            <a:xfrm>
              <a:off x="4226580" y="2915336"/>
              <a:ext cx="21750" cy="103798"/>
            </a:xfrm>
            <a:custGeom>
              <a:avLst/>
              <a:gdLst/>
              <a:ahLst/>
              <a:cxnLst/>
              <a:rect l="l" t="t" r="r" b="b"/>
              <a:pathLst>
                <a:path w="549" h="2620" extrusionOk="0">
                  <a:moveTo>
                    <a:pt x="1" y="1"/>
                  </a:moveTo>
                  <a:lnTo>
                    <a:pt x="1" y="2620"/>
                  </a:lnTo>
                  <a:lnTo>
                    <a:pt x="548" y="2620"/>
                  </a:lnTo>
                  <a:lnTo>
                    <a:pt x="548" y="1"/>
                  </a:lnTo>
                  <a:close/>
                </a:path>
              </a:pathLst>
            </a:custGeom>
            <a:solidFill>
              <a:srgbClr val="FFA163"/>
            </a:solidFill>
            <a:ln>
              <a:noFill/>
            </a:ln>
          </p:spPr>
          <p:txBody>
            <a:bodyPr spcFirstLastPara="1" wrap="square" lIns="121900" tIns="121900" rIns="121900" bIns="121900" anchor="ctr" anchorCtr="0">
              <a:noAutofit/>
            </a:bodyPr>
            <a:lstStyle/>
            <a:p>
              <a:endParaRPr sz="2400"/>
            </a:p>
          </p:txBody>
        </p:sp>
        <p:sp>
          <p:nvSpPr>
            <p:cNvPr id="24" name="Google Shape;2352;p32">
              <a:extLst>
                <a:ext uri="{FF2B5EF4-FFF2-40B4-BE49-F238E27FC236}">
                  <a16:creationId xmlns:a16="http://schemas.microsoft.com/office/drawing/2014/main" id="{8DBD919C-4D0E-4C8C-AD74-83B9BB098EB6}"/>
                </a:ext>
              </a:extLst>
            </p:cNvPr>
            <p:cNvSpPr/>
            <p:nvPr/>
          </p:nvSpPr>
          <p:spPr>
            <a:xfrm>
              <a:off x="4277051" y="2915336"/>
              <a:ext cx="21750" cy="103798"/>
            </a:xfrm>
            <a:custGeom>
              <a:avLst/>
              <a:gdLst/>
              <a:ahLst/>
              <a:cxnLst/>
              <a:rect l="l" t="t" r="r" b="b"/>
              <a:pathLst>
                <a:path w="549" h="2620" extrusionOk="0">
                  <a:moveTo>
                    <a:pt x="1" y="1"/>
                  </a:moveTo>
                  <a:lnTo>
                    <a:pt x="1" y="2620"/>
                  </a:lnTo>
                  <a:lnTo>
                    <a:pt x="548" y="2620"/>
                  </a:lnTo>
                  <a:lnTo>
                    <a:pt x="548" y="1"/>
                  </a:lnTo>
                  <a:close/>
                </a:path>
              </a:pathLst>
            </a:custGeom>
            <a:solidFill>
              <a:srgbClr val="FFA163"/>
            </a:solidFill>
            <a:ln>
              <a:noFill/>
            </a:ln>
          </p:spPr>
          <p:txBody>
            <a:bodyPr spcFirstLastPara="1" wrap="square" lIns="121900" tIns="121900" rIns="121900" bIns="121900" anchor="ctr" anchorCtr="0">
              <a:noAutofit/>
            </a:bodyPr>
            <a:lstStyle/>
            <a:p>
              <a:endParaRPr sz="2400"/>
            </a:p>
          </p:txBody>
        </p:sp>
        <p:sp>
          <p:nvSpPr>
            <p:cNvPr id="25" name="Google Shape;2353;p32">
              <a:extLst>
                <a:ext uri="{FF2B5EF4-FFF2-40B4-BE49-F238E27FC236}">
                  <a16:creationId xmlns:a16="http://schemas.microsoft.com/office/drawing/2014/main" id="{D15C9A6F-92D5-4BB4-8497-4A1598E7F141}"/>
                </a:ext>
              </a:extLst>
            </p:cNvPr>
            <p:cNvSpPr/>
            <p:nvPr/>
          </p:nvSpPr>
          <p:spPr>
            <a:xfrm>
              <a:off x="4328473" y="2915336"/>
              <a:ext cx="21750" cy="103798"/>
            </a:xfrm>
            <a:custGeom>
              <a:avLst/>
              <a:gdLst/>
              <a:ahLst/>
              <a:cxnLst/>
              <a:rect l="l" t="t" r="r" b="b"/>
              <a:pathLst>
                <a:path w="549" h="2620" extrusionOk="0">
                  <a:moveTo>
                    <a:pt x="1" y="1"/>
                  </a:moveTo>
                  <a:lnTo>
                    <a:pt x="1" y="2620"/>
                  </a:lnTo>
                  <a:lnTo>
                    <a:pt x="548" y="2620"/>
                  </a:lnTo>
                  <a:lnTo>
                    <a:pt x="548" y="1"/>
                  </a:lnTo>
                  <a:close/>
                </a:path>
              </a:pathLst>
            </a:custGeom>
            <a:solidFill>
              <a:srgbClr val="FFA163"/>
            </a:solidFill>
            <a:ln>
              <a:noFill/>
            </a:ln>
          </p:spPr>
          <p:txBody>
            <a:bodyPr spcFirstLastPara="1" wrap="square" lIns="121900" tIns="121900" rIns="121900" bIns="121900" anchor="ctr" anchorCtr="0">
              <a:noAutofit/>
            </a:bodyPr>
            <a:lstStyle/>
            <a:p>
              <a:endParaRPr sz="2400"/>
            </a:p>
          </p:txBody>
        </p:sp>
        <p:sp>
          <p:nvSpPr>
            <p:cNvPr id="26" name="Google Shape;2354;p32">
              <a:extLst>
                <a:ext uri="{FF2B5EF4-FFF2-40B4-BE49-F238E27FC236}">
                  <a16:creationId xmlns:a16="http://schemas.microsoft.com/office/drawing/2014/main" id="{6623ADB3-5D50-4A6D-BA2B-03BD2EEBC1AC}"/>
                </a:ext>
              </a:extLst>
            </p:cNvPr>
            <p:cNvSpPr/>
            <p:nvPr/>
          </p:nvSpPr>
          <p:spPr>
            <a:xfrm>
              <a:off x="3932273" y="3071264"/>
              <a:ext cx="809465" cy="289604"/>
            </a:xfrm>
            <a:custGeom>
              <a:avLst/>
              <a:gdLst/>
              <a:ahLst/>
              <a:cxnLst/>
              <a:rect l="l" t="t" r="r" b="b"/>
              <a:pathLst>
                <a:path w="20432" h="7310" extrusionOk="0">
                  <a:moveTo>
                    <a:pt x="3384" y="1"/>
                  </a:moveTo>
                  <a:cubicBezTo>
                    <a:pt x="1651" y="1"/>
                    <a:pt x="200" y="1350"/>
                    <a:pt x="107" y="3101"/>
                  </a:cubicBezTo>
                  <a:cubicBezTo>
                    <a:pt x="0" y="4911"/>
                    <a:pt x="1381" y="6459"/>
                    <a:pt x="3203" y="6554"/>
                  </a:cubicBezTo>
                  <a:lnTo>
                    <a:pt x="16871" y="7304"/>
                  </a:lnTo>
                  <a:cubicBezTo>
                    <a:pt x="16937" y="7308"/>
                    <a:pt x="17002" y="7310"/>
                    <a:pt x="17067" y="7310"/>
                  </a:cubicBezTo>
                  <a:cubicBezTo>
                    <a:pt x="18802" y="7310"/>
                    <a:pt x="20244" y="5942"/>
                    <a:pt x="20324" y="4208"/>
                  </a:cubicBezTo>
                  <a:cubicBezTo>
                    <a:pt x="20431" y="2411"/>
                    <a:pt x="19050" y="863"/>
                    <a:pt x="17229" y="756"/>
                  </a:cubicBezTo>
                  <a:lnTo>
                    <a:pt x="3560" y="6"/>
                  </a:lnTo>
                  <a:cubicBezTo>
                    <a:pt x="3501" y="2"/>
                    <a:pt x="3442" y="1"/>
                    <a:pt x="3384"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27" name="Google Shape;2355;p32">
              <a:extLst>
                <a:ext uri="{FF2B5EF4-FFF2-40B4-BE49-F238E27FC236}">
                  <a16:creationId xmlns:a16="http://schemas.microsoft.com/office/drawing/2014/main" id="{17D20916-7EC7-4F5D-93BD-C69B9DB3D23D}"/>
                </a:ext>
              </a:extLst>
            </p:cNvPr>
            <p:cNvSpPr/>
            <p:nvPr/>
          </p:nvSpPr>
          <p:spPr>
            <a:xfrm>
              <a:off x="4693534" y="2398863"/>
              <a:ext cx="475053" cy="812278"/>
            </a:xfrm>
            <a:custGeom>
              <a:avLst/>
              <a:gdLst/>
              <a:ahLst/>
              <a:cxnLst/>
              <a:rect l="l" t="t" r="r" b="b"/>
              <a:pathLst>
                <a:path w="11991" h="20503" extrusionOk="0">
                  <a:moveTo>
                    <a:pt x="11991" y="20503"/>
                  </a:moveTo>
                  <a:lnTo>
                    <a:pt x="1" y="20503"/>
                  </a:lnTo>
                  <a:lnTo>
                    <a:pt x="1" y="3501"/>
                  </a:lnTo>
                  <a:cubicBezTo>
                    <a:pt x="1" y="1512"/>
                    <a:pt x="1846" y="0"/>
                    <a:pt x="3787" y="417"/>
                  </a:cubicBezTo>
                  <a:lnTo>
                    <a:pt x="3787" y="417"/>
                  </a:lnTo>
                  <a:cubicBezTo>
                    <a:pt x="8573" y="1429"/>
                    <a:pt x="11991" y="5644"/>
                    <a:pt x="11991" y="10525"/>
                  </a:cubicBezTo>
                  <a:close/>
                </a:path>
              </a:pathLst>
            </a:custGeom>
            <a:gradFill>
              <a:gsLst>
                <a:gs pos="0">
                  <a:srgbClr val="424242"/>
                </a:gs>
                <a:gs pos="100000">
                  <a:srgbClr val="010101"/>
                </a:gs>
              </a:gsLst>
              <a:lin ang="5400012" scaled="0"/>
            </a:gradFill>
            <a:ln>
              <a:noFill/>
            </a:ln>
          </p:spPr>
          <p:txBody>
            <a:bodyPr spcFirstLastPara="1" wrap="square" lIns="121900" tIns="121900" rIns="121900" bIns="121900" anchor="ctr" anchorCtr="0">
              <a:noAutofit/>
            </a:bodyPr>
            <a:lstStyle/>
            <a:p>
              <a:endParaRPr sz="2400"/>
            </a:p>
          </p:txBody>
        </p:sp>
        <p:sp>
          <p:nvSpPr>
            <p:cNvPr id="28" name="Google Shape;2356;p32">
              <a:extLst>
                <a:ext uri="{FF2B5EF4-FFF2-40B4-BE49-F238E27FC236}">
                  <a16:creationId xmlns:a16="http://schemas.microsoft.com/office/drawing/2014/main" id="{92BBED97-9F8D-43B0-BE1B-DB6003DFC703}"/>
                </a:ext>
              </a:extLst>
            </p:cNvPr>
            <p:cNvSpPr/>
            <p:nvPr/>
          </p:nvSpPr>
          <p:spPr>
            <a:xfrm>
              <a:off x="4646391" y="2344035"/>
              <a:ext cx="308066" cy="287187"/>
            </a:xfrm>
            <a:custGeom>
              <a:avLst/>
              <a:gdLst/>
              <a:ahLst/>
              <a:cxnLst/>
              <a:rect l="l" t="t" r="r" b="b"/>
              <a:pathLst>
                <a:path w="7776" h="7249" extrusionOk="0">
                  <a:moveTo>
                    <a:pt x="2922" y="0"/>
                  </a:moveTo>
                  <a:cubicBezTo>
                    <a:pt x="2242" y="0"/>
                    <a:pt x="1560" y="259"/>
                    <a:pt x="1036" y="777"/>
                  </a:cubicBezTo>
                  <a:cubicBezTo>
                    <a:pt x="0" y="1825"/>
                    <a:pt x="0" y="3504"/>
                    <a:pt x="1036" y="4539"/>
                  </a:cubicBezTo>
                  <a:lnTo>
                    <a:pt x="2977" y="6480"/>
                  </a:lnTo>
                  <a:cubicBezTo>
                    <a:pt x="3489" y="6992"/>
                    <a:pt x="4168" y="7248"/>
                    <a:pt x="4849" y="7248"/>
                  </a:cubicBezTo>
                  <a:cubicBezTo>
                    <a:pt x="5531" y="7248"/>
                    <a:pt x="6215" y="6992"/>
                    <a:pt x="6739" y="6480"/>
                  </a:cubicBezTo>
                  <a:cubicBezTo>
                    <a:pt x="7775" y="5432"/>
                    <a:pt x="7775" y="3754"/>
                    <a:pt x="6739" y="2718"/>
                  </a:cubicBezTo>
                  <a:lnTo>
                    <a:pt x="4799" y="777"/>
                  </a:lnTo>
                  <a:cubicBezTo>
                    <a:pt x="4281" y="259"/>
                    <a:pt x="3602" y="0"/>
                    <a:pt x="2922" y="0"/>
                  </a:cubicBezTo>
                  <a:close/>
                </a:path>
              </a:pathLst>
            </a:custGeom>
            <a:gradFill>
              <a:gsLst>
                <a:gs pos="0">
                  <a:srgbClr val="424242"/>
                </a:gs>
                <a:gs pos="100000">
                  <a:srgbClr val="010101"/>
                </a:gs>
              </a:gsLst>
              <a:lin ang="5400012" scaled="0"/>
            </a:gradFill>
            <a:ln>
              <a:noFill/>
            </a:ln>
          </p:spPr>
          <p:txBody>
            <a:bodyPr spcFirstLastPara="1" wrap="square" lIns="121900" tIns="121900" rIns="121900" bIns="121900" anchor="ctr" anchorCtr="0">
              <a:noAutofit/>
            </a:bodyPr>
            <a:lstStyle/>
            <a:p>
              <a:endParaRPr sz="2400"/>
            </a:p>
          </p:txBody>
        </p:sp>
        <p:sp>
          <p:nvSpPr>
            <p:cNvPr id="29" name="Google Shape;2357;p32">
              <a:extLst>
                <a:ext uri="{FF2B5EF4-FFF2-40B4-BE49-F238E27FC236}">
                  <a16:creationId xmlns:a16="http://schemas.microsoft.com/office/drawing/2014/main" id="{EF084E51-65B8-42C9-84CB-9081F2703F39}"/>
                </a:ext>
              </a:extLst>
            </p:cNvPr>
            <p:cNvSpPr/>
            <p:nvPr/>
          </p:nvSpPr>
          <p:spPr>
            <a:xfrm>
              <a:off x="4562445" y="2263495"/>
              <a:ext cx="354260" cy="337303"/>
            </a:xfrm>
            <a:custGeom>
              <a:avLst/>
              <a:gdLst/>
              <a:ahLst/>
              <a:cxnLst/>
              <a:rect l="l" t="t" r="r" b="b"/>
              <a:pathLst>
                <a:path w="8942" h="8514" extrusionOk="0">
                  <a:moveTo>
                    <a:pt x="6537" y="8513"/>
                  </a:moveTo>
                  <a:lnTo>
                    <a:pt x="2084" y="8513"/>
                  </a:lnTo>
                  <a:cubicBezTo>
                    <a:pt x="929" y="8513"/>
                    <a:pt x="0" y="7573"/>
                    <a:pt x="0" y="6430"/>
                  </a:cubicBezTo>
                  <a:lnTo>
                    <a:pt x="0" y="0"/>
                  </a:lnTo>
                  <a:lnTo>
                    <a:pt x="8942" y="0"/>
                  </a:lnTo>
                  <a:lnTo>
                    <a:pt x="8942" y="6132"/>
                  </a:lnTo>
                  <a:cubicBezTo>
                    <a:pt x="8930" y="7442"/>
                    <a:pt x="7858" y="8513"/>
                    <a:pt x="6537" y="8513"/>
                  </a:cubicBezTo>
                  <a:close/>
                </a:path>
              </a:pathLst>
            </a:custGeom>
            <a:gradFill>
              <a:gsLst>
                <a:gs pos="0">
                  <a:srgbClr val="FFFFFF"/>
                </a:gs>
                <a:gs pos="100000">
                  <a:srgbClr val="BEBEBE"/>
                </a:gs>
              </a:gsLst>
              <a:lin ang="5400012" scaled="0"/>
            </a:gradFill>
            <a:ln>
              <a:noFill/>
            </a:ln>
          </p:spPr>
          <p:txBody>
            <a:bodyPr spcFirstLastPara="1" wrap="square" lIns="121900" tIns="121900" rIns="121900" bIns="121900" anchor="ctr" anchorCtr="0">
              <a:noAutofit/>
            </a:bodyPr>
            <a:lstStyle/>
            <a:p>
              <a:endParaRPr sz="2400"/>
            </a:p>
          </p:txBody>
        </p:sp>
        <p:sp>
          <p:nvSpPr>
            <p:cNvPr id="30" name="Google Shape;2358;p32">
              <a:extLst>
                <a:ext uri="{FF2B5EF4-FFF2-40B4-BE49-F238E27FC236}">
                  <a16:creationId xmlns:a16="http://schemas.microsoft.com/office/drawing/2014/main" id="{2ABB29F0-E196-4F67-8CCA-09A1E116DE12}"/>
                </a:ext>
              </a:extLst>
            </p:cNvPr>
            <p:cNvSpPr/>
            <p:nvPr/>
          </p:nvSpPr>
          <p:spPr>
            <a:xfrm>
              <a:off x="4475171" y="2088472"/>
              <a:ext cx="483056" cy="364679"/>
            </a:xfrm>
            <a:custGeom>
              <a:avLst/>
              <a:gdLst/>
              <a:ahLst/>
              <a:cxnLst/>
              <a:rect l="l" t="t" r="r" b="b"/>
              <a:pathLst>
                <a:path w="12193" h="9205" extrusionOk="0">
                  <a:moveTo>
                    <a:pt x="10776" y="2751"/>
                  </a:moveTo>
                  <a:lnTo>
                    <a:pt x="10192" y="2180"/>
                  </a:lnTo>
                  <a:cubicBezTo>
                    <a:pt x="9811" y="1799"/>
                    <a:pt x="9275" y="1584"/>
                    <a:pt x="8740" y="1584"/>
                  </a:cubicBezTo>
                  <a:lnTo>
                    <a:pt x="8085" y="1584"/>
                  </a:lnTo>
                  <a:cubicBezTo>
                    <a:pt x="7847" y="989"/>
                    <a:pt x="7251" y="561"/>
                    <a:pt x="6561" y="561"/>
                  </a:cubicBezTo>
                  <a:cubicBezTo>
                    <a:pt x="6311" y="561"/>
                    <a:pt x="6084" y="620"/>
                    <a:pt x="5858" y="715"/>
                  </a:cubicBezTo>
                  <a:cubicBezTo>
                    <a:pt x="5561" y="275"/>
                    <a:pt x="5072" y="1"/>
                    <a:pt x="4513" y="1"/>
                  </a:cubicBezTo>
                  <a:cubicBezTo>
                    <a:pt x="4108" y="1"/>
                    <a:pt x="3739" y="144"/>
                    <a:pt x="3441" y="382"/>
                  </a:cubicBezTo>
                  <a:cubicBezTo>
                    <a:pt x="3084" y="132"/>
                    <a:pt x="2644" y="1"/>
                    <a:pt x="2191" y="1"/>
                  </a:cubicBezTo>
                  <a:cubicBezTo>
                    <a:pt x="977" y="1"/>
                    <a:pt x="0" y="977"/>
                    <a:pt x="0" y="2180"/>
                  </a:cubicBezTo>
                  <a:cubicBezTo>
                    <a:pt x="0" y="3394"/>
                    <a:pt x="977" y="4371"/>
                    <a:pt x="2191" y="4371"/>
                  </a:cubicBezTo>
                  <a:lnTo>
                    <a:pt x="8990" y="4371"/>
                  </a:lnTo>
                  <a:lnTo>
                    <a:pt x="8990" y="7585"/>
                  </a:lnTo>
                  <a:cubicBezTo>
                    <a:pt x="8990" y="7978"/>
                    <a:pt x="9216" y="8311"/>
                    <a:pt x="9549" y="8478"/>
                  </a:cubicBezTo>
                  <a:lnTo>
                    <a:pt x="11121" y="9204"/>
                  </a:lnTo>
                  <a:lnTo>
                    <a:pt x="11121" y="9193"/>
                  </a:lnTo>
                  <a:cubicBezTo>
                    <a:pt x="11811" y="7811"/>
                    <a:pt x="12169" y="6276"/>
                    <a:pt x="12169" y="4728"/>
                  </a:cubicBezTo>
                  <a:cubicBezTo>
                    <a:pt x="12192" y="3835"/>
                    <a:pt x="11621" y="3049"/>
                    <a:pt x="10776" y="2751"/>
                  </a:cubicBezTo>
                  <a:close/>
                </a:path>
              </a:pathLst>
            </a:custGeom>
            <a:gradFill>
              <a:gsLst>
                <a:gs pos="0">
                  <a:srgbClr val="EDC3D8"/>
                </a:gs>
                <a:gs pos="100000">
                  <a:srgbClr val="C86596"/>
                </a:gs>
              </a:gsLst>
              <a:lin ang="5400012" scaled="0"/>
            </a:gradFill>
            <a:ln>
              <a:noFill/>
            </a:ln>
          </p:spPr>
          <p:txBody>
            <a:bodyPr spcFirstLastPara="1" wrap="square" lIns="121900" tIns="121900" rIns="121900" bIns="121900" anchor="ctr" anchorCtr="0">
              <a:noAutofit/>
            </a:bodyPr>
            <a:lstStyle/>
            <a:p>
              <a:endParaRPr sz="2400"/>
            </a:p>
          </p:txBody>
        </p:sp>
        <p:sp>
          <p:nvSpPr>
            <p:cNvPr id="31" name="Google Shape;2359;p32">
              <a:extLst>
                <a:ext uri="{FF2B5EF4-FFF2-40B4-BE49-F238E27FC236}">
                  <a16:creationId xmlns:a16="http://schemas.microsoft.com/office/drawing/2014/main" id="{2F5FEFB6-523D-45F8-BAAF-2F796B6A0CE9}"/>
                </a:ext>
              </a:extLst>
            </p:cNvPr>
            <p:cNvSpPr/>
            <p:nvPr/>
          </p:nvSpPr>
          <p:spPr>
            <a:xfrm>
              <a:off x="3962460" y="2766776"/>
              <a:ext cx="536342" cy="336828"/>
            </a:xfrm>
            <a:custGeom>
              <a:avLst/>
              <a:gdLst/>
              <a:ahLst/>
              <a:cxnLst/>
              <a:rect l="l" t="t" r="r" b="b"/>
              <a:pathLst>
                <a:path w="13538" h="8502" extrusionOk="0">
                  <a:moveTo>
                    <a:pt x="738" y="0"/>
                  </a:moveTo>
                  <a:cubicBezTo>
                    <a:pt x="250" y="0"/>
                    <a:pt x="0" y="393"/>
                    <a:pt x="155" y="881"/>
                  </a:cubicBezTo>
                  <a:lnTo>
                    <a:pt x="2774" y="8501"/>
                  </a:lnTo>
                  <a:lnTo>
                    <a:pt x="13538" y="8501"/>
                  </a:lnTo>
                  <a:lnTo>
                    <a:pt x="10918" y="881"/>
                  </a:lnTo>
                  <a:cubicBezTo>
                    <a:pt x="10752" y="393"/>
                    <a:pt x="10228" y="0"/>
                    <a:pt x="9740" y="0"/>
                  </a:cubicBezTo>
                  <a:close/>
                </a:path>
              </a:pathLst>
            </a:custGeom>
            <a:solidFill>
              <a:srgbClr val="D7D1EB"/>
            </a:solidFill>
            <a:ln>
              <a:noFill/>
            </a:ln>
          </p:spPr>
          <p:txBody>
            <a:bodyPr spcFirstLastPara="1" wrap="square" lIns="121900" tIns="121900" rIns="121900" bIns="121900" anchor="ctr" anchorCtr="0">
              <a:noAutofit/>
            </a:bodyPr>
            <a:lstStyle/>
            <a:p>
              <a:endParaRPr sz="2400"/>
            </a:p>
          </p:txBody>
        </p:sp>
        <p:sp>
          <p:nvSpPr>
            <p:cNvPr id="32" name="Google Shape;2360;p32">
              <a:extLst>
                <a:ext uri="{FF2B5EF4-FFF2-40B4-BE49-F238E27FC236}">
                  <a16:creationId xmlns:a16="http://schemas.microsoft.com/office/drawing/2014/main" id="{00110DE1-5F67-4FB1-B478-26A7F3450466}"/>
                </a:ext>
              </a:extLst>
            </p:cNvPr>
            <p:cNvSpPr/>
            <p:nvPr/>
          </p:nvSpPr>
          <p:spPr>
            <a:xfrm>
              <a:off x="4474220" y="3067699"/>
              <a:ext cx="258068" cy="35893"/>
            </a:xfrm>
            <a:custGeom>
              <a:avLst/>
              <a:gdLst/>
              <a:ahLst/>
              <a:cxnLst/>
              <a:rect l="l" t="t" r="r" b="b"/>
              <a:pathLst>
                <a:path w="6514" h="906" extrusionOk="0">
                  <a:moveTo>
                    <a:pt x="1" y="0"/>
                  </a:moveTo>
                  <a:lnTo>
                    <a:pt x="1" y="905"/>
                  </a:lnTo>
                  <a:lnTo>
                    <a:pt x="6513" y="905"/>
                  </a:lnTo>
                  <a:lnTo>
                    <a:pt x="6513" y="0"/>
                  </a:lnTo>
                  <a:close/>
                </a:path>
              </a:pathLst>
            </a:custGeom>
            <a:solidFill>
              <a:srgbClr val="D7D1EB"/>
            </a:solidFill>
            <a:ln>
              <a:noFill/>
            </a:ln>
          </p:spPr>
          <p:txBody>
            <a:bodyPr spcFirstLastPara="1" wrap="square" lIns="121900" tIns="121900" rIns="121900" bIns="121900" anchor="ctr" anchorCtr="0">
              <a:noAutofit/>
            </a:bodyPr>
            <a:lstStyle/>
            <a:p>
              <a:endParaRPr sz="2400"/>
            </a:p>
          </p:txBody>
        </p:sp>
        <p:sp>
          <p:nvSpPr>
            <p:cNvPr id="34" name="Google Shape;2361;p32">
              <a:extLst>
                <a:ext uri="{FF2B5EF4-FFF2-40B4-BE49-F238E27FC236}">
                  <a16:creationId xmlns:a16="http://schemas.microsoft.com/office/drawing/2014/main" id="{6BEFB90D-BA12-433C-B655-083D1A02CE26}"/>
                </a:ext>
              </a:extLst>
            </p:cNvPr>
            <p:cNvSpPr/>
            <p:nvPr/>
          </p:nvSpPr>
          <p:spPr>
            <a:xfrm>
              <a:off x="3937463" y="2766776"/>
              <a:ext cx="536817" cy="336828"/>
            </a:xfrm>
            <a:custGeom>
              <a:avLst/>
              <a:gdLst/>
              <a:ahLst/>
              <a:cxnLst/>
              <a:rect l="l" t="t" r="r" b="b"/>
              <a:pathLst>
                <a:path w="13550" h="8502" extrusionOk="0">
                  <a:moveTo>
                    <a:pt x="13550" y="8501"/>
                  </a:moveTo>
                  <a:lnTo>
                    <a:pt x="2786" y="8501"/>
                  </a:lnTo>
                  <a:lnTo>
                    <a:pt x="167" y="881"/>
                  </a:lnTo>
                  <a:cubicBezTo>
                    <a:pt x="0" y="393"/>
                    <a:pt x="250" y="0"/>
                    <a:pt x="750" y="0"/>
                  </a:cubicBezTo>
                  <a:lnTo>
                    <a:pt x="9751" y="0"/>
                  </a:lnTo>
                  <a:cubicBezTo>
                    <a:pt x="10240" y="0"/>
                    <a:pt x="10763" y="393"/>
                    <a:pt x="10930" y="881"/>
                  </a:cubicBezTo>
                  <a:close/>
                </a:path>
              </a:pathLst>
            </a:custGeom>
            <a:gradFill>
              <a:gsLst>
                <a:gs pos="0">
                  <a:srgbClr val="5C698E"/>
                </a:gs>
                <a:gs pos="100000">
                  <a:srgbClr val="2C303B"/>
                </a:gs>
              </a:gsLst>
              <a:lin ang="5400012" scaled="0"/>
            </a:gradFill>
            <a:ln>
              <a:noFill/>
            </a:ln>
          </p:spPr>
          <p:txBody>
            <a:bodyPr spcFirstLastPara="1" wrap="square" lIns="121900" tIns="121900" rIns="121900" bIns="121900" anchor="ctr" anchorCtr="0">
              <a:noAutofit/>
            </a:bodyPr>
            <a:lstStyle/>
            <a:p>
              <a:endParaRPr sz="2400"/>
            </a:p>
          </p:txBody>
        </p:sp>
        <p:sp>
          <p:nvSpPr>
            <p:cNvPr id="36" name="Google Shape;2362;p32">
              <a:extLst>
                <a:ext uri="{FF2B5EF4-FFF2-40B4-BE49-F238E27FC236}">
                  <a16:creationId xmlns:a16="http://schemas.microsoft.com/office/drawing/2014/main" id="{CFFE270C-541E-4FC4-BA26-516E7841795E}"/>
                </a:ext>
              </a:extLst>
            </p:cNvPr>
            <p:cNvSpPr/>
            <p:nvPr/>
          </p:nvSpPr>
          <p:spPr>
            <a:xfrm>
              <a:off x="4125163" y="2915336"/>
              <a:ext cx="155697" cy="39657"/>
            </a:xfrm>
            <a:custGeom>
              <a:avLst/>
              <a:gdLst/>
              <a:ahLst/>
              <a:cxnLst/>
              <a:rect l="l" t="t" r="r" b="b"/>
              <a:pathLst>
                <a:path w="3930" h="1001" extrusionOk="0">
                  <a:moveTo>
                    <a:pt x="1" y="1"/>
                  </a:moveTo>
                  <a:lnTo>
                    <a:pt x="334" y="1001"/>
                  </a:lnTo>
                  <a:lnTo>
                    <a:pt x="3930" y="1001"/>
                  </a:lnTo>
                  <a:lnTo>
                    <a:pt x="3585" y="1"/>
                  </a:lnTo>
                  <a:close/>
                </a:path>
              </a:pathLst>
            </a:custGeom>
            <a:solidFill>
              <a:srgbClr val="D7D1EB"/>
            </a:solidFill>
            <a:ln>
              <a:noFill/>
            </a:ln>
          </p:spPr>
          <p:txBody>
            <a:bodyPr spcFirstLastPara="1" wrap="square" lIns="121900" tIns="121900" rIns="121900" bIns="121900" anchor="ctr" anchorCtr="0">
              <a:noAutofit/>
            </a:bodyPr>
            <a:lstStyle/>
            <a:p>
              <a:endParaRPr sz="2400"/>
            </a:p>
          </p:txBody>
        </p:sp>
        <p:sp>
          <p:nvSpPr>
            <p:cNvPr id="37" name="Google Shape;2363;p32">
              <a:extLst>
                <a:ext uri="{FF2B5EF4-FFF2-40B4-BE49-F238E27FC236}">
                  <a16:creationId xmlns:a16="http://schemas.microsoft.com/office/drawing/2014/main" id="{0BB0CE01-11B4-4713-8939-AD62C7842855}"/>
                </a:ext>
              </a:extLst>
            </p:cNvPr>
            <p:cNvSpPr/>
            <p:nvPr/>
          </p:nvSpPr>
          <p:spPr>
            <a:xfrm>
              <a:off x="3906800" y="3068650"/>
              <a:ext cx="639189" cy="437298"/>
            </a:xfrm>
            <a:custGeom>
              <a:avLst/>
              <a:gdLst/>
              <a:ahLst/>
              <a:cxnLst/>
              <a:rect l="l" t="t" r="r" b="b"/>
              <a:pathLst>
                <a:path w="16134" h="11038" extrusionOk="0">
                  <a:moveTo>
                    <a:pt x="12573" y="10680"/>
                  </a:moveTo>
                  <a:lnTo>
                    <a:pt x="1239" y="5870"/>
                  </a:lnTo>
                  <a:cubicBezTo>
                    <a:pt x="405" y="5513"/>
                    <a:pt x="0" y="4548"/>
                    <a:pt x="358" y="3715"/>
                  </a:cubicBezTo>
                  <a:lnTo>
                    <a:pt x="1405" y="1238"/>
                  </a:lnTo>
                  <a:cubicBezTo>
                    <a:pt x="1751" y="405"/>
                    <a:pt x="2727" y="0"/>
                    <a:pt x="3560" y="357"/>
                  </a:cubicBezTo>
                  <a:lnTo>
                    <a:pt x="14895" y="5167"/>
                  </a:lnTo>
                  <a:cubicBezTo>
                    <a:pt x="15728" y="5525"/>
                    <a:pt x="16133" y="6489"/>
                    <a:pt x="15776" y="7322"/>
                  </a:cubicBezTo>
                  <a:lnTo>
                    <a:pt x="14740" y="9799"/>
                  </a:lnTo>
                  <a:cubicBezTo>
                    <a:pt x="14395" y="10644"/>
                    <a:pt x="13431" y="11037"/>
                    <a:pt x="12573" y="10680"/>
                  </a:cubicBezTo>
                  <a:close/>
                </a:path>
              </a:pathLst>
            </a:custGeom>
            <a:gradFill>
              <a:gsLst>
                <a:gs pos="0">
                  <a:srgbClr val="2A2A9A"/>
                </a:gs>
                <a:gs pos="100000">
                  <a:srgbClr val="111131"/>
                </a:gs>
              </a:gsLst>
              <a:lin ang="5400012" scaled="0"/>
            </a:gradFill>
            <a:ln>
              <a:noFill/>
            </a:ln>
          </p:spPr>
          <p:txBody>
            <a:bodyPr spcFirstLastPara="1" wrap="square" lIns="121900" tIns="121900" rIns="121900" bIns="121900" anchor="ctr" anchorCtr="0">
              <a:noAutofit/>
            </a:bodyPr>
            <a:lstStyle/>
            <a:p>
              <a:endParaRPr sz="2400"/>
            </a:p>
          </p:txBody>
        </p:sp>
        <p:sp>
          <p:nvSpPr>
            <p:cNvPr id="38" name="Google Shape;2364;p32">
              <a:extLst>
                <a:ext uri="{FF2B5EF4-FFF2-40B4-BE49-F238E27FC236}">
                  <a16:creationId xmlns:a16="http://schemas.microsoft.com/office/drawing/2014/main" id="{17668638-128F-4A84-8231-B9CE66C67FEF}"/>
                </a:ext>
              </a:extLst>
            </p:cNvPr>
            <p:cNvSpPr/>
            <p:nvPr/>
          </p:nvSpPr>
          <p:spPr>
            <a:xfrm>
              <a:off x="4554878" y="3095628"/>
              <a:ext cx="630235" cy="383260"/>
            </a:xfrm>
            <a:custGeom>
              <a:avLst/>
              <a:gdLst/>
              <a:ahLst/>
              <a:cxnLst/>
              <a:rect l="l" t="t" r="r" b="b"/>
              <a:pathLst>
                <a:path w="15908" h="9674" extrusionOk="0">
                  <a:moveTo>
                    <a:pt x="3712" y="1"/>
                  </a:moveTo>
                  <a:cubicBezTo>
                    <a:pt x="2377" y="1"/>
                    <a:pt x="1113" y="822"/>
                    <a:pt x="620" y="2153"/>
                  </a:cubicBezTo>
                  <a:cubicBezTo>
                    <a:pt x="1" y="3843"/>
                    <a:pt x="870" y="5737"/>
                    <a:pt x="2572" y="6368"/>
                  </a:cubicBezTo>
                  <a:lnTo>
                    <a:pt x="11073" y="9475"/>
                  </a:lnTo>
                  <a:cubicBezTo>
                    <a:pt x="11443" y="9610"/>
                    <a:pt x="11822" y="9673"/>
                    <a:pt x="12195" y="9673"/>
                  </a:cubicBezTo>
                  <a:cubicBezTo>
                    <a:pt x="13538" y="9673"/>
                    <a:pt x="14801" y="8846"/>
                    <a:pt x="15276" y="7522"/>
                  </a:cubicBezTo>
                  <a:cubicBezTo>
                    <a:pt x="15907" y="5832"/>
                    <a:pt x="15026" y="3939"/>
                    <a:pt x="13336" y="3308"/>
                  </a:cubicBezTo>
                  <a:lnTo>
                    <a:pt x="4834" y="200"/>
                  </a:lnTo>
                  <a:cubicBezTo>
                    <a:pt x="4465" y="65"/>
                    <a:pt x="4086" y="1"/>
                    <a:pt x="3712" y="1"/>
                  </a:cubicBezTo>
                  <a:close/>
                </a:path>
              </a:pathLst>
            </a:custGeom>
            <a:solidFill>
              <a:srgbClr val="9D4EC5"/>
            </a:solidFill>
            <a:ln>
              <a:noFill/>
            </a:ln>
          </p:spPr>
          <p:txBody>
            <a:bodyPr spcFirstLastPara="1" wrap="square" lIns="121900" tIns="121900" rIns="121900" bIns="121900" anchor="ctr" anchorCtr="0">
              <a:noAutofit/>
            </a:bodyPr>
            <a:lstStyle/>
            <a:p>
              <a:endParaRPr sz="2400"/>
            </a:p>
          </p:txBody>
        </p:sp>
        <p:sp>
          <p:nvSpPr>
            <p:cNvPr id="39" name="Google Shape;2365;p32">
              <a:extLst>
                <a:ext uri="{FF2B5EF4-FFF2-40B4-BE49-F238E27FC236}">
                  <a16:creationId xmlns:a16="http://schemas.microsoft.com/office/drawing/2014/main" id="{4F86CFB8-377B-411F-A152-AB9ED3B472E3}"/>
                </a:ext>
              </a:extLst>
            </p:cNvPr>
            <p:cNvSpPr/>
            <p:nvPr/>
          </p:nvSpPr>
          <p:spPr>
            <a:xfrm>
              <a:off x="4944026" y="2631409"/>
              <a:ext cx="181646" cy="414637"/>
            </a:xfrm>
            <a:custGeom>
              <a:avLst/>
              <a:gdLst/>
              <a:ahLst/>
              <a:cxnLst/>
              <a:rect l="l" t="t" r="r" b="b"/>
              <a:pathLst>
                <a:path w="4585" h="10466" extrusionOk="0">
                  <a:moveTo>
                    <a:pt x="2286" y="0"/>
                  </a:moveTo>
                  <a:cubicBezTo>
                    <a:pt x="1024" y="0"/>
                    <a:pt x="0" y="1024"/>
                    <a:pt x="0" y="2286"/>
                  </a:cubicBezTo>
                  <a:lnTo>
                    <a:pt x="0" y="8168"/>
                  </a:lnTo>
                  <a:cubicBezTo>
                    <a:pt x="0" y="9430"/>
                    <a:pt x="1024" y="10466"/>
                    <a:pt x="2286" y="10466"/>
                  </a:cubicBezTo>
                  <a:cubicBezTo>
                    <a:pt x="3548" y="10466"/>
                    <a:pt x="4584" y="9430"/>
                    <a:pt x="4584" y="8168"/>
                  </a:cubicBezTo>
                  <a:lnTo>
                    <a:pt x="4584" y="2286"/>
                  </a:lnTo>
                  <a:cubicBezTo>
                    <a:pt x="4584" y="1024"/>
                    <a:pt x="3548" y="0"/>
                    <a:pt x="2286" y="0"/>
                  </a:cubicBezTo>
                  <a:close/>
                </a:path>
              </a:pathLst>
            </a:custGeom>
            <a:gradFill>
              <a:gsLst>
                <a:gs pos="0">
                  <a:srgbClr val="5C698E"/>
                </a:gs>
                <a:gs pos="100000">
                  <a:srgbClr val="2C303B"/>
                </a:gs>
              </a:gsLst>
              <a:lin ang="5400012" scaled="0"/>
            </a:gradFill>
            <a:ln>
              <a:noFill/>
            </a:ln>
          </p:spPr>
          <p:txBody>
            <a:bodyPr spcFirstLastPara="1" wrap="square" lIns="121900" tIns="121900" rIns="121900" bIns="121900" anchor="ctr" anchorCtr="0">
              <a:noAutofit/>
            </a:bodyPr>
            <a:lstStyle/>
            <a:p>
              <a:endParaRPr sz="2400"/>
            </a:p>
          </p:txBody>
        </p:sp>
        <p:sp>
          <p:nvSpPr>
            <p:cNvPr id="41" name="Google Shape;2366;p32">
              <a:extLst>
                <a:ext uri="{FF2B5EF4-FFF2-40B4-BE49-F238E27FC236}">
                  <a16:creationId xmlns:a16="http://schemas.microsoft.com/office/drawing/2014/main" id="{24AE4656-7AD4-42A1-B78C-BD760C9982B1}"/>
                </a:ext>
              </a:extLst>
            </p:cNvPr>
            <p:cNvSpPr/>
            <p:nvPr/>
          </p:nvSpPr>
          <p:spPr>
            <a:xfrm>
              <a:off x="4257719" y="3222875"/>
              <a:ext cx="470775" cy="379298"/>
            </a:xfrm>
            <a:custGeom>
              <a:avLst/>
              <a:gdLst/>
              <a:ahLst/>
              <a:cxnLst/>
              <a:rect l="l" t="t" r="r" b="b"/>
              <a:pathLst>
                <a:path w="11883" h="9574" extrusionOk="0">
                  <a:moveTo>
                    <a:pt x="1" y="6465"/>
                  </a:moveTo>
                  <a:lnTo>
                    <a:pt x="5942" y="9085"/>
                  </a:lnTo>
                  <a:cubicBezTo>
                    <a:pt x="7037" y="9573"/>
                    <a:pt x="8311" y="9073"/>
                    <a:pt x="8787" y="7989"/>
                  </a:cubicBezTo>
                  <a:lnTo>
                    <a:pt x="11466" y="1941"/>
                  </a:lnTo>
                  <a:cubicBezTo>
                    <a:pt x="11883" y="1012"/>
                    <a:pt x="11085" y="0"/>
                    <a:pt x="10085" y="179"/>
                  </a:cubicBezTo>
                  <a:lnTo>
                    <a:pt x="3989" y="1286"/>
                  </a:lnTo>
                  <a:lnTo>
                    <a:pt x="2572" y="667"/>
                  </a:lnTo>
                  <a:close/>
                </a:path>
              </a:pathLst>
            </a:custGeom>
            <a:gradFill>
              <a:gsLst>
                <a:gs pos="0">
                  <a:srgbClr val="EDC3D8"/>
                </a:gs>
                <a:gs pos="100000">
                  <a:srgbClr val="C86596"/>
                </a:gs>
              </a:gsLst>
              <a:lin ang="5400012" scaled="0"/>
            </a:gradFill>
            <a:ln>
              <a:noFill/>
            </a:ln>
          </p:spPr>
          <p:txBody>
            <a:bodyPr spcFirstLastPara="1" wrap="square" lIns="121900" tIns="121900" rIns="121900" bIns="121900" anchor="ctr" anchorCtr="0">
              <a:noAutofit/>
            </a:bodyPr>
            <a:lstStyle/>
            <a:p>
              <a:endParaRPr sz="2400"/>
            </a:p>
          </p:txBody>
        </p:sp>
        <p:sp>
          <p:nvSpPr>
            <p:cNvPr id="42" name="Google Shape;2367;p32">
              <a:extLst>
                <a:ext uri="{FF2B5EF4-FFF2-40B4-BE49-F238E27FC236}">
                  <a16:creationId xmlns:a16="http://schemas.microsoft.com/office/drawing/2014/main" id="{3CA6D699-7868-4F17-ACBF-75DF4C1C2815}"/>
                </a:ext>
              </a:extLst>
            </p:cNvPr>
            <p:cNvSpPr/>
            <p:nvPr/>
          </p:nvSpPr>
          <p:spPr>
            <a:xfrm>
              <a:off x="4428464" y="3229134"/>
              <a:ext cx="298280" cy="361391"/>
            </a:xfrm>
            <a:custGeom>
              <a:avLst/>
              <a:gdLst/>
              <a:ahLst/>
              <a:cxnLst/>
              <a:rect l="l" t="t" r="r" b="b"/>
              <a:pathLst>
                <a:path w="7529" h="9122" extrusionOk="0">
                  <a:moveTo>
                    <a:pt x="1" y="8212"/>
                  </a:moveTo>
                  <a:lnTo>
                    <a:pt x="1" y="8212"/>
                  </a:lnTo>
                  <a:cubicBezTo>
                    <a:pt x="9" y="8216"/>
                    <a:pt x="17" y="8220"/>
                    <a:pt x="25" y="8223"/>
                  </a:cubicBezTo>
                  <a:lnTo>
                    <a:pt x="25" y="8223"/>
                  </a:lnTo>
                  <a:lnTo>
                    <a:pt x="1" y="8212"/>
                  </a:lnTo>
                  <a:close/>
                  <a:moveTo>
                    <a:pt x="5994" y="0"/>
                  </a:moveTo>
                  <a:cubicBezTo>
                    <a:pt x="5919" y="0"/>
                    <a:pt x="5842" y="7"/>
                    <a:pt x="5763" y="21"/>
                  </a:cubicBezTo>
                  <a:lnTo>
                    <a:pt x="5549" y="57"/>
                  </a:lnTo>
                  <a:cubicBezTo>
                    <a:pt x="5680" y="378"/>
                    <a:pt x="5692" y="735"/>
                    <a:pt x="5537" y="1069"/>
                  </a:cubicBezTo>
                  <a:lnTo>
                    <a:pt x="2858" y="7117"/>
                  </a:lnTo>
                  <a:cubicBezTo>
                    <a:pt x="2507" y="7917"/>
                    <a:pt x="1721" y="8405"/>
                    <a:pt x="888" y="8405"/>
                  </a:cubicBezTo>
                  <a:cubicBezTo>
                    <a:pt x="601" y="8405"/>
                    <a:pt x="308" y="8347"/>
                    <a:pt x="25" y="8223"/>
                  </a:cubicBezTo>
                  <a:lnTo>
                    <a:pt x="25" y="8223"/>
                  </a:lnTo>
                  <a:lnTo>
                    <a:pt x="1608" y="8927"/>
                  </a:lnTo>
                  <a:cubicBezTo>
                    <a:pt x="1897" y="9059"/>
                    <a:pt x="2199" y="9121"/>
                    <a:pt x="2496" y="9121"/>
                  </a:cubicBezTo>
                  <a:cubicBezTo>
                    <a:pt x="3321" y="9121"/>
                    <a:pt x="4106" y="8638"/>
                    <a:pt x="4465" y="7831"/>
                  </a:cubicBezTo>
                  <a:lnTo>
                    <a:pt x="7144" y="1783"/>
                  </a:lnTo>
                  <a:cubicBezTo>
                    <a:pt x="7528" y="927"/>
                    <a:pt x="6881" y="0"/>
                    <a:pt x="5994"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43" name="Google Shape;2368;p32">
              <a:extLst>
                <a:ext uri="{FF2B5EF4-FFF2-40B4-BE49-F238E27FC236}">
                  <a16:creationId xmlns:a16="http://schemas.microsoft.com/office/drawing/2014/main" id="{382FA1C8-98E6-4784-BC18-F170AA515B4D}"/>
                </a:ext>
              </a:extLst>
            </p:cNvPr>
            <p:cNvSpPr/>
            <p:nvPr/>
          </p:nvSpPr>
          <p:spPr>
            <a:xfrm>
              <a:off x="4572349" y="2864390"/>
              <a:ext cx="553338" cy="181646"/>
            </a:xfrm>
            <a:custGeom>
              <a:avLst/>
              <a:gdLst/>
              <a:ahLst/>
              <a:cxnLst/>
              <a:rect l="l" t="t" r="r" b="b"/>
              <a:pathLst>
                <a:path w="13967" h="4585" extrusionOk="0">
                  <a:moveTo>
                    <a:pt x="13966" y="2287"/>
                  </a:moveTo>
                  <a:lnTo>
                    <a:pt x="13966" y="2287"/>
                  </a:lnTo>
                  <a:cubicBezTo>
                    <a:pt x="13966" y="3549"/>
                    <a:pt x="12930" y="4585"/>
                    <a:pt x="11668" y="4585"/>
                  </a:cubicBezTo>
                  <a:lnTo>
                    <a:pt x="2298" y="4585"/>
                  </a:lnTo>
                  <a:cubicBezTo>
                    <a:pt x="1024" y="4585"/>
                    <a:pt x="0" y="3549"/>
                    <a:pt x="0" y="2287"/>
                  </a:cubicBezTo>
                  <a:lnTo>
                    <a:pt x="0" y="2287"/>
                  </a:lnTo>
                  <a:cubicBezTo>
                    <a:pt x="0" y="1025"/>
                    <a:pt x="1024" y="1"/>
                    <a:pt x="2298" y="1"/>
                  </a:cubicBezTo>
                  <a:lnTo>
                    <a:pt x="11668" y="1"/>
                  </a:lnTo>
                  <a:cubicBezTo>
                    <a:pt x="12930" y="1"/>
                    <a:pt x="13966" y="1025"/>
                    <a:pt x="13966" y="2287"/>
                  </a:cubicBezTo>
                  <a:close/>
                </a:path>
              </a:pathLst>
            </a:custGeom>
            <a:gradFill>
              <a:gsLst>
                <a:gs pos="0">
                  <a:srgbClr val="FFFFFF"/>
                </a:gs>
                <a:gs pos="100000">
                  <a:srgbClr val="BEBEBE"/>
                </a:gs>
              </a:gsLst>
              <a:lin ang="5400012" scaled="0"/>
            </a:gradFill>
            <a:ln>
              <a:noFill/>
            </a:ln>
          </p:spPr>
          <p:txBody>
            <a:bodyPr spcFirstLastPara="1" wrap="square" lIns="121900" tIns="121900" rIns="121900" bIns="121900" anchor="ctr" anchorCtr="0">
              <a:noAutofit/>
            </a:bodyPr>
            <a:lstStyle/>
            <a:p>
              <a:endParaRPr sz="2400"/>
            </a:p>
          </p:txBody>
        </p:sp>
        <p:sp>
          <p:nvSpPr>
            <p:cNvPr id="44" name="Google Shape;2369;p32">
              <a:extLst>
                <a:ext uri="{FF2B5EF4-FFF2-40B4-BE49-F238E27FC236}">
                  <a16:creationId xmlns:a16="http://schemas.microsoft.com/office/drawing/2014/main" id="{CF09FB29-FF82-4535-88B2-2235DB4D1A51}"/>
                </a:ext>
              </a:extLst>
            </p:cNvPr>
            <p:cNvSpPr/>
            <p:nvPr/>
          </p:nvSpPr>
          <p:spPr>
            <a:xfrm>
              <a:off x="4486976" y="2864390"/>
              <a:ext cx="216985" cy="206645"/>
            </a:xfrm>
            <a:custGeom>
              <a:avLst/>
              <a:gdLst/>
              <a:ahLst/>
              <a:cxnLst/>
              <a:rect l="l" t="t" r="r" b="b"/>
              <a:pathLst>
                <a:path w="5477" h="5216" extrusionOk="0">
                  <a:moveTo>
                    <a:pt x="5477" y="691"/>
                  </a:moveTo>
                  <a:lnTo>
                    <a:pt x="5477" y="4525"/>
                  </a:lnTo>
                  <a:cubicBezTo>
                    <a:pt x="5477" y="4906"/>
                    <a:pt x="5167" y="5216"/>
                    <a:pt x="4774" y="5216"/>
                  </a:cubicBezTo>
                  <a:lnTo>
                    <a:pt x="702" y="5216"/>
                  </a:lnTo>
                  <a:cubicBezTo>
                    <a:pt x="310" y="5216"/>
                    <a:pt x="0" y="4906"/>
                    <a:pt x="0" y="4525"/>
                  </a:cubicBezTo>
                  <a:lnTo>
                    <a:pt x="0" y="1465"/>
                  </a:lnTo>
                  <a:cubicBezTo>
                    <a:pt x="0" y="656"/>
                    <a:pt x="655" y="1"/>
                    <a:pt x="1476" y="1"/>
                  </a:cubicBezTo>
                  <a:lnTo>
                    <a:pt x="4774" y="1"/>
                  </a:lnTo>
                  <a:cubicBezTo>
                    <a:pt x="5167" y="1"/>
                    <a:pt x="5477" y="310"/>
                    <a:pt x="5477" y="691"/>
                  </a:cubicBezTo>
                  <a:close/>
                </a:path>
              </a:pathLst>
            </a:custGeom>
            <a:gradFill>
              <a:gsLst>
                <a:gs pos="0">
                  <a:srgbClr val="FFFFFF"/>
                </a:gs>
                <a:gs pos="100000">
                  <a:srgbClr val="BEBEBE"/>
                </a:gs>
              </a:gsLst>
              <a:lin ang="5400012" scaled="0"/>
            </a:gradFill>
            <a:ln>
              <a:noFill/>
            </a:ln>
          </p:spPr>
          <p:txBody>
            <a:bodyPr spcFirstLastPara="1" wrap="square" lIns="121900" tIns="121900" rIns="121900" bIns="121900" anchor="ctr" anchorCtr="0">
              <a:noAutofit/>
            </a:bodyPr>
            <a:lstStyle/>
            <a:p>
              <a:endParaRPr sz="2400"/>
            </a:p>
          </p:txBody>
        </p:sp>
        <p:sp>
          <p:nvSpPr>
            <p:cNvPr id="45" name="Google Shape;2370;p32">
              <a:extLst>
                <a:ext uri="{FF2B5EF4-FFF2-40B4-BE49-F238E27FC236}">
                  <a16:creationId xmlns:a16="http://schemas.microsoft.com/office/drawing/2014/main" id="{96E8EE30-3895-4667-ACD7-7115219677DF}"/>
                </a:ext>
              </a:extLst>
            </p:cNvPr>
            <p:cNvSpPr/>
            <p:nvPr/>
          </p:nvSpPr>
          <p:spPr>
            <a:xfrm>
              <a:off x="4533644" y="2967233"/>
              <a:ext cx="21750" cy="103798"/>
            </a:xfrm>
            <a:custGeom>
              <a:avLst/>
              <a:gdLst/>
              <a:ahLst/>
              <a:cxnLst/>
              <a:rect l="l" t="t" r="r" b="b"/>
              <a:pathLst>
                <a:path w="549" h="2620" extrusionOk="0">
                  <a:moveTo>
                    <a:pt x="1" y="0"/>
                  </a:moveTo>
                  <a:lnTo>
                    <a:pt x="1" y="2620"/>
                  </a:lnTo>
                  <a:lnTo>
                    <a:pt x="548" y="2620"/>
                  </a:lnTo>
                  <a:lnTo>
                    <a:pt x="548" y="0"/>
                  </a:lnTo>
                  <a:close/>
                </a:path>
              </a:pathLst>
            </a:custGeom>
            <a:gradFill>
              <a:gsLst>
                <a:gs pos="0">
                  <a:srgbClr val="424242"/>
                </a:gs>
                <a:gs pos="100000">
                  <a:srgbClr val="010101"/>
                </a:gs>
              </a:gsLst>
              <a:lin ang="5400012" scaled="0"/>
            </a:gradFill>
            <a:ln>
              <a:noFill/>
            </a:ln>
          </p:spPr>
          <p:txBody>
            <a:bodyPr spcFirstLastPara="1" wrap="square" lIns="121900" tIns="121900" rIns="121900" bIns="121900" anchor="ctr" anchorCtr="0">
              <a:noAutofit/>
            </a:bodyPr>
            <a:lstStyle/>
            <a:p>
              <a:endParaRPr sz="2400"/>
            </a:p>
          </p:txBody>
        </p:sp>
        <p:sp>
          <p:nvSpPr>
            <p:cNvPr id="46" name="Google Shape;2371;p32">
              <a:extLst>
                <a:ext uri="{FF2B5EF4-FFF2-40B4-BE49-F238E27FC236}">
                  <a16:creationId xmlns:a16="http://schemas.microsoft.com/office/drawing/2014/main" id="{24837EAB-5325-48C2-9975-76161FAF9D3D}"/>
                </a:ext>
              </a:extLst>
            </p:cNvPr>
            <p:cNvSpPr/>
            <p:nvPr/>
          </p:nvSpPr>
          <p:spPr>
            <a:xfrm>
              <a:off x="4584115" y="2967233"/>
              <a:ext cx="21750" cy="103798"/>
            </a:xfrm>
            <a:custGeom>
              <a:avLst/>
              <a:gdLst/>
              <a:ahLst/>
              <a:cxnLst/>
              <a:rect l="l" t="t" r="r" b="b"/>
              <a:pathLst>
                <a:path w="549" h="2620" extrusionOk="0">
                  <a:moveTo>
                    <a:pt x="1" y="0"/>
                  </a:moveTo>
                  <a:lnTo>
                    <a:pt x="1" y="2620"/>
                  </a:lnTo>
                  <a:lnTo>
                    <a:pt x="548" y="2620"/>
                  </a:lnTo>
                  <a:lnTo>
                    <a:pt x="548" y="0"/>
                  </a:lnTo>
                  <a:close/>
                </a:path>
              </a:pathLst>
            </a:custGeom>
            <a:gradFill>
              <a:gsLst>
                <a:gs pos="0">
                  <a:srgbClr val="424242"/>
                </a:gs>
                <a:gs pos="100000">
                  <a:srgbClr val="010101"/>
                </a:gs>
              </a:gsLst>
              <a:lin ang="5400012" scaled="0"/>
            </a:gradFill>
            <a:ln>
              <a:noFill/>
            </a:ln>
          </p:spPr>
          <p:txBody>
            <a:bodyPr spcFirstLastPara="1" wrap="square" lIns="121900" tIns="121900" rIns="121900" bIns="121900" anchor="ctr" anchorCtr="0">
              <a:noAutofit/>
            </a:bodyPr>
            <a:lstStyle/>
            <a:p>
              <a:endParaRPr sz="2400"/>
            </a:p>
          </p:txBody>
        </p:sp>
        <p:sp>
          <p:nvSpPr>
            <p:cNvPr id="47" name="Google Shape;2372;p32">
              <a:extLst>
                <a:ext uri="{FF2B5EF4-FFF2-40B4-BE49-F238E27FC236}">
                  <a16:creationId xmlns:a16="http://schemas.microsoft.com/office/drawing/2014/main" id="{41410D1C-8677-42B6-9ACE-3589FCE49C7B}"/>
                </a:ext>
              </a:extLst>
            </p:cNvPr>
            <p:cNvSpPr/>
            <p:nvPr/>
          </p:nvSpPr>
          <p:spPr>
            <a:xfrm>
              <a:off x="4635536" y="2967233"/>
              <a:ext cx="21750" cy="103798"/>
            </a:xfrm>
            <a:custGeom>
              <a:avLst/>
              <a:gdLst/>
              <a:ahLst/>
              <a:cxnLst/>
              <a:rect l="l" t="t" r="r" b="b"/>
              <a:pathLst>
                <a:path w="549" h="2620" extrusionOk="0">
                  <a:moveTo>
                    <a:pt x="0" y="0"/>
                  </a:moveTo>
                  <a:lnTo>
                    <a:pt x="0" y="2620"/>
                  </a:lnTo>
                  <a:lnTo>
                    <a:pt x="548" y="2620"/>
                  </a:lnTo>
                  <a:lnTo>
                    <a:pt x="548" y="0"/>
                  </a:lnTo>
                  <a:close/>
                </a:path>
              </a:pathLst>
            </a:custGeom>
            <a:gradFill>
              <a:gsLst>
                <a:gs pos="0">
                  <a:srgbClr val="424242"/>
                </a:gs>
                <a:gs pos="100000">
                  <a:srgbClr val="010101"/>
                </a:gs>
              </a:gsLst>
              <a:lin ang="5400012" scaled="0"/>
            </a:gradFill>
            <a:ln>
              <a:noFill/>
            </a:ln>
          </p:spPr>
          <p:txBody>
            <a:bodyPr spcFirstLastPara="1" wrap="square" lIns="121900" tIns="121900" rIns="121900" bIns="121900" anchor="ctr" anchorCtr="0">
              <a:noAutofit/>
            </a:bodyPr>
            <a:lstStyle/>
            <a:p>
              <a:endParaRPr sz="2400"/>
            </a:p>
          </p:txBody>
        </p:sp>
        <p:sp>
          <p:nvSpPr>
            <p:cNvPr id="48" name="Google Shape;2373;p32">
              <a:extLst>
                <a:ext uri="{FF2B5EF4-FFF2-40B4-BE49-F238E27FC236}">
                  <a16:creationId xmlns:a16="http://schemas.microsoft.com/office/drawing/2014/main" id="{46AC66A0-B06B-41EB-8147-4FDDDD5B1C23}"/>
                </a:ext>
              </a:extLst>
            </p:cNvPr>
            <p:cNvSpPr/>
            <p:nvPr/>
          </p:nvSpPr>
          <p:spPr>
            <a:xfrm>
              <a:off x="3910564" y="3222875"/>
              <a:ext cx="470775" cy="379298"/>
            </a:xfrm>
            <a:custGeom>
              <a:avLst/>
              <a:gdLst/>
              <a:ahLst/>
              <a:cxnLst/>
              <a:rect l="l" t="t" r="r" b="b"/>
              <a:pathLst>
                <a:path w="11883" h="9574" extrusionOk="0">
                  <a:moveTo>
                    <a:pt x="11883" y="6465"/>
                  </a:moveTo>
                  <a:lnTo>
                    <a:pt x="5954" y="9085"/>
                  </a:lnTo>
                  <a:cubicBezTo>
                    <a:pt x="4846" y="9573"/>
                    <a:pt x="3572" y="9073"/>
                    <a:pt x="3096" y="7989"/>
                  </a:cubicBezTo>
                  <a:lnTo>
                    <a:pt x="417" y="1941"/>
                  </a:lnTo>
                  <a:cubicBezTo>
                    <a:pt x="1" y="1012"/>
                    <a:pt x="798" y="0"/>
                    <a:pt x="1798" y="179"/>
                  </a:cubicBezTo>
                  <a:lnTo>
                    <a:pt x="7894" y="1286"/>
                  </a:lnTo>
                  <a:lnTo>
                    <a:pt x="9311" y="667"/>
                  </a:lnTo>
                  <a:close/>
                </a:path>
              </a:pathLst>
            </a:custGeom>
            <a:gradFill>
              <a:gsLst>
                <a:gs pos="0">
                  <a:srgbClr val="EDC3D8"/>
                </a:gs>
                <a:gs pos="100000">
                  <a:srgbClr val="C86596"/>
                </a:gs>
              </a:gsLst>
              <a:lin ang="5400012" scaled="0"/>
            </a:gradFill>
            <a:ln>
              <a:noFill/>
            </a:ln>
          </p:spPr>
          <p:txBody>
            <a:bodyPr spcFirstLastPara="1" wrap="square" lIns="121900" tIns="121900" rIns="121900" bIns="121900" anchor="ctr" anchorCtr="0">
              <a:noAutofit/>
            </a:bodyPr>
            <a:lstStyle/>
            <a:p>
              <a:endParaRPr sz="2400"/>
            </a:p>
          </p:txBody>
        </p:sp>
        <p:sp>
          <p:nvSpPr>
            <p:cNvPr id="49" name="Google Shape;2374;p32">
              <a:extLst>
                <a:ext uri="{FF2B5EF4-FFF2-40B4-BE49-F238E27FC236}">
                  <a16:creationId xmlns:a16="http://schemas.microsoft.com/office/drawing/2014/main" id="{E76B6916-D955-4BF8-9900-E47CA36CD84D}"/>
                </a:ext>
              </a:extLst>
            </p:cNvPr>
            <p:cNvSpPr/>
            <p:nvPr/>
          </p:nvSpPr>
          <p:spPr>
            <a:xfrm>
              <a:off x="3912346" y="3229134"/>
              <a:ext cx="298241" cy="361391"/>
            </a:xfrm>
            <a:custGeom>
              <a:avLst/>
              <a:gdLst/>
              <a:ahLst/>
              <a:cxnLst/>
              <a:rect l="l" t="t" r="r" b="b"/>
              <a:pathLst>
                <a:path w="7528" h="9122" extrusionOk="0">
                  <a:moveTo>
                    <a:pt x="7528" y="8212"/>
                  </a:moveTo>
                  <a:lnTo>
                    <a:pt x="7504" y="8223"/>
                  </a:lnTo>
                  <a:lnTo>
                    <a:pt x="7504" y="8223"/>
                  </a:lnTo>
                  <a:cubicBezTo>
                    <a:pt x="7512" y="8220"/>
                    <a:pt x="7520" y="8216"/>
                    <a:pt x="7528" y="8212"/>
                  </a:cubicBezTo>
                  <a:close/>
                  <a:moveTo>
                    <a:pt x="1535" y="0"/>
                  </a:moveTo>
                  <a:cubicBezTo>
                    <a:pt x="648" y="0"/>
                    <a:pt x="0" y="927"/>
                    <a:pt x="384" y="1783"/>
                  </a:cubicBezTo>
                  <a:lnTo>
                    <a:pt x="3063" y="7831"/>
                  </a:lnTo>
                  <a:cubicBezTo>
                    <a:pt x="3422" y="8638"/>
                    <a:pt x="4214" y="9121"/>
                    <a:pt x="5038" y="9121"/>
                  </a:cubicBezTo>
                  <a:cubicBezTo>
                    <a:pt x="5334" y="9121"/>
                    <a:pt x="5634" y="9059"/>
                    <a:pt x="5921" y="8927"/>
                  </a:cubicBezTo>
                  <a:lnTo>
                    <a:pt x="7504" y="8223"/>
                  </a:lnTo>
                  <a:lnTo>
                    <a:pt x="7504" y="8223"/>
                  </a:lnTo>
                  <a:cubicBezTo>
                    <a:pt x="7221" y="8347"/>
                    <a:pt x="6928" y="8405"/>
                    <a:pt x="6641" y="8405"/>
                  </a:cubicBezTo>
                  <a:cubicBezTo>
                    <a:pt x="5808" y="8405"/>
                    <a:pt x="5022" y="7917"/>
                    <a:pt x="4670" y="7117"/>
                  </a:cubicBezTo>
                  <a:lnTo>
                    <a:pt x="1992" y="1069"/>
                  </a:lnTo>
                  <a:cubicBezTo>
                    <a:pt x="1837" y="735"/>
                    <a:pt x="1861" y="378"/>
                    <a:pt x="1968" y="57"/>
                  </a:cubicBezTo>
                  <a:lnTo>
                    <a:pt x="1765" y="21"/>
                  </a:lnTo>
                  <a:cubicBezTo>
                    <a:pt x="1687" y="7"/>
                    <a:pt x="1610" y="0"/>
                    <a:pt x="1535"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0" name="Google Shape;2375;p32">
              <a:extLst>
                <a:ext uri="{FF2B5EF4-FFF2-40B4-BE49-F238E27FC236}">
                  <a16:creationId xmlns:a16="http://schemas.microsoft.com/office/drawing/2014/main" id="{8CFA82F8-8724-4AA6-B7FC-8E5C6CD8F5BB}"/>
                </a:ext>
              </a:extLst>
            </p:cNvPr>
            <p:cNvSpPr/>
            <p:nvPr/>
          </p:nvSpPr>
          <p:spPr>
            <a:xfrm>
              <a:off x="4227531" y="3077603"/>
              <a:ext cx="584477" cy="418440"/>
            </a:xfrm>
            <a:custGeom>
              <a:avLst/>
              <a:gdLst/>
              <a:ahLst/>
              <a:cxnLst/>
              <a:rect l="l" t="t" r="r" b="b"/>
              <a:pathLst>
                <a:path w="14753" h="10562" extrusionOk="0">
                  <a:moveTo>
                    <a:pt x="1775" y="9704"/>
                  </a:moveTo>
                  <a:cubicBezTo>
                    <a:pt x="2025" y="10287"/>
                    <a:pt x="2691" y="10561"/>
                    <a:pt x="3287" y="10311"/>
                  </a:cubicBezTo>
                  <a:lnTo>
                    <a:pt x="12621" y="6311"/>
                  </a:lnTo>
                  <a:cubicBezTo>
                    <a:pt x="14062" y="5703"/>
                    <a:pt x="14752" y="4025"/>
                    <a:pt x="14145" y="2572"/>
                  </a:cubicBezTo>
                  <a:lnTo>
                    <a:pt x="13943" y="2132"/>
                  </a:lnTo>
                  <a:cubicBezTo>
                    <a:pt x="13336" y="691"/>
                    <a:pt x="11657" y="0"/>
                    <a:pt x="10216" y="608"/>
                  </a:cubicBezTo>
                  <a:lnTo>
                    <a:pt x="870" y="4596"/>
                  </a:lnTo>
                  <a:cubicBezTo>
                    <a:pt x="286" y="4858"/>
                    <a:pt x="1" y="5525"/>
                    <a:pt x="251" y="6108"/>
                  </a:cubicBezTo>
                  <a:close/>
                </a:path>
              </a:pathLst>
            </a:custGeom>
            <a:gradFill>
              <a:gsLst>
                <a:gs pos="0">
                  <a:srgbClr val="2A2A9A"/>
                </a:gs>
                <a:gs pos="100000">
                  <a:srgbClr val="111131"/>
                </a:gs>
              </a:gsLst>
              <a:lin ang="5400012" scaled="0"/>
            </a:gradFill>
            <a:ln>
              <a:noFill/>
            </a:ln>
          </p:spPr>
          <p:txBody>
            <a:bodyPr spcFirstLastPara="1" wrap="square" lIns="121900" tIns="121900" rIns="121900" bIns="121900" anchor="ctr" anchorCtr="0">
              <a:noAutofit/>
            </a:bodyPr>
            <a:lstStyle/>
            <a:p>
              <a:endParaRPr sz="2400"/>
            </a:p>
          </p:txBody>
        </p:sp>
        <p:sp>
          <p:nvSpPr>
            <p:cNvPr id="51" name="Google Shape;2376;p32">
              <a:extLst>
                <a:ext uri="{FF2B5EF4-FFF2-40B4-BE49-F238E27FC236}">
                  <a16:creationId xmlns:a16="http://schemas.microsoft.com/office/drawing/2014/main" id="{D6A25001-A158-4E5E-8A60-E4DB4716FC3C}"/>
                </a:ext>
              </a:extLst>
            </p:cNvPr>
            <p:cNvSpPr/>
            <p:nvPr/>
          </p:nvSpPr>
          <p:spPr>
            <a:xfrm>
              <a:off x="4147824" y="3452132"/>
              <a:ext cx="99559" cy="75788"/>
            </a:xfrm>
            <a:custGeom>
              <a:avLst/>
              <a:gdLst/>
              <a:ahLst/>
              <a:cxnLst/>
              <a:rect l="l" t="t" r="r" b="b"/>
              <a:pathLst>
                <a:path w="2513" h="1913" extrusionOk="0">
                  <a:moveTo>
                    <a:pt x="1420" y="0"/>
                  </a:moveTo>
                  <a:cubicBezTo>
                    <a:pt x="1257" y="0"/>
                    <a:pt x="1086" y="31"/>
                    <a:pt x="917" y="95"/>
                  </a:cubicBezTo>
                  <a:cubicBezTo>
                    <a:pt x="334" y="333"/>
                    <a:pt x="0" y="905"/>
                    <a:pt x="191" y="1381"/>
                  </a:cubicBezTo>
                  <a:cubicBezTo>
                    <a:pt x="326" y="1718"/>
                    <a:pt x="681" y="1912"/>
                    <a:pt x="1085" y="1912"/>
                  </a:cubicBezTo>
                  <a:cubicBezTo>
                    <a:pt x="1251" y="1912"/>
                    <a:pt x="1426" y="1879"/>
                    <a:pt x="1596" y="1810"/>
                  </a:cubicBezTo>
                  <a:cubicBezTo>
                    <a:pt x="2191" y="1583"/>
                    <a:pt x="2513" y="1012"/>
                    <a:pt x="2322" y="536"/>
                  </a:cubicBezTo>
                  <a:cubicBezTo>
                    <a:pt x="2186" y="195"/>
                    <a:pt x="1830" y="0"/>
                    <a:pt x="1420"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52" name="Google Shape;2377;p32">
              <a:extLst>
                <a:ext uri="{FF2B5EF4-FFF2-40B4-BE49-F238E27FC236}">
                  <a16:creationId xmlns:a16="http://schemas.microsoft.com/office/drawing/2014/main" id="{EFDE8239-5100-46A0-B716-F1C84153930A}"/>
                </a:ext>
              </a:extLst>
            </p:cNvPr>
            <p:cNvSpPr/>
            <p:nvPr/>
          </p:nvSpPr>
          <p:spPr>
            <a:xfrm>
              <a:off x="4587443" y="2346491"/>
              <a:ext cx="38706" cy="39182"/>
            </a:xfrm>
            <a:custGeom>
              <a:avLst/>
              <a:gdLst/>
              <a:ahLst/>
              <a:cxnLst/>
              <a:rect l="l" t="t" r="r" b="b"/>
              <a:pathLst>
                <a:path w="977" h="989" extrusionOk="0">
                  <a:moveTo>
                    <a:pt x="488" y="1"/>
                  </a:moveTo>
                  <a:cubicBezTo>
                    <a:pt x="214" y="1"/>
                    <a:pt x="0" y="215"/>
                    <a:pt x="0" y="489"/>
                  </a:cubicBezTo>
                  <a:cubicBezTo>
                    <a:pt x="0" y="763"/>
                    <a:pt x="214" y="989"/>
                    <a:pt x="488" y="989"/>
                  </a:cubicBezTo>
                  <a:cubicBezTo>
                    <a:pt x="762" y="989"/>
                    <a:pt x="976" y="763"/>
                    <a:pt x="976" y="489"/>
                  </a:cubicBezTo>
                  <a:cubicBezTo>
                    <a:pt x="976" y="215"/>
                    <a:pt x="762" y="1"/>
                    <a:pt x="48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3" name="Google Shape;2378;p32">
              <a:extLst>
                <a:ext uri="{FF2B5EF4-FFF2-40B4-BE49-F238E27FC236}">
                  <a16:creationId xmlns:a16="http://schemas.microsoft.com/office/drawing/2014/main" id="{F4198729-3AF7-4C8C-89E8-F6F26445CC50}"/>
                </a:ext>
              </a:extLst>
            </p:cNvPr>
            <p:cNvSpPr/>
            <p:nvPr/>
          </p:nvSpPr>
          <p:spPr>
            <a:xfrm>
              <a:off x="4703914" y="2346491"/>
              <a:ext cx="39221" cy="39182"/>
            </a:xfrm>
            <a:custGeom>
              <a:avLst/>
              <a:gdLst/>
              <a:ahLst/>
              <a:cxnLst/>
              <a:rect l="l" t="t" r="r" b="b"/>
              <a:pathLst>
                <a:path w="990" h="989" extrusionOk="0">
                  <a:moveTo>
                    <a:pt x="489" y="1"/>
                  </a:moveTo>
                  <a:cubicBezTo>
                    <a:pt x="215" y="1"/>
                    <a:pt x="1" y="215"/>
                    <a:pt x="1" y="489"/>
                  </a:cubicBezTo>
                  <a:cubicBezTo>
                    <a:pt x="1" y="763"/>
                    <a:pt x="215" y="989"/>
                    <a:pt x="489" y="989"/>
                  </a:cubicBezTo>
                  <a:cubicBezTo>
                    <a:pt x="763" y="989"/>
                    <a:pt x="989" y="763"/>
                    <a:pt x="989" y="489"/>
                  </a:cubicBezTo>
                  <a:cubicBezTo>
                    <a:pt x="989" y="215"/>
                    <a:pt x="763" y="1"/>
                    <a:pt x="48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54" name="Google Shape;2379;p32">
              <a:extLst>
                <a:ext uri="{FF2B5EF4-FFF2-40B4-BE49-F238E27FC236}">
                  <a16:creationId xmlns:a16="http://schemas.microsoft.com/office/drawing/2014/main" id="{E1C0D11D-F9D0-48B8-9AA3-B9C9F2C82774}"/>
                </a:ext>
              </a:extLst>
            </p:cNvPr>
            <p:cNvSpPr/>
            <p:nvPr/>
          </p:nvSpPr>
          <p:spPr>
            <a:xfrm>
              <a:off x="4626108" y="2453097"/>
              <a:ext cx="136839" cy="34467"/>
            </a:xfrm>
            <a:custGeom>
              <a:avLst/>
              <a:gdLst/>
              <a:ahLst/>
              <a:cxnLst/>
              <a:rect l="l" t="t" r="r" b="b"/>
              <a:pathLst>
                <a:path w="3454" h="870" fill="none" extrusionOk="0">
                  <a:moveTo>
                    <a:pt x="0" y="179"/>
                  </a:moveTo>
                  <a:cubicBezTo>
                    <a:pt x="0" y="179"/>
                    <a:pt x="381" y="870"/>
                    <a:pt x="1548" y="870"/>
                  </a:cubicBezTo>
                  <a:cubicBezTo>
                    <a:pt x="2715" y="870"/>
                    <a:pt x="3453" y="0"/>
                    <a:pt x="3453" y="0"/>
                  </a:cubicBezTo>
                </a:path>
              </a:pathLst>
            </a:custGeom>
            <a:solidFill>
              <a:schemeClr val="dk1"/>
            </a:solidFill>
            <a:ln w="7450" cap="rnd" cmpd="sng">
              <a:solidFill>
                <a:schemeClr val="dk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sp>
          <p:nvSpPr>
            <p:cNvPr id="55" name="Google Shape;2380;p32">
              <a:extLst>
                <a:ext uri="{FF2B5EF4-FFF2-40B4-BE49-F238E27FC236}">
                  <a16:creationId xmlns:a16="http://schemas.microsoft.com/office/drawing/2014/main" id="{9F15D92A-77C5-4A0D-A5FD-571EA8F08CE2}"/>
                </a:ext>
              </a:extLst>
            </p:cNvPr>
            <p:cNvSpPr/>
            <p:nvPr/>
          </p:nvSpPr>
          <p:spPr>
            <a:xfrm>
              <a:off x="4875609" y="2370538"/>
              <a:ext cx="82127" cy="87317"/>
            </a:xfrm>
            <a:custGeom>
              <a:avLst/>
              <a:gdLst/>
              <a:ahLst/>
              <a:cxnLst/>
              <a:rect l="l" t="t" r="r" b="b"/>
              <a:pathLst>
                <a:path w="2073" h="2204" extrusionOk="0">
                  <a:moveTo>
                    <a:pt x="1" y="1"/>
                  </a:moveTo>
                  <a:lnTo>
                    <a:pt x="1" y="2204"/>
                  </a:lnTo>
                  <a:lnTo>
                    <a:pt x="965" y="2204"/>
                  </a:lnTo>
                  <a:cubicBezTo>
                    <a:pt x="1572" y="2204"/>
                    <a:pt x="2072" y="1715"/>
                    <a:pt x="2072" y="1108"/>
                  </a:cubicBezTo>
                  <a:cubicBezTo>
                    <a:pt x="2072" y="501"/>
                    <a:pt x="1572" y="1"/>
                    <a:pt x="965" y="1"/>
                  </a:cubicBezTo>
                  <a:close/>
                </a:path>
              </a:pathLst>
            </a:custGeom>
            <a:gradFill>
              <a:gsLst>
                <a:gs pos="0">
                  <a:srgbClr val="FFFFFF"/>
                </a:gs>
                <a:gs pos="100000">
                  <a:srgbClr val="BEBEBE"/>
                </a:gs>
              </a:gsLst>
              <a:lin ang="5400012" scaled="0"/>
            </a:gradFill>
            <a:ln>
              <a:noFill/>
            </a:ln>
          </p:spPr>
          <p:txBody>
            <a:bodyPr spcFirstLastPara="1" wrap="square" lIns="121900" tIns="121900" rIns="121900" bIns="121900" anchor="ctr" anchorCtr="0">
              <a:noAutofit/>
            </a:bodyPr>
            <a:lstStyle/>
            <a:p>
              <a:endParaRPr sz="2400"/>
            </a:p>
          </p:txBody>
        </p:sp>
        <p:sp>
          <p:nvSpPr>
            <p:cNvPr id="56" name="Google Shape;2381;p32">
              <a:extLst>
                <a:ext uri="{FF2B5EF4-FFF2-40B4-BE49-F238E27FC236}">
                  <a16:creationId xmlns:a16="http://schemas.microsoft.com/office/drawing/2014/main" id="{CD70D11C-1B2A-4C7C-80B9-67484DE0A56F}"/>
                </a:ext>
              </a:extLst>
            </p:cNvPr>
            <p:cNvSpPr/>
            <p:nvPr/>
          </p:nvSpPr>
          <p:spPr>
            <a:xfrm>
              <a:off x="4931270" y="2935144"/>
              <a:ext cx="859937" cy="1108537"/>
            </a:xfrm>
            <a:custGeom>
              <a:avLst/>
              <a:gdLst/>
              <a:ahLst/>
              <a:cxnLst/>
              <a:rect l="l" t="t" r="r" b="b"/>
              <a:pathLst>
                <a:path w="21706" h="27981" extrusionOk="0">
                  <a:moveTo>
                    <a:pt x="20098" y="27980"/>
                  </a:moveTo>
                  <a:lnTo>
                    <a:pt x="1" y="27980"/>
                  </a:lnTo>
                  <a:lnTo>
                    <a:pt x="1" y="1"/>
                  </a:lnTo>
                  <a:lnTo>
                    <a:pt x="20098" y="1"/>
                  </a:lnTo>
                  <a:cubicBezTo>
                    <a:pt x="20991" y="1"/>
                    <a:pt x="21706" y="715"/>
                    <a:pt x="21706" y="1608"/>
                  </a:cubicBezTo>
                  <a:lnTo>
                    <a:pt x="21706" y="26373"/>
                  </a:lnTo>
                  <a:cubicBezTo>
                    <a:pt x="21706" y="27266"/>
                    <a:pt x="20980" y="27980"/>
                    <a:pt x="20098" y="27980"/>
                  </a:cubicBezTo>
                  <a:close/>
                </a:path>
              </a:pathLst>
            </a:custGeom>
            <a:gradFill>
              <a:gsLst>
                <a:gs pos="0">
                  <a:srgbClr val="A588D1"/>
                </a:gs>
                <a:gs pos="100000">
                  <a:srgbClr val="634393"/>
                </a:gs>
              </a:gsLst>
              <a:lin ang="5400012" scaled="0"/>
            </a:gradFill>
            <a:ln>
              <a:noFill/>
            </a:ln>
          </p:spPr>
          <p:txBody>
            <a:bodyPr spcFirstLastPara="1" wrap="square" lIns="121900" tIns="121900" rIns="121900" bIns="121900" anchor="ctr" anchorCtr="0">
              <a:noAutofit/>
            </a:bodyPr>
            <a:lstStyle/>
            <a:p>
              <a:endParaRPr sz="2400" dirty="0"/>
            </a:p>
          </p:txBody>
        </p:sp>
        <p:sp>
          <p:nvSpPr>
            <p:cNvPr id="57" name="Google Shape;2382;p32">
              <a:extLst>
                <a:ext uri="{FF2B5EF4-FFF2-40B4-BE49-F238E27FC236}">
                  <a16:creationId xmlns:a16="http://schemas.microsoft.com/office/drawing/2014/main" id="{650CF368-F3D5-4ED4-97CB-657E00AD821C}"/>
                </a:ext>
              </a:extLst>
            </p:cNvPr>
            <p:cNvSpPr/>
            <p:nvPr/>
          </p:nvSpPr>
          <p:spPr>
            <a:xfrm>
              <a:off x="4744480" y="2935144"/>
              <a:ext cx="372682" cy="1108537"/>
            </a:xfrm>
            <a:custGeom>
              <a:avLst/>
              <a:gdLst/>
              <a:ahLst/>
              <a:cxnLst/>
              <a:rect l="l" t="t" r="r" b="b"/>
              <a:pathLst>
                <a:path w="9407" h="27981" extrusionOk="0">
                  <a:moveTo>
                    <a:pt x="7442" y="27980"/>
                  </a:moveTo>
                  <a:lnTo>
                    <a:pt x="1" y="27980"/>
                  </a:lnTo>
                  <a:lnTo>
                    <a:pt x="1" y="4704"/>
                  </a:lnTo>
                  <a:cubicBezTo>
                    <a:pt x="1" y="2108"/>
                    <a:pt x="2108" y="1"/>
                    <a:pt x="4704" y="1"/>
                  </a:cubicBezTo>
                  <a:lnTo>
                    <a:pt x="4704" y="1"/>
                  </a:lnTo>
                  <a:cubicBezTo>
                    <a:pt x="7299" y="1"/>
                    <a:pt x="9407" y="2096"/>
                    <a:pt x="9407" y="4704"/>
                  </a:cubicBezTo>
                  <a:lnTo>
                    <a:pt x="9407" y="26028"/>
                  </a:lnTo>
                  <a:cubicBezTo>
                    <a:pt x="9407" y="27099"/>
                    <a:pt x="8538" y="27980"/>
                    <a:pt x="7442" y="27980"/>
                  </a:cubicBezTo>
                  <a:close/>
                </a:path>
              </a:pathLst>
            </a:custGeom>
            <a:gradFill>
              <a:gsLst>
                <a:gs pos="0">
                  <a:srgbClr val="BA8CC4"/>
                </a:gs>
                <a:gs pos="100000">
                  <a:srgbClr val="784D80"/>
                </a:gs>
              </a:gsLst>
              <a:lin ang="5400012" scaled="0"/>
            </a:gradFill>
            <a:ln>
              <a:noFill/>
            </a:ln>
          </p:spPr>
          <p:txBody>
            <a:bodyPr spcFirstLastPara="1" wrap="square" lIns="121900" tIns="121900" rIns="121900" bIns="121900" anchor="ctr" anchorCtr="0">
              <a:noAutofit/>
            </a:bodyPr>
            <a:lstStyle/>
            <a:p>
              <a:endParaRPr sz="2400"/>
            </a:p>
          </p:txBody>
        </p:sp>
        <p:sp>
          <p:nvSpPr>
            <p:cNvPr id="58" name="Google Shape;2383;p32">
              <a:extLst>
                <a:ext uri="{FF2B5EF4-FFF2-40B4-BE49-F238E27FC236}">
                  <a16:creationId xmlns:a16="http://schemas.microsoft.com/office/drawing/2014/main" id="{9899801E-67B8-444B-BAE8-1A94B642F3ED}"/>
                </a:ext>
              </a:extLst>
            </p:cNvPr>
            <p:cNvSpPr/>
            <p:nvPr/>
          </p:nvSpPr>
          <p:spPr>
            <a:xfrm>
              <a:off x="5583626" y="2780444"/>
              <a:ext cx="318406" cy="697189"/>
            </a:xfrm>
            <a:custGeom>
              <a:avLst/>
              <a:gdLst/>
              <a:ahLst/>
              <a:cxnLst/>
              <a:rect l="l" t="t" r="r" b="b"/>
              <a:pathLst>
                <a:path w="8037" h="17598" extrusionOk="0">
                  <a:moveTo>
                    <a:pt x="0" y="8799"/>
                  </a:moveTo>
                  <a:cubicBezTo>
                    <a:pt x="0" y="12311"/>
                    <a:pt x="1560" y="15455"/>
                    <a:pt x="4024" y="17598"/>
                  </a:cubicBezTo>
                  <a:cubicBezTo>
                    <a:pt x="6489" y="15467"/>
                    <a:pt x="8037" y="12311"/>
                    <a:pt x="8037" y="8799"/>
                  </a:cubicBezTo>
                  <a:cubicBezTo>
                    <a:pt x="8037" y="5287"/>
                    <a:pt x="6477" y="2143"/>
                    <a:pt x="4024" y="0"/>
                  </a:cubicBezTo>
                  <a:cubicBezTo>
                    <a:pt x="1560" y="2143"/>
                    <a:pt x="0" y="5287"/>
                    <a:pt x="0" y="8799"/>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59" name="Google Shape;2384;p32">
              <a:extLst>
                <a:ext uri="{FF2B5EF4-FFF2-40B4-BE49-F238E27FC236}">
                  <a16:creationId xmlns:a16="http://schemas.microsoft.com/office/drawing/2014/main" id="{82AE6C1D-2A99-4062-83A4-DB2F989A5E94}"/>
                </a:ext>
              </a:extLst>
            </p:cNvPr>
            <p:cNvSpPr/>
            <p:nvPr/>
          </p:nvSpPr>
          <p:spPr>
            <a:xfrm>
              <a:off x="5743517" y="2780444"/>
              <a:ext cx="158985" cy="696238"/>
            </a:xfrm>
            <a:custGeom>
              <a:avLst/>
              <a:gdLst/>
              <a:ahLst/>
              <a:cxnLst/>
              <a:rect l="l" t="t" r="r" b="b"/>
              <a:pathLst>
                <a:path w="4013" h="17574" extrusionOk="0">
                  <a:moveTo>
                    <a:pt x="4013" y="8799"/>
                  </a:moveTo>
                  <a:cubicBezTo>
                    <a:pt x="4013" y="5287"/>
                    <a:pt x="2453" y="2143"/>
                    <a:pt x="0" y="0"/>
                  </a:cubicBezTo>
                  <a:lnTo>
                    <a:pt x="0" y="17574"/>
                  </a:lnTo>
                  <a:cubicBezTo>
                    <a:pt x="2453" y="15455"/>
                    <a:pt x="4013" y="12311"/>
                    <a:pt x="4013" y="8799"/>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0" name="Google Shape;2385;p32">
              <a:extLst>
                <a:ext uri="{FF2B5EF4-FFF2-40B4-BE49-F238E27FC236}">
                  <a16:creationId xmlns:a16="http://schemas.microsoft.com/office/drawing/2014/main" id="{1CDB2E60-D19C-4F58-A3C1-ECE3B6E1C6EE}"/>
                </a:ext>
              </a:extLst>
            </p:cNvPr>
            <p:cNvSpPr/>
            <p:nvPr/>
          </p:nvSpPr>
          <p:spPr>
            <a:xfrm>
              <a:off x="5421359" y="3154022"/>
              <a:ext cx="324547" cy="324547"/>
            </a:xfrm>
            <a:custGeom>
              <a:avLst/>
              <a:gdLst/>
              <a:ahLst/>
              <a:cxnLst/>
              <a:rect l="l" t="t" r="r" b="b"/>
              <a:pathLst>
                <a:path w="8192" h="8192" extrusionOk="0">
                  <a:moveTo>
                    <a:pt x="2298" y="5906"/>
                  </a:moveTo>
                  <a:cubicBezTo>
                    <a:pt x="3870" y="7477"/>
                    <a:pt x="5989" y="8192"/>
                    <a:pt x="8037" y="8037"/>
                  </a:cubicBezTo>
                  <a:cubicBezTo>
                    <a:pt x="8192" y="5977"/>
                    <a:pt x="7477" y="3858"/>
                    <a:pt x="5894" y="2298"/>
                  </a:cubicBezTo>
                  <a:cubicBezTo>
                    <a:pt x="4322" y="714"/>
                    <a:pt x="2203" y="0"/>
                    <a:pt x="155" y="155"/>
                  </a:cubicBezTo>
                  <a:cubicBezTo>
                    <a:pt x="0" y="2227"/>
                    <a:pt x="715" y="4322"/>
                    <a:pt x="2298" y="5906"/>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1" name="Google Shape;2386;p32">
              <a:extLst>
                <a:ext uri="{FF2B5EF4-FFF2-40B4-BE49-F238E27FC236}">
                  <a16:creationId xmlns:a16="http://schemas.microsoft.com/office/drawing/2014/main" id="{1B23E39D-04EC-49C7-8BA2-D4B4ADE01C03}"/>
                </a:ext>
              </a:extLst>
            </p:cNvPr>
            <p:cNvSpPr/>
            <p:nvPr/>
          </p:nvSpPr>
          <p:spPr>
            <a:xfrm>
              <a:off x="5427936" y="3154497"/>
              <a:ext cx="317970" cy="318406"/>
            </a:xfrm>
            <a:custGeom>
              <a:avLst/>
              <a:gdLst/>
              <a:ahLst/>
              <a:cxnLst/>
              <a:rect l="l" t="t" r="r" b="b"/>
              <a:pathLst>
                <a:path w="8026" h="8037" extrusionOk="0">
                  <a:moveTo>
                    <a:pt x="5752" y="2286"/>
                  </a:moveTo>
                  <a:cubicBezTo>
                    <a:pt x="4168" y="714"/>
                    <a:pt x="2061" y="0"/>
                    <a:pt x="1" y="143"/>
                  </a:cubicBezTo>
                  <a:lnTo>
                    <a:pt x="7895" y="8037"/>
                  </a:lnTo>
                  <a:cubicBezTo>
                    <a:pt x="8026" y="5977"/>
                    <a:pt x="7323" y="3858"/>
                    <a:pt x="5752" y="2286"/>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2" name="Google Shape;2387;p32">
              <a:extLst>
                <a:ext uri="{FF2B5EF4-FFF2-40B4-BE49-F238E27FC236}">
                  <a16:creationId xmlns:a16="http://schemas.microsoft.com/office/drawing/2014/main" id="{12239880-81C3-4745-A698-B99019357323}"/>
                </a:ext>
              </a:extLst>
            </p:cNvPr>
            <p:cNvSpPr/>
            <p:nvPr/>
          </p:nvSpPr>
          <p:spPr>
            <a:xfrm>
              <a:off x="5734999" y="3149744"/>
              <a:ext cx="324586" cy="324111"/>
            </a:xfrm>
            <a:custGeom>
              <a:avLst/>
              <a:gdLst/>
              <a:ahLst/>
              <a:cxnLst/>
              <a:rect l="l" t="t" r="r" b="b"/>
              <a:pathLst>
                <a:path w="8193" h="8181" extrusionOk="0">
                  <a:moveTo>
                    <a:pt x="5895" y="5895"/>
                  </a:moveTo>
                  <a:cubicBezTo>
                    <a:pt x="4323" y="7466"/>
                    <a:pt x="2204" y="8181"/>
                    <a:pt x="156" y="8038"/>
                  </a:cubicBezTo>
                  <a:cubicBezTo>
                    <a:pt x="1" y="5966"/>
                    <a:pt x="715" y="3847"/>
                    <a:pt x="2299" y="2287"/>
                  </a:cubicBezTo>
                  <a:cubicBezTo>
                    <a:pt x="3870" y="703"/>
                    <a:pt x="5990" y="1"/>
                    <a:pt x="8038" y="144"/>
                  </a:cubicBezTo>
                  <a:cubicBezTo>
                    <a:pt x="8192" y="2192"/>
                    <a:pt x="7478" y="4311"/>
                    <a:pt x="5895" y="5895"/>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3" name="Google Shape;2388;p32">
              <a:extLst>
                <a:ext uri="{FF2B5EF4-FFF2-40B4-BE49-F238E27FC236}">
                  <a16:creationId xmlns:a16="http://schemas.microsoft.com/office/drawing/2014/main" id="{DCA16F98-215D-4A4D-95CA-7A251BEA6269}"/>
                </a:ext>
              </a:extLst>
            </p:cNvPr>
            <p:cNvSpPr/>
            <p:nvPr/>
          </p:nvSpPr>
          <p:spPr>
            <a:xfrm>
              <a:off x="5734999" y="3148832"/>
              <a:ext cx="317970" cy="318406"/>
            </a:xfrm>
            <a:custGeom>
              <a:avLst/>
              <a:gdLst/>
              <a:ahLst/>
              <a:cxnLst/>
              <a:rect l="l" t="t" r="r" b="b"/>
              <a:pathLst>
                <a:path w="8026" h="8037" extrusionOk="0">
                  <a:moveTo>
                    <a:pt x="2287" y="2298"/>
                  </a:moveTo>
                  <a:cubicBezTo>
                    <a:pt x="3859" y="715"/>
                    <a:pt x="5978" y="0"/>
                    <a:pt x="8026" y="155"/>
                  </a:cubicBezTo>
                  <a:lnTo>
                    <a:pt x="144" y="8037"/>
                  </a:lnTo>
                  <a:cubicBezTo>
                    <a:pt x="1" y="5989"/>
                    <a:pt x="715" y="3870"/>
                    <a:pt x="2287" y="2298"/>
                  </a:cubicBez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4" name="Google Shape;2389;p32">
              <a:extLst>
                <a:ext uri="{FF2B5EF4-FFF2-40B4-BE49-F238E27FC236}">
                  <a16:creationId xmlns:a16="http://schemas.microsoft.com/office/drawing/2014/main" id="{3A421364-D32B-415F-A6E6-1C4B2A158A66}"/>
                </a:ext>
              </a:extLst>
            </p:cNvPr>
            <p:cNvSpPr/>
            <p:nvPr/>
          </p:nvSpPr>
          <p:spPr>
            <a:xfrm>
              <a:off x="5461451" y="3451617"/>
              <a:ext cx="564668" cy="614666"/>
            </a:xfrm>
            <a:custGeom>
              <a:avLst/>
              <a:gdLst/>
              <a:ahLst/>
              <a:cxnLst/>
              <a:rect l="l" t="t" r="r" b="b"/>
              <a:pathLst>
                <a:path w="14253" h="15515" extrusionOk="0">
                  <a:moveTo>
                    <a:pt x="11454" y="15515"/>
                  </a:moveTo>
                  <a:lnTo>
                    <a:pt x="2786" y="15515"/>
                  </a:lnTo>
                  <a:cubicBezTo>
                    <a:pt x="2132" y="15515"/>
                    <a:pt x="1572" y="15015"/>
                    <a:pt x="1512" y="14360"/>
                  </a:cubicBezTo>
                  <a:lnTo>
                    <a:pt x="0" y="1"/>
                  </a:lnTo>
                  <a:lnTo>
                    <a:pt x="14252" y="1"/>
                  </a:lnTo>
                  <a:lnTo>
                    <a:pt x="12740" y="14360"/>
                  </a:lnTo>
                  <a:cubicBezTo>
                    <a:pt x="12657" y="15015"/>
                    <a:pt x="12109" y="15515"/>
                    <a:pt x="11454" y="15515"/>
                  </a:cubicBezTo>
                  <a:close/>
                </a:path>
              </a:pathLst>
            </a:custGeom>
            <a:gradFill>
              <a:gsLst>
                <a:gs pos="0">
                  <a:srgbClr val="2A2A9A"/>
                </a:gs>
                <a:gs pos="100000">
                  <a:srgbClr val="111131"/>
                </a:gs>
              </a:gsLst>
              <a:lin ang="5400012" scaled="0"/>
            </a:gradFill>
            <a:ln>
              <a:noFill/>
            </a:ln>
          </p:spPr>
          <p:txBody>
            <a:bodyPr spcFirstLastPara="1" wrap="square" lIns="121900" tIns="121900" rIns="121900" bIns="121900" anchor="ctr" anchorCtr="0">
              <a:noAutofit/>
            </a:bodyPr>
            <a:lstStyle/>
            <a:p>
              <a:endParaRPr sz="2400"/>
            </a:p>
          </p:txBody>
        </p:sp>
        <p:sp>
          <p:nvSpPr>
            <p:cNvPr id="65" name="Google Shape;2390;p32">
              <a:extLst>
                <a:ext uri="{FF2B5EF4-FFF2-40B4-BE49-F238E27FC236}">
                  <a16:creationId xmlns:a16="http://schemas.microsoft.com/office/drawing/2014/main" id="{98F968CD-0BFF-444F-A3D6-FA850057D3BE}"/>
                </a:ext>
              </a:extLst>
            </p:cNvPr>
            <p:cNvSpPr/>
            <p:nvPr/>
          </p:nvSpPr>
          <p:spPr>
            <a:xfrm>
              <a:off x="3622832" y="1572950"/>
              <a:ext cx="777414" cy="551911"/>
            </a:xfrm>
            <a:custGeom>
              <a:avLst/>
              <a:gdLst/>
              <a:ahLst/>
              <a:cxnLst/>
              <a:rect l="l" t="t" r="r" b="b"/>
              <a:pathLst>
                <a:path w="19623" h="13931" extrusionOk="0">
                  <a:moveTo>
                    <a:pt x="19622" y="13931"/>
                  </a:moveTo>
                  <a:lnTo>
                    <a:pt x="1" y="13931"/>
                  </a:lnTo>
                  <a:lnTo>
                    <a:pt x="4561" y="0"/>
                  </a:lnTo>
                  <a:lnTo>
                    <a:pt x="15062" y="0"/>
                  </a:lnTo>
                  <a:close/>
                </a:path>
              </a:pathLst>
            </a:custGeom>
            <a:gradFill>
              <a:gsLst>
                <a:gs pos="0">
                  <a:srgbClr val="5C698E"/>
                </a:gs>
                <a:gs pos="100000">
                  <a:srgbClr val="2C303B"/>
                </a:gs>
              </a:gsLst>
              <a:path path="circle">
                <a:fillToRect l="50000" t="50000" r="50000" b="50000"/>
              </a:path>
              <a:tileRect/>
            </a:gradFill>
            <a:ln>
              <a:noFill/>
            </a:ln>
          </p:spPr>
          <p:txBody>
            <a:bodyPr spcFirstLastPara="1" wrap="square" lIns="121900" tIns="121900" rIns="121900" bIns="121900" anchor="ctr" anchorCtr="0">
              <a:noAutofit/>
            </a:bodyPr>
            <a:lstStyle/>
            <a:p>
              <a:endParaRPr sz="2400"/>
            </a:p>
          </p:txBody>
        </p:sp>
        <p:sp>
          <p:nvSpPr>
            <p:cNvPr id="66" name="Google Shape;2391;p32">
              <a:extLst>
                <a:ext uri="{FF2B5EF4-FFF2-40B4-BE49-F238E27FC236}">
                  <a16:creationId xmlns:a16="http://schemas.microsoft.com/office/drawing/2014/main" id="{458E2B68-B2C6-4458-8120-25EA2905B02C}"/>
                </a:ext>
              </a:extLst>
            </p:cNvPr>
            <p:cNvSpPr/>
            <p:nvPr/>
          </p:nvSpPr>
          <p:spPr>
            <a:xfrm>
              <a:off x="3857280" y="1572950"/>
              <a:ext cx="308501" cy="551911"/>
            </a:xfrm>
            <a:custGeom>
              <a:avLst/>
              <a:gdLst/>
              <a:ahLst/>
              <a:cxnLst/>
              <a:rect l="l" t="t" r="r" b="b"/>
              <a:pathLst>
                <a:path w="7787" h="13931" extrusionOk="0">
                  <a:moveTo>
                    <a:pt x="7787" y="13931"/>
                  </a:moveTo>
                  <a:lnTo>
                    <a:pt x="0" y="13931"/>
                  </a:lnTo>
                  <a:lnTo>
                    <a:pt x="1822" y="0"/>
                  </a:lnTo>
                  <a:lnTo>
                    <a:pt x="5965" y="0"/>
                  </a:lnTo>
                  <a:close/>
                </a:path>
              </a:pathLst>
            </a:custGeom>
            <a:gradFill>
              <a:gsLst>
                <a:gs pos="0">
                  <a:srgbClr val="5C698E"/>
                </a:gs>
                <a:gs pos="100000">
                  <a:srgbClr val="2C303B"/>
                </a:gs>
              </a:gsLst>
              <a:lin ang="5400012" scaled="0"/>
            </a:gradFill>
            <a:ln>
              <a:noFill/>
            </a:ln>
          </p:spPr>
          <p:txBody>
            <a:bodyPr spcFirstLastPara="1" wrap="square" lIns="121900" tIns="121900" rIns="121900" bIns="121900" anchor="ctr" anchorCtr="0">
              <a:noAutofit/>
            </a:bodyPr>
            <a:lstStyle/>
            <a:p>
              <a:endParaRPr sz="2400"/>
            </a:p>
          </p:txBody>
        </p:sp>
        <p:sp>
          <p:nvSpPr>
            <p:cNvPr id="67" name="Google Shape;2392;p32">
              <a:extLst>
                <a:ext uri="{FF2B5EF4-FFF2-40B4-BE49-F238E27FC236}">
                  <a16:creationId xmlns:a16="http://schemas.microsoft.com/office/drawing/2014/main" id="{BE00D7C0-EB68-466F-8D36-40C05D90BE58}"/>
                </a:ext>
              </a:extLst>
            </p:cNvPr>
            <p:cNvSpPr/>
            <p:nvPr/>
          </p:nvSpPr>
          <p:spPr>
            <a:xfrm>
              <a:off x="2874288" y="4047441"/>
              <a:ext cx="1125018" cy="273083"/>
            </a:xfrm>
            <a:custGeom>
              <a:avLst/>
              <a:gdLst/>
              <a:ahLst/>
              <a:cxnLst/>
              <a:rect l="l" t="t" r="r" b="b"/>
              <a:pathLst>
                <a:path w="28397" h="6893" extrusionOk="0">
                  <a:moveTo>
                    <a:pt x="7184" y="0"/>
                  </a:moveTo>
                  <a:cubicBezTo>
                    <a:pt x="5583" y="0"/>
                    <a:pt x="4036" y="99"/>
                    <a:pt x="2656" y="344"/>
                  </a:cubicBezTo>
                  <a:cubicBezTo>
                    <a:pt x="941" y="915"/>
                    <a:pt x="1" y="1487"/>
                    <a:pt x="1" y="2118"/>
                  </a:cubicBezTo>
                  <a:cubicBezTo>
                    <a:pt x="1" y="4332"/>
                    <a:pt x="11871" y="6214"/>
                    <a:pt x="28397" y="6892"/>
                  </a:cubicBezTo>
                  <a:lnTo>
                    <a:pt x="22003" y="1844"/>
                  </a:lnTo>
                  <a:cubicBezTo>
                    <a:pt x="22003" y="1844"/>
                    <a:pt x="14087" y="0"/>
                    <a:pt x="7184" y="0"/>
                  </a:cubicBez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17260275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61163-9218-9D8A-006E-D88BE6F0E17A}"/>
              </a:ext>
            </a:extLst>
          </p:cNvPr>
          <p:cNvSpPr>
            <a:spLocks noGrp="1"/>
          </p:cNvSpPr>
          <p:nvPr>
            <p:ph type="title"/>
          </p:nvPr>
        </p:nvSpPr>
        <p:spPr/>
        <p:txBody>
          <a:bodyPr/>
          <a:lstStyle/>
          <a:p>
            <a:r>
              <a:rPr lang="en-US" dirty="0">
                <a:ea typeface="Fira Sans"/>
                <a:cs typeface="Fira Sans"/>
                <a:sym typeface="Fira Sans"/>
              </a:rPr>
              <a:t>Indication of Inappropriate Access Incident</a:t>
            </a:r>
            <a:endParaRPr lang="en-ID" dirty="0"/>
          </a:p>
        </p:txBody>
      </p:sp>
      <p:graphicFrame>
        <p:nvGraphicFramePr>
          <p:cNvPr id="8" name="Google Shape;446;p20">
            <a:extLst>
              <a:ext uri="{FF2B5EF4-FFF2-40B4-BE49-F238E27FC236}">
                <a16:creationId xmlns:a16="http://schemas.microsoft.com/office/drawing/2014/main" id="{359A0181-5D26-4EE5-8756-8DD094A823FB}"/>
              </a:ext>
            </a:extLst>
          </p:cNvPr>
          <p:cNvGraphicFramePr>
            <a:graphicFrameLocks noGrp="1"/>
          </p:cNvGraphicFramePr>
          <p:nvPr>
            <p:ph idx="1"/>
            <p:extLst>
              <p:ext uri="{D42A27DB-BD31-4B8C-83A1-F6EECF244321}">
                <p14:modId xmlns:p14="http://schemas.microsoft.com/office/powerpoint/2010/main" val="2062723140"/>
              </p:ext>
            </p:extLst>
          </p:nvPr>
        </p:nvGraphicFramePr>
        <p:xfrm>
          <a:off x="838199" y="1690688"/>
          <a:ext cx="10295021" cy="4401261"/>
        </p:xfrm>
        <a:graphic>
          <a:graphicData uri="http://schemas.openxmlformats.org/drawingml/2006/table">
            <a:tbl>
              <a:tblPr>
                <a:noFill/>
              </a:tblPr>
              <a:tblGrid>
                <a:gridCol w="4324801">
                  <a:extLst>
                    <a:ext uri="{9D8B030D-6E8A-4147-A177-3AD203B41FA5}">
                      <a16:colId xmlns:a16="http://schemas.microsoft.com/office/drawing/2014/main" val="20000"/>
                    </a:ext>
                  </a:extLst>
                </a:gridCol>
                <a:gridCol w="5970220">
                  <a:extLst>
                    <a:ext uri="{9D8B030D-6E8A-4147-A177-3AD203B41FA5}">
                      <a16:colId xmlns:a16="http://schemas.microsoft.com/office/drawing/2014/main" val="20001"/>
                    </a:ext>
                  </a:extLst>
                </a:gridCol>
              </a:tblGrid>
              <a:tr h="1667054">
                <a:tc>
                  <a:txBody>
                    <a:bodyPr/>
                    <a:lstStyle/>
                    <a:p>
                      <a:pPr marL="0" lvl="0" indent="0" algn="l" rtl="0">
                        <a:spcBef>
                          <a:spcPts val="0"/>
                        </a:spcBef>
                        <a:spcAft>
                          <a:spcPts val="0"/>
                        </a:spcAft>
                        <a:buNone/>
                      </a:pPr>
                      <a:r>
                        <a:rPr lang="en" sz="1400" b="1" dirty="0">
                          <a:solidFill>
                            <a:schemeClr val="lt1"/>
                          </a:solidFill>
                          <a:latin typeface="Georgia" panose="02040502050405020303" pitchFamily="18" charset="0"/>
                          <a:ea typeface="Fira Sans"/>
                          <a:cs typeface="Fira Sans"/>
                          <a:sym typeface="Fira Sans"/>
                        </a:rPr>
                        <a:t>Indication of Unauthorized Service Usage</a:t>
                      </a:r>
                      <a:endParaRPr sz="1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2"/>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ea typeface="Fira Sans"/>
                          <a:cs typeface="Fira Sans"/>
                          <a:sym typeface="Fira Sans"/>
                        </a:rPr>
                        <a:t>Alert from IDS / IPS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sym typeface="Fira Sans"/>
                        </a:rPr>
                        <a:t>Unusual traffic </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sym typeface="Fira Sans"/>
                        </a:rPr>
                        <a:t>Installation of the new process and software running on a host</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sym typeface="Fira Sans"/>
                        </a:rPr>
                        <a:t>Creation of the new files or directories with abnormal names</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sym typeface="Fira Sans"/>
                        </a:rPr>
                        <a:t>Increase in the resource utilization</a:t>
                      </a:r>
                    </a:p>
                    <a:p>
                      <a:pPr marL="171450" marR="0" lvl="0" indent="-171450" algn="just" rtl="0">
                        <a:spcBef>
                          <a:spcPts val="0"/>
                        </a:spcBef>
                        <a:spcAft>
                          <a:spcPts val="0"/>
                        </a:spcAft>
                        <a:buClr>
                          <a:srgbClr val="000000"/>
                        </a:buClr>
                        <a:buSzPts val="1100"/>
                        <a:buFont typeface="Arial" panose="020B0604020202020204" pitchFamily="34" charset="0"/>
                        <a:buChar char="•"/>
                      </a:pPr>
                      <a:r>
                        <a:rPr lang="en" sz="1400" dirty="0">
                          <a:solidFill>
                            <a:schemeClr val="tx1"/>
                          </a:solidFill>
                          <a:latin typeface="Georgia" panose="02040502050405020303" pitchFamily="18" charset="0"/>
                          <a:sym typeface="Fira Sans"/>
                        </a:rPr>
                        <a:t>Reports of incidents from the user</a:t>
                      </a: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351548">
                <a:tc>
                  <a:txBody>
                    <a:bodyPr/>
                    <a:lstStyle/>
                    <a:p>
                      <a:pPr marL="0" lvl="0" indent="0" algn="l" rtl="0">
                        <a:spcBef>
                          <a:spcPts val="0"/>
                        </a:spcBef>
                        <a:spcAft>
                          <a:spcPts val="0"/>
                        </a:spcAft>
                        <a:buNone/>
                      </a:pPr>
                      <a:r>
                        <a:rPr lang="en" sz="1400" b="1" dirty="0">
                          <a:solidFill>
                            <a:schemeClr val="lt1"/>
                          </a:solidFill>
                          <a:latin typeface="Georgia" panose="02040502050405020303" pitchFamily="18" charset="0"/>
                          <a:ea typeface="Fira Sans"/>
                          <a:cs typeface="Fira Sans"/>
                          <a:sym typeface="Fira Sans"/>
                        </a:rPr>
                        <a:t>Indications of Access to Inappropriate Materials</a:t>
                      </a:r>
                      <a:endParaRPr sz="1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3"/>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rPr>
                        <a:t>Alert from IDS/IPS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rPr>
                        <a:t>Alert from DLP Systems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rPr>
                        <a:t>Report of the Users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rPr>
                        <a:t>Inappropriate files on computers, servers, and on the removable media</a:t>
                      </a:r>
                    </a:p>
                    <a:p>
                      <a:pPr marL="171450" marR="0" lvl="0" indent="-171450" algn="just" rtl="0">
                        <a:spcBef>
                          <a:spcPts val="0"/>
                        </a:spcBef>
                        <a:spcAft>
                          <a:spcPts val="0"/>
                        </a:spcAft>
                        <a:buClr>
                          <a:srgbClr val="000000"/>
                        </a:buClr>
                        <a:buSzPts val="1100"/>
                        <a:buFont typeface="Arial" panose="020B0604020202020204" pitchFamily="34" charset="0"/>
                        <a:buChar char="•"/>
                      </a:pPr>
                      <a:endParaRPr lang="en-US" sz="1400" dirty="0">
                        <a:solidFill>
                          <a:schemeClr val="tx1"/>
                        </a:solidFill>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1210247">
                <a:tc>
                  <a:txBody>
                    <a:bodyPr/>
                    <a:lstStyle/>
                    <a:p>
                      <a:pPr marL="0" lvl="0" indent="0" algn="l" rtl="0">
                        <a:spcBef>
                          <a:spcPts val="0"/>
                        </a:spcBef>
                        <a:spcAft>
                          <a:spcPts val="0"/>
                        </a:spcAft>
                        <a:buNone/>
                      </a:pPr>
                      <a:r>
                        <a:rPr lang="en" sz="1400" b="1" dirty="0">
                          <a:solidFill>
                            <a:schemeClr val="lt1"/>
                          </a:solidFill>
                          <a:latin typeface="Georgia" panose="02040502050405020303" pitchFamily="18" charset="0"/>
                          <a:ea typeface="Fira Sans"/>
                          <a:cs typeface="Fira Sans"/>
                          <a:sym typeface="Fira Sans"/>
                        </a:rPr>
                        <a:t>Indications of Attack Againts External Party</a:t>
                      </a:r>
                      <a:endParaRPr sz="1400" b="1" dirty="0">
                        <a:solidFill>
                          <a:schemeClr val="lt1"/>
                        </a:solidFill>
                        <a:latin typeface="Georgia" panose="02040502050405020303" pitchFamily="18" charset="0"/>
                        <a:ea typeface="Fira Sans"/>
                        <a:cs typeface="Fira Sans"/>
                        <a:sym typeface="Fira Sans"/>
                      </a:endParaRPr>
                    </a:p>
                  </a:txBody>
                  <a:tcPr marL="912000" marR="121900" marT="121900" marB="121900" anchor="ctr">
                    <a:lnL w="9525" cap="flat" cmpd="sng">
                      <a:solidFill>
                        <a:srgbClr val="9E9E9E">
                          <a:alpha val="0"/>
                        </a:srgbClr>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4"/>
                    </a:solidFill>
                  </a:tcPr>
                </a:tc>
                <a:tc>
                  <a:txBody>
                    <a:bodyPr/>
                    <a:lstStyle/>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ea typeface="Fira Sans"/>
                          <a:cs typeface="Fira Sans"/>
                          <a:sym typeface="Fira Sans"/>
                        </a:rPr>
                        <a:t>Alert from IDS/IPS</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sym typeface="Fira Sans"/>
                        </a:rPr>
                        <a:t>Report of the outside party</a:t>
                      </a:r>
                    </a:p>
                    <a:p>
                      <a:pPr marL="171450" marR="0" lvl="0" indent="-171450" algn="just" rtl="0">
                        <a:spcBef>
                          <a:spcPts val="0"/>
                        </a:spcBef>
                        <a:spcAft>
                          <a:spcPts val="0"/>
                        </a:spcAft>
                        <a:buClr>
                          <a:srgbClr val="000000"/>
                        </a:buClr>
                        <a:buSzPts val="1100"/>
                        <a:buFont typeface="Arial" panose="020B0604020202020204" pitchFamily="34" charset="0"/>
                        <a:buChar char="•"/>
                      </a:pPr>
                      <a:r>
                        <a:rPr lang="en-US" sz="1400" dirty="0">
                          <a:solidFill>
                            <a:schemeClr val="tx1"/>
                          </a:solidFill>
                          <a:latin typeface="Georgia" panose="02040502050405020303" pitchFamily="18" charset="0"/>
                          <a:sym typeface="Fira Sans"/>
                        </a:rPr>
                        <a:t>Log </a:t>
                      </a:r>
                      <a:r>
                        <a:rPr lang="en-US" sz="1400" dirty="0" err="1">
                          <a:solidFill>
                            <a:schemeClr val="tx1"/>
                          </a:solidFill>
                          <a:latin typeface="Georgia" panose="02040502050405020303" pitchFamily="18" charset="0"/>
                          <a:sym typeface="Fira Sans"/>
                        </a:rPr>
                        <a:t>enteries</a:t>
                      </a:r>
                      <a:r>
                        <a:rPr lang="en-US" sz="1400" dirty="0">
                          <a:solidFill>
                            <a:schemeClr val="tx1"/>
                          </a:solidFill>
                          <a:latin typeface="Georgia" panose="02040502050405020303" pitchFamily="18" charset="0"/>
                          <a:sym typeface="Fira Sans"/>
                        </a:rPr>
                        <a:t> of network, host, and application</a:t>
                      </a:r>
                    </a:p>
                    <a:p>
                      <a:pPr marL="171450" marR="0" lvl="0" indent="-171450" algn="just" rtl="0">
                        <a:spcBef>
                          <a:spcPts val="0"/>
                        </a:spcBef>
                        <a:spcAft>
                          <a:spcPts val="0"/>
                        </a:spcAft>
                        <a:buClr>
                          <a:srgbClr val="000000"/>
                        </a:buClr>
                        <a:buSzPts val="1100"/>
                        <a:buFont typeface="Arial" panose="020B0604020202020204" pitchFamily="34" charset="0"/>
                        <a:buChar char="•"/>
                      </a:pPr>
                      <a:endParaRPr lang="en-US" sz="1400" dirty="0">
                        <a:solidFill>
                          <a:schemeClr val="tx1"/>
                        </a:solidFill>
                        <a:latin typeface="Georgia" panose="02040502050405020303" pitchFamily="18" charset="0"/>
                      </a:endParaRPr>
                    </a:p>
                  </a:txBody>
                  <a:tcPr marL="243833" marR="365733" marT="121900" marB="121900" anchor="ctr">
                    <a:lnL w="38100" cap="flat" cmpd="sng">
                      <a:solidFill>
                        <a:srgbClr val="FFFFFF"/>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795858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4EA504-59E2-C59F-FFB7-F64312E382C6}"/>
              </a:ext>
            </a:extLst>
          </p:cNvPr>
          <p:cNvSpPr>
            <a:spLocks noGrp="1"/>
          </p:cNvSpPr>
          <p:nvPr>
            <p:ph type="title"/>
          </p:nvPr>
        </p:nvSpPr>
        <p:spPr/>
        <p:txBody>
          <a:bodyPr/>
          <a:lstStyle/>
          <a:p>
            <a:r>
              <a:rPr lang="en-GB" b="1" dirty="0"/>
              <a:t>Hands-On Lab Exercise</a:t>
            </a:r>
            <a:endParaRPr lang="en-ID" b="1" dirty="0"/>
          </a:p>
        </p:txBody>
      </p:sp>
      <p:sp>
        <p:nvSpPr>
          <p:cNvPr id="5" name="Text Placeholder 4">
            <a:extLst>
              <a:ext uri="{FF2B5EF4-FFF2-40B4-BE49-F238E27FC236}">
                <a16:creationId xmlns:a16="http://schemas.microsoft.com/office/drawing/2014/main" id="{D01C30F3-788B-F0B9-6D9E-FDCC5ABA186A}"/>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641386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3C253-6E5D-831E-93E3-27AB8734E08E}"/>
              </a:ext>
            </a:extLst>
          </p:cNvPr>
          <p:cNvSpPr>
            <a:spLocks noGrp="1"/>
          </p:cNvSpPr>
          <p:nvPr>
            <p:ph type="title"/>
          </p:nvPr>
        </p:nvSpPr>
        <p:spPr/>
        <p:txBody>
          <a:bodyPr/>
          <a:lstStyle/>
          <a:p>
            <a:r>
              <a:rPr lang="en-GB" b="1" dirty="0"/>
              <a:t>Linux DFIR Fundamental </a:t>
            </a:r>
            <a:endParaRPr lang="en-ID" b="1" dirty="0"/>
          </a:p>
        </p:txBody>
      </p:sp>
      <p:sp>
        <p:nvSpPr>
          <p:cNvPr id="3" name="Text Placeholder 2">
            <a:extLst>
              <a:ext uri="{FF2B5EF4-FFF2-40B4-BE49-F238E27FC236}">
                <a16:creationId xmlns:a16="http://schemas.microsoft.com/office/drawing/2014/main" id="{ADB6E2DC-92D8-A0EE-3482-DF5CA37B6B57}"/>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0426239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E55A-2227-EB5C-4503-CFEC6C8C4182}"/>
              </a:ext>
            </a:extLst>
          </p:cNvPr>
          <p:cNvSpPr>
            <a:spLocks noGrp="1"/>
          </p:cNvSpPr>
          <p:nvPr>
            <p:ph type="title"/>
          </p:nvPr>
        </p:nvSpPr>
        <p:spPr/>
        <p:txBody>
          <a:bodyPr/>
          <a:lstStyle/>
          <a:p>
            <a:r>
              <a:rPr lang="en-ID" dirty="0"/>
              <a:t>DFIR Fundamentals – Topics </a:t>
            </a:r>
          </a:p>
        </p:txBody>
      </p:sp>
      <p:sp>
        <p:nvSpPr>
          <p:cNvPr id="3" name="Content Placeholder 2">
            <a:extLst>
              <a:ext uri="{FF2B5EF4-FFF2-40B4-BE49-F238E27FC236}">
                <a16:creationId xmlns:a16="http://schemas.microsoft.com/office/drawing/2014/main" id="{564AB622-CC08-CF8F-F066-0CC12A4E33D3}"/>
              </a:ext>
            </a:extLst>
          </p:cNvPr>
          <p:cNvSpPr>
            <a:spLocks noGrp="1"/>
          </p:cNvSpPr>
          <p:nvPr>
            <p:ph idx="1"/>
          </p:nvPr>
        </p:nvSpPr>
        <p:spPr>
          <a:xfrm>
            <a:off x="6304546" y="1825625"/>
            <a:ext cx="5049253" cy="4351338"/>
          </a:xfrm>
        </p:spPr>
        <p:txBody>
          <a:bodyPr/>
          <a:lstStyle/>
          <a:p>
            <a:pPr marL="457200" indent="-457200"/>
            <a:r>
              <a:rPr lang="en-US" dirty="0"/>
              <a:t>IR Process</a:t>
            </a:r>
          </a:p>
          <a:p>
            <a:pPr marL="457200" indent="-457200"/>
            <a:r>
              <a:rPr lang="en-US" dirty="0"/>
              <a:t>Live Box/Dead Box</a:t>
            </a:r>
          </a:p>
          <a:p>
            <a:pPr marL="457200" indent="-457200"/>
            <a:r>
              <a:rPr lang="en-US" dirty="0"/>
              <a:t>Hybrid IR</a:t>
            </a:r>
            <a:endParaRPr lang="en-ID" dirty="0"/>
          </a:p>
          <a:p>
            <a:endParaRPr lang="en-ID" dirty="0"/>
          </a:p>
        </p:txBody>
      </p:sp>
      <p:sp>
        <p:nvSpPr>
          <p:cNvPr id="4" name="Rectangle 3">
            <a:extLst>
              <a:ext uri="{FF2B5EF4-FFF2-40B4-BE49-F238E27FC236}">
                <a16:creationId xmlns:a16="http://schemas.microsoft.com/office/drawing/2014/main" id="{BD1044CA-BA4E-26AA-8869-29358E2CACE8}"/>
              </a:ext>
            </a:extLst>
          </p:cNvPr>
          <p:cNvSpPr/>
          <p:nvPr/>
        </p:nvSpPr>
        <p:spPr>
          <a:xfrm>
            <a:off x="838201" y="3658293"/>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Log Analysis</a:t>
            </a:r>
            <a:endParaRPr lang="en-ID" sz="2800" b="1" dirty="0">
              <a:latin typeface="Georgia" panose="02040502050405020303" pitchFamily="18" charset="0"/>
            </a:endParaRPr>
          </a:p>
        </p:txBody>
      </p:sp>
      <p:sp>
        <p:nvSpPr>
          <p:cNvPr id="5" name="Rectangle 4">
            <a:extLst>
              <a:ext uri="{FF2B5EF4-FFF2-40B4-BE49-F238E27FC236}">
                <a16:creationId xmlns:a16="http://schemas.microsoft.com/office/drawing/2014/main" id="{8C3EE76D-8A36-59B5-2A18-8A4777AE3B17}"/>
              </a:ext>
            </a:extLst>
          </p:cNvPr>
          <p:cNvSpPr/>
          <p:nvPr/>
        </p:nvSpPr>
        <p:spPr>
          <a:xfrm>
            <a:off x="838200" y="4562029"/>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IR Triage</a:t>
            </a:r>
            <a:endParaRPr lang="en-ID" sz="2800" b="1" dirty="0">
              <a:latin typeface="Georgia" panose="02040502050405020303" pitchFamily="18" charset="0"/>
            </a:endParaRPr>
          </a:p>
        </p:txBody>
      </p:sp>
      <p:sp>
        <p:nvSpPr>
          <p:cNvPr id="6" name="Arrow: Pentagon 5">
            <a:extLst>
              <a:ext uri="{FF2B5EF4-FFF2-40B4-BE49-F238E27FC236}">
                <a16:creationId xmlns:a16="http://schemas.microsoft.com/office/drawing/2014/main" id="{9FF549DF-D079-55AB-9000-7915EA297B0E}"/>
              </a:ext>
            </a:extLst>
          </p:cNvPr>
          <p:cNvSpPr/>
          <p:nvPr/>
        </p:nvSpPr>
        <p:spPr>
          <a:xfrm>
            <a:off x="838200" y="1825625"/>
            <a:ext cx="3854823" cy="735106"/>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Incident Response</a:t>
            </a:r>
            <a:endParaRPr lang="en-ID" sz="2800" b="1" dirty="0">
              <a:latin typeface="Georgia" panose="02040502050405020303" pitchFamily="18" charset="0"/>
            </a:endParaRPr>
          </a:p>
        </p:txBody>
      </p:sp>
      <p:sp>
        <p:nvSpPr>
          <p:cNvPr id="7" name="Rectangle 6">
            <a:extLst>
              <a:ext uri="{FF2B5EF4-FFF2-40B4-BE49-F238E27FC236}">
                <a16:creationId xmlns:a16="http://schemas.microsoft.com/office/drawing/2014/main" id="{490ABF6F-BE71-D543-38C4-D5B20993C0F0}"/>
              </a:ext>
            </a:extLst>
          </p:cNvPr>
          <p:cNvSpPr/>
          <p:nvPr/>
        </p:nvSpPr>
        <p:spPr>
          <a:xfrm>
            <a:off x="838200" y="2754557"/>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File Systems</a:t>
            </a:r>
            <a:endParaRPr lang="en-ID" sz="2800" b="1" dirty="0">
              <a:latin typeface="Georgia" panose="02040502050405020303" pitchFamily="18" charset="0"/>
            </a:endParaRPr>
          </a:p>
        </p:txBody>
      </p:sp>
    </p:spTree>
    <p:extLst>
      <p:ext uri="{BB962C8B-B14F-4D97-AF65-F5344CB8AC3E}">
        <p14:creationId xmlns:p14="http://schemas.microsoft.com/office/powerpoint/2010/main" val="4719473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1917B-9ECF-5B2A-631D-600E582811B0}"/>
              </a:ext>
            </a:extLst>
          </p:cNvPr>
          <p:cNvSpPr>
            <a:spLocks noGrp="1"/>
          </p:cNvSpPr>
          <p:nvPr>
            <p:ph type="title"/>
          </p:nvPr>
        </p:nvSpPr>
        <p:spPr/>
        <p:txBody>
          <a:bodyPr/>
          <a:lstStyle/>
          <a:p>
            <a:r>
              <a:rPr lang="en-ID" dirty="0"/>
              <a:t>Incident Response </a:t>
            </a:r>
          </a:p>
        </p:txBody>
      </p:sp>
      <p:sp>
        <p:nvSpPr>
          <p:cNvPr id="3" name="Content Placeholder 2">
            <a:extLst>
              <a:ext uri="{FF2B5EF4-FFF2-40B4-BE49-F238E27FC236}">
                <a16:creationId xmlns:a16="http://schemas.microsoft.com/office/drawing/2014/main" id="{F9DB0127-B03B-BA6E-E548-38ED0C0CCE72}"/>
              </a:ext>
            </a:extLst>
          </p:cNvPr>
          <p:cNvSpPr>
            <a:spLocks noGrp="1"/>
          </p:cNvSpPr>
          <p:nvPr>
            <p:ph idx="1"/>
          </p:nvPr>
        </p:nvSpPr>
        <p:spPr>
          <a:xfrm>
            <a:off x="838200" y="3428999"/>
            <a:ext cx="4102768" cy="2747963"/>
          </a:xfrm>
        </p:spPr>
        <p:txBody>
          <a:bodyPr/>
          <a:lstStyle/>
          <a:p>
            <a:pPr marL="0" indent="0">
              <a:buNone/>
            </a:pPr>
            <a:r>
              <a:rPr lang="en-US" dirty="0"/>
              <a:t>The IR process is the same </a:t>
            </a:r>
            <a:endParaRPr lang="en-ID" dirty="0"/>
          </a:p>
          <a:p>
            <a:pPr marL="0" indent="0">
              <a:buNone/>
            </a:pPr>
            <a:endParaRPr lang="en-ID" dirty="0"/>
          </a:p>
        </p:txBody>
      </p:sp>
      <p:sp>
        <p:nvSpPr>
          <p:cNvPr id="4" name="Rectangle 3">
            <a:extLst>
              <a:ext uri="{FF2B5EF4-FFF2-40B4-BE49-F238E27FC236}">
                <a16:creationId xmlns:a16="http://schemas.microsoft.com/office/drawing/2014/main" id="{6FEF66AC-1DAB-CA0B-C4B0-991FE603D494}"/>
              </a:ext>
            </a:extLst>
          </p:cNvPr>
          <p:cNvSpPr/>
          <p:nvPr/>
        </p:nvSpPr>
        <p:spPr>
          <a:xfrm>
            <a:off x="6875805" y="1380491"/>
            <a:ext cx="1863206" cy="728656"/>
          </a:xfrm>
          <a:prstGeom prst="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Preparation</a:t>
            </a:r>
            <a:endParaRPr lang="en-ID" sz="1200" b="1" dirty="0">
              <a:latin typeface="Georgia" panose="02040502050405020303" pitchFamily="18" charset="0"/>
            </a:endParaRPr>
          </a:p>
        </p:txBody>
      </p:sp>
      <p:sp>
        <p:nvSpPr>
          <p:cNvPr id="5" name="Rectangle 4">
            <a:extLst>
              <a:ext uri="{FF2B5EF4-FFF2-40B4-BE49-F238E27FC236}">
                <a16:creationId xmlns:a16="http://schemas.microsoft.com/office/drawing/2014/main" id="{81D82D9C-9F89-2DF7-9C73-288513B293A9}"/>
              </a:ext>
            </a:extLst>
          </p:cNvPr>
          <p:cNvSpPr/>
          <p:nvPr/>
        </p:nvSpPr>
        <p:spPr>
          <a:xfrm>
            <a:off x="9673308" y="2165325"/>
            <a:ext cx="1863206" cy="728656"/>
          </a:xfrm>
          <a:prstGeom prst="rect">
            <a:avLst/>
          </a:prstGeom>
          <a:solidFill>
            <a:srgbClr val="C888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Identification and Scoping</a:t>
            </a:r>
            <a:endParaRPr lang="en-ID" sz="1200" b="1" dirty="0">
              <a:latin typeface="Georgia" panose="02040502050405020303" pitchFamily="18" charset="0"/>
            </a:endParaRPr>
          </a:p>
        </p:txBody>
      </p:sp>
      <p:sp>
        <p:nvSpPr>
          <p:cNvPr id="6" name="Rectangle 5">
            <a:extLst>
              <a:ext uri="{FF2B5EF4-FFF2-40B4-BE49-F238E27FC236}">
                <a16:creationId xmlns:a16="http://schemas.microsoft.com/office/drawing/2014/main" id="{3D839941-24BB-9A57-1BD2-20F81E0AEEE1}"/>
              </a:ext>
            </a:extLst>
          </p:cNvPr>
          <p:cNvSpPr/>
          <p:nvPr/>
        </p:nvSpPr>
        <p:spPr>
          <a:xfrm>
            <a:off x="9256724" y="4045372"/>
            <a:ext cx="1863206" cy="728656"/>
          </a:xfrm>
          <a:prstGeom prst="rect">
            <a:avLst/>
          </a:prstGeom>
          <a:solidFill>
            <a:srgbClr val="5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Containment/Intelligence Development</a:t>
            </a:r>
            <a:endParaRPr lang="en-ID" sz="1200" b="1" dirty="0">
              <a:latin typeface="Georgia" panose="02040502050405020303" pitchFamily="18" charset="0"/>
            </a:endParaRPr>
          </a:p>
        </p:txBody>
      </p:sp>
      <p:sp>
        <p:nvSpPr>
          <p:cNvPr id="7" name="Rectangle 6">
            <a:extLst>
              <a:ext uri="{FF2B5EF4-FFF2-40B4-BE49-F238E27FC236}">
                <a16:creationId xmlns:a16="http://schemas.microsoft.com/office/drawing/2014/main" id="{826B6428-F88A-934B-BB27-DAB0F7F58DA1}"/>
              </a:ext>
            </a:extLst>
          </p:cNvPr>
          <p:cNvSpPr/>
          <p:nvPr/>
        </p:nvSpPr>
        <p:spPr>
          <a:xfrm>
            <a:off x="4761588" y="4045372"/>
            <a:ext cx="1863206" cy="728656"/>
          </a:xfrm>
          <a:prstGeom prst="rect">
            <a:avLst/>
          </a:prstGeom>
          <a:solidFill>
            <a:srgbClr val="ED0000"/>
          </a:solidFill>
          <a:ln>
            <a:solidFill>
              <a:srgbClr val="C888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Recovery</a:t>
            </a:r>
            <a:endParaRPr lang="en-ID" sz="1200" b="1" dirty="0">
              <a:latin typeface="Georgia" panose="02040502050405020303" pitchFamily="18" charset="0"/>
            </a:endParaRPr>
          </a:p>
        </p:txBody>
      </p:sp>
      <p:sp>
        <p:nvSpPr>
          <p:cNvPr id="8" name="Rectangle 7">
            <a:extLst>
              <a:ext uri="{FF2B5EF4-FFF2-40B4-BE49-F238E27FC236}">
                <a16:creationId xmlns:a16="http://schemas.microsoft.com/office/drawing/2014/main" id="{2DC99EB2-B798-FC56-6161-FD0BAE260636}"/>
              </a:ext>
            </a:extLst>
          </p:cNvPr>
          <p:cNvSpPr/>
          <p:nvPr/>
        </p:nvSpPr>
        <p:spPr>
          <a:xfrm>
            <a:off x="4276798" y="2165325"/>
            <a:ext cx="1863206" cy="728656"/>
          </a:xfrm>
          <a:prstGeom prst="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Lessons Learned/Threat Intel Consumption</a:t>
            </a:r>
            <a:endParaRPr lang="en-ID" sz="1200" b="1" dirty="0">
              <a:latin typeface="Georgia" panose="02040502050405020303" pitchFamily="18" charset="0"/>
            </a:endParaRPr>
          </a:p>
        </p:txBody>
      </p:sp>
      <p:sp>
        <p:nvSpPr>
          <p:cNvPr id="9" name="Rectangle 8">
            <a:extLst>
              <a:ext uri="{FF2B5EF4-FFF2-40B4-BE49-F238E27FC236}">
                <a16:creationId xmlns:a16="http://schemas.microsoft.com/office/drawing/2014/main" id="{2092F585-E692-E969-CBD8-3644DF3F016B}"/>
              </a:ext>
            </a:extLst>
          </p:cNvPr>
          <p:cNvSpPr/>
          <p:nvPr/>
        </p:nvSpPr>
        <p:spPr>
          <a:xfrm>
            <a:off x="6875805" y="5185923"/>
            <a:ext cx="1863206" cy="728656"/>
          </a:xfrm>
          <a:prstGeom prst="rect">
            <a:avLst/>
          </a:prstGeom>
          <a:solidFill>
            <a:srgbClr val="0020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Georgia" panose="02040502050405020303" pitchFamily="18" charset="0"/>
              </a:rPr>
              <a:t>Eradication/Remediation</a:t>
            </a:r>
            <a:endParaRPr lang="en-ID" sz="1200" b="1" dirty="0">
              <a:latin typeface="Georgia" panose="02040502050405020303" pitchFamily="18" charset="0"/>
            </a:endParaRPr>
          </a:p>
        </p:txBody>
      </p:sp>
      <p:sp>
        <p:nvSpPr>
          <p:cNvPr id="10" name="Arrow: Right 9">
            <a:extLst>
              <a:ext uri="{FF2B5EF4-FFF2-40B4-BE49-F238E27FC236}">
                <a16:creationId xmlns:a16="http://schemas.microsoft.com/office/drawing/2014/main" id="{3C152795-9A7A-BD3B-3894-013808F2BC9C}"/>
              </a:ext>
            </a:extLst>
          </p:cNvPr>
          <p:cNvSpPr/>
          <p:nvPr/>
        </p:nvSpPr>
        <p:spPr>
          <a:xfrm rot="2183470">
            <a:off x="8974983" y="1599736"/>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1" name="Arrow: Right 10">
            <a:extLst>
              <a:ext uri="{FF2B5EF4-FFF2-40B4-BE49-F238E27FC236}">
                <a16:creationId xmlns:a16="http://schemas.microsoft.com/office/drawing/2014/main" id="{ED7CD483-6F9E-B9D9-AC83-AE156E49F852}"/>
              </a:ext>
            </a:extLst>
          </p:cNvPr>
          <p:cNvSpPr/>
          <p:nvPr/>
        </p:nvSpPr>
        <p:spPr>
          <a:xfrm rot="7944877">
            <a:off x="9791487" y="3289229"/>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2" name="Arrow: Right 11">
            <a:extLst>
              <a:ext uri="{FF2B5EF4-FFF2-40B4-BE49-F238E27FC236}">
                <a16:creationId xmlns:a16="http://schemas.microsoft.com/office/drawing/2014/main" id="{F175736F-1BE2-7349-B9BA-C6AE1A10A550}"/>
              </a:ext>
            </a:extLst>
          </p:cNvPr>
          <p:cNvSpPr/>
          <p:nvPr/>
        </p:nvSpPr>
        <p:spPr>
          <a:xfrm rot="8353079">
            <a:off x="9060367" y="5117888"/>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3" name="Arrow: Right 12">
            <a:extLst>
              <a:ext uri="{FF2B5EF4-FFF2-40B4-BE49-F238E27FC236}">
                <a16:creationId xmlns:a16="http://schemas.microsoft.com/office/drawing/2014/main" id="{24B2E4E9-9F72-D4B4-E05A-0C16E5150208}"/>
              </a:ext>
            </a:extLst>
          </p:cNvPr>
          <p:cNvSpPr/>
          <p:nvPr/>
        </p:nvSpPr>
        <p:spPr>
          <a:xfrm rot="13348514">
            <a:off x="5992512" y="5082096"/>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4" name="Arrow: Right 13">
            <a:extLst>
              <a:ext uri="{FF2B5EF4-FFF2-40B4-BE49-F238E27FC236}">
                <a16:creationId xmlns:a16="http://schemas.microsoft.com/office/drawing/2014/main" id="{748D79D6-6709-988F-BC4D-EC6E60101022}"/>
              </a:ext>
            </a:extLst>
          </p:cNvPr>
          <p:cNvSpPr/>
          <p:nvPr/>
        </p:nvSpPr>
        <p:spPr>
          <a:xfrm rot="14666753">
            <a:off x="4926658" y="3251062"/>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
        <p:nvSpPr>
          <p:cNvPr id="15" name="Arrow: Right 14">
            <a:extLst>
              <a:ext uri="{FF2B5EF4-FFF2-40B4-BE49-F238E27FC236}">
                <a16:creationId xmlns:a16="http://schemas.microsoft.com/office/drawing/2014/main" id="{44B864D7-6C07-9A5D-FD10-52B24CD98779}"/>
              </a:ext>
            </a:extLst>
          </p:cNvPr>
          <p:cNvSpPr/>
          <p:nvPr/>
        </p:nvSpPr>
        <p:spPr>
          <a:xfrm rot="20242076">
            <a:off x="5900268" y="1653729"/>
            <a:ext cx="563483" cy="360895"/>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8871613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42F1-E189-55A9-A027-4E67576B9F39}"/>
              </a:ext>
            </a:extLst>
          </p:cNvPr>
          <p:cNvSpPr>
            <a:spLocks noGrp="1"/>
          </p:cNvSpPr>
          <p:nvPr>
            <p:ph type="title"/>
          </p:nvPr>
        </p:nvSpPr>
        <p:spPr/>
        <p:txBody>
          <a:bodyPr/>
          <a:lstStyle/>
          <a:p>
            <a:r>
              <a:rPr lang="en-US" dirty="0"/>
              <a:t>Live Response vs. Dead Box </a:t>
            </a:r>
            <a:endParaRPr lang="en-ID" dirty="0"/>
          </a:p>
        </p:txBody>
      </p:sp>
      <p:sp>
        <p:nvSpPr>
          <p:cNvPr id="3" name="Content Placeholder 2">
            <a:extLst>
              <a:ext uri="{FF2B5EF4-FFF2-40B4-BE49-F238E27FC236}">
                <a16:creationId xmlns:a16="http://schemas.microsoft.com/office/drawing/2014/main" id="{C47F6945-72A9-E5E8-1CFF-741E47BA8343}"/>
              </a:ext>
            </a:extLst>
          </p:cNvPr>
          <p:cNvSpPr>
            <a:spLocks noGrp="1"/>
          </p:cNvSpPr>
          <p:nvPr>
            <p:ph idx="1"/>
          </p:nvPr>
        </p:nvSpPr>
        <p:spPr/>
        <p:txBody>
          <a:bodyPr/>
          <a:lstStyle/>
          <a:p>
            <a:endParaRPr lang="en-ID" dirty="0"/>
          </a:p>
        </p:txBody>
      </p:sp>
      <p:sp>
        <p:nvSpPr>
          <p:cNvPr id="4" name="Rectangle 3">
            <a:extLst>
              <a:ext uri="{FF2B5EF4-FFF2-40B4-BE49-F238E27FC236}">
                <a16:creationId xmlns:a16="http://schemas.microsoft.com/office/drawing/2014/main" id="{95A06883-74D0-47C0-96A4-2DDC146B59AF}"/>
              </a:ext>
            </a:extLst>
          </p:cNvPr>
          <p:cNvSpPr/>
          <p:nvPr/>
        </p:nvSpPr>
        <p:spPr>
          <a:xfrm>
            <a:off x="539199" y="2588581"/>
            <a:ext cx="3390173" cy="3183830"/>
          </a:xfrm>
          <a:prstGeom prst="rect">
            <a:avLst/>
          </a:prstGeom>
          <a:solidFill>
            <a:schemeClr val="accent2">
              <a:lumMod val="50000"/>
            </a:schemeClr>
          </a:solidFill>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2000" dirty="0">
                <a:latin typeface="Georgia" panose="02040502050405020303" pitchFamily="18" charset="0"/>
              </a:rPr>
              <a:t>Access via EDR tool</a:t>
            </a:r>
          </a:p>
          <a:p>
            <a:pPr marL="285750" indent="-285750">
              <a:buFont typeface="Arial" panose="020B0604020202020204" pitchFamily="34" charset="0"/>
              <a:buChar char="•"/>
            </a:pPr>
            <a:r>
              <a:rPr lang="en-US" sz="2000" dirty="0">
                <a:latin typeface="Georgia" panose="02040502050405020303" pitchFamily="18" charset="0"/>
              </a:rPr>
              <a:t>SSH as an emergency option!</a:t>
            </a:r>
          </a:p>
          <a:p>
            <a:pPr marL="285750" indent="-285750">
              <a:buFont typeface="Arial" panose="020B0604020202020204" pitchFamily="34" charset="0"/>
              <a:buChar char="•"/>
            </a:pPr>
            <a:r>
              <a:rPr lang="en-US" sz="2000" dirty="0">
                <a:latin typeface="Georgia" panose="02040502050405020303" pitchFamily="18" charset="0"/>
              </a:rPr>
              <a:t>Volatile data is present – but changing</a:t>
            </a:r>
          </a:p>
          <a:p>
            <a:pPr marL="285750" indent="-285750">
              <a:buFont typeface="Arial" panose="020B0604020202020204" pitchFamily="34" charset="0"/>
              <a:buChar char="•"/>
            </a:pPr>
            <a:r>
              <a:rPr lang="en-US" sz="2000" dirty="0">
                <a:latin typeface="Georgia" panose="02040502050405020303" pitchFamily="18" charset="0"/>
              </a:rPr>
              <a:t>Content of / run and /proc is available</a:t>
            </a:r>
          </a:p>
        </p:txBody>
      </p:sp>
      <p:sp>
        <p:nvSpPr>
          <p:cNvPr id="5" name="Rectangle: Rounded Corners 4">
            <a:extLst>
              <a:ext uri="{FF2B5EF4-FFF2-40B4-BE49-F238E27FC236}">
                <a16:creationId xmlns:a16="http://schemas.microsoft.com/office/drawing/2014/main" id="{05ECD0FB-C78E-50EB-0120-BCA05C62EA1B}"/>
              </a:ext>
            </a:extLst>
          </p:cNvPr>
          <p:cNvSpPr/>
          <p:nvPr/>
        </p:nvSpPr>
        <p:spPr>
          <a:xfrm>
            <a:off x="539198" y="1825625"/>
            <a:ext cx="3390173" cy="827070"/>
          </a:xfrm>
          <a:prstGeom prst="roundRect">
            <a:avLst/>
          </a:prstGeom>
          <a:solidFill>
            <a:schemeClr val="accent2"/>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dirty="0">
                <a:latin typeface="Georgia" panose="02040502050405020303" pitchFamily="18" charset="0"/>
              </a:rPr>
              <a:t>Live Response</a:t>
            </a:r>
            <a:endParaRPr lang="en-ID" sz="2800" b="1" dirty="0">
              <a:latin typeface="Georgia" panose="02040502050405020303" pitchFamily="18" charset="0"/>
            </a:endParaRPr>
          </a:p>
        </p:txBody>
      </p:sp>
      <p:sp>
        <p:nvSpPr>
          <p:cNvPr id="6" name="Rectangle 5">
            <a:extLst>
              <a:ext uri="{FF2B5EF4-FFF2-40B4-BE49-F238E27FC236}">
                <a16:creationId xmlns:a16="http://schemas.microsoft.com/office/drawing/2014/main" id="{4F2A5AFD-5E27-FF62-D106-42A5FE252EEE}"/>
              </a:ext>
            </a:extLst>
          </p:cNvPr>
          <p:cNvSpPr/>
          <p:nvPr/>
        </p:nvSpPr>
        <p:spPr>
          <a:xfrm>
            <a:off x="4529250" y="2588581"/>
            <a:ext cx="3390173" cy="3183830"/>
          </a:xfrm>
          <a:prstGeom prst="rect">
            <a:avLst/>
          </a:prstGeom>
          <a:solidFill>
            <a:schemeClr val="accent2">
              <a:lumMod val="50000"/>
            </a:schemeClr>
          </a:solidFill>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2000" dirty="0">
                <a:latin typeface="Georgia" panose="02040502050405020303" pitchFamily="18" charset="0"/>
              </a:rPr>
              <a:t>Powered down system</a:t>
            </a:r>
          </a:p>
          <a:p>
            <a:pPr marL="285750" indent="-285750">
              <a:buFont typeface="Arial" panose="020B0604020202020204" pitchFamily="34" charset="0"/>
              <a:buChar char="•"/>
            </a:pPr>
            <a:r>
              <a:rPr lang="en-US" sz="2000" dirty="0">
                <a:latin typeface="Georgia" panose="02040502050405020303" pitchFamily="18" charset="0"/>
              </a:rPr>
              <a:t>Virtual machine disks</a:t>
            </a:r>
          </a:p>
          <a:p>
            <a:pPr marL="285750" indent="-285750">
              <a:buFont typeface="Arial" panose="020B0604020202020204" pitchFamily="34" charset="0"/>
              <a:buChar char="•"/>
            </a:pPr>
            <a:r>
              <a:rPr lang="en-US" sz="2000" dirty="0">
                <a:latin typeface="Georgia" panose="02040502050405020303" pitchFamily="18" charset="0"/>
              </a:rPr>
              <a:t>No volatile data</a:t>
            </a:r>
          </a:p>
          <a:p>
            <a:pPr marL="285750" indent="-285750">
              <a:buFont typeface="Arial" panose="020B0604020202020204" pitchFamily="34" charset="0"/>
              <a:buChar char="•"/>
            </a:pPr>
            <a:r>
              <a:rPr lang="en-US" sz="2000" dirty="0">
                <a:latin typeface="Georgia" panose="02040502050405020303" pitchFamily="18" charset="0"/>
              </a:rPr>
              <a:t>Unchanging data</a:t>
            </a:r>
          </a:p>
        </p:txBody>
      </p:sp>
      <p:sp>
        <p:nvSpPr>
          <p:cNvPr id="7" name="Rectangle: Rounded Corners 6">
            <a:extLst>
              <a:ext uri="{FF2B5EF4-FFF2-40B4-BE49-F238E27FC236}">
                <a16:creationId xmlns:a16="http://schemas.microsoft.com/office/drawing/2014/main" id="{2EFA7CD4-5EA4-6674-2B69-27045EC0FA34}"/>
              </a:ext>
            </a:extLst>
          </p:cNvPr>
          <p:cNvSpPr/>
          <p:nvPr/>
        </p:nvSpPr>
        <p:spPr>
          <a:xfrm>
            <a:off x="4529249" y="1825625"/>
            <a:ext cx="3390173" cy="827070"/>
          </a:xfrm>
          <a:prstGeom prst="roundRect">
            <a:avLst/>
          </a:prstGeom>
          <a:solidFill>
            <a:schemeClr val="accent2"/>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dirty="0">
                <a:latin typeface="Georgia" panose="02040502050405020303" pitchFamily="18" charset="0"/>
              </a:rPr>
              <a:t>Dead Box Forensics</a:t>
            </a:r>
            <a:endParaRPr lang="en-ID" sz="2800" b="1" dirty="0">
              <a:latin typeface="Georgia" panose="02040502050405020303" pitchFamily="18" charset="0"/>
            </a:endParaRPr>
          </a:p>
        </p:txBody>
      </p:sp>
      <p:sp>
        <p:nvSpPr>
          <p:cNvPr id="8" name="Rectangle 7">
            <a:extLst>
              <a:ext uri="{FF2B5EF4-FFF2-40B4-BE49-F238E27FC236}">
                <a16:creationId xmlns:a16="http://schemas.microsoft.com/office/drawing/2014/main" id="{971B8592-47FE-D610-EF1C-A60FB310F256}"/>
              </a:ext>
            </a:extLst>
          </p:cNvPr>
          <p:cNvSpPr/>
          <p:nvPr/>
        </p:nvSpPr>
        <p:spPr>
          <a:xfrm>
            <a:off x="8519299" y="2588581"/>
            <a:ext cx="3390173" cy="3183830"/>
          </a:xfrm>
          <a:prstGeom prst="rect">
            <a:avLst/>
          </a:prstGeom>
          <a:solidFill>
            <a:schemeClr val="accent2">
              <a:lumMod val="50000"/>
            </a:schemeClr>
          </a:solidFill>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2000" dirty="0">
                <a:latin typeface="Georgia" panose="02040502050405020303" pitchFamily="18" charset="0"/>
              </a:rPr>
              <a:t>Remote access agent – F-Response</a:t>
            </a:r>
          </a:p>
          <a:p>
            <a:pPr marL="285750" indent="-285750">
              <a:buFont typeface="Arial" panose="020B0604020202020204" pitchFamily="34" charset="0"/>
              <a:buChar char="•"/>
            </a:pPr>
            <a:r>
              <a:rPr lang="en-US" sz="2000" dirty="0">
                <a:latin typeface="Georgia" panose="02040502050405020303" pitchFamily="18" charset="0"/>
              </a:rPr>
              <a:t>Mount remote system as read-only</a:t>
            </a:r>
          </a:p>
          <a:p>
            <a:pPr marL="285750" indent="-285750">
              <a:buFont typeface="Arial" panose="020B0604020202020204" pitchFamily="34" charset="0"/>
              <a:buChar char="•"/>
            </a:pPr>
            <a:r>
              <a:rPr lang="en-US" sz="2000" dirty="0">
                <a:latin typeface="Georgia" panose="02040502050405020303" pitchFamily="18" charset="0"/>
              </a:rPr>
              <a:t>Possibly “best of both” solution</a:t>
            </a:r>
          </a:p>
        </p:txBody>
      </p:sp>
      <p:sp>
        <p:nvSpPr>
          <p:cNvPr id="9" name="Rectangle: Rounded Corners 8">
            <a:extLst>
              <a:ext uri="{FF2B5EF4-FFF2-40B4-BE49-F238E27FC236}">
                <a16:creationId xmlns:a16="http://schemas.microsoft.com/office/drawing/2014/main" id="{32C5A446-0710-D92B-A561-CEEBB43BDDD2}"/>
              </a:ext>
            </a:extLst>
          </p:cNvPr>
          <p:cNvSpPr/>
          <p:nvPr/>
        </p:nvSpPr>
        <p:spPr>
          <a:xfrm>
            <a:off x="8519298" y="1825625"/>
            <a:ext cx="3390173" cy="827070"/>
          </a:xfrm>
          <a:prstGeom prst="roundRect">
            <a:avLst/>
          </a:prstGeom>
          <a:solidFill>
            <a:schemeClr val="accent2"/>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dirty="0">
                <a:latin typeface="Georgia" panose="02040502050405020303" pitchFamily="18" charset="0"/>
              </a:rPr>
              <a:t>Hybrid</a:t>
            </a:r>
            <a:endParaRPr lang="en-ID" sz="2800" b="1" dirty="0">
              <a:latin typeface="Georgia" panose="02040502050405020303" pitchFamily="18" charset="0"/>
            </a:endParaRPr>
          </a:p>
        </p:txBody>
      </p:sp>
    </p:spTree>
    <p:extLst>
      <p:ext uri="{BB962C8B-B14F-4D97-AF65-F5344CB8AC3E}">
        <p14:creationId xmlns:p14="http://schemas.microsoft.com/office/powerpoint/2010/main" val="29755436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D3DAF6-6259-C70D-F294-51D2FA777145}"/>
              </a:ext>
            </a:extLst>
          </p:cNvPr>
          <p:cNvSpPr>
            <a:spLocks noGrp="1"/>
          </p:cNvSpPr>
          <p:nvPr>
            <p:ph type="title"/>
          </p:nvPr>
        </p:nvSpPr>
        <p:spPr/>
        <p:txBody>
          <a:bodyPr/>
          <a:lstStyle/>
          <a:p>
            <a:r>
              <a:rPr lang="en-US" b="1" spc="80" dirty="0"/>
              <a:t>Linux Filesystems</a:t>
            </a:r>
            <a:endParaRPr lang="en-ID" b="1" dirty="0"/>
          </a:p>
        </p:txBody>
      </p:sp>
      <p:sp>
        <p:nvSpPr>
          <p:cNvPr id="5" name="Text Placeholder 4">
            <a:extLst>
              <a:ext uri="{FF2B5EF4-FFF2-40B4-BE49-F238E27FC236}">
                <a16:creationId xmlns:a16="http://schemas.microsoft.com/office/drawing/2014/main" id="{A8E670C1-091D-46CE-552D-340C2EEB4CD0}"/>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4042052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91D4-9AEE-00C8-DB12-A8D33A353C71}"/>
              </a:ext>
            </a:extLst>
          </p:cNvPr>
          <p:cNvSpPr>
            <a:spLocks noGrp="1"/>
          </p:cNvSpPr>
          <p:nvPr>
            <p:ph type="title"/>
          </p:nvPr>
        </p:nvSpPr>
        <p:spPr/>
        <p:txBody>
          <a:bodyPr/>
          <a:lstStyle/>
          <a:p>
            <a:r>
              <a:rPr lang="en-ID" dirty="0"/>
              <a:t>DFIR Fundamentals – Topics </a:t>
            </a:r>
          </a:p>
        </p:txBody>
      </p:sp>
      <p:sp>
        <p:nvSpPr>
          <p:cNvPr id="3" name="Content Placeholder 2">
            <a:extLst>
              <a:ext uri="{FF2B5EF4-FFF2-40B4-BE49-F238E27FC236}">
                <a16:creationId xmlns:a16="http://schemas.microsoft.com/office/drawing/2014/main" id="{9503AF40-E90C-F6EE-03CC-08A8535ED6AD}"/>
              </a:ext>
            </a:extLst>
          </p:cNvPr>
          <p:cNvSpPr>
            <a:spLocks noGrp="1"/>
          </p:cNvSpPr>
          <p:nvPr>
            <p:ph idx="1"/>
          </p:nvPr>
        </p:nvSpPr>
        <p:spPr>
          <a:xfrm>
            <a:off x="6096000" y="1825625"/>
            <a:ext cx="5257800" cy="4351338"/>
          </a:xfrm>
        </p:spPr>
        <p:txBody>
          <a:bodyPr>
            <a:normAutofit fontScale="92500" lnSpcReduction="20000"/>
          </a:bodyPr>
          <a:lstStyle/>
          <a:p>
            <a:pPr marL="457200" indent="-457200"/>
            <a:r>
              <a:rPr lang="en-US" dirty="0"/>
              <a:t>Filesystem basics</a:t>
            </a:r>
          </a:p>
          <a:p>
            <a:pPr marL="457200" indent="-457200"/>
            <a:r>
              <a:rPr lang="en-US" dirty="0"/>
              <a:t>Discovering the File system</a:t>
            </a:r>
          </a:p>
          <a:p>
            <a:pPr marL="457200" indent="-457200"/>
            <a:r>
              <a:rPr lang="en-US" dirty="0"/>
              <a:t>EXT3</a:t>
            </a:r>
          </a:p>
          <a:p>
            <a:pPr marL="457200" indent="-457200"/>
            <a:r>
              <a:rPr lang="en-US" dirty="0"/>
              <a:t>EXT4</a:t>
            </a:r>
          </a:p>
          <a:p>
            <a:pPr marL="457200" indent="-457200"/>
            <a:r>
              <a:rPr lang="en-US" dirty="0"/>
              <a:t>XFS </a:t>
            </a:r>
          </a:p>
          <a:p>
            <a:pPr marL="457200" indent="-457200"/>
            <a:r>
              <a:rPr lang="en-US" dirty="0"/>
              <a:t>LVM2 issues</a:t>
            </a:r>
          </a:p>
          <a:p>
            <a:pPr marL="457200" indent="-457200"/>
            <a:r>
              <a:rPr lang="en-US" dirty="0"/>
              <a:t>Timestamps </a:t>
            </a:r>
          </a:p>
          <a:p>
            <a:pPr marL="457200" indent="-457200"/>
            <a:r>
              <a:rPr lang="en-US" dirty="0"/>
              <a:t>Time Rules</a:t>
            </a:r>
          </a:p>
          <a:p>
            <a:pPr marL="457200" indent="-457200"/>
            <a:r>
              <a:rPr lang="en-US" dirty="0"/>
              <a:t>Linux vs Windows</a:t>
            </a:r>
          </a:p>
          <a:p>
            <a:pPr marL="457200" indent="-457200"/>
            <a:r>
              <a:rPr lang="en-US" dirty="0"/>
              <a:t>Folder structure</a:t>
            </a:r>
            <a:endParaRPr lang="en-ID" dirty="0"/>
          </a:p>
          <a:p>
            <a:endParaRPr lang="en-ID" dirty="0"/>
          </a:p>
        </p:txBody>
      </p:sp>
      <p:sp>
        <p:nvSpPr>
          <p:cNvPr id="4" name="Rectangle 3">
            <a:extLst>
              <a:ext uri="{FF2B5EF4-FFF2-40B4-BE49-F238E27FC236}">
                <a16:creationId xmlns:a16="http://schemas.microsoft.com/office/drawing/2014/main" id="{FA7BAB1E-1A20-6A0D-200A-D1CC8CD46E57}"/>
              </a:ext>
            </a:extLst>
          </p:cNvPr>
          <p:cNvSpPr/>
          <p:nvPr/>
        </p:nvSpPr>
        <p:spPr>
          <a:xfrm>
            <a:off x="838201" y="3555783"/>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Log Analysis</a:t>
            </a:r>
            <a:endParaRPr lang="en-ID" sz="2800" b="1" dirty="0">
              <a:latin typeface="Georgia" panose="02040502050405020303" pitchFamily="18" charset="0"/>
            </a:endParaRPr>
          </a:p>
        </p:txBody>
      </p:sp>
      <p:sp>
        <p:nvSpPr>
          <p:cNvPr id="5" name="Rectangle 4">
            <a:extLst>
              <a:ext uri="{FF2B5EF4-FFF2-40B4-BE49-F238E27FC236}">
                <a16:creationId xmlns:a16="http://schemas.microsoft.com/office/drawing/2014/main" id="{073CF19D-5DC6-4419-5DD4-AB12CEC21758}"/>
              </a:ext>
            </a:extLst>
          </p:cNvPr>
          <p:cNvSpPr/>
          <p:nvPr/>
        </p:nvSpPr>
        <p:spPr>
          <a:xfrm>
            <a:off x="838200" y="4459519"/>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IR Triage</a:t>
            </a:r>
            <a:endParaRPr lang="en-ID" sz="2800" b="1" dirty="0">
              <a:latin typeface="Georgia" panose="02040502050405020303" pitchFamily="18" charset="0"/>
            </a:endParaRPr>
          </a:p>
        </p:txBody>
      </p:sp>
      <p:sp>
        <p:nvSpPr>
          <p:cNvPr id="6" name="Rectangle 5">
            <a:extLst>
              <a:ext uri="{FF2B5EF4-FFF2-40B4-BE49-F238E27FC236}">
                <a16:creationId xmlns:a16="http://schemas.microsoft.com/office/drawing/2014/main" id="{559E2070-757F-DDEC-048A-97A51473EC98}"/>
              </a:ext>
            </a:extLst>
          </p:cNvPr>
          <p:cNvSpPr/>
          <p:nvPr/>
        </p:nvSpPr>
        <p:spPr>
          <a:xfrm>
            <a:off x="838200" y="1825625"/>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Incident Response</a:t>
            </a:r>
            <a:endParaRPr lang="en-ID" sz="2800" b="1" dirty="0">
              <a:latin typeface="Georgia" panose="02040502050405020303" pitchFamily="18" charset="0"/>
            </a:endParaRPr>
          </a:p>
        </p:txBody>
      </p:sp>
      <p:sp>
        <p:nvSpPr>
          <p:cNvPr id="7" name="Arrow: Pentagon 6">
            <a:extLst>
              <a:ext uri="{FF2B5EF4-FFF2-40B4-BE49-F238E27FC236}">
                <a16:creationId xmlns:a16="http://schemas.microsoft.com/office/drawing/2014/main" id="{0C3CB2FA-9225-5F57-19CC-BBD20C1852DD}"/>
              </a:ext>
            </a:extLst>
          </p:cNvPr>
          <p:cNvSpPr/>
          <p:nvPr/>
        </p:nvSpPr>
        <p:spPr>
          <a:xfrm>
            <a:off x="838200" y="2682403"/>
            <a:ext cx="3854823" cy="735106"/>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File Systems</a:t>
            </a:r>
            <a:endParaRPr lang="en-ID" sz="2800" b="1" dirty="0">
              <a:latin typeface="Georgia" panose="02040502050405020303" pitchFamily="18" charset="0"/>
            </a:endParaRPr>
          </a:p>
        </p:txBody>
      </p:sp>
    </p:spTree>
    <p:extLst>
      <p:ext uri="{BB962C8B-B14F-4D97-AF65-F5344CB8AC3E}">
        <p14:creationId xmlns:p14="http://schemas.microsoft.com/office/powerpoint/2010/main" val="42044995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E2D0-D086-8127-3D70-95AAC4AF224C}"/>
              </a:ext>
            </a:extLst>
          </p:cNvPr>
          <p:cNvSpPr>
            <a:spLocks noGrp="1"/>
          </p:cNvSpPr>
          <p:nvPr>
            <p:ph type="title"/>
          </p:nvPr>
        </p:nvSpPr>
        <p:spPr/>
        <p:txBody>
          <a:bodyPr/>
          <a:lstStyle/>
          <a:p>
            <a:r>
              <a:rPr lang="en-ID" dirty="0"/>
              <a:t>Linux File Systems </a:t>
            </a:r>
          </a:p>
        </p:txBody>
      </p:sp>
      <p:sp>
        <p:nvSpPr>
          <p:cNvPr id="3" name="Content Placeholder 2">
            <a:extLst>
              <a:ext uri="{FF2B5EF4-FFF2-40B4-BE49-F238E27FC236}">
                <a16:creationId xmlns:a16="http://schemas.microsoft.com/office/drawing/2014/main" id="{6AB3A3F4-044B-95B1-67AC-FD9F7B1E8D92}"/>
              </a:ext>
            </a:extLst>
          </p:cNvPr>
          <p:cNvSpPr>
            <a:spLocks noGrp="1"/>
          </p:cNvSpPr>
          <p:nvPr>
            <p:ph idx="1"/>
          </p:nvPr>
        </p:nvSpPr>
        <p:spPr/>
        <p:txBody>
          <a:bodyPr/>
          <a:lstStyle/>
          <a:p>
            <a:endParaRPr lang="en-ID" dirty="0"/>
          </a:p>
        </p:txBody>
      </p:sp>
      <p:sp>
        <p:nvSpPr>
          <p:cNvPr id="4" name="Rectangle: Rounded Corners 3">
            <a:extLst>
              <a:ext uri="{FF2B5EF4-FFF2-40B4-BE49-F238E27FC236}">
                <a16:creationId xmlns:a16="http://schemas.microsoft.com/office/drawing/2014/main" id="{3F7CD8EB-50FA-9E63-97BF-6EB28A893139}"/>
              </a:ext>
            </a:extLst>
          </p:cNvPr>
          <p:cNvSpPr/>
          <p:nvPr/>
        </p:nvSpPr>
        <p:spPr>
          <a:xfrm>
            <a:off x="1358860" y="1690689"/>
            <a:ext cx="2761130" cy="1649505"/>
          </a:xfrm>
          <a:prstGeom prst="roundRect">
            <a:avLst/>
          </a:prstGeom>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latin typeface="Georgia" panose="02040502050405020303" pitchFamily="18" charset="0"/>
              </a:rPr>
              <a:t>There is no “one” Linux filesystem.</a:t>
            </a:r>
            <a:endParaRPr lang="en-ID" sz="2400" dirty="0">
              <a:latin typeface="Georgia" panose="02040502050405020303" pitchFamily="18" charset="0"/>
            </a:endParaRPr>
          </a:p>
        </p:txBody>
      </p:sp>
      <p:sp>
        <p:nvSpPr>
          <p:cNvPr id="5" name="Rectangle: Rounded Corners 4">
            <a:extLst>
              <a:ext uri="{FF2B5EF4-FFF2-40B4-BE49-F238E27FC236}">
                <a16:creationId xmlns:a16="http://schemas.microsoft.com/office/drawing/2014/main" id="{7CE81E5B-0AE3-7024-2DB9-3681B2ACCDE4}"/>
              </a:ext>
            </a:extLst>
          </p:cNvPr>
          <p:cNvSpPr/>
          <p:nvPr/>
        </p:nvSpPr>
        <p:spPr>
          <a:xfrm>
            <a:off x="4624981" y="1690688"/>
            <a:ext cx="2761130" cy="1649505"/>
          </a:xfrm>
          <a:prstGeom prst="roundRect">
            <a:avLst/>
          </a:prstGeom>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latin typeface="Georgia" panose="02040502050405020303" pitchFamily="18" charset="0"/>
              </a:rPr>
              <a:t>Distros have defaults..</a:t>
            </a:r>
            <a:endParaRPr lang="en-ID" sz="24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AF3E4E40-E590-A4C8-B915-50BCA6AEA127}"/>
              </a:ext>
            </a:extLst>
          </p:cNvPr>
          <p:cNvSpPr/>
          <p:nvPr/>
        </p:nvSpPr>
        <p:spPr>
          <a:xfrm>
            <a:off x="7891102" y="1690688"/>
            <a:ext cx="2761130" cy="1649505"/>
          </a:xfrm>
          <a:prstGeom prst="roundRect">
            <a:avLst/>
          </a:prstGeom>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2400" dirty="0">
                <a:latin typeface="Georgia" panose="02040502050405020303" pitchFamily="18" charset="0"/>
              </a:rPr>
              <a:t>Users can pick almost any one they want.</a:t>
            </a:r>
            <a:endParaRPr lang="en-ID" sz="24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62FF159B-B04D-BFCD-DCAE-F361B9A6D975}"/>
              </a:ext>
            </a:extLst>
          </p:cNvPr>
          <p:cNvSpPr/>
          <p:nvPr/>
        </p:nvSpPr>
        <p:spPr>
          <a:xfrm>
            <a:off x="3640863" y="3933025"/>
            <a:ext cx="2364683" cy="2387727"/>
          </a:xfrm>
          <a:prstGeom prst="roundRect">
            <a:avLst/>
          </a:prstGeom>
          <a:solidFill>
            <a:srgbClr val="0020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r>
              <a:rPr lang="en-US" b="1" dirty="0">
                <a:latin typeface="Georgia" panose="02040502050405020303" pitchFamily="18" charset="0"/>
              </a:rPr>
              <a:t>Common File </a:t>
            </a:r>
          </a:p>
          <a:p>
            <a:pPr algn="ctr"/>
            <a:r>
              <a:rPr lang="en-US" b="1" dirty="0">
                <a:latin typeface="Georgia" panose="02040502050405020303" pitchFamily="18" charset="0"/>
              </a:rPr>
              <a:t>Systems</a:t>
            </a:r>
          </a:p>
          <a:p>
            <a:pPr algn="ctr"/>
            <a:endParaRPr lang="en-US" dirty="0">
              <a:latin typeface="Georgia" panose="02040502050405020303" pitchFamily="18" charset="0"/>
            </a:endParaRPr>
          </a:p>
          <a:p>
            <a:pPr marL="285750" indent="-285750">
              <a:buFont typeface="Arial" panose="020B0604020202020204" pitchFamily="34" charset="0"/>
              <a:buChar char="•"/>
            </a:pPr>
            <a:r>
              <a:rPr lang="en-US" dirty="0">
                <a:latin typeface="Georgia" panose="02040502050405020303" pitchFamily="18" charset="0"/>
              </a:rPr>
              <a:t>EXT3</a:t>
            </a:r>
          </a:p>
          <a:p>
            <a:pPr marL="285750" indent="-285750">
              <a:buFont typeface="Arial" panose="020B0604020202020204" pitchFamily="34" charset="0"/>
              <a:buChar char="•"/>
            </a:pPr>
            <a:r>
              <a:rPr lang="en-US" dirty="0">
                <a:latin typeface="Georgia" panose="02040502050405020303" pitchFamily="18" charset="0"/>
              </a:rPr>
              <a:t>EXT4</a:t>
            </a:r>
          </a:p>
          <a:p>
            <a:pPr marL="285750" indent="-285750">
              <a:buFont typeface="Arial" panose="020B0604020202020204" pitchFamily="34" charset="0"/>
              <a:buChar char="•"/>
            </a:pPr>
            <a:r>
              <a:rPr lang="en-US" dirty="0">
                <a:latin typeface="Georgia" panose="02040502050405020303" pitchFamily="18" charset="0"/>
              </a:rPr>
              <a:t>XFS</a:t>
            </a: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ID" dirty="0">
              <a:latin typeface="Georgia" panose="02040502050405020303" pitchFamily="18" charset="0"/>
            </a:endParaRPr>
          </a:p>
        </p:txBody>
      </p:sp>
      <p:sp>
        <p:nvSpPr>
          <p:cNvPr id="8" name="Rectangle: Rounded Corners 7">
            <a:extLst>
              <a:ext uri="{FF2B5EF4-FFF2-40B4-BE49-F238E27FC236}">
                <a16:creationId xmlns:a16="http://schemas.microsoft.com/office/drawing/2014/main" id="{AEEBC599-EF2B-9BBC-4AF6-136FC9E716B7}"/>
              </a:ext>
            </a:extLst>
          </p:cNvPr>
          <p:cNvSpPr/>
          <p:nvPr/>
        </p:nvSpPr>
        <p:spPr>
          <a:xfrm>
            <a:off x="6470741" y="3933024"/>
            <a:ext cx="2364684" cy="2387727"/>
          </a:xfrm>
          <a:prstGeom prst="roundRect">
            <a:avLst/>
          </a:prstGeom>
          <a:solidFill>
            <a:srgbClr val="00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r>
              <a:rPr lang="en-US" b="1" dirty="0">
                <a:latin typeface="Georgia" panose="02040502050405020303" pitchFamily="18" charset="0"/>
              </a:rPr>
              <a:t>Challenges</a:t>
            </a:r>
          </a:p>
          <a:p>
            <a:pPr marL="285750" indent="-285750">
              <a:buFont typeface="Arial" panose="020B0604020202020204" pitchFamily="34" charset="0"/>
              <a:buChar char="•"/>
            </a:pPr>
            <a:endParaRPr lang="en-US" dirty="0">
              <a:latin typeface="Georgia" panose="02040502050405020303" pitchFamily="18" charset="0"/>
            </a:endParaRPr>
          </a:p>
          <a:p>
            <a:pPr marL="285750" indent="-285750">
              <a:buFont typeface="Arial" panose="020B0604020202020204" pitchFamily="34" charset="0"/>
              <a:buChar char="•"/>
            </a:pPr>
            <a:r>
              <a:rPr lang="en-US" dirty="0">
                <a:latin typeface="Georgia" panose="02040502050405020303" pitchFamily="18" charset="0"/>
              </a:rPr>
              <a:t>Inconsistencies </a:t>
            </a:r>
          </a:p>
          <a:p>
            <a:pPr marL="285750" indent="-285750">
              <a:buFont typeface="Arial" panose="020B0604020202020204" pitchFamily="34" charset="0"/>
              <a:buChar char="•"/>
            </a:pPr>
            <a:r>
              <a:rPr lang="en-US" dirty="0">
                <a:latin typeface="Georgia" panose="02040502050405020303" pitchFamily="18" charset="0"/>
              </a:rPr>
              <a:t>LVM2</a:t>
            </a:r>
          </a:p>
          <a:p>
            <a:pPr marL="285750" indent="-285750">
              <a:buFont typeface="Arial" panose="020B0604020202020204" pitchFamily="34" charset="0"/>
              <a:buChar char="•"/>
            </a:pPr>
            <a:r>
              <a:rPr lang="en-US" dirty="0">
                <a:latin typeface="Georgia" panose="02040502050405020303" pitchFamily="18" charset="0"/>
              </a:rPr>
              <a:t>Timestamps</a:t>
            </a:r>
          </a:p>
          <a:p>
            <a:pPr marL="285750" indent="-285750">
              <a:buFont typeface="Arial" panose="020B0604020202020204" pitchFamily="34" charset="0"/>
              <a:buChar char="•"/>
            </a:pPr>
            <a:r>
              <a:rPr lang="en-US" dirty="0">
                <a:latin typeface="Georgia" panose="02040502050405020303" pitchFamily="18" charset="0"/>
              </a:rPr>
              <a:t>Tooling</a:t>
            </a: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ID" dirty="0">
              <a:latin typeface="Georgia" panose="02040502050405020303" pitchFamily="18" charset="0"/>
            </a:endParaRPr>
          </a:p>
        </p:txBody>
      </p:sp>
    </p:spTree>
    <p:extLst>
      <p:ext uri="{BB962C8B-B14F-4D97-AF65-F5344CB8AC3E}">
        <p14:creationId xmlns:p14="http://schemas.microsoft.com/office/powerpoint/2010/main" val="35375641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0C0A0-29D8-635E-9772-B88B614F3729}"/>
              </a:ext>
            </a:extLst>
          </p:cNvPr>
          <p:cNvSpPr>
            <a:spLocks noGrp="1"/>
          </p:cNvSpPr>
          <p:nvPr>
            <p:ph type="title"/>
          </p:nvPr>
        </p:nvSpPr>
        <p:spPr/>
        <p:txBody>
          <a:bodyPr/>
          <a:lstStyle/>
          <a:p>
            <a:r>
              <a:rPr lang="en-ID" dirty="0"/>
              <a:t>File System Hierarchy </a:t>
            </a:r>
          </a:p>
        </p:txBody>
      </p:sp>
      <p:sp>
        <p:nvSpPr>
          <p:cNvPr id="3" name="Content Placeholder 2">
            <a:extLst>
              <a:ext uri="{FF2B5EF4-FFF2-40B4-BE49-F238E27FC236}">
                <a16:creationId xmlns:a16="http://schemas.microsoft.com/office/drawing/2014/main" id="{21F2E503-2D7B-069E-5383-994492046F7D}"/>
              </a:ext>
            </a:extLst>
          </p:cNvPr>
          <p:cNvSpPr>
            <a:spLocks noGrp="1"/>
          </p:cNvSpPr>
          <p:nvPr>
            <p:ph idx="1"/>
          </p:nvPr>
        </p:nvSpPr>
        <p:spPr>
          <a:xfrm>
            <a:off x="838200" y="1825625"/>
            <a:ext cx="5739063" cy="4351338"/>
          </a:xfrm>
        </p:spPr>
        <p:txBody>
          <a:bodyPr/>
          <a:lstStyle/>
          <a:p>
            <a:pPr marL="0" indent="0">
              <a:buNone/>
            </a:pPr>
            <a:r>
              <a:rPr lang="en-ID" dirty="0"/>
              <a:t>Key locations:</a:t>
            </a:r>
          </a:p>
          <a:p>
            <a:r>
              <a:rPr lang="en-ID" dirty="0"/>
              <a:t>/etc</a:t>
            </a:r>
          </a:p>
          <a:p>
            <a:pPr lvl="1"/>
            <a:r>
              <a:rPr lang="en-ID" dirty="0"/>
              <a:t>Configuration files for most applications</a:t>
            </a:r>
          </a:p>
          <a:p>
            <a:r>
              <a:rPr lang="en-ID" dirty="0"/>
              <a:t>/var</a:t>
            </a:r>
          </a:p>
          <a:p>
            <a:pPr lvl="1"/>
            <a:r>
              <a:rPr lang="en-ID" dirty="0"/>
              <a:t>Variable files – logs, print spooler etc.</a:t>
            </a:r>
          </a:p>
          <a:p>
            <a:r>
              <a:rPr lang="en-ID" dirty="0"/>
              <a:t>/proc</a:t>
            </a:r>
          </a:p>
          <a:p>
            <a:pPr lvl="1"/>
            <a:r>
              <a:rPr lang="en-ID" dirty="0"/>
              <a:t>Information on running processes – effectively a memory dump!</a:t>
            </a:r>
          </a:p>
          <a:p>
            <a:endParaRPr lang="en-ID" dirty="0"/>
          </a:p>
        </p:txBody>
      </p:sp>
      <p:pic>
        <p:nvPicPr>
          <p:cNvPr id="4" name="Picture 3">
            <a:extLst>
              <a:ext uri="{FF2B5EF4-FFF2-40B4-BE49-F238E27FC236}">
                <a16:creationId xmlns:a16="http://schemas.microsoft.com/office/drawing/2014/main" id="{427B62AC-E8A0-E12F-B368-E5C98105E360}"/>
              </a:ext>
            </a:extLst>
          </p:cNvPr>
          <p:cNvPicPr/>
          <p:nvPr/>
        </p:nvPicPr>
        <p:blipFill>
          <a:blip r:embed="rId2"/>
          <a:stretch>
            <a:fillRect/>
          </a:stretch>
        </p:blipFill>
        <p:spPr>
          <a:xfrm>
            <a:off x="6823966" y="1942858"/>
            <a:ext cx="4877858" cy="4116872"/>
          </a:xfrm>
          <a:prstGeom prst="rect">
            <a:avLst/>
          </a:prstGeom>
        </p:spPr>
      </p:pic>
    </p:spTree>
    <p:extLst>
      <p:ext uri="{BB962C8B-B14F-4D97-AF65-F5344CB8AC3E}">
        <p14:creationId xmlns:p14="http://schemas.microsoft.com/office/powerpoint/2010/main" val="29846387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107DD9-E131-B4BA-4B4D-FA829A37E02F}"/>
              </a:ext>
            </a:extLst>
          </p:cNvPr>
          <p:cNvSpPr>
            <a:spLocks noGrp="1"/>
          </p:cNvSpPr>
          <p:nvPr>
            <p:ph type="title"/>
          </p:nvPr>
        </p:nvSpPr>
        <p:spPr/>
        <p:txBody>
          <a:bodyPr/>
          <a:lstStyle/>
          <a:p>
            <a:r>
              <a:rPr lang="en-US" b="1" spc="80" dirty="0"/>
              <a:t>Linux Log Analysis</a:t>
            </a:r>
            <a:endParaRPr lang="en-ID" b="1" dirty="0"/>
          </a:p>
        </p:txBody>
      </p:sp>
      <p:sp>
        <p:nvSpPr>
          <p:cNvPr id="5" name="Text Placeholder 4">
            <a:extLst>
              <a:ext uri="{FF2B5EF4-FFF2-40B4-BE49-F238E27FC236}">
                <a16:creationId xmlns:a16="http://schemas.microsoft.com/office/drawing/2014/main" id="{7D006EE4-86DC-6762-5DFB-119B48832B5E}"/>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572877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8DA9-F8CD-85A9-B8FE-6D6F35F89E87}"/>
              </a:ext>
            </a:extLst>
          </p:cNvPr>
          <p:cNvSpPr>
            <a:spLocks noGrp="1"/>
          </p:cNvSpPr>
          <p:nvPr>
            <p:ph type="title"/>
          </p:nvPr>
        </p:nvSpPr>
        <p:spPr/>
        <p:txBody>
          <a:bodyPr/>
          <a:lstStyle/>
          <a:p>
            <a:r>
              <a:rPr lang="en-ID" dirty="0"/>
              <a:t>DFIR Fundamentals – Topics </a:t>
            </a:r>
          </a:p>
        </p:txBody>
      </p:sp>
      <p:sp>
        <p:nvSpPr>
          <p:cNvPr id="3" name="Content Placeholder 2">
            <a:extLst>
              <a:ext uri="{FF2B5EF4-FFF2-40B4-BE49-F238E27FC236}">
                <a16:creationId xmlns:a16="http://schemas.microsoft.com/office/drawing/2014/main" id="{E22F751D-BF46-6E68-82BA-F9D638712010}"/>
              </a:ext>
            </a:extLst>
          </p:cNvPr>
          <p:cNvSpPr>
            <a:spLocks noGrp="1"/>
          </p:cNvSpPr>
          <p:nvPr>
            <p:ph idx="1"/>
          </p:nvPr>
        </p:nvSpPr>
        <p:spPr>
          <a:xfrm>
            <a:off x="6096000" y="1825625"/>
            <a:ext cx="5257800" cy="4351338"/>
          </a:xfrm>
        </p:spPr>
        <p:txBody>
          <a:bodyPr>
            <a:normAutofit fontScale="92500"/>
          </a:bodyPr>
          <a:lstStyle/>
          <a:p>
            <a:pPr marL="285750" indent="-285750"/>
            <a:r>
              <a:rPr lang="en-US" dirty="0"/>
              <a:t>IR Log Strategy </a:t>
            </a:r>
          </a:p>
          <a:p>
            <a:pPr marL="285750" indent="-285750"/>
            <a:r>
              <a:rPr lang="en-US" dirty="0"/>
              <a:t>Common Logs &amp; Locations </a:t>
            </a:r>
          </a:p>
          <a:p>
            <a:pPr marL="285750" indent="-285750"/>
            <a:r>
              <a:rPr lang="en-US" dirty="0"/>
              <a:t>System Logs</a:t>
            </a:r>
          </a:p>
          <a:p>
            <a:pPr marL="285750" indent="-285750"/>
            <a:r>
              <a:rPr lang="en-US" dirty="0"/>
              <a:t>Authentication &amp; Authorization</a:t>
            </a:r>
          </a:p>
          <a:p>
            <a:pPr marL="285750" indent="-285750"/>
            <a:r>
              <a:rPr lang="en-US" dirty="0"/>
              <a:t>Privilege Use</a:t>
            </a:r>
          </a:p>
          <a:p>
            <a:pPr marL="285750" indent="-285750"/>
            <a:r>
              <a:rPr lang="en-US" dirty="0"/>
              <a:t>Binary Logs </a:t>
            </a:r>
          </a:p>
          <a:p>
            <a:pPr marL="285750" indent="-285750"/>
            <a:r>
              <a:rPr lang="en-US" dirty="0"/>
              <a:t>Audit Logs</a:t>
            </a:r>
          </a:p>
          <a:p>
            <a:pPr marL="285750" indent="-285750"/>
            <a:r>
              <a:rPr lang="en-US" dirty="0"/>
              <a:t>Application Logs</a:t>
            </a:r>
          </a:p>
          <a:p>
            <a:pPr marL="285750" indent="-285750"/>
            <a:r>
              <a:rPr lang="en-US" dirty="0"/>
              <a:t>Quick Wins</a:t>
            </a:r>
            <a:endParaRPr lang="en-ID" dirty="0"/>
          </a:p>
        </p:txBody>
      </p:sp>
      <p:sp>
        <p:nvSpPr>
          <p:cNvPr id="4" name="Rectangle 3">
            <a:extLst>
              <a:ext uri="{FF2B5EF4-FFF2-40B4-BE49-F238E27FC236}">
                <a16:creationId xmlns:a16="http://schemas.microsoft.com/office/drawing/2014/main" id="{4B09C252-5081-7BDC-D28E-FD3C557E66BD}"/>
              </a:ext>
            </a:extLst>
          </p:cNvPr>
          <p:cNvSpPr/>
          <p:nvPr/>
        </p:nvSpPr>
        <p:spPr>
          <a:xfrm>
            <a:off x="1020620" y="2682919"/>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File Systems</a:t>
            </a:r>
            <a:endParaRPr lang="en-ID" sz="2800" b="1" dirty="0">
              <a:latin typeface="Georgia" panose="02040502050405020303" pitchFamily="18" charset="0"/>
            </a:endParaRPr>
          </a:p>
        </p:txBody>
      </p:sp>
      <p:sp>
        <p:nvSpPr>
          <p:cNvPr id="5" name="Rectangle 4">
            <a:extLst>
              <a:ext uri="{FF2B5EF4-FFF2-40B4-BE49-F238E27FC236}">
                <a16:creationId xmlns:a16="http://schemas.microsoft.com/office/drawing/2014/main" id="{1CB0AE89-B631-402B-1871-67FBCD4A011C}"/>
              </a:ext>
            </a:extLst>
          </p:cNvPr>
          <p:cNvSpPr/>
          <p:nvPr/>
        </p:nvSpPr>
        <p:spPr>
          <a:xfrm>
            <a:off x="1020620" y="4459519"/>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IR Triage</a:t>
            </a:r>
            <a:endParaRPr lang="en-ID" sz="2800" b="1" dirty="0">
              <a:latin typeface="Georgia" panose="02040502050405020303" pitchFamily="18" charset="0"/>
            </a:endParaRPr>
          </a:p>
        </p:txBody>
      </p:sp>
      <p:sp>
        <p:nvSpPr>
          <p:cNvPr id="6" name="Rectangle 5">
            <a:extLst>
              <a:ext uri="{FF2B5EF4-FFF2-40B4-BE49-F238E27FC236}">
                <a16:creationId xmlns:a16="http://schemas.microsoft.com/office/drawing/2014/main" id="{BF9B8FC0-0758-8CBB-71C5-818150F5A3DA}"/>
              </a:ext>
            </a:extLst>
          </p:cNvPr>
          <p:cNvSpPr/>
          <p:nvPr/>
        </p:nvSpPr>
        <p:spPr>
          <a:xfrm>
            <a:off x="1020620" y="1825625"/>
            <a:ext cx="3854822" cy="73510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Incident Response</a:t>
            </a:r>
            <a:endParaRPr lang="en-ID" sz="2800" b="1" dirty="0">
              <a:latin typeface="Georgia" panose="02040502050405020303" pitchFamily="18" charset="0"/>
            </a:endParaRPr>
          </a:p>
        </p:txBody>
      </p:sp>
      <p:sp>
        <p:nvSpPr>
          <p:cNvPr id="7" name="Arrow: Pentagon 6">
            <a:extLst>
              <a:ext uri="{FF2B5EF4-FFF2-40B4-BE49-F238E27FC236}">
                <a16:creationId xmlns:a16="http://schemas.microsoft.com/office/drawing/2014/main" id="{78526505-A5F8-CB64-E18E-AD54859307A0}"/>
              </a:ext>
            </a:extLst>
          </p:cNvPr>
          <p:cNvSpPr/>
          <p:nvPr/>
        </p:nvSpPr>
        <p:spPr>
          <a:xfrm>
            <a:off x="1020620" y="3598346"/>
            <a:ext cx="3854823" cy="735106"/>
          </a:xfrm>
          <a:prstGeom prst="homePlat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Georgia" panose="02040502050405020303" pitchFamily="18" charset="0"/>
              </a:rPr>
              <a:t>Linux Log Analysis</a:t>
            </a:r>
            <a:endParaRPr lang="en-ID" sz="2800" b="1" dirty="0">
              <a:latin typeface="Georgia" panose="02040502050405020303" pitchFamily="18" charset="0"/>
            </a:endParaRPr>
          </a:p>
        </p:txBody>
      </p:sp>
    </p:spTree>
    <p:extLst>
      <p:ext uri="{BB962C8B-B14F-4D97-AF65-F5344CB8AC3E}">
        <p14:creationId xmlns:p14="http://schemas.microsoft.com/office/powerpoint/2010/main" val="20000907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4027-EDE2-6102-1900-3D1AA22855EF}"/>
              </a:ext>
            </a:extLst>
          </p:cNvPr>
          <p:cNvSpPr>
            <a:spLocks noGrp="1"/>
          </p:cNvSpPr>
          <p:nvPr>
            <p:ph type="title"/>
          </p:nvPr>
        </p:nvSpPr>
        <p:spPr/>
        <p:txBody>
          <a:bodyPr/>
          <a:lstStyle/>
          <a:p>
            <a:r>
              <a:rPr lang="en-ID" dirty="0"/>
              <a:t>Incident Response Log Strategy </a:t>
            </a:r>
          </a:p>
        </p:txBody>
      </p:sp>
      <p:sp>
        <p:nvSpPr>
          <p:cNvPr id="3" name="Content Placeholder 2">
            <a:extLst>
              <a:ext uri="{FF2B5EF4-FFF2-40B4-BE49-F238E27FC236}">
                <a16:creationId xmlns:a16="http://schemas.microsoft.com/office/drawing/2014/main" id="{64C305F9-1BD0-B3CB-EC7A-8031FE4D8A27}"/>
              </a:ext>
            </a:extLst>
          </p:cNvPr>
          <p:cNvSpPr>
            <a:spLocks noGrp="1"/>
          </p:cNvSpPr>
          <p:nvPr>
            <p:ph idx="1"/>
          </p:nvPr>
        </p:nvSpPr>
        <p:spPr>
          <a:xfrm>
            <a:off x="838200" y="1825625"/>
            <a:ext cx="5611586" cy="4351338"/>
          </a:xfrm>
        </p:spPr>
        <p:txBody>
          <a:bodyPr>
            <a:normAutofit lnSpcReduction="10000"/>
          </a:bodyPr>
          <a:lstStyle/>
          <a:p>
            <a:r>
              <a:rPr lang="en-US" dirty="0"/>
              <a:t>Logs = Lots of data = Lots of time</a:t>
            </a:r>
          </a:p>
          <a:p>
            <a:r>
              <a:rPr lang="en-US" dirty="0"/>
              <a:t>Have a plan for your log analysis</a:t>
            </a:r>
          </a:p>
          <a:p>
            <a:r>
              <a:rPr lang="en-US" dirty="0"/>
              <a:t>Decide on: </a:t>
            </a:r>
          </a:p>
          <a:p>
            <a:pPr lvl="1"/>
            <a:r>
              <a:rPr lang="en-US" dirty="0"/>
              <a:t>What logs do you want to start with</a:t>
            </a:r>
          </a:p>
          <a:p>
            <a:pPr lvl="1"/>
            <a:r>
              <a:rPr lang="en-US" dirty="0"/>
              <a:t>What attacker behavior is likely to look like</a:t>
            </a:r>
          </a:p>
          <a:p>
            <a:pPr lvl="1"/>
            <a:r>
              <a:rPr lang="en-US" dirty="0"/>
              <a:t>How long you will spend on each log</a:t>
            </a:r>
          </a:p>
          <a:p>
            <a:r>
              <a:rPr lang="en-US" dirty="0"/>
              <a:t>This doesn’t mean ignoring logs!</a:t>
            </a:r>
            <a:endParaRPr lang="en-ID" dirty="0"/>
          </a:p>
          <a:p>
            <a:endParaRPr lang="en-ID" dirty="0"/>
          </a:p>
        </p:txBody>
      </p:sp>
      <p:sp>
        <p:nvSpPr>
          <p:cNvPr id="4" name="Rectangle: Rounded Corners 3">
            <a:extLst>
              <a:ext uri="{FF2B5EF4-FFF2-40B4-BE49-F238E27FC236}">
                <a16:creationId xmlns:a16="http://schemas.microsoft.com/office/drawing/2014/main" id="{2BED1283-534A-F005-DEC3-1C8F79689B8B}"/>
              </a:ext>
            </a:extLst>
          </p:cNvPr>
          <p:cNvSpPr/>
          <p:nvPr/>
        </p:nvSpPr>
        <p:spPr>
          <a:xfrm>
            <a:off x="8343658" y="1858858"/>
            <a:ext cx="2248142" cy="932330"/>
          </a:xfrm>
          <a:prstGeom prst="roundRect">
            <a:avLst/>
          </a:prstGeom>
          <a:solidFill>
            <a:srgbClr val="59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Application</a:t>
            </a:r>
            <a:endParaRPr lang="en-ID" sz="2000" dirty="0">
              <a:latin typeface="Georgia" panose="02040502050405020303" pitchFamily="18" charset="0"/>
            </a:endParaRPr>
          </a:p>
        </p:txBody>
      </p:sp>
      <p:sp>
        <p:nvSpPr>
          <p:cNvPr id="5" name="Rectangle: Rounded Corners 4">
            <a:extLst>
              <a:ext uri="{FF2B5EF4-FFF2-40B4-BE49-F238E27FC236}">
                <a16:creationId xmlns:a16="http://schemas.microsoft.com/office/drawing/2014/main" id="{BF6F467F-A669-AC56-FB4B-E9FBA959A4EE}"/>
              </a:ext>
            </a:extLst>
          </p:cNvPr>
          <p:cNvSpPr/>
          <p:nvPr/>
        </p:nvSpPr>
        <p:spPr>
          <a:xfrm>
            <a:off x="8594670" y="2975497"/>
            <a:ext cx="2248142" cy="932330"/>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Authentication</a:t>
            </a:r>
            <a:endParaRPr lang="en-ID" sz="20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2B4A9727-459F-96A2-F8D2-0BCEEBB4B03A}"/>
              </a:ext>
            </a:extLst>
          </p:cNvPr>
          <p:cNvSpPr/>
          <p:nvPr/>
        </p:nvSpPr>
        <p:spPr>
          <a:xfrm>
            <a:off x="8809824" y="4110065"/>
            <a:ext cx="2248142" cy="932330"/>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Audit</a:t>
            </a:r>
            <a:endParaRPr lang="en-ID" sz="20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67A2774A-B615-2CDD-6CEE-821D175932C3}"/>
              </a:ext>
            </a:extLst>
          </p:cNvPr>
          <p:cNvSpPr/>
          <p:nvPr/>
        </p:nvSpPr>
        <p:spPr>
          <a:xfrm>
            <a:off x="9105658" y="5244633"/>
            <a:ext cx="2248142" cy="932330"/>
          </a:xfrm>
          <a:prstGeom prst="roundRect">
            <a:avLst/>
          </a:prstGeom>
          <a:solidFill>
            <a:srgbClr val="00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Others</a:t>
            </a:r>
            <a:endParaRPr lang="en-ID" sz="2000" dirty="0">
              <a:latin typeface="Georgia" panose="02040502050405020303" pitchFamily="18" charset="0"/>
            </a:endParaRPr>
          </a:p>
        </p:txBody>
      </p:sp>
      <p:sp>
        <p:nvSpPr>
          <p:cNvPr id="8" name="Arrow: Down 7">
            <a:extLst>
              <a:ext uri="{FF2B5EF4-FFF2-40B4-BE49-F238E27FC236}">
                <a16:creationId xmlns:a16="http://schemas.microsoft.com/office/drawing/2014/main" id="{280F810F-7CC6-3738-8881-B4D5EB1577C1}"/>
              </a:ext>
            </a:extLst>
          </p:cNvPr>
          <p:cNvSpPr/>
          <p:nvPr/>
        </p:nvSpPr>
        <p:spPr>
          <a:xfrm>
            <a:off x="10095259" y="2587359"/>
            <a:ext cx="496541" cy="556701"/>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D">
              <a:latin typeface="Georgia" panose="02040502050405020303" pitchFamily="18" charset="0"/>
            </a:endParaRPr>
          </a:p>
        </p:txBody>
      </p:sp>
      <p:sp>
        <p:nvSpPr>
          <p:cNvPr id="9" name="Arrow: Down 8">
            <a:extLst>
              <a:ext uri="{FF2B5EF4-FFF2-40B4-BE49-F238E27FC236}">
                <a16:creationId xmlns:a16="http://schemas.microsoft.com/office/drawing/2014/main" id="{D2FB800D-C39D-2ADA-D6DF-801C3B2A8367}"/>
              </a:ext>
            </a:extLst>
          </p:cNvPr>
          <p:cNvSpPr/>
          <p:nvPr/>
        </p:nvSpPr>
        <p:spPr>
          <a:xfrm>
            <a:off x="10343529" y="3759911"/>
            <a:ext cx="496541" cy="556701"/>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D">
              <a:latin typeface="Georgia" panose="02040502050405020303" pitchFamily="18" charset="0"/>
            </a:endParaRPr>
          </a:p>
        </p:txBody>
      </p:sp>
      <p:sp>
        <p:nvSpPr>
          <p:cNvPr id="10" name="Arrow: Down 9">
            <a:extLst>
              <a:ext uri="{FF2B5EF4-FFF2-40B4-BE49-F238E27FC236}">
                <a16:creationId xmlns:a16="http://schemas.microsoft.com/office/drawing/2014/main" id="{C675B300-323B-FC87-BAB7-60B22033789C}"/>
              </a:ext>
            </a:extLst>
          </p:cNvPr>
          <p:cNvSpPr/>
          <p:nvPr/>
        </p:nvSpPr>
        <p:spPr>
          <a:xfrm>
            <a:off x="10591799" y="4782365"/>
            <a:ext cx="496541" cy="556701"/>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D">
              <a:latin typeface="Georgia" panose="02040502050405020303" pitchFamily="18" charset="0"/>
            </a:endParaRPr>
          </a:p>
        </p:txBody>
      </p:sp>
      <p:sp>
        <p:nvSpPr>
          <p:cNvPr id="11" name="TextBox 10">
            <a:extLst>
              <a:ext uri="{FF2B5EF4-FFF2-40B4-BE49-F238E27FC236}">
                <a16:creationId xmlns:a16="http://schemas.microsoft.com/office/drawing/2014/main" id="{B36C5812-E940-6385-A102-FC5B5641CBC7}"/>
              </a:ext>
            </a:extLst>
          </p:cNvPr>
          <p:cNvSpPr txBox="1"/>
          <p:nvPr/>
        </p:nvSpPr>
        <p:spPr>
          <a:xfrm>
            <a:off x="8343658" y="1324611"/>
            <a:ext cx="2169459" cy="523220"/>
          </a:xfrm>
          <a:prstGeom prst="rect">
            <a:avLst/>
          </a:prstGeom>
          <a:noFill/>
        </p:spPr>
        <p:txBody>
          <a:bodyPr wrap="square">
            <a:spAutoFit/>
          </a:bodyPr>
          <a:lstStyle/>
          <a:p>
            <a:r>
              <a:rPr lang="en-US" sz="2800" dirty="0">
                <a:latin typeface="Georgia" panose="02040502050405020303" pitchFamily="18" charset="0"/>
              </a:rPr>
              <a:t>Log Strategy</a:t>
            </a:r>
          </a:p>
        </p:txBody>
      </p:sp>
    </p:spTree>
    <p:extLst>
      <p:ext uri="{BB962C8B-B14F-4D97-AF65-F5344CB8AC3E}">
        <p14:creationId xmlns:p14="http://schemas.microsoft.com/office/powerpoint/2010/main" val="36905737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8CAFC-421F-D8D4-C19F-51CD1DDF0F35}"/>
              </a:ext>
            </a:extLst>
          </p:cNvPr>
          <p:cNvSpPr>
            <a:spLocks noGrp="1"/>
          </p:cNvSpPr>
          <p:nvPr>
            <p:ph type="title"/>
          </p:nvPr>
        </p:nvSpPr>
        <p:spPr/>
        <p:txBody>
          <a:bodyPr/>
          <a:lstStyle/>
          <a:p>
            <a:r>
              <a:rPr lang="en-US" dirty="0"/>
              <a:t>Common Logs and Locations</a:t>
            </a:r>
            <a:endParaRPr lang="en-ID" dirty="0"/>
          </a:p>
        </p:txBody>
      </p:sp>
      <p:sp>
        <p:nvSpPr>
          <p:cNvPr id="4" name="Rectangle: Rounded Corners 3">
            <a:extLst>
              <a:ext uri="{FF2B5EF4-FFF2-40B4-BE49-F238E27FC236}">
                <a16:creationId xmlns:a16="http://schemas.microsoft.com/office/drawing/2014/main" id="{241A9866-A451-6446-731B-30F208BE7E07}"/>
              </a:ext>
            </a:extLst>
          </p:cNvPr>
          <p:cNvSpPr/>
          <p:nvPr/>
        </p:nvSpPr>
        <p:spPr>
          <a:xfrm>
            <a:off x="838200" y="1690688"/>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Linux keeps lots of logs</a:t>
            </a:r>
            <a:endParaRPr lang="en-ID" sz="1600" dirty="0">
              <a:latin typeface="Georgia" panose="02040502050405020303" pitchFamily="18" charset="0"/>
            </a:endParaRPr>
          </a:p>
        </p:txBody>
      </p:sp>
      <p:sp>
        <p:nvSpPr>
          <p:cNvPr id="5" name="Rectangle: Rounded Corners 4">
            <a:extLst>
              <a:ext uri="{FF2B5EF4-FFF2-40B4-BE49-F238E27FC236}">
                <a16:creationId xmlns:a16="http://schemas.microsoft.com/office/drawing/2014/main" id="{9F089C17-5931-0983-4EA6-398288012AD6}"/>
              </a:ext>
            </a:extLst>
          </p:cNvPr>
          <p:cNvSpPr/>
          <p:nvPr/>
        </p:nvSpPr>
        <p:spPr>
          <a:xfrm>
            <a:off x="838200" y="2301995"/>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Most system logs are in /var/log</a:t>
            </a:r>
            <a:endParaRPr lang="en-ID" sz="16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A7BE0A74-5EAF-B2B1-D941-9CA7DB2940C9}"/>
              </a:ext>
            </a:extLst>
          </p:cNvPr>
          <p:cNvSpPr/>
          <p:nvPr/>
        </p:nvSpPr>
        <p:spPr>
          <a:xfrm>
            <a:off x="838200" y="2886677"/>
            <a:ext cx="10012062" cy="535092"/>
          </a:xfrm>
          <a:prstGeom prst="round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r>
              <a:rPr lang="en-US" sz="1600" dirty="0">
                <a:latin typeface="Georgia" panose="02040502050405020303" pitchFamily="18" charset="0"/>
              </a:rPr>
              <a:t>Application specific logs may also exist</a:t>
            </a:r>
            <a:endParaRPr lang="en-ID" sz="16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FFF5A9BE-8DCE-4F07-C66E-9CAC936665EB}"/>
              </a:ext>
            </a:extLst>
          </p:cNvPr>
          <p:cNvSpPr/>
          <p:nvPr/>
        </p:nvSpPr>
        <p:spPr>
          <a:xfrm>
            <a:off x="838200" y="4053489"/>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Log analysis is essential for effective triage and IR</a:t>
            </a:r>
            <a:endParaRPr lang="en-ID" sz="1600" dirty="0">
              <a:latin typeface="Georgia" panose="02040502050405020303" pitchFamily="18" charset="0"/>
            </a:endParaRPr>
          </a:p>
        </p:txBody>
      </p:sp>
      <p:sp>
        <p:nvSpPr>
          <p:cNvPr id="8" name="Rectangle: Rounded Corners 7">
            <a:extLst>
              <a:ext uri="{FF2B5EF4-FFF2-40B4-BE49-F238E27FC236}">
                <a16:creationId xmlns:a16="http://schemas.microsoft.com/office/drawing/2014/main" id="{6B121373-6F07-8BE4-DDE2-D05C51BB7C20}"/>
              </a:ext>
            </a:extLst>
          </p:cNvPr>
          <p:cNvSpPr/>
          <p:nvPr/>
        </p:nvSpPr>
        <p:spPr>
          <a:xfrm>
            <a:off x="838200" y="3474637"/>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Application specific log may also exist</a:t>
            </a:r>
            <a:endParaRPr lang="en-ID" sz="1600" dirty="0">
              <a:latin typeface="Georgia" panose="02040502050405020303" pitchFamily="18" charset="0"/>
            </a:endParaRPr>
          </a:p>
        </p:txBody>
      </p:sp>
      <p:sp>
        <p:nvSpPr>
          <p:cNvPr id="9" name="Rectangle: Rounded Corners 8">
            <a:extLst>
              <a:ext uri="{FF2B5EF4-FFF2-40B4-BE49-F238E27FC236}">
                <a16:creationId xmlns:a16="http://schemas.microsoft.com/office/drawing/2014/main" id="{79FBA442-147B-ECF3-00D2-E71C623B32F2}"/>
              </a:ext>
            </a:extLst>
          </p:cNvPr>
          <p:cNvSpPr/>
          <p:nvPr/>
        </p:nvSpPr>
        <p:spPr>
          <a:xfrm>
            <a:off x="838200" y="4631162"/>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atin typeface="Georgia" panose="02040502050405020303" pitchFamily="18" charset="0"/>
              </a:rPr>
              <a:t>Primary log sources</a:t>
            </a:r>
            <a:endParaRPr lang="en-ID" sz="1600" dirty="0">
              <a:latin typeface="Georgia" panose="02040502050405020303" pitchFamily="18" charset="0"/>
            </a:endParaRPr>
          </a:p>
        </p:txBody>
      </p:sp>
      <p:sp>
        <p:nvSpPr>
          <p:cNvPr id="10" name="Rectangle: Rounded Corners 9">
            <a:extLst>
              <a:ext uri="{FF2B5EF4-FFF2-40B4-BE49-F238E27FC236}">
                <a16:creationId xmlns:a16="http://schemas.microsoft.com/office/drawing/2014/main" id="{E07C5AB9-E9C4-1CB9-EEBB-209B19A54D58}"/>
              </a:ext>
            </a:extLst>
          </p:cNvPr>
          <p:cNvSpPr/>
          <p:nvPr/>
        </p:nvSpPr>
        <p:spPr>
          <a:xfrm>
            <a:off x="838200" y="5220837"/>
            <a:ext cx="10012062" cy="1033006"/>
          </a:xfrm>
          <a:prstGeom prst="round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Global system log</a:t>
            </a:r>
          </a:p>
          <a:p>
            <a:pPr marL="285750" indent="-285750">
              <a:buFont typeface="Arial" panose="020B0604020202020204" pitchFamily="34" charset="0"/>
              <a:buChar char="•"/>
            </a:pPr>
            <a:r>
              <a:rPr lang="en-US" sz="1600" dirty="0">
                <a:latin typeface="Georgia" panose="02040502050405020303" pitchFamily="18" charset="0"/>
              </a:rPr>
              <a:t>Authentication logs</a:t>
            </a:r>
          </a:p>
          <a:p>
            <a:pPr marL="285750" indent="-285750">
              <a:buFont typeface="Arial" panose="020B0604020202020204" pitchFamily="34" charset="0"/>
              <a:buChar char="•"/>
            </a:pPr>
            <a:r>
              <a:rPr lang="en-US" sz="1600" dirty="0">
                <a:latin typeface="Georgia" panose="02040502050405020303" pitchFamily="18" charset="0"/>
              </a:rPr>
              <a:t>Audit logs</a:t>
            </a:r>
          </a:p>
          <a:p>
            <a:pPr marL="285750" indent="-285750">
              <a:buFont typeface="Arial" panose="020B0604020202020204" pitchFamily="34" charset="0"/>
              <a:buChar char="•"/>
            </a:pPr>
            <a:r>
              <a:rPr lang="en-US" sz="1600" dirty="0">
                <a:latin typeface="Georgia" panose="02040502050405020303" pitchFamily="18" charset="0"/>
              </a:rPr>
              <a:t>Application </a:t>
            </a:r>
            <a:endParaRPr lang="en-ID" sz="1600" dirty="0">
              <a:latin typeface="Georgia" panose="02040502050405020303" pitchFamily="18" charset="0"/>
            </a:endParaRPr>
          </a:p>
        </p:txBody>
      </p:sp>
    </p:spTree>
    <p:extLst>
      <p:ext uri="{BB962C8B-B14F-4D97-AF65-F5344CB8AC3E}">
        <p14:creationId xmlns:p14="http://schemas.microsoft.com/office/powerpoint/2010/main" val="27621563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FF97E-DC1E-38B8-EA01-E3A3D46B5792}"/>
              </a:ext>
            </a:extLst>
          </p:cNvPr>
          <p:cNvSpPr>
            <a:spLocks noGrp="1"/>
          </p:cNvSpPr>
          <p:nvPr>
            <p:ph type="title"/>
          </p:nvPr>
        </p:nvSpPr>
        <p:spPr/>
        <p:txBody>
          <a:bodyPr/>
          <a:lstStyle/>
          <a:p>
            <a:r>
              <a:rPr lang="en-ID" dirty="0"/>
              <a:t>Determine the Time Zone </a:t>
            </a:r>
          </a:p>
        </p:txBody>
      </p:sp>
      <p:sp>
        <p:nvSpPr>
          <p:cNvPr id="3" name="Content Placeholder 2">
            <a:extLst>
              <a:ext uri="{FF2B5EF4-FFF2-40B4-BE49-F238E27FC236}">
                <a16:creationId xmlns:a16="http://schemas.microsoft.com/office/drawing/2014/main" id="{97B75685-1F79-A031-30EE-ACF89BEFC690}"/>
              </a:ext>
            </a:extLst>
          </p:cNvPr>
          <p:cNvSpPr>
            <a:spLocks noGrp="1"/>
          </p:cNvSpPr>
          <p:nvPr>
            <p:ph idx="1"/>
          </p:nvPr>
        </p:nvSpPr>
        <p:spPr/>
        <p:txBody>
          <a:bodyPr/>
          <a:lstStyle/>
          <a:p>
            <a:r>
              <a:rPr lang="en-US" dirty="0"/>
              <a:t>Most logs in Linux are stored in local time</a:t>
            </a:r>
          </a:p>
          <a:p>
            <a:r>
              <a:rPr lang="en-US" dirty="0"/>
              <a:t>For most Linux distros, the </a:t>
            </a:r>
            <a:r>
              <a:rPr lang="en-US" dirty="0" err="1"/>
              <a:t>symlink</a:t>
            </a:r>
            <a:r>
              <a:rPr lang="en-US" dirty="0"/>
              <a:t> at </a:t>
            </a:r>
          </a:p>
          <a:p>
            <a:pPr marL="0" indent="0">
              <a:buNone/>
            </a:pPr>
            <a:r>
              <a:rPr lang="en-US" dirty="0"/>
              <a:t>/</a:t>
            </a:r>
            <a:r>
              <a:rPr lang="en-US" dirty="0" err="1"/>
              <a:t>etc</a:t>
            </a:r>
            <a:r>
              <a:rPr lang="en-US" dirty="0"/>
              <a:t>/</a:t>
            </a:r>
            <a:r>
              <a:rPr lang="en-US" dirty="0" err="1"/>
              <a:t>localtime</a:t>
            </a:r>
            <a:r>
              <a:rPr lang="en-US" dirty="0"/>
              <a:t> points to the time zone </a:t>
            </a:r>
          </a:p>
          <a:p>
            <a:r>
              <a:rPr lang="en-US" dirty="0"/>
              <a:t>For Debian distros, the contents of </a:t>
            </a:r>
          </a:p>
          <a:p>
            <a:pPr marL="0" indent="0">
              <a:buNone/>
            </a:pPr>
            <a:r>
              <a:rPr lang="en-US" dirty="0"/>
              <a:t>/</a:t>
            </a:r>
            <a:r>
              <a:rPr lang="en-US" dirty="0" err="1"/>
              <a:t>etc</a:t>
            </a:r>
            <a:r>
              <a:rPr lang="en-US" dirty="0"/>
              <a:t>/</a:t>
            </a:r>
            <a:r>
              <a:rPr lang="en-US" dirty="0" err="1"/>
              <a:t>timezone</a:t>
            </a:r>
            <a:r>
              <a:rPr lang="en-US" dirty="0"/>
              <a:t> also provides the time zone</a:t>
            </a:r>
            <a:endParaRPr lang="en-ID" dirty="0"/>
          </a:p>
          <a:p>
            <a:endParaRPr lang="en-ID" dirty="0"/>
          </a:p>
        </p:txBody>
      </p:sp>
      <p:pic>
        <p:nvPicPr>
          <p:cNvPr id="4" name="image179.jpeg">
            <a:extLst>
              <a:ext uri="{FF2B5EF4-FFF2-40B4-BE49-F238E27FC236}">
                <a16:creationId xmlns:a16="http://schemas.microsoft.com/office/drawing/2014/main" id="{8BD1D8B1-2E88-EA81-4939-A78C17CFF168}"/>
              </a:ext>
            </a:extLst>
          </p:cNvPr>
          <p:cNvPicPr>
            <a:picLocks noChangeAspect="1"/>
          </p:cNvPicPr>
          <p:nvPr/>
        </p:nvPicPr>
        <p:blipFill>
          <a:blip r:embed="rId2" cstate="print"/>
          <a:stretch>
            <a:fillRect/>
          </a:stretch>
        </p:blipFill>
        <p:spPr>
          <a:xfrm>
            <a:off x="704776" y="4915122"/>
            <a:ext cx="10459737" cy="1065266"/>
          </a:xfrm>
          <a:prstGeom prst="rect">
            <a:avLst/>
          </a:prstGeom>
        </p:spPr>
      </p:pic>
    </p:spTree>
    <p:extLst>
      <p:ext uri="{BB962C8B-B14F-4D97-AF65-F5344CB8AC3E}">
        <p14:creationId xmlns:p14="http://schemas.microsoft.com/office/powerpoint/2010/main" val="5569273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5D0E83-9298-C124-79E3-56AABBBAA053}"/>
              </a:ext>
            </a:extLst>
          </p:cNvPr>
          <p:cNvSpPr>
            <a:spLocks noGrp="1"/>
          </p:cNvSpPr>
          <p:nvPr>
            <p:ph type="title"/>
          </p:nvPr>
        </p:nvSpPr>
        <p:spPr/>
        <p:txBody>
          <a:bodyPr/>
          <a:lstStyle/>
          <a:p>
            <a:r>
              <a:rPr lang="en-US" b="1" spc="80" dirty="0"/>
              <a:t>Common Logs and Locations</a:t>
            </a:r>
            <a:endParaRPr lang="en-ID" b="1" dirty="0"/>
          </a:p>
        </p:txBody>
      </p:sp>
      <p:sp>
        <p:nvSpPr>
          <p:cNvPr id="5" name="Text Placeholder 4">
            <a:extLst>
              <a:ext uri="{FF2B5EF4-FFF2-40B4-BE49-F238E27FC236}">
                <a16:creationId xmlns:a16="http://schemas.microsoft.com/office/drawing/2014/main" id="{8A90D7DF-513D-C90D-A298-61C02025A203}"/>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073962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95FB-2D04-72A2-2EBE-EF54B5068FC3}"/>
              </a:ext>
            </a:extLst>
          </p:cNvPr>
          <p:cNvSpPr>
            <a:spLocks noGrp="1"/>
          </p:cNvSpPr>
          <p:nvPr>
            <p:ph type="title"/>
          </p:nvPr>
        </p:nvSpPr>
        <p:spPr/>
        <p:txBody>
          <a:bodyPr/>
          <a:lstStyle/>
          <a:p>
            <a:r>
              <a:rPr lang="en-ID" dirty="0"/>
              <a:t>Global System Log (1) </a:t>
            </a:r>
          </a:p>
        </p:txBody>
      </p:sp>
      <p:sp>
        <p:nvSpPr>
          <p:cNvPr id="3" name="Content Placeholder 2">
            <a:extLst>
              <a:ext uri="{FF2B5EF4-FFF2-40B4-BE49-F238E27FC236}">
                <a16:creationId xmlns:a16="http://schemas.microsoft.com/office/drawing/2014/main" id="{2ECF147A-622E-A1A9-6499-6FF8EC6ABF71}"/>
              </a:ext>
            </a:extLst>
          </p:cNvPr>
          <p:cNvSpPr>
            <a:spLocks noGrp="1"/>
          </p:cNvSpPr>
          <p:nvPr>
            <p:ph idx="1"/>
          </p:nvPr>
        </p:nvSpPr>
        <p:spPr/>
        <p:txBody>
          <a:bodyPr/>
          <a:lstStyle/>
          <a:p>
            <a:r>
              <a:rPr lang="en-ID" dirty="0"/>
              <a:t>/var/log/messages – CentOS/RHEL</a:t>
            </a:r>
          </a:p>
          <a:p>
            <a:r>
              <a:rPr lang="en-ID" dirty="0"/>
              <a:t>/var/log/syslog - Ubuntu </a:t>
            </a:r>
          </a:p>
          <a:p>
            <a:pPr marL="0" indent="0">
              <a:buNone/>
            </a:pPr>
            <a:r>
              <a:rPr lang="en-ID" dirty="0"/>
              <a:t>This file contains the messages logged during system startup, including data from </a:t>
            </a:r>
            <a:r>
              <a:rPr lang="en-ID" dirty="0" err="1"/>
              <a:t>cron</a:t>
            </a:r>
            <a:r>
              <a:rPr lang="en-ID" dirty="0"/>
              <a:t>, auth, mail etc. </a:t>
            </a:r>
          </a:p>
          <a:p>
            <a:r>
              <a:rPr lang="en-ID" dirty="0"/>
              <a:t>Often huge, very verbose</a:t>
            </a:r>
          </a:p>
          <a:p>
            <a:endParaRPr lang="en-ID" dirty="0"/>
          </a:p>
        </p:txBody>
      </p:sp>
      <p:pic>
        <p:nvPicPr>
          <p:cNvPr id="4" name="Picture 3">
            <a:extLst>
              <a:ext uri="{FF2B5EF4-FFF2-40B4-BE49-F238E27FC236}">
                <a16:creationId xmlns:a16="http://schemas.microsoft.com/office/drawing/2014/main" id="{8CA72A12-B764-C57C-E0F8-EAF0584913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9734" y="4318634"/>
            <a:ext cx="10892531" cy="185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4272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90BF-4B28-C83F-3376-858D53A72269}"/>
              </a:ext>
            </a:extLst>
          </p:cNvPr>
          <p:cNvSpPr>
            <a:spLocks noGrp="1"/>
          </p:cNvSpPr>
          <p:nvPr>
            <p:ph type="title"/>
          </p:nvPr>
        </p:nvSpPr>
        <p:spPr/>
        <p:txBody>
          <a:bodyPr/>
          <a:lstStyle/>
          <a:p>
            <a:r>
              <a:rPr lang="en-ID" dirty="0"/>
              <a:t>Global System Log (2) </a:t>
            </a:r>
          </a:p>
        </p:txBody>
      </p:sp>
      <p:sp>
        <p:nvSpPr>
          <p:cNvPr id="3" name="Content Placeholder 2">
            <a:extLst>
              <a:ext uri="{FF2B5EF4-FFF2-40B4-BE49-F238E27FC236}">
                <a16:creationId xmlns:a16="http://schemas.microsoft.com/office/drawing/2014/main" id="{1CF99C61-7FFC-C738-AD9D-0F7138CBD7F8}"/>
              </a:ext>
            </a:extLst>
          </p:cNvPr>
          <p:cNvSpPr>
            <a:spLocks noGrp="1"/>
          </p:cNvSpPr>
          <p:nvPr>
            <p:ph idx="1"/>
          </p:nvPr>
        </p:nvSpPr>
        <p:spPr/>
        <p:txBody>
          <a:bodyPr/>
          <a:lstStyle/>
          <a:p>
            <a:r>
              <a:rPr lang="en-US" sz="2000" dirty="0"/>
              <a:t>Often, “grep” is the best tool to carve out important events.</a:t>
            </a:r>
          </a:p>
          <a:p>
            <a:r>
              <a:rPr lang="en-US" sz="2000" dirty="0"/>
              <a:t>For example, grepping for “root” to find privileged events.</a:t>
            </a:r>
          </a:p>
          <a:p>
            <a:endParaRPr lang="en-US" sz="2000" dirty="0"/>
          </a:p>
          <a:p>
            <a:endParaRPr lang="en-US" sz="2000" dirty="0"/>
          </a:p>
          <a:p>
            <a:r>
              <a:rPr lang="en-US" sz="2000" dirty="0"/>
              <a:t>Common IR search strings include</a:t>
            </a:r>
          </a:p>
          <a:p>
            <a:pPr lvl="1"/>
            <a:r>
              <a:rPr lang="en-US" sz="1800" dirty="0"/>
              <a:t>root</a:t>
            </a:r>
          </a:p>
          <a:p>
            <a:pPr lvl="1"/>
            <a:r>
              <a:rPr lang="en-US" sz="1800" dirty="0"/>
              <a:t>CMD</a:t>
            </a:r>
          </a:p>
          <a:p>
            <a:pPr lvl="1"/>
            <a:r>
              <a:rPr lang="en-US" sz="1800" dirty="0" err="1"/>
              <a:t>Usb</a:t>
            </a:r>
            <a:endParaRPr lang="en-US" sz="1800" dirty="0"/>
          </a:p>
          <a:p>
            <a:r>
              <a:rPr lang="en-US" sz="2000" dirty="0"/>
              <a:t>CentOS only – search for </a:t>
            </a:r>
            <a:r>
              <a:rPr lang="en-US" sz="2000" dirty="0" err="1"/>
              <a:t>su</a:t>
            </a:r>
            <a:r>
              <a:rPr lang="en-US" sz="2000" dirty="0"/>
              <a:t> use:</a:t>
            </a:r>
            <a:endParaRPr lang="en-ID" sz="2000" dirty="0"/>
          </a:p>
          <a:p>
            <a:endParaRPr lang="en-ID" dirty="0"/>
          </a:p>
        </p:txBody>
      </p:sp>
      <p:pic>
        <p:nvPicPr>
          <p:cNvPr id="4" name="Picture 3">
            <a:extLst>
              <a:ext uri="{FF2B5EF4-FFF2-40B4-BE49-F238E27FC236}">
                <a16:creationId xmlns:a16="http://schemas.microsoft.com/office/drawing/2014/main" id="{6ED3358D-5759-7CD6-A4C6-7C1A1357FBDC}"/>
              </a:ext>
            </a:extLst>
          </p:cNvPr>
          <p:cNvPicPr>
            <a:picLocks noChangeAspect="1"/>
          </p:cNvPicPr>
          <p:nvPr/>
        </p:nvPicPr>
        <p:blipFill>
          <a:blip r:embed="rId2"/>
          <a:stretch>
            <a:fillRect/>
          </a:stretch>
        </p:blipFill>
        <p:spPr>
          <a:xfrm>
            <a:off x="998691" y="2567883"/>
            <a:ext cx="9359671" cy="872980"/>
          </a:xfrm>
          <a:prstGeom prst="rect">
            <a:avLst/>
          </a:prstGeom>
        </p:spPr>
      </p:pic>
      <p:pic>
        <p:nvPicPr>
          <p:cNvPr id="5" name="Picture 4">
            <a:extLst>
              <a:ext uri="{FF2B5EF4-FFF2-40B4-BE49-F238E27FC236}">
                <a16:creationId xmlns:a16="http://schemas.microsoft.com/office/drawing/2014/main" id="{CD0BC20D-DD91-4004-1E48-1A652FC734E7}"/>
              </a:ext>
            </a:extLst>
          </p:cNvPr>
          <p:cNvPicPr>
            <a:picLocks noChangeAspect="1"/>
          </p:cNvPicPr>
          <p:nvPr/>
        </p:nvPicPr>
        <p:blipFill>
          <a:blip r:embed="rId3"/>
          <a:stretch>
            <a:fillRect/>
          </a:stretch>
        </p:blipFill>
        <p:spPr>
          <a:xfrm>
            <a:off x="998691" y="5161743"/>
            <a:ext cx="9037938" cy="1015220"/>
          </a:xfrm>
          <a:prstGeom prst="rect">
            <a:avLst/>
          </a:prstGeom>
        </p:spPr>
      </p:pic>
    </p:spTree>
    <p:extLst>
      <p:ext uri="{BB962C8B-B14F-4D97-AF65-F5344CB8AC3E}">
        <p14:creationId xmlns:p14="http://schemas.microsoft.com/office/powerpoint/2010/main" val="30463014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553FA-2FD5-1FE5-9CC8-8F5A32E79562}"/>
              </a:ext>
            </a:extLst>
          </p:cNvPr>
          <p:cNvSpPr>
            <a:spLocks noGrp="1"/>
          </p:cNvSpPr>
          <p:nvPr>
            <p:ph type="title"/>
          </p:nvPr>
        </p:nvSpPr>
        <p:spPr/>
        <p:txBody>
          <a:bodyPr/>
          <a:lstStyle/>
          <a:p>
            <a:r>
              <a:rPr lang="en-ID" dirty="0"/>
              <a:t>Authentication and Authorization Logs </a:t>
            </a:r>
          </a:p>
        </p:txBody>
      </p:sp>
      <p:sp>
        <p:nvSpPr>
          <p:cNvPr id="3" name="Content Placeholder 2">
            <a:extLst>
              <a:ext uri="{FF2B5EF4-FFF2-40B4-BE49-F238E27FC236}">
                <a16:creationId xmlns:a16="http://schemas.microsoft.com/office/drawing/2014/main" id="{BB0DBF4C-8D3C-2F5D-F38D-870277C6DC2B}"/>
              </a:ext>
            </a:extLst>
          </p:cNvPr>
          <p:cNvSpPr>
            <a:spLocks noGrp="1"/>
          </p:cNvSpPr>
          <p:nvPr>
            <p:ph idx="1"/>
          </p:nvPr>
        </p:nvSpPr>
        <p:spPr/>
        <p:txBody>
          <a:bodyPr/>
          <a:lstStyle/>
          <a:p>
            <a:endParaRPr lang="en-ID" dirty="0"/>
          </a:p>
        </p:txBody>
      </p:sp>
      <p:sp>
        <p:nvSpPr>
          <p:cNvPr id="4" name="Rectangle: Rounded Corners 3">
            <a:extLst>
              <a:ext uri="{FF2B5EF4-FFF2-40B4-BE49-F238E27FC236}">
                <a16:creationId xmlns:a16="http://schemas.microsoft.com/office/drawing/2014/main" id="{987E889D-9E4E-5901-06C7-7BAAFC9739DA}"/>
              </a:ext>
            </a:extLst>
          </p:cNvPr>
          <p:cNvSpPr/>
          <p:nvPr/>
        </p:nvSpPr>
        <p:spPr>
          <a:xfrm>
            <a:off x="838200" y="1786955"/>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Most distros capture account – use data by default</a:t>
            </a:r>
            <a:endParaRPr lang="en-ID" sz="2000" dirty="0">
              <a:latin typeface="Georgia" panose="02040502050405020303" pitchFamily="18" charset="0"/>
            </a:endParaRPr>
          </a:p>
        </p:txBody>
      </p:sp>
      <p:sp>
        <p:nvSpPr>
          <p:cNvPr id="5" name="Rectangle: Rounded Corners 4">
            <a:extLst>
              <a:ext uri="{FF2B5EF4-FFF2-40B4-BE49-F238E27FC236}">
                <a16:creationId xmlns:a16="http://schemas.microsoft.com/office/drawing/2014/main" id="{691296BA-1E1B-0186-D355-F221C9CA91D5}"/>
              </a:ext>
            </a:extLst>
          </p:cNvPr>
          <p:cNvSpPr/>
          <p:nvPr/>
        </p:nvSpPr>
        <p:spPr>
          <a:xfrm>
            <a:off x="838200" y="2999273"/>
            <a:ext cx="10012062" cy="1495280"/>
          </a:xfrm>
          <a:prstGeom prst="round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000" dirty="0">
                <a:latin typeface="Georgia" panose="02040502050405020303" pitchFamily="18" charset="0"/>
              </a:rPr>
              <a:t>Timestamp</a:t>
            </a:r>
          </a:p>
          <a:p>
            <a:pPr marL="285750" indent="-285750">
              <a:buFont typeface="Arial" panose="020B0604020202020204" pitchFamily="34" charset="0"/>
              <a:buChar char="•"/>
            </a:pPr>
            <a:r>
              <a:rPr lang="en-US" sz="2000" dirty="0">
                <a:latin typeface="Georgia" panose="02040502050405020303" pitchFamily="18" charset="0"/>
              </a:rPr>
              <a:t>Username</a:t>
            </a:r>
          </a:p>
          <a:p>
            <a:pPr marL="285750" indent="-285750">
              <a:buFont typeface="Arial" panose="020B0604020202020204" pitchFamily="34" charset="0"/>
              <a:buChar char="•"/>
            </a:pPr>
            <a:r>
              <a:rPr lang="en-US" sz="2000" dirty="0">
                <a:latin typeface="Georgia" panose="02040502050405020303" pitchFamily="18" charset="0"/>
              </a:rPr>
              <a:t>Login source</a:t>
            </a:r>
          </a:p>
          <a:p>
            <a:pPr marL="285750" indent="-285750">
              <a:buFont typeface="Arial" panose="020B0604020202020204" pitchFamily="34" charset="0"/>
              <a:buChar char="•"/>
            </a:pPr>
            <a:r>
              <a:rPr lang="en-US" sz="2000" dirty="0">
                <a:latin typeface="Georgia" panose="02040502050405020303" pitchFamily="18" charset="0"/>
              </a:rPr>
              <a:t>Authentication mechanism</a:t>
            </a:r>
            <a:endParaRPr lang="en-ID" sz="20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74B11553-2330-D791-A65A-58FAB61C39D8}"/>
              </a:ext>
            </a:extLst>
          </p:cNvPr>
          <p:cNvSpPr/>
          <p:nvPr/>
        </p:nvSpPr>
        <p:spPr>
          <a:xfrm>
            <a:off x="838200" y="2379685"/>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Data includes</a:t>
            </a:r>
            <a:endParaRPr lang="en-ID" sz="20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CBB682D5-9016-5ACC-4F72-5FB7B5A61315}"/>
              </a:ext>
            </a:extLst>
          </p:cNvPr>
          <p:cNvSpPr/>
          <p:nvPr/>
        </p:nvSpPr>
        <p:spPr>
          <a:xfrm>
            <a:off x="838200" y="4617012"/>
            <a:ext cx="10012062" cy="535092"/>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Authentication logs can be plain text, but most are binary.</a:t>
            </a:r>
            <a:endParaRPr lang="en-ID" sz="2000" dirty="0">
              <a:latin typeface="Georgia" panose="02040502050405020303" pitchFamily="18" charset="0"/>
            </a:endParaRPr>
          </a:p>
        </p:txBody>
      </p:sp>
      <p:sp>
        <p:nvSpPr>
          <p:cNvPr id="8" name="Rectangle: Rounded Corners 7">
            <a:extLst>
              <a:ext uri="{FF2B5EF4-FFF2-40B4-BE49-F238E27FC236}">
                <a16:creationId xmlns:a16="http://schemas.microsoft.com/office/drawing/2014/main" id="{2E4FD012-0B34-7F53-328D-48CA76B9918F}"/>
              </a:ext>
            </a:extLst>
          </p:cNvPr>
          <p:cNvSpPr/>
          <p:nvPr/>
        </p:nvSpPr>
        <p:spPr>
          <a:xfrm>
            <a:off x="838200" y="5244275"/>
            <a:ext cx="10012062" cy="998004"/>
          </a:xfrm>
          <a:prstGeom prst="round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marL="342900" indent="-342900">
              <a:buFont typeface="Arial" panose="020B0604020202020204" pitchFamily="34" charset="0"/>
              <a:buChar char="•"/>
            </a:pPr>
            <a:r>
              <a:rPr lang="en-US" sz="2000" dirty="0" err="1">
                <a:latin typeface="Georgia" panose="02040502050405020303" pitchFamily="18" charset="0"/>
              </a:rPr>
              <a:t>utmp</a:t>
            </a:r>
            <a:r>
              <a:rPr lang="en-US" sz="2000" dirty="0">
                <a:latin typeface="Georgia" panose="02040502050405020303" pitchFamily="18" charset="0"/>
              </a:rPr>
              <a:t> I </a:t>
            </a:r>
            <a:r>
              <a:rPr lang="en-US" sz="2000" dirty="0" err="1">
                <a:latin typeface="Georgia" panose="02040502050405020303" pitchFamily="18" charset="0"/>
              </a:rPr>
              <a:t>wtmp</a:t>
            </a:r>
            <a:r>
              <a:rPr lang="en-US" sz="2000" dirty="0">
                <a:latin typeface="Georgia" panose="02040502050405020303" pitchFamily="18" charset="0"/>
              </a:rPr>
              <a:t> I </a:t>
            </a:r>
            <a:r>
              <a:rPr lang="en-US" sz="2000" dirty="0" err="1">
                <a:latin typeface="Georgia" panose="02040502050405020303" pitchFamily="18" charset="0"/>
              </a:rPr>
              <a:t>btmp</a:t>
            </a:r>
            <a:r>
              <a:rPr lang="en-US" sz="2000" dirty="0">
                <a:latin typeface="Georgia" panose="02040502050405020303" pitchFamily="18" charset="0"/>
              </a:rPr>
              <a:t> are binary</a:t>
            </a:r>
          </a:p>
          <a:p>
            <a:pPr marL="342900" indent="-342900">
              <a:buFont typeface="Arial" panose="020B0604020202020204" pitchFamily="34" charset="0"/>
              <a:buChar char="•"/>
            </a:pPr>
            <a:r>
              <a:rPr lang="en-US" sz="2000" dirty="0">
                <a:latin typeface="Georgia" panose="02040502050405020303" pitchFamily="18" charset="0"/>
              </a:rPr>
              <a:t>auth.log and secure are plain text</a:t>
            </a:r>
            <a:endParaRPr lang="en-ID" sz="2000" dirty="0">
              <a:latin typeface="Georgia" panose="02040502050405020303" pitchFamily="18" charset="0"/>
            </a:endParaRPr>
          </a:p>
        </p:txBody>
      </p:sp>
    </p:spTree>
    <p:extLst>
      <p:ext uri="{BB962C8B-B14F-4D97-AF65-F5344CB8AC3E}">
        <p14:creationId xmlns:p14="http://schemas.microsoft.com/office/powerpoint/2010/main" val="241069291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290FE-CD5D-4BDE-B620-FA97CC911034}"/>
              </a:ext>
            </a:extLst>
          </p:cNvPr>
          <p:cNvSpPr>
            <a:spLocks noGrp="1"/>
          </p:cNvSpPr>
          <p:nvPr>
            <p:ph type="title"/>
          </p:nvPr>
        </p:nvSpPr>
        <p:spPr/>
        <p:txBody>
          <a:bodyPr/>
          <a:lstStyle/>
          <a:p>
            <a:r>
              <a:rPr lang="en-ID" dirty="0"/>
              <a:t>Authorization and Privilege Use </a:t>
            </a:r>
          </a:p>
        </p:txBody>
      </p:sp>
      <p:sp>
        <p:nvSpPr>
          <p:cNvPr id="3" name="Content Placeholder 2">
            <a:extLst>
              <a:ext uri="{FF2B5EF4-FFF2-40B4-BE49-F238E27FC236}">
                <a16:creationId xmlns:a16="http://schemas.microsoft.com/office/drawing/2014/main" id="{40D2CD6B-3537-58DF-71DE-167C90DD171B}"/>
              </a:ext>
            </a:extLst>
          </p:cNvPr>
          <p:cNvSpPr>
            <a:spLocks noGrp="1"/>
          </p:cNvSpPr>
          <p:nvPr>
            <p:ph idx="1"/>
          </p:nvPr>
        </p:nvSpPr>
        <p:spPr/>
        <p:txBody>
          <a:bodyPr>
            <a:normAutofit/>
          </a:bodyPr>
          <a:lstStyle/>
          <a:p>
            <a:r>
              <a:rPr lang="en-ID" sz="2400" dirty="0"/>
              <a:t>/var/log/secure – CentOS/RHEL</a:t>
            </a:r>
          </a:p>
          <a:p>
            <a:r>
              <a:rPr lang="en-ID" sz="2400" dirty="0"/>
              <a:t>/var/log/auth.log – Ubuntu</a:t>
            </a:r>
          </a:p>
          <a:p>
            <a:r>
              <a:rPr lang="en-ID" sz="2400" dirty="0"/>
              <a:t>Contains data on user login and privilege use</a:t>
            </a:r>
          </a:p>
          <a:p>
            <a:r>
              <a:rPr lang="en-ID" sz="2400" dirty="0"/>
              <a:t>Example – using </a:t>
            </a:r>
            <a:r>
              <a:rPr lang="en-ID" sz="2400" dirty="0" err="1"/>
              <a:t>sudo</a:t>
            </a:r>
            <a:r>
              <a:rPr lang="en-ID" sz="2400" dirty="0"/>
              <a:t> to install a package (Ubuntu)</a:t>
            </a:r>
          </a:p>
          <a:p>
            <a:pPr marL="0" indent="0">
              <a:buNone/>
            </a:pPr>
            <a:endParaRPr lang="en-ID" sz="2400" dirty="0"/>
          </a:p>
          <a:p>
            <a:endParaRPr lang="en-ID" sz="2400" dirty="0"/>
          </a:p>
          <a:p>
            <a:r>
              <a:rPr lang="en-US" sz="2400" dirty="0"/>
              <a:t>Example – root adding new user account (CentOS) </a:t>
            </a:r>
            <a:endParaRPr lang="en-ID" sz="2400" dirty="0"/>
          </a:p>
          <a:p>
            <a:endParaRPr lang="en-ID" sz="2400" dirty="0"/>
          </a:p>
        </p:txBody>
      </p:sp>
      <p:pic>
        <p:nvPicPr>
          <p:cNvPr id="4" name="image183.png">
            <a:extLst>
              <a:ext uri="{FF2B5EF4-FFF2-40B4-BE49-F238E27FC236}">
                <a16:creationId xmlns:a16="http://schemas.microsoft.com/office/drawing/2014/main" id="{D3242810-A867-F22E-CB88-3E08F208928B}"/>
              </a:ext>
            </a:extLst>
          </p:cNvPr>
          <p:cNvPicPr>
            <a:picLocks noChangeAspect="1"/>
          </p:cNvPicPr>
          <p:nvPr/>
        </p:nvPicPr>
        <p:blipFill>
          <a:blip r:embed="rId2" cstate="print"/>
          <a:stretch>
            <a:fillRect/>
          </a:stretch>
        </p:blipFill>
        <p:spPr>
          <a:xfrm>
            <a:off x="618797" y="3696787"/>
            <a:ext cx="11370276" cy="780625"/>
          </a:xfrm>
          <a:prstGeom prst="rect">
            <a:avLst/>
          </a:prstGeom>
        </p:spPr>
      </p:pic>
      <p:pic>
        <p:nvPicPr>
          <p:cNvPr id="5" name="image184.png">
            <a:extLst>
              <a:ext uri="{FF2B5EF4-FFF2-40B4-BE49-F238E27FC236}">
                <a16:creationId xmlns:a16="http://schemas.microsoft.com/office/drawing/2014/main" id="{FA278CF0-4BDC-C055-856F-21C2FAA6D60D}"/>
              </a:ext>
            </a:extLst>
          </p:cNvPr>
          <p:cNvPicPr>
            <a:picLocks noChangeAspect="1"/>
          </p:cNvPicPr>
          <p:nvPr/>
        </p:nvPicPr>
        <p:blipFill>
          <a:blip r:embed="rId3" cstate="print"/>
          <a:stretch>
            <a:fillRect/>
          </a:stretch>
        </p:blipFill>
        <p:spPr>
          <a:xfrm>
            <a:off x="618797" y="5086095"/>
            <a:ext cx="11002105" cy="780625"/>
          </a:xfrm>
          <a:prstGeom prst="rect">
            <a:avLst/>
          </a:prstGeom>
        </p:spPr>
      </p:pic>
    </p:spTree>
    <p:extLst>
      <p:ext uri="{BB962C8B-B14F-4D97-AF65-F5344CB8AC3E}">
        <p14:creationId xmlns:p14="http://schemas.microsoft.com/office/powerpoint/2010/main" val="13213417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6FD0-FC78-A32E-F314-4A7261D49647}"/>
              </a:ext>
            </a:extLst>
          </p:cNvPr>
          <p:cNvSpPr>
            <a:spLocks noGrp="1"/>
          </p:cNvSpPr>
          <p:nvPr>
            <p:ph type="title"/>
          </p:nvPr>
        </p:nvSpPr>
        <p:spPr/>
        <p:txBody>
          <a:bodyPr/>
          <a:lstStyle/>
          <a:p>
            <a:r>
              <a:rPr lang="en-ID" dirty="0"/>
              <a:t>Binary Login Logs </a:t>
            </a:r>
          </a:p>
        </p:txBody>
      </p:sp>
      <p:sp>
        <p:nvSpPr>
          <p:cNvPr id="3" name="Content Placeholder 2">
            <a:extLst>
              <a:ext uri="{FF2B5EF4-FFF2-40B4-BE49-F238E27FC236}">
                <a16:creationId xmlns:a16="http://schemas.microsoft.com/office/drawing/2014/main" id="{5F46E205-A445-6675-C3A5-6BB27F5585EB}"/>
              </a:ext>
            </a:extLst>
          </p:cNvPr>
          <p:cNvSpPr>
            <a:spLocks noGrp="1"/>
          </p:cNvSpPr>
          <p:nvPr>
            <p:ph idx="1"/>
          </p:nvPr>
        </p:nvSpPr>
        <p:spPr/>
        <p:txBody>
          <a:bodyPr/>
          <a:lstStyle/>
          <a:p>
            <a:endParaRPr lang="en-ID" dirty="0"/>
          </a:p>
        </p:txBody>
      </p:sp>
      <p:sp>
        <p:nvSpPr>
          <p:cNvPr id="4" name="Rectangle: Rounded Corners 3">
            <a:extLst>
              <a:ext uri="{FF2B5EF4-FFF2-40B4-BE49-F238E27FC236}">
                <a16:creationId xmlns:a16="http://schemas.microsoft.com/office/drawing/2014/main" id="{3B4B56E8-61AE-13C9-4D35-5CBD03830A4D}"/>
              </a:ext>
            </a:extLst>
          </p:cNvPr>
          <p:cNvSpPr/>
          <p:nvPr/>
        </p:nvSpPr>
        <p:spPr>
          <a:xfrm>
            <a:off x="838200" y="2745509"/>
            <a:ext cx="10012062" cy="2638280"/>
          </a:xfrm>
          <a:prstGeom prst="roundRect">
            <a:avLst/>
          </a:prstGeom>
          <a:ln>
            <a:solidFill>
              <a:srgbClr val="002060"/>
            </a:solid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Arial" panose="020B0604020202020204" pitchFamily="34" charset="0"/>
              <a:buChar char="•"/>
            </a:pPr>
            <a:r>
              <a:rPr lang="en-US" sz="2400" dirty="0">
                <a:latin typeface="Georgia" panose="02040502050405020303" pitchFamily="18" charset="0"/>
              </a:rPr>
              <a:t>/var/</a:t>
            </a:r>
            <a:r>
              <a:rPr lang="en-US" sz="2400" b="1" dirty="0">
                <a:latin typeface="Georgia" panose="02040502050405020303" pitchFamily="18" charset="0"/>
              </a:rPr>
              <a:t>run</a:t>
            </a:r>
            <a:r>
              <a:rPr lang="en-US" sz="2400" dirty="0">
                <a:latin typeface="Georgia" panose="02040502050405020303" pitchFamily="18" charset="0"/>
              </a:rPr>
              <a:t>/</a:t>
            </a:r>
            <a:r>
              <a:rPr lang="en-US" sz="2400" dirty="0" err="1">
                <a:latin typeface="Georgia" panose="02040502050405020303" pitchFamily="18" charset="0"/>
              </a:rPr>
              <a:t>utmp</a:t>
            </a:r>
            <a:endParaRPr lang="en-US" sz="2400" dirty="0">
              <a:latin typeface="Georgia" panose="02040502050405020303" pitchFamily="18" charset="0"/>
            </a:endParaRPr>
          </a:p>
          <a:p>
            <a:pPr marL="742950" lvl="1" indent="-285750">
              <a:buFont typeface="Arial" panose="020B0604020202020204" pitchFamily="34" charset="0"/>
              <a:buChar char="•"/>
            </a:pPr>
            <a:r>
              <a:rPr lang="en-ID" sz="2400" dirty="0">
                <a:latin typeface="Georgia" panose="02040502050405020303" pitchFamily="18" charset="0"/>
              </a:rPr>
              <a:t>Users/sessions currently logged in. Data is written to </a:t>
            </a:r>
            <a:r>
              <a:rPr lang="en-ID" sz="2400" dirty="0" err="1">
                <a:latin typeface="Georgia" panose="02040502050405020303" pitchFamily="18" charset="0"/>
              </a:rPr>
              <a:t>wtmp</a:t>
            </a:r>
            <a:r>
              <a:rPr lang="en-ID" sz="2400" dirty="0">
                <a:latin typeface="Georgia" panose="02040502050405020303" pitchFamily="18" charset="0"/>
              </a:rPr>
              <a:t> on system shutdown/reboot.</a:t>
            </a:r>
          </a:p>
          <a:p>
            <a:pPr marL="285750" indent="-285750">
              <a:buFont typeface="Arial" panose="020B0604020202020204" pitchFamily="34" charset="0"/>
              <a:buChar char="•"/>
            </a:pPr>
            <a:r>
              <a:rPr lang="en-ID" sz="2400" dirty="0">
                <a:latin typeface="Georgia" panose="02040502050405020303" pitchFamily="18" charset="0"/>
              </a:rPr>
              <a:t>/var/log/</a:t>
            </a:r>
            <a:r>
              <a:rPr lang="en-ID" sz="2400" dirty="0" err="1">
                <a:latin typeface="Georgia" panose="02040502050405020303" pitchFamily="18" charset="0"/>
              </a:rPr>
              <a:t>wtmp</a:t>
            </a:r>
            <a:endParaRPr lang="en-ID" sz="2400" dirty="0">
              <a:latin typeface="Georgia" panose="02040502050405020303" pitchFamily="18" charset="0"/>
            </a:endParaRPr>
          </a:p>
          <a:p>
            <a:pPr marL="742950" lvl="1" indent="-285750">
              <a:buFont typeface="Arial" panose="020B0604020202020204" pitchFamily="34" charset="0"/>
              <a:buChar char="•"/>
            </a:pPr>
            <a:r>
              <a:rPr lang="en-ID" sz="2400" dirty="0">
                <a:latin typeface="Georgia" panose="02040502050405020303" pitchFamily="18" charset="0"/>
              </a:rPr>
              <a:t>Historical </a:t>
            </a:r>
            <a:r>
              <a:rPr lang="en-ID" sz="2400" dirty="0" err="1">
                <a:latin typeface="Georgia" panose="02040502050405020303" pitchFamily="18" charset="0"/>
              </a:rPr>
              <a:t>utmp</a:t>
            </a:r>
            <a:r>
              <a:rPr lang="en-ID" sz="2400" dirty="0">
                <a:latin typeface="Georgia" panose="02040502050405020303" pitchFamily="18" charset="0"/>
              </a:rPr>
              <a:t> data</a:t>
            </a:r>
          </a:p>
          <a:p>
            <a:pPr marL="285750" indent="-285750">
              <a:buFont typeface="Arial" panose="020B0604020202020204" pitchFamily="34" charset="0"/>
              <a:buChar char="•"/>
            </a:pPr>
            <a:r>
              <a:rPr lang="en-ID" sz="2400" dirty="0">
                <a:latin typeface="Georgia" panose="02040502050405020303" pitchFamily="18" charset="0"/>
              </a:rPr>
              <a:t>/var/log/</a:t>
            </a:r>
            <a:r>
              <a:rPr lang="en-ID" sz="2400" dirty="0" err="1">
                <a:latin typeface="Georgia" panose="02040502050405020303" pitchFamily="18" charset="0"/>
              </a:rPr>
              <a:t>btmp</a:t>
            </a:r>
            <a:endParaRPr lang="en-ID" sz="2400" dirty="0">
              <a:latin typeface="Georgia" panose="02040502050405020303" pitchFamily="18" charset="0"/>
            </a:endParaRPr>
          </a:p>
          <a:p>
            <a:pPr marL="742950" lvl="1" indent="-285750">
              <a:buFont typeface="Arial" panose="020B0604020202020204" pitchFamily="34" charset="0"/>
              <a:buChar char="•"/>
            </a:pPr>
            <a:r>
              <a:rPr lang="en-ID" sz="2400" dirty="0">
                <a:latin typeface="Georgia" panose="02040502050405020303" pitchFamily="18" charset="0"/>
              </a:rPr>
              <a:t>Failed login events</a:t>
            </a:r>
          </a:p>
        </p:txBody>
      </p:sp>
      <p:sp>
        <p:nvSpPr>
          <p:cNvPr id="5" name="Rectangle: Rounded Corners 4">
            <a:extLst>
              <a:ext uri="{FF2B5EF4-FFF2-40B4-BE49-F238E27FC236}">
                <a16:creationId xmlns:a16="http://schemas.microsoft.com/office/drawing/2014/main" id="{D25DAF36-9181-F4B8-07E8-BDD1AC909C4C}"/>
              </a:ext>
            </a:extLst>
          </p:cNvPr>
          <p:cNvSpPr/>
          <p:nvPr/>
        </p:nvSpPr>
        <p:spPr>
          <a:xfrm>
            <a:off x="838200" y="1851510"/>
            <a:ext cx="10012062" cy="793174"/>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latin typeface="Georgia" panose="02040502050405020303" pitchFamily="18" charset="0"/>
              </a:rPr>
              <a:t>Three main files</a:t>
            </a:r>
            <a:endParaRPr lang="en-ID" sz="2400" dirty="0">
              <a:latin typeface="Georgia" panose="02040502050405020303" pitchFamily="18" charset="0"/>
            </a:endParaRPr>
          </a:p>
        </p:txBody>
      </p:sp>
      <p:sp>
        <p:nvSpPr>
          <p:cNvPr id="6" name="Rectangle: Rounded Corners 5">
            <a:extLst>
              <a:ext uri="{FF2B5EF4-FFF2-40B4-BE49-F238E27FC236}">
                <a16:creationId xmlns:a16="http://schemas.microsoft.com/office/drawing/2014/main" id="{F4C4C2EA-EAF5-5379-696C-D9914A685522}"/>
              </a:ext>
            </a:extLst>
          </p:cNvPr>
          <p:cNvSpPr/>
          <p:nvPr/>
        </p:nvSpPr>
        <p:spPr>
          <a:xfrm>
            <a:off x="838200" y="5484614"/>
            <a:ext cx="10012062" cy="793174"/>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latin typeface="Georgia" panose="02040502050405020303" pitchFamily="18" charset="0"/>
              </a:rPr>
              <a:t>All are binary files</a:t>
            </a:r>
            <a:endParaRPr lang="en-ID" sz="2400" dirty="0">
              <a:latin typeface="Georgia" panose="02040502050405020303" pitchFamily="18" charset="0"/>
            </a:endParaRPr>
          </a:p>
        </p:txBody>
      </p:sp>
    </p:spTree>
    <p:extLst>
      <p:ext uri="{BB962C8B-B14F-4D97-AF65-F5344CB8AC3E}">
        <p14:creationId xmlns:p14="http://schemas.microsoft.com/office/powerpoint/2010/main" val="47488581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F612-CE76-97DB-CC56-8155E7F77046}"/>
              </a:ext>
            </a:extLst>
          </p:cNvPr>
          <p:cNvSpPr>
            <a:spLocks noGrp="1"/>
          </p:cNvSpPr>
          <p:nvPr>
            <p:ph type="title"/>
          </p:nvPr>
        </p:nvSpPr>
        <p:spPr/>
        <p:txBody>
          <a:bodyPr/>
          <a:lstStyle/>
          <a:p>
            <a:r>
              <a:rPr lang="en-ID" dirty="0"/>
              <a:t>Viewing Binary Login Files </a:t>
            </a:r>
          </a:p>
        </p:txBody>
      </p:sp>
      <p:sp>
        <p:nvSpPr>
          <p:cNvPr id="3" name="Content Placeholder 2">
            <a:extLst>
              <a:ext uri="{FF2B5EF4-FFF2-40B4-BE49-F238E27FC236}">
                <a16:creationId xmlns:a16="http://schemas.microsoft.com/office/drawing/2014/main" id="{F34A2ADD-E23D-DE31-B0DF-30F41C956B63}"/>
              </a:ext>
            </a:extLst>
          </p:cNvPr>
          <p:cNvSpPr>
            <a:spLocks noGrp="1"/>
          </p:cNvSpPr>
          <p:nvPr>
            <p:ph idx="1"/>
          </p:nvPr>
        </p:nvSpPr>
        <p:spPr/>
        <p:txBody>
          <a:bodyPr/>
          <a:lstStyle/>
          <a:p>
            <a:r>
              <a:rPr lang="en-US" dirty="0"/>
              <a:t>Using last</a:t>
            </a:r>
          </a:p>
          <a:p>
            <a:pPr marL="0" indent="0">
              <a:buNone/>
            </a:pPr>
            <a:endParaRPr lang="en-US" dirty="0"/>
          </a:p>
          <a:p>
            <a:pPr marL="0" indent="0">
              <a:buNone/>
            </a:pPr>
            <a:endParaRPr lang="en-US" dirty="0"/>
          </a:p>
          <a:p>
            <a:pPr marL="0" indent="0">
              <a:buNone/>
            </a:pPr>
            <a:endParaRPr lang="en-US" dirty="0"/>
          </a:p>
          <a:p>
            <a:r>
              <a:rPr lang="en-US" dirty="0"/>
              <a:t>Using </a:t>
            </a:r>
            <a:r>
              <a:rPr lang="en-US" dirty="0" err="1"/>
              <a:t>utmpdump</a:t>
            </a:r>
            <a:endParaRPr lang="en-US" dirty="0"/>
          </a:p>
          <a:p>
            <a:pPr marL="0" indent="0">
              <a:buNone/>
            </a:pPr>
            <a:endParaRPr lang="en-ID" dirty="0"/>
          </a:p>
          <a:p>
            <a:endParaRPr lang="en-ID" dirty="0"/>
          </a:p>
        </p:txBody>
      </p:sp>
      <p:pic>
        <p:nvPicPr>
          <p:cNvPr id="4" name="image185.png">
            <a:extLst>
              <a:ext uri="{FF2B5EF4-FFF2-40B4-BE49-F238E27FC236}">
                <a16:creationId xmlns:a16="http://schemas.microsoft.com/office/drawing/2014/main" id="{5AC58CE1-A6E8-45F8-6E6D-14C6863924E9}"/>
              </a:ext>
            </a:extLst>
          </p:cNvPr>
          <p:cNvPicPr>
            <a:picLocks noChangeAspect="1"/>
          </p:cNvPicPr>
          <p:nvPr/>
        </p:nvPicPr>
        <p:blipFill>
          <a:blip r:embed="rId2" cstate="print"/>
          <a:stretch>
            <a:fillRect/>
          </a:stretch>
        </p:blipFill>
        <p:spPr>
          <a:xfrm>
            <a:off x="838200" y="2439545"/>
            <a:ext cx="10260876" cy="1199405"/>
          </a:xfrm>
          <a:prstGeom prst="rect">
            <a:avLst/>
          </a:prstGeom>
        </p:spPr>
      </p:pic>
      <p:pic>
        <p:nvPicPr>
          <p:cNvPr id="5" name="image186.png">
            <a:extLst>
              <a:ext uri="{FF2B5EF4-FFF2-40B4-BE49-F238E27FC236}">
                <a16:creationId xmlns:a16="http://schemas.microsoft.com/office/drawing/2014/main" id="{1F88CB13-4D28-E485-6A5D-EA9554CF87D2}"/>
              </a:ext>
            </a:extLst>
          </p:cNvPr>
          <p:cNvPicPr>
            <a:picLocks noChangeAspect="1"/>
          </p:cNvPicPr>
          <p:nvPr/>
        </p:nvPicPr>
        <p:blipFill>
          <a:blip r:embed="rId3" cstate="print"/>
          <a:stretch>
            <a:fillRect/>
          </a:stretch>
        </p:blipFill>
        <p:spPr>
          <a:xfrm>
            <a:off x="859971" y="4419382"/>
            <a:ext cx="10068054" cy="1794544"/>
          </a:xfrm>
          <a:prstGeom prst="rect">
            <a:avLst/>
          </a:prstGeom>
        </p:spPr>
      </p:pic>
    </p:spTree>
    <p:extLst>
      <p:ext uri="{BB962C8B-B14F-4D97-AF65-F5344CB8AC3E}">
        <p14:creationId xmlns:p14="http://schemas.microsoft.com/office/powerpoint/2010/main" val="30722655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9DF9-132A-EA44-8996-FA7D4E8EA9C2}"/>
              </a:ext>
            </a:extLst>
          </p:cNvPr>
          <p:cNvSpPr>
            <a:spLocks noGrp="1"/>
          </p:cNvSpPr>
          <p:nvPr>
            <p:ph type="title"/>
          </p:nvPr>
        </p:nvSpPr>
        <p:spPr/>
        <p:txBody>
          <a:bodyPr/>
          <a:lstStyle/>
          <a:p>
            <a:r>
              <a:rPr lang="en-ID" dirty="0"/>
              <a:t>Logins: </a:t>
            </a:r>
            <a:r>
              <a:rPr lang="en-ID" dirty="0" err="1"/>
              <a:t>wtmp</a:t>
            </a:r>
            <a:r>
              <a:rPr lang="en-ID" dirty="0"/>
              <a:t> Analysis </a:t>
            </a:r>
          </a:p>
        </p:txBody>
      </p:sp>
      <p:pic>
        <p:nvPicPr>
          <p:cNvPr id="12" name="Content Placeholder 11">
            <a:extLst>
              <a:ext uri="{FF2B5EF4-FFF2-40B4-BE49-F238E27FC236}">
                <a16:creationId xmlns:a16="http://schemas.microsoft.com/office/drawing/2014/main" id="{0F6EFEF0-377E-534A-ADD7-CBF665B7EEE2}"/>
              </a:ext>
            </a:extLst>
          </p:cNvPr>
          <p:cNvPicPr>
            <a:picLocks noGrp="1" noChangeAspect="1"/>
          </p:cNvPicPr>
          <p:nvPr>
            <p:ph idx="1"/>
          </p:nvPr>
        </p:nvPicPr>
        <p:blipFill>
          <a:blip r:embed="rId2"/>
          <a:stretch>
            <a:fillRect/>
          </a:stretch>
        </p:blipFill>
        <p:spPr>
          <a:xfrm>
            <a:off x="1347107" y="1921877"/>
            <a:ext cx="9497786" cy="4151051"/>
          </a:xfrm>
          <a:prstGeom prst="rect">
            <a:avLst/>
          </a:prstGeom>
        </p:spPr>
      </p:pic>
    </p:spTree>
    <p:extLst>
      <p:ext uri="{BB962C8B-B14F-4D97-AF65-F5344CB8AC3E}">
        <p14:creationId xmlns:p14="http://schemas.microsoft.com/office/powerpoint/2010/main" val="6667030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1C7F-38C1-316E-8D9A-8AF4CC85C7CC}"/>
              </a:ext>
            </a:extLst>
          </p:cNvPr>
          <p:cNvSpPr>
            <a:spLocks noGrp="1"/>
          </p:cNvSpPr>
          <p:nvPr>
            <p:ph type="title"/>
          </p:nvPr>
        </p:nvSpPr>
        <p:spPr/>
        <p:txBody>
          <a:bodyPr/>
          <a:lstStyle/>
          <a:p>
            <a:r>
              <a:rPr lang="en-ID" dirty="0"/>
              <a:t>Logins: </a:t>
            </a:r>
            <a:r>
              <a:rPr lang="en-ID" dirty="0" err="1"/>
              <a:t>btmp</a:t>
            </a:r>
            <a:r>
              <a:rPr lang="en-ID" dirty="0"/>
              <a:t> Analysis </a:t>
            </a:r>
          </a:p>
        </p:txBody>
      </p:sp>
      <p:pic>
        <p:nvPicPr>
          <p:cNvPr id="4" name="Content Placeholder 3">
            <a:extLst>
              <a:ext uri="{FF2B5EF4-FFF2-40B4-BE49-F238E27FC236}">
                <a16:creationId xmlns:a16="http://schemas.microsoft.com/office/drawing/2014/main" id="{795ACA3E-BF33-43EF-73B2-5C6B5BD0FB99}"/>
              </a:ext>
            </a:extLst>
          </p:cNvPr>
          <p:cNvPicPr>
            <a:picLocks noGrp="1" noChangeAspect="1"/>
          </p:cNvPicPr>
          <p:nvPr>
            <p:ph idx="1"/>
          </p:nvPr>
        </p:nvPicPr>
        <p:blipFill>
          <a:blip r:embed="rId2"/>
          <a:stretch>
            <a:fillRect/>
          </a:stretch>
        </p:blipFill>
        <p:spPr>
          <a:xfrm>
            <a:off x="1129579" y="2319645"/>
            <a:ext cx="9932841" cy="3607627"/>
          </a:xfrm>
          <a:prstGeom prst="rect">
            <a:avLst/>
          </a:prstGeom>
        </p:spPr>
      </p:pic>
    </p:spTree>
    <p:extLst>
      <p:ext uri="{BB962C8B-B14F-4D97-AF65-F5344CB8AC3E}">
        <p14:creationId xmlns:p14="http://schemas.microsoft.com/office/powerpoint/2010/main" val="25495712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C5E492-6766-9E9D-C7B3-C78577BCBA89}"/>
              </a:ext>
            </a:extLst>
          </p:cNvPr>
          <p:cNvSpPr>
            <a:spLocks noGrp="1"/>
          </p:cNvSpPr>
          <p:nvPr>
            <p:ph type="title"/>
          </p:nvPr>
        </p:nvSpPr>
        <p:spPr/>
        <p:txBody>
          <a:bodyPr/>
          <a:lstStyle/>
          <a:p>
            <a:r>
              <a:rPr lang="en-GB" b="1" dirty="0"/>
              <a:t>Modern Attack Technique Against Linux</a:t>
            </a:r>
            <a:endParaRPr lang="en-ID" b="1" dirty="0"/>
          </a:p>
        </p:txBody>
      </p:sp>
      <p:sp>
        <p:nvSpPr>
          <p:cNvPr id="5" name="Text Placeholder 4">
            <a:extLst>
              <a:ext uri="{FF2B5EF4-FFF2-40B4-BE49-F238E27FC236}">
                <a16:creationId xmlns:a16="http://schemas.microsoft.com/office/drawing/2014/main" id="{5C760E32-AAD3-57AD-FA54-FE18E15AFD24}"/>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28495746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3AC8C-72DE-83EA-53B8-984F90AD5EC1}"/>
              </a:ext>
            </a:extLst>
          </p:cNvPr>
          <p:cNvSpPr>
            <a:spLocks noGrp="1"/>
          </p:cNvSpPr>
          <p:nvPr>
            <p:ph type="title"/>
          </p:nvPr>
        </p:nvSpPr>
        <p:spPr/>
        <p:txBody>
          <a:bodyPr/>
          <a:lstStyle/>
          <a:p>
            <a:r>
              <a:rPr lang="en-ID" dirty="0"/>
              <a:t>Attacking Linux </a:t>
            </a:r>
          </a:p>
        </p:txBody>
      </p:sp>
      <p:sp>
        <p:nvSpPr>
          <p:cNvPr id="3" name="Content Placeholder 2">
            <a:extLst>
              <a:ext uri="{FF2B5EF4-FFF2-40B4-BE49-F238E27FC236}">
                <a16:creationId xmlns:a16="http://schemas.microsoft.com/office/drawing/2014/main" id="{1E7857C8-FDC0-7563-510A-CCE62A25D98A}"/>
              </a:ext>
            </a:extLst>
          </p:cNvPr>
          <p:cNvSpPr>
            <a:spLocks noGrp="1"/>
          </p:cNvSpPr>
          <p:nvPr>
            <p:ph idx="1"/>
          </p:nvPr>
        </p:nvSpPr>
        <p:spPr/>
        <p:txBody>
          <a:bodyPr>
            <a:normAutofit lnSpcReduction="10000"/>
          </a:bodyPr>
          <a:lstStyle/>
          <a:p>
            <a:r>
              <a:rPr lang="en-US" dirty="0"/>
              <a:t>Security myths</a:t>
            </a:r>
          </a:p>
          <a:p>
            <a:r>
              <a:rPr lang="en-US" dirty="0"/>
              <a:t>Open Source != Security</a:t>
            </a:r>
          </a:p>
          <a:p>
            <a:r>
              <a:rPr lang="en-US" dirty="0"/>
              <a:t>Application weaknesses </a:t>
            </a:r>
          </a:p>
          <a:p>
            <a:r>
              <a:rPr lang="en-US" dirty="0"/>
              <a:t>Programming Languages</a:t>
            </a:r>
          </a:p>
          <a:p>
            <a:pPr lvl="1"/>
            <a:r>
              <a:rPr lang="en-US" dirty="0"/>
              <a:t>Python</a:t>
            </a:r>
          </a:p>
          <a:p>
            <a:pPr lvl="1"/>
            <a:r>
              <a:rPr lang="en-US" dirty="0"/>
              <a:t>PHP </a:t>
            </a:r>
          </a:p>
          <a:p>
            <a:pPr lvl="1"/>
            <a:r>
              <a:rPr lang="en-US" dirty="0"/>
              <a:t>Ruby/Rails</a:t>
            </a:r>
          </a:p>
          <a:p>
            <a:r>
              <a:rPr lang="en-US" dirty="0"/>
              <a:t>Lots of attacker tools provided by distro</a:t>
            </a:r>
          </a:p>
          <a:p>
            <a:pPr lvl="1"/>
            <a:r>
              <a:rPr lang="en-US" dirty="0"/>
              <a:t>Python </a:t>
            </a:r>
          </a:p>
          <a:p>
            <a:pPr lvl="1"/>
            <a:r>
              <a:rPr lang="en-US" dirty="0" err="1"/>
              <a:t>Netcat</a:t>
            </a:r>
            <a:endParaRPr lang="en-ID" dirty="0"/>
          </a:p>
        </p:txBody>
      </p:sp>
      <p:pic>
        <p:nvPicPr>
          <p:cNvPr id="4" name="Picture 3">
            <a:extLst>
              <a:ext uri="{FF2B5EF4-FFF2-40B4-BE49-F238E27FC236}">
                <a16:creationId xmlns:a16="http://schemas.microsoft.com/office/drawing/2014/main" id="{34D63D3C-6D1E-7270-5C11-D1F691C7B64A}"/>
              </a:ext>
            </a:extLst>
          </p:cNvPr>
          <p:cNvPicPr/>
          <p:nvPr/>
        </p:nvPicPr>
        <p:blipFill>
          <a:blip r:embed="rId2"/>
          <a:stretch>
            <a:fillRect/>
          </a:stretch>
        </p:blipFill>
        <p:spPr>
          <a:xfrm>
            <a:off x="7810098" y="1690688"/>
            <a:ext cx="3377622" cy="4395928"/>
          </a:xfrm>
          <a:prstGeom prst="rect">
            <a:avLst/>
          </a:prstGeom>
        </p:spPr>
      </p:pic>
    </p:spTree>
    <p:extLst>
      <p:ext uri="{BB962C8B-B14F-4D97-AF65-F5344CB8AC3E}">
        <p14:creationId xmlns:p14="http://schemas.microsoft.com/office/powerpoint/2010/main" val="345952849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D778D-943D-F79E-4BDA-5D4B93C86C50}"/>
              </a:ext>
            </a:extLst>
          </p:cNvPr>
          <p:cNvSpPr>
            <a:spLocks noGrp="1"/>
          </p:cNvSpPr>
          <p:nvPr>
            <p:ph type="title"/>
          </p:nvPr>
        </p:nvSpPr>
        <p:spPr/>
        <p:txBody>
          <a:bodyPr/>
          <a:lstStyle/>
          <a:p>
            <a:r>
              <a:rPr lang="en-ID" dirty="0"/>
              <a:t>Attacking Linux: Initial Exploitation </a:t>
            </a:r>
          </a:p>
        </p:txBody>
      </p:sp>
      <p:sp>
        <p:nvSpPr>
          <p:cNvPr id="3" name="Content Placeholder 2">
            <a:extLst>
              <a:ext uri="{FF2B5EF4-FFF2-40B4-BE49-F238E27FC236}">
                <a16:creationId xmlns:a16="http://schemas.microsoft.com/office/drawing/2014/main" id="{DBEC9470-BC26-7596-BEAD-6C919119F02F}"/>
              </a:ext>
            </a:extLst>
          </p:cNvPr>
          <p:cNvSpPr>
            <a:spLocks noGrp="1"/>
          </p:cNvSpPr>
          <p:nvPr>
            <p:ph idx="1"/>
          </p:nvPr>
        </p:nvSpPr>
        <p:spPr/>
        <p:txBody>
          <a:bodyPr/>
          <a:lstStyle/>
          <a:p>
            <a:r>
              <a:rPr lang="en-US" dirty="0"/>
              <a:t>Still very much service-side attacks </a:t>
            </a:r>
          </a:p>
          <a:p>
            <a:r>
              <a:rPr lang="en-US" dirty="0"/>
              <a:t>Attackers look for vulnerable applications </a:t>
            </a:r>
          </a:p>
          <a:p>
            <a:r>
              <a:rPr lang="en-US" dirty="0"/>
              <a:t>Web server exploits are common</a:t>
            </a:r>
          </a:p>
          <a:p>
            <a:r>
              <a:rPr lang="en-ID" dirty="0"/>
              <a:t>Configuration issues abound</a:t>
            </a:r>
          </a:p>
          <a:p>
            <a:endParaRPr lang="en-ID" dirty="0"/>
          </a:p>
        </p:txBody>
      </p:sp>
      <p:sp>
        <p:nvSpPr>
          <p:cNvPr id="4" name="Rectangle 3">
            <a:extLst>
              <a:ext uri="{FF2B5EF4-FFF2-40B4-BE49-F238E27FC236}">
                <a16:creationId xmlns:a16="http://schemas.microsoft.com/office/drawing/2014/main" id="{41CF6FEC-36BA-8A4F-9BDF-E3804E5D75F3}"/>
              </a:ext>
            </a:extLst>
          </p:cNvPr>
          <p:cNvSpPr/>
          <p:nvPr/>
        </p:nvSpPr>
        <p:spPr>
          <a:xfrm>
            <a:off x="7756071" y="3086100"/>
            <a:ext cx="3233058" cy="1926771"/>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latin typeface="Georgia" panose="02040502050405020303" pitchFamily="18" charset="0"/>
              </a:rPr>
              <a:t>WordPress</a:t>
            </a:r>
          </a:p>
          <a:p>
            <a:r>
              <a:rPr lang="en-US" sz="2000" dirty="0">
                <a:latin typeface="Georgia" panose="02040502050405020303" pitchFamily="18" charset="0"/>
              </a:rPr>
              <a:t>Joomla</a:t>
            </a:r>
          </a:p>
          <a:p>
            <a:r>
              <a:rPr lang="en-US" sz="2000" dirty="0">
                <a:latin typeface="Georgia" panose="02040502050405020303" pitchFamily="18" charset="0"/>
              </a:rPr>
              <a:t>Django</a:t>
            </a:r>
          </a:p>
          <a:p>
            <a:endParaRPr lang="en-US" sz="2000" dirty="0">
              <a:latin typeface="Georgia" panose="02040502050405020303" pitchFamily="18" charset="0"/>
            </a:endParaRPr>
          </a:p>
          <a:p>
            <a:r>
              <a:rPr lang="en-US" sz="2000" dirty="0">
                <a:latin typeface="Georgia" panose="02040502050405020303" pitchFamily="18" charset="0"/>
              </a:rPr>
              <a:t>Open ports/</a:t>
            </a:r>
            <a:r>
              <a:rPr lang="en-US" sz="2000" dirty="0" err="1">
                <a:latin typeface="Georgia" panose="02040502050405020303" pitchFamily="18" charset="0"/>
              </a:rPr>
              <a:t>servoces</a:t>
            </a:r>
            <a:endParaRPr lang="en-US" sz="2000" dirty="0">
              <a:latin typeface="Georgia" panose="02040502050405020303" pitchFamily="18" charset="0"/>
            </a:endParaRPr>
          </a:p>
          <a:p>
            <a:r>
              <a:rPr lang="en-US" sz="2000" dirty="0">
                <a:latin typeface="Georgia" panose="02040502050405020303" pitchFamily="18" charset="0"/>
              </a:rPr>
              <a:t>Accounts</a:t>
            </a:r>
            <a:endParaRPr lang="en-ID" sz="2000" dirty="0">
              <a:latin typeface="Georgia" panose="02040502050405020303" pitchFamily="18" charset="0"/>
            </a:endParaRPr>
          </a:p>
        </p:txBody>
      </p:sp>
      <p:cxnSp>
        <p:nvCxnSpPr>
          <p:cNvPr id="10" name="Straight Connector 9">
            <a:extLst>
              <a:ext uri="{FF2B5EF4-FFF2-40B4-BE49-F238E27FC236}">
                <a16:creationId xmlns:a16="http://schemas.microsoft.com/office/drawing/2014/main" id="{F253E685-5D1C-9511-48AB-9B647DD96C16}"/>
              </a:ext>
            </a:extLst>
          </p:cNvPr>
          <p:cNvCxnSpPr>
            <a:cxnSpLocks/>
          </p:cNvCxnSpPr>
          <p:nvPr/>
        </p:nvCxnSpPr>
        <p:spPr>
          <a:xfrm>
            <a:off x="7756071" y="4163789"/>
            <a:ext cx="3233058" cy="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8522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7247-1B7C-6175-A87B-F6B07536D5A3}"/>
              </a:ext>
            </a:extLst>
          </p:cNvPr>
          <p:cNvSpPr>
            <a:spLocks noGrp="1"/>
          </p:cNvSpPr>
          <p:nvPr>
            <p:ph type="title"/>
          </p:nvPr>
        </p:nvSpPr>
        <p:spPr/>
        <p:txBody>
          <a:bodyPr/>
          <a:lstStyle/>
          <a:p>
            <a:r>
              <a:rPr lang="en-ID" dirty="0"/>
              <a:t>Attacking Linux: Privilege Escalation </a:t>
            </a:r>
          </a:p>
        </p:txBody>
      </p:sp>
      <p:sp>
        <p:nvSpPr>
          <p:cNvPr id="3" name="Content Placeholder 2">
            <a:extLst>
              <a:ext uri="{FF2B5EF4-FFF2-40B4-BE49-F238E27FC236}">
                <a16:creationId xmlns:a16="http://schemas.microsoft.com/office/drawing/2014/main" id="{4D0DC934-39C5-23CE-7349-6A396BB54EAA}"/>
              </a:ext>
            </a:extLst>
          </p:cNvPr>
          <p:cNvSpPr>
            <a:spLocks noGrp="1"/>
          </p:cNvSpPr>
          <p:nvPr>
            <p:ph idx="1"/>
          </p:nvPr>
        </p:nvSpPr>
        <p:spPr/>
        <p:txBody>
          <a:bodyPr/>
          <a:lstStyle/>
          <a:p>
            <a:r>
              <a:rPr lang="en-US" dirty="0"/>
              <a:t>Often, very easy</a:t>
            </a:r>
          </a:p>
          <a:p>
            <a:r>
              <a:rPr lang="en-US" dirty="0"/>
              <a:t>Applications privileges</a:t>
            </a:r>
          </a:p>
          <a:p>
            <a:r>
              <a:rPr lang="en-US" dirty="0"/>
              <a:t>SUDO everywhere</a:t>
            </a:r>
          </a:p>
          <a:p>
            <a:r>
              <a:rPr lang="en-US" dirty="0"/>
              <a:t>Plaintext passwords</a:t>
            </a:r>
          </a:p>
          <a:p>
            <a:r>
              <a:rPr lang="en-US" dirty="0"/>
              <a:t>Shell history</a:t>
            </a:r>
          </a:p>
          <a:p>
            <a:r>
              <a:rPr lang="en-US" dirty="0"/>
              <a:t>Configuration issues</a:t>
            </a:r>
          </a:p>
          <a:p>
            <a:pPr lvl="1"/>
            <a:r>
              <a:rPr lang="en-US" dirty="0"/>
              <a:t>Wheel/Sudo groups</a:t>
            </a:r>
          </a:p>
          <a:p>
            <a:pPr lvl="1"/>
            <a:r>
              <a:rPr lang="en-US" dirty="0"/>
              <a:t>SUID bit</a:t>
            </a:r>
          </a:p>
          <a:p>
            <a:pPr lvl="1"/>
            <a:r>
              <a:rPr lang="en-US" dirty="0"/>
              <a:t>Path hijacks</a:t>
            </a:r>
            <a:endParaRPr lang="en-ID" dirty="0"/>
          </a:p>
          <a:p>
            <a:endParaRPr lang="en-ID" dirty="0"/>
          </a:p>
        </p:txBody>
      </p:sp>
      <p:pic>
        <p:nvPicPr>
          <p:cNvPr id="4" name="Picture 3">
            <a:extLst>
              <a:ext uri="{FF2B5EF4-FFF2-40B4-BE49-F238E27FC236}">
                <a16:creationId xmlns:a16="http://schemas.microsoft.com/office/drawing/2014/main" id="{DB602D9F-4172-19DC-3653-E7A4640E422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90281" y="1825625"/>
            <a:ext cx="2879945" cy="3468989"/>
          </a:xfrm>
          <a:prstGeom prst="rect">
            <a:avLst/>
          </a:prstGeom>
          <a:noFill/>
          <a:ln>
            <a:noFill/>
          </a:ln>
        </p:spPr>
      </p:pic>
    </p:spTree>
    <p:extLst>
      <p:ext uri="{BB962C8B-B14F-4D97-AF65-F5344CB8AC3E}">
        <p14:creationId xmlns:p14="http://schemas.microsoft.com/office/powerpoint/2010/main" val="523298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EB8C359-1783-D2DF-6BFA-AE74075427D0}"/>
              </a:ext>
            </a:extLst>
          </p:cNvPr>
          <p:cNvSpPr/>
          <p:nvPr/>
        </p:nvSpPr>
        <p:spPr>
          <a:xfrm>
            <a:off x="838200" y="1725142"/>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Start up files</a:t>
            </a:r>
            <a:endParaRPr lang="en-ID" sz="20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2AE44DD4-E2C0-9764-9020-2AB554E41BF8}"/>
              </a:ext>
            </a:extLst>
          </p:cNvPr>
          <p:cNvSpPr/>
          <p:nvPr/>
        </p:nvSpPr>
        <p:spPr>
          <a:xfrm>
            <a:off x="838200" y="3286939"/>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Cron tasks</a:t>
            </a:r>
            <a:endParaRPr lang="en-ID" sz="2000" dirty="0">
              <a:latin typeface="Georgia" panose="02040502050405020303" pitchFamily="18" charset="0"/>
            </a:endParaRPr>
          </a:p>
        </p:txBody>
      </p:sp>
      <p:sp>
        <p:nvSpPr>
          <p:cNvPr id="9" name="Rectangle: Rounded Corners 8">
            <a:extLst>
              <a:ext uri="{FF2B5EF4-FFF2-40B4-BE49-F238E27FC236}">
                <a16:creationId xmlns:a16="http://schemas.microsoft.com/office/drawing/2014/main" id="{198CD982-5EB7-601E-64FF-5FD74ABD1D2A}"/>
              </a:ext>
            </a:extLst>
          </p:cNvPr>
          <p:cNvSpPr/>
          <p:nvPr/>
        </p:nvSpPr>
        <p:spPr>
          <a:xfrm>
            <a:off x="838200" y="4890952"/>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File System</a:t>
            </a:r>
            <a:endParaRPr lang="en-ID" sz="2000" dirty="0">
              <a:latin typeface="Georgia" panose="02040502050405020303" pitchFamily="18" charset="0"/>
            </a:endParaRPr>
          </a:p>
        </p:txBody>
      </p:sp>
      <p:sp>
        <p:nvSpPr>
          <p:cNvPr id="2" name="Title 1">
            <a:extLst>
              <a:ext uri="{FF2B5EF4-FFF2-40B4-BE49-F238E27FC236}">
                <a16:creationId xmlns:a16="http://schemas.microsoft.com/office/drawing/2014/main" id="{40D15C74-BBF4-BB6B-388A-7B2EC4B62613}"/>
              </a:ext>
            </a:extLst>
          </p:cNvPr>
          <p:cNvSpPr>
            <a:spLocks noGrp="1"/>
          </p:cNvSpPr>
          <p:nvPr>
            <p:ph type="title"/>
          </p:nvPr>
        </p:nvSpPr>
        <p:spPr/>
        <p:txBody>
          <a:bodyPr/>
          <a:lstStyle/>
          <a:p>
            <a:r>
              <a:rPr lang="en-ID" dirty="0"/>
              <a:t>Attacking Linux: Persistence </a:t>
            </a:r>
          </a:p>
        </p:txBody>
      </p:sp>
      <p:sp>
        <p:nvSpPr>
          <p:cNvPr id="4" name="Rectangle 3">
            <a:extLst>
              <a:ext uri="{FF2B5EF4-FFF2-40B4-BE49-F238E27FC236}">
                <a16:creationId xmlns:a16="http://schemas.microsoft.com/office/drawing/2014/main" id="{B2AB1151-8923-23EF-3575-33A4B6A0A817}"/>
              </a:ext>
            </a:extLst>
          </p:cNvPr>
          <p:cNvSpPr/>
          <p:nvPr/>
        </p:nvSpPr>
        <p:spPr>
          <a:xfrm>
            <a:off x="838200" y="2240383"/>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a:t>
            </a:r>
            <a:r>
              <a:rPr lang="en-US" dirty="0" err="1">
                <a:latin typeface="Georgia" panose="02040502050405020303" pitchFamily="18" charset="0"/>
              </a:rPr>
              <a:t>bashrc</a:t>
            </a:r>
            <a:endParaRPr lang="en-US" dirty="0">
              <a:latin typeface="Georgia" panose="02040502050405020303" pitchFamily="18" charset="0"/>
            </a:endParaRPr>
          </a:p>
          <a:p>
            <a:pPr marL="285750" indent="-285750">
              <a:buFont typeface="Arial" panose="020B0604020202020204" pitchFamily="34" charset="0"/>
              <a:buChar char="•"/>
            </a:pPr>
            <a:r>
              <a:rPr lang="en-US" dirty="0">
                <a:latin typeface="Georgia" panose="02040502050405020303" pitchFamily="18" charset="0"/>
              </a:rPr>
              <a:t>Init</a:t>
            </a:r>
          </a:p>
          <a:p>
            <a:pPr marL="285750" indent="-285750">
              <a:buFont typeface="Arial" panose="020B0604020202020204" pitchFamily="34" charset="0"/>
              <a:buChar char="•"/>
            </a:pPr>
            <a:r>
              <a:rPr lang="en-US" dirty="0">
                <a:latin typeface="Georgia" panose="02040502050405020303" pitchFamily="18" charset="0"/>
              </a:rPr>
              <a:t>SSH keys</a:t>
            </a:r>
          </a:p>
        </p:txBody>
      </p:sp>
      <p:sp>
        <p:nvSpPr>
          <p:cNvPr id="6" name="Rectangle 5">
            <a:extLst>
              <a:ext uri="{FF2B5EF4-FFF2-40B4-BE49-F238E27FC236}">
                <a16:creationId xmlns:a16="http://schemas.microsoft.com/office/drawing/2014/main" id="{B5DBA376-E574-E614-B773-584E1F373158}"/>
              </a:ext>
            </a:extLst>
          </p:cNvPr>
          <p:cNvSpPr/>
          <p:nvPr/>
        </p:nvSpPr>
        <p:spPr>
          <a:xfrm>
            <a:off x="838200" y="3835650"/>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User tasks</a:t>
            </a:r>
          </a:p>
          <a:p>
            <a:pPr marL="285750" indent="-285750">
              <a:buFont typeface="Arial" panose="020B0604020202020204" pitchFamily="34" charset="0"/>
              <a:buChar char="•"/>
            </a:pPr>
            <a:r>
              <a:rPr lang="en-US" dirty="0">
                <a:latin typeface="Georgia" panose="02040502050405020303" pitchFamily="18" charset="0"/>
              </a:rPr>
              <a:t>Root tasks</a:t>
            </a:r>
          </a:p>
        </p:txBody>
      </p:sp>
      <p:sp>
        <p:nvSpPr>
          <p:cNvPr id="8" name="Rectangle 7">
            <a:extLst>
              <a:ext uri="{FF2B5EF4-FFF2-40B4-BE49-F238E27FC236}">
                <a16:creationId xmlns:a16="http://schemas.microsoft.com/office/drawing/2014/main" id="{937D9D95-65A6-2AD8-CA80-C7600C8A35A9}"/>
              </a:ext>
            </a:extLst>
          </p:cNvPr>
          <p:cNvSpPr/>
          <p:nvPr/>
        </p:nvSpPr>
        <p:spPr>
          <a:xfrm>
            <a:off x="821871" y="5352395"/>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Path Modification</a:t>
            </a:r>
          </a:p>
          <a:p>
            <a:pPr marL="285750" indent="-285750">
              <a:buFont typeface="Arial" panose="020B0604020202020204" pitchFamily="34" charset="0"/>
              <a:buChar char="•"/>
            </a:pPr>
            <a:r>
              <a:rPr lang="en-US" dirty="0">
                <a:latin typeface="Georgia" panose="02040502050405020303" pitchFamily="18" charset="0"/>
              </a:rPr>
              <a:t>Binary replacement</a:t>
            </a:r>
          </a:p>
        </p:txBody>
      </p:sp>
    </p:spTree>
    <p:extLst>
      <p:ext uri="{BB962C8B-B14F-4D97-AF65-F5344CB8AC3E}">
        <p14:creationId xmlns:p14="http://schemas.microsoft.com/office/powerpoint/2010/main" val="22596024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4ED2-2DA2-0506-27A4-2EF1BDC64794}"/>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6B905D-DBF2-2CAC-BAB6-42390F5E1A43}"/>
              </a:ext>
            </a:extLst>
          </p:cNvPr>
          <p:cNvSpPr/>
          <p:nvPr/>
        </p:nvSpPr>
        <p:spPr>
          <a:xfrm>
            <a:off x="838200" y="1725142"/>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Can be harder than Windows, but not always</a:t>
            </a:r>
            <a:endParaRPr lang="en-ID" sz="20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51C5B1A4-E526-4D70-A323-111C3178804D}"/>
              </a:ext>
            </a:extLst>
          </p:cNvPr>
          <p:cNvSpPr/>
          <p:nvPr/>
        </p:nvSpPr>
        <p:spPr>
          <a:xfrm>
            <a:off x="838200" y="3286939"/>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Linux to Linux</a:t>
            </a:r>
            <a:endParaRPr lang="en-ID" sz="2000" dirty="0">
              <a:latin typeface="Georgia" panose="02040502050405020303" pitchFamily="18" charset="0"/>
            </a:endParaRPr>
          </a:p>
        </p:txBody>
      </p:sp>
      <p:sp>
        <p:nvSpPr>
          <p:cNvPr id="9" name="Rectangle: Rounded Corners 8">
            <a:extLst>
              <a:ext uri="{FF2B5EF4-FFF2-40B4-BE49-F238E27FC236}">
                <a16:creationId xmlns:a16="http://schemas.microsoft.com/office/drawing/2014/main" id="{AB4FE560-F334-4263-113B-77CB4205E22A}"/>
              </a:ext>
            </a:extLst>
          </p:cNvPr>
          <p:cNvSpPr/>
          <p:nvPr/>
        </p:nvSpPr>
        <p:spPr>
          <a:xfrm>
            <a:off x="838200" y="4841965"/>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Linux to Windows</a:t>
            </a:r>
            <a:endParaRPr lang="en-ID" sz="2000" dirty="0">
              <a:latin typeface="Georgia" panose="02040502050405020303" pitchFamily="18" charset="0"/>
            </a:endParaRPr>
          </a:p>
        </p:txBody>
      </p:sp>
      <p:sp>
        <p:nvSpPr>
          <p:cNvPr id="2" name="Title 1">
            <a:extLst>
              <a:ext uri="{FF2B5EF4-FFF2-40B4-BE49-F238E27FC236}">
                <a16:creationId xmlns:a16="http://schemas.microsoft.com/office/drawing/2014/main" id="{9D796BE3-1C21-0CFE-E898-C3EE50AF510C}"/>
              </a:ext>
            </a:extLst>
          </p:cNvPr>
          <p:cNvSpPr>
            <a:spLocks noGrp="1"/>
          </p:cNvSpPr>
          <p:nvPr>
            <p:ph type="title"/>
          </p:nvPr>
        </p:nvSpPr>
        <p:spPr/>
        <p:txBody>
          <a:bodyPr/>
          <a:lstStyle/>
          <a:p>
            <a:r>
              <a:rPr lang="en-ID" dirty="0"/>
              <a:t>Attacking Linux: Lateral Movement </a:t>
            </a:r>
          </a:p>
        </p:txBody>
      </p:sp>
      <p:sp>
        <p:nvSpPr>
          <p:cNvPr id="4" name="Rectangle 3">
            <a:extLst>
              <a:ext uri="{FF2B5EF4-FFF2-40B4-BE49-F238E27FC236}">
                <a16:creationId xmlns:a16="http://schemas.microsoft.com/office/drawing/2014/main" id="{71A1F35C-ADFD-9A3A-D14B-70BD991ED952}"/>
              </a:ext>
            </a:extLst>
          </p:cNvPr>
          <p:cNvSpPr/>
          <p:nvPr/>
        </p:nvSpPr>
        <p:spPr>
          <a:xfrm>
            <a:off x="838200" y="2240383"/>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Credentials matter: Passwords or SSH keys/tokens</a:t>
            </a:r>
          </a:p>
        </p:txBody>
      </p:sp>
      <p:sp>
        <p:nvSpPr>
          <p:cNvPr id="6" name="Rectangle 5">
            <a:extLst>
              <a:ext uri="{FF2B5EF4-FFF2-40B4-BE49-F238E27FC236}">
                <a16:creationId xmlns:a16="http://schemas.microsoft.com/office/drawing/2014/main" id="{5F54408C-4921-38E2-7B87-2374FF2D9BFA}"/>
              </a:ext>
            </a:extLst>
          </p:cNvPr>
          <p:cNvSpPr/>
          <p:nvPr/>
        </p:nvSpPr>
        <p:spPr>
          <a:xfrm>
            <a:off x="838200" y="3835650"/>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SSH/</a:t>
            </a:r>
            <a:r>
              <a:rPr lang="en-US" dirty="0" err="1">
                <a:latin typeface="Georgia" panose="02040502050405020303" pitchFamily="18" charset="0"/>
              </a:rPr>
              <a:t>Socat</a:t>
            </a:r>
            <a:endParaRPr lang="en-US" dirty="0">
              <a:latin typeface="Georgia" panose="02040502050405020303" pitchFamily="18" charset="0"/>
            </a:endParaRPr>
          </a:p>
        </p:txBody>
      </p:sp>
      <p:sp>
        <p:nvSpPr>
          <p:cNvPr id="8" name="Rectangle 7">
            <a:extLst>
              <a:ext uri="{FF2B5EF4-FFF2-40B4-BE49-F238E27FC236}">
                <a16:creationId xmlns:a16="http://schemas.microsoft.com/office/drawing/2014/main" id="{056DC526-0737-7876-22F7-55FE0428C815}"/>
              </a:ext>
            </a:extLst>
          </p:cNvPr>
          <p:cNvSpPr/>
          <p:nvPr/>
        </p:nvSpPr>
        <p:spPr>
          <a:xfrm>
            <a:off x="821871" y="5352395"/>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dirty="0">
                <a:latin typeface="Georgia" panose="02040502050405020303" pitchFamily="18" charset="0"/>
              </a:rPr>
              <a:t>SSH</a:t>
            </a:r>
          </a:p>
          <a:p>
            <a:pPr marL="285750" indent="-285750">
              <a:buFont typeface="Arial" panose="020B0604020202020204" pitchFamily="34" charset="0"/>
              <a:buChar char="•"/>
            </a:pPr>
            <a:r>
              <a:rPr lang="en-US" dirty="0">
                <a:latin typeface="Georgia" panose="02040502050405020303" pitchFamily="18" charset="0"/>
              </a:rPr>
              <a:t>RDP</a:t>
            </a:r>
          </a:p>
          <a:p>
            <a:pPr marL="285750" indent="-285750">
              <a:buFont typeface="Arial" panose="020B0604020202020204" pitchFamily="34" charset="0"/>
              <a:buChar char="•"/>
            </a:pPr>
            <a:r>
              <a:rPr lang="en-US" dirty="0">
                <a:latin typeface="Georgia" panose="02040502050405020303" pitchFamily="18" charset="0"/>
              </a:rPr>
              <a:t>SAMBA/</a:t>
            </a:r>
            <a:r>
              <a:rPr lang="en-US" dirty="0" err="1">
                <a:latin typeface="Georgia" panose="02040502050405020303" pitchFamily="18" charset="0"/>
              </a:rPr>
              <a:t>RPCClient</a:t>
            </a:r>
            <a:r>
              <a:rPr lang="en-US" dirty="0">
                <a:latin typeface="Georgia" panose="02040502050405020303" pitchFamily="18" charset="0"/>
              </a:rPr>
              <a:t>/</a:t>
            </a:r>
            <a:r>
              <a:rPr lang="en-US" dirty="0" err="1">
                <a:latin typeface="Georgia" panose="02040502050405020303" pitchFamily="18" charset="0"/>
              </a:rPr>
              <a:t>WinRM</a:t>
            </a:r>
            <a:endParaRPr lang="en-US" dirty="0">
              <a:latin typeface="Georgia" panose="02040502050405020303" pitchFamily="18" charset="0"/>
            </a:endParaRPr>
          </a:p>
        </p:txBody>
      </p:sp>
    </p:spTree>
    <p:extLst>
      <p:ext uri="{BB962C8B-B14F-4D97-AF65-F5344CB8AC3E}">
        <p14:creationId xmlns:p14="http://schemas.microsoft.com/office/powerpoint/2010/main" val="72049317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63DD7-DC6F-ED23-8BE8-5C26D2036B11}"/>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D5CE43A-51EA-DF77-8B2A-0F129AA30063}"/>
              </a:ext>
            </a:extLst>
          </p:cNvPr>
          <p:cNvSpPr/>
          <p:nvPr/>
        </p:nvSpPr>
        <p:spPr>
          <a:xfrm>
            <a:off x="838200" y="1725142"/>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Lots of C2 options</a:t>
            </a:r>
            <a:endParaRPr lang="en-ID" sz="2000" dirty="0">
              <a:latin typeface="Georgia" panose="02040502050405020303" pitchFamily="18" charset="0"/>
            </a:endParaRPr>
          </a:p>
        </p:txBody>
      </p:sp>
      <p:sp>
        <p:nvSpPr>
          <p:cNvPr id="7" name="Rectangle: Rounded Corners 6">
            <a:extLst>
              <a:ext uri="{FF2B5EF4-FFF2-40B4-BE49-F238E27FC236}">
                <a16:creationId xmlns:a16="http://schemas.microsoft.com/office/drawing/2014/main" id="{76E2758A-6854-58A4-75DC-7A69F31465EC}"/>
              </a:ext>
            </a:extLst>
          </p:cNvPr>
          <p:cNvSpPr/>
          <p:nvPr/>
        </p:nvSpPr>
        <p:spPr>
          <a:xfrm>
            <a:off x="838200" y="3286939"/>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Exfiltration</a:t>
            </a:r>
            <a:endParaRPr lang="en-ID" sz="2000" dirty="0">
              <a:latin typeface="Georgia" panose="02040502050405020303" pitchFamily="18" charset="0"/>
            </a:endParaRPr>
          </a:p>
        </p:txBody>
      </p:sp>
      <p:sp>
        <p:nvSpPr>
          <p:cNvPr id="9" name="Rectangle: Rounded Corners 8">
            <a:extLst>
              <a:ext uri="{FF2B5EF4-FFF2-40B4-BE49-F238E27FC236}">
                <a16:creationId xmlns:a16="http://schemas.microsoft.com/office/drawing/2014/main" id="{ADDAB2E9-51BD-AEF1-3150-CAF8EFF5B07E}"/>
              </a:ext>
            </a:extLst>
          </p:cNvPr>
          <p:cNvSpPr/>
          <p:nvPr/>
        </p:nvSpPr>
        <p:spPr>
          <a:xfrm>
            <a:off x="838200" y="4841965"/>
            <a:ext cx="8997838" cy="579920"/>
          </a:xfrm>
          <a:prstGeom prst="roundRect">
            <a:avLst/>
          </a:prstGeom>
          <a:noFill/>
          <a:ln>
            <a:solidFill>
              <a:srgbClr val="002060"/>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2000" dirty="0">
                <a:latin typeface="Georgia" panose="02040502050405020303" pitchFamily="18" charset="0"/>
              </a:rPr>
              <a:t>Anti-Forensics</a:t>
            </a:r>
            <a:endParaRPr lang="en-ID" sz="2000" dirty="0">
              <a:latin typeface="Georgia" panose="02040502050405020303" pitchFamily="18" charset="0"/>
            </a:endParaRPr>
          </a:p>
        </p:txBody>
      </p:sp>
      <p:sp>
        <p:nvSpPr>
          <p:cNvPr id="2" name="Title 1">
            <a:extLst>
              <a:ext uri="{FF2B5EF4-FFF2-40B4-BE49-F238E27FC236}">
                <a16:creationId xmlns:a16="http://schemas.microsoft.com/office/drawing/2014/main" id="{88768A95-F3D4-3FC9-818A-2AFDF2F33D08}"/>
              </a:ext>
            </a:extLst>
          </p:cNvPr>
          <p:cNvSpPr>
            <a:spLocks noGrp="1"/>
          </p:cNvSpPr>
          <p:nvPr>
            <p:ph type="title"/>
          </p:nvPr>
        </p:nvSpPr>
        <p:spPr/>
        <p:txBody>
          <a:bodyPr/>
          <a:lstStyle/>
          <a:p>
            <a:r>
              <a:rPr lang="en-US" dirty="0"/>
              <a:t>Attacking Linux: C2 and Exfiltration </a:t>
            </a:r>
            <a:endParaRPr lang="en-ID" dirty="0"/>
          </a:p>
        </p:txBody>
      </p:sp>
      <p:sp>
        <p:nvSpPr>
          <p:cNvPr id="4" name="Rectangle 3">
            <a:extLst>
              <a:ext uri="{FF2B5EF4-FFF2-40B4-BE49-F238E27FC236}">
                <a16:creationId xmlns:a16="http://schemas.microsoft.com/office/drawing/2014/main" id="{82587770-125E-9DE8-871D-629D72A5AAF5}"/>
              </a:ext>
            </a:extLst>
          </p:cNvPr>
          <p:cNvSpPr/>
          <p:nvPr/>
        </p:nvSpPr>
        <p:spPr>
          <a:xfrm>
            <a:off x="838200" y="2240383"/>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ICMP</a:t>
            </a:r>
          </a:p>
          <a:p>
            <a:pPr marL="285750" indent="-285750">
              <a:buFont typeface="Arial" panose="020B0604020202020204" pitchFamily="34" charset="0"/>
              <a:buChar char="•"/>
            </a:pPr>
            <a:r>
              <a:rPr lang="en-US" sz="1600" dirty="0" err="1">
                <a:latin typeface="Georgia" panose="02040502050405020303" pitchFamily="18" charset="0"/>
              </a:rPr>
              <a:t>DNSCat</a:t>
            </a:r>
            <a:endParaRPr lang="en-US" sz="1600" dirty="0">
              <a:latin typeface="Georgia" panose="02040502050405020303" pitchFamily="18" charset="0"/>
            </a:endParaRPr>
          </a:p>
          <a:p>
            <a:pPr marL="285750" indent="-285750">
              <a:buFont typeface="Arial" panose="020B0604020202020204" pitchFamily="34" charset="0"/>
              <a:buChar char="•"/>
            </a:pPr>
            <a:r>
              <a:rPr lang="en-US" sz="1600" dirty="0" err="1">
                <a:latin typeface="Georgia" panose="02040502050405020303" pitchFamily="18" charset="0"/>
              </a:rPr>
              <a:t>Netcat</a:t>
            </a:r>
            <a:endParaRPr lang="en-US" sz="1600" dirty="0">
              <a:latin typeface="Georgia" panose="02040502050405020303" pitchFamily="18" charset="0"/>
            </a:endParaRPr>
          </a:p>
        </p:txBody>
      </p:sp>
      <p:sp>
        <p:nvSpPr>
          <p:cNvPr id="6" name="Rectangle 5">
            <a:extLst>
              <a:ext uri="{FF2B5EF4-FFF2-40B4-BE49-F238E27FC236}">
                <a16:creationId xmlns:a16="http://schemas.microsoft.com/office/drawing/2014/main" id="{D3DB141E-0F33-A237-AA67-1C16DC5CF24F}"/>
              </a:ext>
            </a:extLst>
          </p:cNvPr>
          <p:cNvSpPr/>
          <p:nvPr/>
        </p:nvSpPr>
        <p:spPr>
          <a:xfrm>
            <a:off x="838200" y="3835650"/>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Tar frequently used to zip up files</a:t>
            </a:r>
          </a:p>
          <a:p>
            <a:pPr marL="285750" indent="-285750">
              <a:buFont typeface="Arial" panose="020B0604020202020204" pitchFamily="34" charset="0"/>
              <a:buChar char="•"/>
            </a:pPr>
            <a:r>
              <a:rPr lang="en-US" sz="1600" dirty="0">
                <a:latin typeface="Georgia" panose="02040502050405020303" pitchFamily="18" charset="0"/>
              </a:rPr>
              <a:t>SSH/SFTP/</a:t>
            </a:r>
            <a:r>
              <a:rPr lang="en-US" sz="1600" dirty="0" err="1">
                <a:latin typeface="Georgia" panose="02040502050405020303" pitchFamily="18" charset="0"/>
              </a:rPr>
              <a:t>Socat</a:t>
            </a:r>
            <a:r>
              <a:rPr lang="en-US" sz="1600" dirty="0">
                <a:latin typeface="Georgia" panose="02040502050405020303" pitchFamily="18" charset="0"/>
              </a:rPr>
              <a:t>/Port Forwarding</a:t>
            </a:r>
          </a:p>
          <a:p>
            <a:pPr marL="285750" indent="-285750">
              <a:buFont typeface="Arial" panose="020B0604020202020204" pitchFamily="34" charset="0"/>
              <a:buChar char="•"/>
            </a:pPr>
            <a:r>
              <a:rPr lang="en-US" sz="1600" dirty="0">
                <a:latin typeface="Georgia" panose="02040502050405020303" pitchFamily="18" charset="0"/>
              </a:rPr>
              <a:t>FTP/TFTP outbound</a:t>
            </a:r>
          </a:p>
          <a:p>
            <a:pPr marL="285750" indent="-285750">
              <a:buFont typeface="Arial" panose="020B0604020202020204" pitchFamily="34" charset="0"/>
              <a:buChar char="•"/>
            </a:pPr>
            <a:r>
              <a:rPr lang="en-US" sz="1600" dirty="0" err="1">
                <a:latin typeface="Georgia" panose="02040502050405020303" pitchFamily="18" charset="0"/>
              </a:rPr>
              <a:t>Netcat</a:t>
            </a:r>
            <a:endParaRPr lang="en-US" sz="1600" dirty="0">
              <a:latin typeface="Georgia" panose="02040502050405020303" pitchFamily="18" charset="0"/>
            </a:endParaRPr>
          </a:p>
        </p:txBody>
      </p:sp>
      <p:sp>
        <p:nvSpPr>
          <p:cNvPr id="8" name="Rectangle 7">
            <a:extLst>
              <a:ext uri="{FF2B5EF4-FFF2-40B4-BE49-F238E27FC236}">
                <a16:creationId xmlns:a16="http://schemas.microsoft.com/office/drawing/2014/main" id="{3C0BF567-BFDE-10E0-42C5-F922C11CDC51}"/>
              </a:ext>
            </a:extLst>
          </p:cNvPr>
          <p:cNvSpPr/>
          <p:nvPr/>
        </p:nvSpPr>
        <p:spPr>
          <a:xfrm>
            <a:off x="821871" y="5352395"/>
            <a:ext cx="9898550" cy="959505"/>
          </a:xfrm>
          <a:prstGeom prst="rect">
            <a:avLst/>
          </a:prstGeom>
          <a:solidFill>
            <a:srgbClr val="002060"/>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285750" indent="-285750">
              <a:buFont typeface="Arial" panose="020B0604020202020204" pitchFamily="34" charset="0"/>
              <a:buChar char="•"/>
            </a:pPr>
            <a:r>
              <a:rPr lang="en-US" sz="1600" dirty="0">
                <a:latin typeface="Georgia" panose="02040502050405020303" pitchFamily="18" charset="0"/>
              </a:rPr>
              <a:t>touch</a:t>
            </a:r>
          </a:p>
          <a:p>
            <a:pPr marL="285750" indent="-285750">
              <a:buFont typeface="Arial" panose="020B0604020202020204" pitchFamily="34" charset="0"/>
              <a:buChar char="•"/>
            </a:pPr>
            <a:r>
              <a:rPr lang="en-US" sz="1600" dirty="0">
                <a:latin typeface="Georgia" panose="02040502050405020303" pitchFamily="18" charset="0"/>
              </a:rPr>
              <a:t>rm</a:t>
            </a:r>
          </a:p>
          <a:p>
            <a:pPr marL="285750" indent="-285750">
              <a:buFont typeface="Arial" panose="020B0604020202020204" pitchFamily="34" charset="0"/>
              <a:buChar char="•"/>
            </a:pPr>
            <a:r>
              <a:rPr lang="en-US" sz="1600" dirty="0">
                <a:latin typeface="Georgia" panose="02040502050405020303" pitchFamily="18" charset="0"/>
              </a:rPr>
              <a:t>Unset HISTFILE/history -e</a:t>
            </a:r>
          </a:p>
        </p:txBody>
      </p:sp>
    </p:spTree>
    <p:extLst>
      <p:ext uri="{BB962C8B-B14F-4D97-AF65-F5344CB8AC3E}">
        <p14:creationId xmlns:p14="http://schemas.microsoft.com/office/powerpoint/2010/main" val="10076547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AC81B7-DD8B-72A0-BC41-42AF81F5F8A2}"/>
              </a:ext>
            </a:extLst>
          </p:cNvPr>
          <p:cNvSpPr>
            <a:spLocks noGrp="1"/>
          </p:cNvSpPr>
          <p:nvPr>
            <p:ph type="title"/>
          </p:nvPr>
        </p:nvSpPr>
        <p:spPr/>
        <p:txBody>
          <a:bodyPr/>
          <a:lstStyle/>
          <a:p>
            <a:r>
              <a:rPr lang="en-GB" b="1" dirty="0"/>
              <a:t>Linux Log Analysis</a:t>
            </a:r>
            <a:endParaRPr lang="en-ID" b="1" dirty="0"/>
          </a:p>
        </p:txBody>
      </p:sp>
      <p:sp>
        <p:nvSpPr>
          <p:cNvPr id="5" name="Text Placeholder 4">
            <a:extLst>
              <a:ext uri="{FF2B5EF4-FFF2-40B4-BE49-F238E27FC236}">
                <a16:creationId xmlns:a16="http://schemas.microsoft.com/office/drawing/2014/main" id="{C5CC8B86-6EFA-66B5-C4BA-4E96D4F642D8}"/>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9372223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EB637-96D5-AAA4-764E-E651434A52C6}"/>
              </a:ext>
            </a:extLst>
          </p:cNvPr>
          <p:cNvSpPr>
            <a:spLocks noGrp="1"/>
          </p:cNvSpPr>
          <p:nvPr>
            <p:ph type="title"/>
          </p:nvPr>
        </p:nvSpPr>
        <p:spPr/>
        <p:txBody>
          <a:bodyPr/>
          <a:lstStyle/>
          <a:p>
            <a:r>
              <a:rPr lang="en-ID" dirty="0"/>
              <a:t>Log Analysis and Hunting</a:t>
            </a:r>
          </a:p>
        </p:txBody>
      </p:sp>
      <p:sp>
        <p:nvSpPr>
          <p:cNvPr id="3" name="Content Placeholder 2">
            <a:extLst>
              <a:ext uri="{FF2B5EF4-FFF2-40B4-BE49-F238E27FC236}">
                <a16:creationId xmlns:a16="http://schemas.microsoft.com/office/drawing/2014/main" id="{CA4EE09F-87C7-0BEB-C9FA-702914E6421B}"/>
              </a:ext>
            </a:extLst>
          </p:cNvPr>
          <p:cNvSpPr>
            <a:spLocks noGrp="1"/>
          </p:cNvSpPr>
          <p:nvPr>
            <p:ph idx="1"/>
          </p:nvPr>
        </p:nvSpPr>
        <p:spPr/>
        <p:txBody>
          <a:bodyPr/>
          <a:lstStyle/>
          <a:p>
            <a:pPr marL="285750" lvl="0" indent="-285750">
              <a:lnSpc>
                <a:spcPct val="100000"/>
              </a:lnSpc>
              <a:spcBef>
                <a:spcPts val="0"/>
              </a:spcBef>
              <a:defRPr/>
            </a:pPr>
            <a:r>
              <a:rPr lang="en-US" dirty="0">
                <a:solidFill>
                  <a:prstClr val="black"/>
                </a:solidFill>
                <a:latin typeface="Georgia" panose="02040502050405020303"/>
              </a:rPr>
              <a:t>Hunting from Log Strategy </a:t>
            </a:r>
          </a:p>
          <a:p>
            <a:pPr marL="285750" lvl="0" indent="-285750">
              <a:lnSpc>
                <a:spcPct val="100000"/>
              </a:lnSpc>
              <a:spcBef>
                <a:spcPts val="0"/>
              </a:spcBef>
              <a:defRPr/>
            </a:pPr>
            <a:r>
              <a:rPr lang="en-US" dirty="0">
                <a:solidFill>
                  <a:prstClr val="black"/>
                </a:solidFill>
                <a:latin typeface="Georgia" panose="02040502050405020303"/>
              </a:rPr>
              <a:t>Common Logs &amp; Locations </a:t>
            </a:r>
          </a:p>
          <a:p>
            <a:pPr marL="285750" lvl="0" indent="-285750">
              <a:lnSpc>
                <a:spcPct val="100000"/>
              </a:lnSpc>
              <a:spcBef>
                <a:spcPts val="0"/>
              </a:spcBef>
              <a:defRPr/>
            </a:pPr>
            <a:r>
              <a:rPr lang="en-US" dirty="0">
                <a:solidFill>
                  <a:prstClr val="black"/>
                </a:solidFill>
                <a:latin typeface="Georgia" panose="02040502050405020303"/>
              </a:rPr>
              <a:t>System Logs</a:t>
            </a:r>
          </a:p>
          <a:p>
            <a:pPr marL="285750" lvl="0" indent="-285750">
              <a:lnSpc>
                <a:spcPct val="100000"/>
              </a:lnSpc>
              <a:spcBef>
                <a:spcPts val="0"/>
              </a:spcBef>
              <a:defRPr/>
            </a:pPr>
            <a:r>
              <a:rPr lang="en-US" dirty="0">
                <a:solidFill>
                  <a:prstClr val="black"/>
                </a:solidFill>
                <a:latin typeface="Georgia" panose="02040502050405020303"/>
              </a:rPr>
              <a:t>Authentication &amp; Authorization</a:t>
            </a:r>
          </a:p>
          <a:p>
            <a:pPr marL="285750" lvl="0" indent="-285750">
              <a:lnSpc>
                <a:spcPct val="100000"/>
              </a:lnSpc>
              <a:spcBef>
                <a:spcPts val="0"/>
              </a:spcBef>
              <a:defRPr/>
            </a:pPr>
            <a:r>
              <a:rPr lang="en-US" dirty="0">
                <a:solidFill>
                  <a:prstClr val="black"/>
                </a:solidFill>
                <a:latin typeface="Georgia" panose="02040502050405020303"/>
              </a:rPr>
              <a:t>Privilege Use</a:t>
            </a:r>
          </a:p>
          <a:p>
            <a:pPr marL="285750" lvl="0" indent="-285750">
              <a:lnSpc>
                <a:spcPct val="100000"/>
              </a:lnSpc>
              <a:spcBef>
                <a:spcPts val="0"/>
              </a:spcBef>
              <a:defRPr/>
            </a:pPr>
            <a:r>
              <a:rPr lang="en-US" dirty="0">
                <a:solidFill>
                  <a:prstClr val="black"/>
                </a:solidFill>
                <a:latin typeface="Georgia" panose="02040502050405020303"/>
              </a:rPr>
              <a:t>Binary Logs </a:t>
            </a:r>
          </a:p>
          <a:p>
            <a:pPr marL="285750" lvl="0" indent="-285750">
              <a:lnSpc>
                <a:spcPct val="100000"/>
              </a:lnSpc>
              <a:spcBef>
                <a:spcPts val="0"/>
              </a:spcBef>
              <a:defRPr/>
            </a:pPr>
            <a:r>
              <a:rPr lang="en-US" dirty="0">
                <a:solidFill>
                  <a:prstClr val="black"/>
                </a:solidFill>
                <a:latin typeface="Georgia" panose="02040502050405020303"/>
              </a:rPr>
              <a:t>Audit Logs</a:t>
            </a:r>
          </a:p>
          <a:p>
            <a:pPr marL="285750" lvl="0" indent="-285750">
              <a:lnSpc>
                <a:spcPct val="100000"/>
              </a:lnSpc>
              <a:spcBef>
                <a:spcPts val="0"/>
              </a:spcBef>
              <a:defRPr/>
            </a:pPr>
            <a:r>
              <a:rPr lang="en-US" dirty="0">
                <a:solidFill>
                  <a:prstClr val="black"/>
                </a:solidFill>
                <a:latin typeface="Georgia" panose="02040502050405020303"/>
              </a:rPr>
              <a:t>Application Logs</a:t>
            </a:r>
          </a:p>
          <a:p>
            <a:pPr marL="285750" lvl="0" indent="-285750">
              <a:lnSpc>
                <a:spcPct val="100000"/>
              </a:lnSpc>
              <a:spcBef>
                <a:spcPts val="0"/>
              </a:spcBef>
              <a:defRPr/>
            </a:pPr>
            <a:r>
              <a:rPr lang="en-US" dirty="0">
                <a:solidFill>
                  <a:prstClr val="black"/>
                </a:solidFill>
                <a:latin typeface="Georgia" panose="02040502050405020303"/>
              </a:rPr>
              <a:t>Quick Wins</a:t>
            </a:r>
            <a:endParaRPr lang="en-ID" dirty="0">
              <a:solidFill>
                <a:prstClr val="black"/>
              </a:solidFill>
              <a:latin typeface="Georgia" panose="02040502050405020303"/>
            </a:endParaRPr>
          </a:p>
        </p:txBody>
      </p:sp>
    </p:spTree>
    <p:extLst>
      <p:ext uri="{BB962C8B-B14F-4D97-AF65-F5344CB8AC3E}">
        <p14:creationId xmlns:p14="http://schemas.microsoft.com/office/powerpoint/2010/main" val="297577074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D135-C755-832E-D51A-C105FB53C9DD}"/>
              </a:ext>
            </a:extLst>
          </p:cNvPr>
          <p:cNvSpPr>
            <a:spLocks noGrp="1"/>
          </p:cNvSpPr>
          <p:nvPr>
            <p:ph type="title"/>
          </p:nvPr>
        </p:nvSpPr>
        <p:spPr/>
        <p:txBody>
          <a:bodyPr/>
          <a:lstStyle/>
          <a:p>
            <a:r>
              <a:rPr lang="en-ID" dirty="0"/>
              <a:t>Hunting From Log Strategy </a:t>
            </a:r>
          </a:p>
        </p:txBody>
      </p:sp>
      <p:sp>
        <p:nvSpPr>
          <p:cNvPr id="3" name="Content Placeholder 2">
            <a:extLst>
              <a:ext uri="{FF2B5EF4-FFF2-40B4-BE49-F238E27FC236}">
                <a16:creationId xmlns:a16="http://schemas.microsoft.com/office/drawing/2014/main" id="{A330C8BE-C358-2389-35F1-2BF69144AD51}"/>
              </a:ext>
            </a:extLst>
          </p:cNvPr>
          <p:cNvSpPr>
            <a:spLocks noGrp="1"/>
          </p:cNvSpPr>
          <p:nvPr>
            <p:ph idx="1"/>
          </p:nvPr>
        </p:nvSpPr>
        <p:spPr/>
        <p:txBody>
          <a:bodyPr/>
          <a:lstStyle/>
          <a:p>
            <a:r>
              <a:rPr lang="en-US" dirty="0"/>
              <a:t>Logs = Lots of data = Lots of time</a:t>
            </a:r>
          </a:p>
          <a:p>
            <a:r>
              <a:rPr lang="en-US" dirty="0"/>
              <a:t>Have a plan for your log analysis</a:t>
            </a:r>
          </a:p>
          <a:p>
            <a:r>
              <a:rPr lang="en-US" dirty="0"/>
              <a:t>Decide on: </a:t>
            </a:r>
          </a:p>
          <a:p>
            <a:pPr lvl="1"/>
            <a:r>
              <a:rPr lang="en-US" dirty="0"/>
              <a:t>What logs do you want to start with</a:t>
            </a:r>
          </a:p>
          <a:p>
            <a:pPr lvl="1"/>
            <a:r>
              <a:rPr lang="en-US" dirty="0"/>
              <a:t>What attacker behavior is likely to look like</a:t>
            </a:r>
          </a:p>
          <a:p>
            <a:pPr lvl="1"/>
            <a:r>
              <a:rPr lang="en-US" dirty="0"/>
              <a:t>How long you will spend on each log</a:t>
            </a:r>
          </a:p>
          <a:p>
            <a:r>
              <a:rPr lang="en-US" dirty="0"/>
              <a:t>This doesn’t mean ignoring logs!</a:t>
            </a:r>
            <a:endParaRPr lang="en-ID" dirty="0"/>
          </a:p>
          <a:p>
            <a:endParaRPr lang="en-ID" dirty="0"/>
          </a:p>
        </p:txBody>
      </p:sp>
      <p:pic>
        <p:nvPicPr>
          <p:cNvPr id="7" name="Picture 6">
            <a:extLst>
              <a:ext uri="{FF2B5EF4-FFF2-40B4-BE49-F238E27FC236}">
                <a16:creationId xmlns:a16="http://schemas.microsoft.com/office/drawing/2014/main" id="{9F3B2CA6-321D-DE2D-41CE-0D136521A4E6}"/>
              </a:ext>
            </a:extLst>
          </p:cNvPr>
          <p:cNvPicPr>
            <a:picLocks noChangeAspect="1"/>
          </p:cNvPicPr>
          <p:nvPr/>
        </p:nvPicPr>
        <p:blipFill>
          <a:blip r:embed="rId2"/>
          <a:stretch>
            <a:fillRect/>
          </a:stretch>
        </p:blipFill>
        <p:spPr>
          <a:xfrm>
            <a:off x="8033082" y="1568864"/>
            <a:ext cx="3320718" cy="4608099"/>
          </a:xfrm>
          <a:prstGeom prst="rect">
            <a:avLst/>
          </a:prstGeom>
        </p:spPr>
      </p:pic>
    </p:spTree>
    <p:extLst>
      <p:ext uri="{BB962C8B-B14F-4D97-AF65-F5344CB8AC3E}">
        <p14:creationId xmlns:p14="http://schemas.microsoft.com/office/powerpoint/2010/main" val="284542031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E27F-E1B5-5103-FD57-D59776BD4742}"/>
              </a:ext>
            </a:extLst>
          </p:cNvPr>
          <p:cNvSpPr>
            <a:spLocks noGrp="1"/>
          </p:cNvSpPr>
          <p:nvPr>
            <p:ph type="title"/>
          </p:nvPr>
        </p:nvSpPr>
        <p:spPr/>
        <p:txBody>
          <a:bodyPr/>
          <a:lstStyle/>
          <a:p>
            <a:r>
              <a:rPr lang="en-ID" dirty="0"/>
              <a:t>Common Logs and Locations </a:t>
            </a:r>
          </a:p>
        </p:txBody>
      </p:sp>
      <p:sp>
        <p:nvSpPr>
          <p:cNvPr id="3" name="Content Placeholder 2">
            <a:extLst>
              <a:ext uri="{FF2B5EF4-FFF2-40B4-BE49-F238E27FC236}">
                <a16:creationId xmlns:a16="http://schemas.microsoft.com/office/drawing/2014/main" id="{373BDCF8-CA1E-1C2D-5DDE-808EC8E547C8}"/>
              </a:ext>
            </a:extLst>
          </p:cNvPr>
          <p:cNvSpPr>
            <a:spLocks noGrp="1"/>
          </p:cNvSpPr>
          <p:nvPr>
            <p:ph idx="1"/>
          </p:nvPr>
        </p:nvSpPr>
        <p:spPr/>
        <p:txBody>
          <a:bodyPr>
            <a:normAutofit lnSpcReduction="10000"/>
          </a:bodyPr>
          <a:lstStyle/>
          <a:p>
            <a:r>
              <a:rPr lang="en-US" b="1" dirty="0"/>
              <a:t>Linux keeps lots of logs</a:t>
            </a:r>
          </a:p>
          <a:p>
            <a:r>
              <a:rPr lang="en-US" b="1" dirty="0"/>
              <a:t>Most system logs are in /var/log</a:t>
            </a:r>
          </a:p>
          <a:p>
            <a:pPr lvl="1"/>
            <a:r>
              <a:rPr lang="en-US" dirty="0"/>
              <a:t>There are exceptions… (/var/run…)</a:t>
            </a:r>
          </a:p>
          <a:p>
            <a:r>
              <a:rPr lang="en-US" b="1" dirty="0"/>
              <a:t>Application specific logs may also exist</a:t>
            </a:r>
          </a:p>
          <a:p>
            <a:r>
              <a:rPr lang="en-US" b="1" dirty="0"/>
              <a:t>Log Analysis is essential for effective triage and IR</a:t>
            </a:r>
          </a:p>
          <a:p>
            <a:r>
              <a:rPr lang="en-US" b="1" dirty="0"/>
              <a:t>Primary log sources</a:t>
            </a:r>
          </a:p>
          <a:p>
            <a:pPr lvl="1"/>
            <a:r>
              <a:rPr lang="en-US" dirty="0"/>
              <a:t>Global system log</a:t>
            </a:r>
          </a:p>
          <a:p>
            <a:pPr lvl="1"/>
            <a:r>
              <a:rPr lang="en-US" dirty="0"/>
              <a:t>Authentication logs</a:t>
            </a:r>
          </a:p>
          <a:p>
            <a:pPr lvl="1"/>
            <a:r>
              <a:rPr lang="en-US" dirty="0"/>
              <a:t>Audit logs</a:t>
            </a:r>
          </a:p>
          <a:p>
            <a:pPr lvl="1"/>
            <a:r>
              <a:rPr lang="en-US" dirty="0"/>
              <a:t>Applications</a:t>
            </a:r>
            <a:endParaRPr lang="en-ID" dirty="0"/>
          </a:p>
          <a:p>
            <a:endParaRPr lang="en-ID" dirty="0"/>
          </a:p>
        </p:txBody>
      </p:sp>
    </p:spTree>
    <p:extLst>
      <p:ext uri="{BB962C8B-B14F-4D97-AF65-F5344CB8AC3E}">
        <p14:creationId xmlns:p14="http://schemas.microsoft.com/office/powerpoint/2010/main" val="33395494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6E476B-E03B-640B-48CD-6F47923BE0F8}"/>
              </a:ext>
            </a:extLst>
          </p:cNvPr>
          <p:cNvSpPr>
            <a:spLocks noGrp="1"/>
          </p:cNvSpPr>
          <p:nvPr>
            <p:ph type="title"/>
          </p:nvPr>
        </p:nvSpPr>
        <p:spPr/>
        <p:txBody>
          <a:bodyPr/>
          <a:lstStyle/>
          <a:p>
            <a:r>
              <a:rPr lang="en-GB" b="1" dirty="0"/>
              <a:t>Common Logs and Locations</a:t>
            </a:r>
            <a:endParaRPr lang="en-ID" b="1" dirty="0"/>
          </a:p>
        </p:txBody>
      </p:sp>
      <p:sp>
        <p:nvSpPr>
          <p:cNvPr id="5" name="Text Placeholder 4">
            <a:extLst>
              <a:ext uri="{FF2B5EF4-FFF2-40B4-BE49-F238E27FC236}">
                <a16:creationId xmlns:a16="http://schemas.microsoft.com/office/drawing/2014/main" id="{F8EA294B-6DCB-8F69-E965-0EEE86D35DF8}"/>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333345140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1917-A24D-762F-6E3E-E880B2C7BCE0}"/>
              </a:ext>
            </a:extLst>
          </p:cNvPr>
          <p:cNvSpPr>
            <a:spLocks noGrp="1"/>
          </p:cNvSpPr>
          <p:nvPr>
            <p:ph type="title"/>
          </p:nvPr>
        </p:nvSpPr>
        <p:spPr/>
        <p:txBody>
          <a:bodyPr/>
          <a:lstStyle/>
          <a:p>
            <a:r>
              <a:rPr lang="en-ID" dirty="0"/>
              <a:t>Global System Log (1) </a:t>
            </a:r>
          </a:p>
        </p:txBody>
      </p:sp>
      <p:sp>
        <p:nvSpPr>
          <p:cNvPr id="3" name="Content Placeholder 2">
            <a:extLst>
              <a:ext uri="{FF2B5EF4-FFF2-40B4-BE49-F238E27FC236}">
                <a16:creationId xmlns:a16="http://schemas.microsoft.com/office/drawing/2014/main" id="{C59AF8BB-9EDE-CD99-9904-354C5F8B7A9B}"/>
              </a:ext>
            </a:extLst>
          </p:cNvPr>
          <p:cNvSpPr>
            <a:spLocks noGrp="1"/>
          </p:cNvSpPr>
          <p:nvPr>
            <p:ph idx="1"/>
          </p:nvPr>
        </p:nvSpPr>
        <p:spPr/>
        <p:txBody>
          <a:bodyPr/>
          <a:lstStyle/>
          <a:p>
            <a:r>
              <a:rPr lang="en-ID" dirty="0"/>
              <a:t>/var/log/messages – CentOS/RHEL</a:t>
            </a:r>
          </a:p>
          <a:p>
            <a:r>
              <a:rPr lang="en-ID" dirty="0"/>
              <a:t>/var/log/syslog - Ubuntu </a:t>
            </a:r>
          </a:p>
          <a:p>
            <a:pPr marL="0" indent="0">
              <a:buNone/>
            </a:pPr>
            <a:r>
              <a:rPr lang="en-ID" dirty="0"/>
              <a:t>This file contains the messages logged during system startup, including data from </a:t>
            </a:r>
            <a:r>
              <a:rPr lang="en-ID" dirty="0" err="1"/>
              <a:t>cron</a:t>
            </a:r>
            <a:r>
              <a:rPr lang="en-ID" dirty="0"/>
              <a:t>, auth, mail etc. </a:t>
            </a:r>
          </a:p>
          <a:p>
            <a:r>
              <a:rPr lang="en-ID" dirty="0"/>
              <a:t>Often huge, very verbose</a:t>
            </a:r>
          </a:p>
          <a:p>
            <a:endParaRPr lang="en-ID" dirty="0"/>
          </a:p>
        </p:txBody>
      </p:sp>
      <p:pic>
        <p:nvPicPr>
          <p:cNvPr id="4" name="Picture 3">
            <a:extLst>
              <a:ext uri="{FF2B5EF4-FFF2-40B4-BE49-F238E27FC236}">
                <a16:creationId xmlns:a16="http://schemas.microsoft.com/office/drawing/2014/main" id="{646A379F-3DDA-1C42-0E1F-ED73CE6548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9734" y="4318634"/>
            <a:ext cx="10892531" cy="185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14826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CDF8-CDDB-30CD-EF64-9414EBC438F7}"/>
              </a:ext>
            </a:extLst>
          </p:cNvPr>
          <p:cNvSpPr>
            <a:spLocks noGrp="1"/>
          </p:cNvSpPr>
          <p:nvPr>
            <p:ph type="title"/>
          </p:nvPr>
        </p:nvSpPr>
        <p:spPr/>
        <p:txBody>
          <a:bodyPr/>
          <a:lstStyle/>
          <a:p>
            <a:r>
              <a:rPr lang="en-ID" dirty="0"/>
              <a:t>Global System Log (2) </a:t>
            </a:r>
          </a:p>
        </p:txBody>
      </p:sp>
      <p:sp>
        <p:nvSpPr>
          <p:cNvPr id="3" name="Content Placeholder 2">
            <a:extLst>
              <a:ext uri="{FF2B5EF4-FFF2-40B4-BE49-F238E27FC236}">
                <a16:creationId xmlns:a16="http://schemas.microsoft.com/office/drawing/2014/main" id="{275DC8B0-0659-A837-B650-BBE9BB0D5AA5}"/>
              </a:ext>
            </a:extLst>
          </p:cNvPr>
          <p:cNvSpPr>
            <a:spLocks noGrp="1"/>
          </p:cNvSpPr>
          <p:nvPr>
            <p:ph idx="1"/>
          </p:nvPr>
        </p:nvSpPr>
        <p:spPr/>
        <p:txBody>
          <a:bodyPr/>
          <a:lstStyle/>
          <a:p>
            <a:r>
              <a:rPr lang="en-US" sz="2000" dirty="0"/>
              <a:t>Often, “grep” is the best tool to carve out important events.</a:t>
            </a:r>
          </a:p>
          <a:p>
            <a:r>
              <a:rPr lang="en-US" sz="2000" dirty="0"/>
              <a:t>For example, grepping for “root” to find privileged events.</a:t>
            </a:r>
          </a:p>
          <a:p>
            <a:endParaRPr lang="en-US" sz="2000" dirty="0"/>
          </a:p>
          <a:p>
            <a:endParaRPr lang="en-US" sz="2000" dirty="0"/>
          </a:p>
          <a:p>
            <a:r>
              <a:rPr lang="en-US" sz="2000" dirty="0"/>
              <a:t>Common IR search strings include</a:t>
            </a:r>
          </a:p>
          <a:p>
            <a:pPr lvl="1"/>
            <a:r>
              <a:rPr lang="en-US" sz="1800" dirty="0"/>
              <a:t>root</a:t>
            </a:r>
          </a:p>
          <a:p>
            <a:pPr lvl="1"/>
            <a:r>
              <a:rPr lang="en-US" sz="1800" dirty="0"/>
              <a:t>CMD</a:t>
            </a:r>
          </a:p>
          <a:p>
            <a:pPr lvl="1"/>
            <a:r>
              <a:rPr lang="en-US" sz="1800" dirty="0" err="1"/>
              <a:t>Usb</a:t>
            </a:r>
            <a:endParaRPr lang="en-US" sz="1800" dirty="0"/>
          </a:p>
          <a:p>
            <a:r>
              <a:rPr lang="en-US" sz="2000" dirty="0"/>
              <a:t>CentOS only – search for </a:t>
            </a:r>
            <a:r>
              <a:rPr lang="en-US" sz="2000" dirty="0" err="1"/>
              <a:t>su</a:t>
            </a:r>
            <a:r>
              <a:rPr lang="en-US" sz="2000" dirty="0"/>
              <a:t> use:</a:t>
            </a:r>
            <a:endParaRPr lang="en-ID" sz="2000" dirty="0"/>
          </a:p>
          <a:p>
            <a:endParaRPr lang="en-ID" dirty="0"/>
          </a:p>
        </p:txBody>
      </p:sp>
      <p:pic>
        <p:nvPicPr>
          <p:cNvPr id="4" name="Picture 3">
            <a:extLst>
              <a:ext uri="{FF2B5EF4-FFF2-40B4-BE49-F238E27FC236}">
                <a16:creationId xmlns:a16="http://schemas.microsoft.com/office/drawing/2014/main" id="{992F1485-EFD1-BB89-DE41-7428841B5E53}"/>
              </a:ext>
            </a:extLst>
          </p:cNvPr>
          <p:cNvPicPr>
            <a:picLocks noChangeAspect="1"/>
          </p:cNvPicPr>
          <p:nvPr/>
        </p:nvPicPr>
        <p:blipFill>
          <a:blip r:embed="rId2"/>
          <a:stretch>
            <a:fillRect/>
          </a:stretch>
        </p:blipFill>
        <p:spPr>
          <a:xfrm>
            <a:off x="1416164" y="2556020"/>
            <a:ext cx="9359671" cy="872980"/>
          </a:xfrm>
          <a:prstGeom prst="rect">
            <a:avLst/>
          </a:prstGeom>
        </p:spPr>
      </p:pic>
      <p:pic>
        <p:nvPicPr>
          <p:cNvPr id="5" name="Picture 4">
            <a:extLst>
              <a:ext uri="{FF2B5EF4-FFF2-40B4-BE49-F238E27FC236}">
                <a16:creationId xmlns:a16="http://schemas.microsoft.com/office/drawing/2014/main" id="{5742D82C-B265-8F22-592B-6D129FF5CCE5}"/>
              </a:ext>
            </a:extLst>
          </p:cNvPr>
          <p:cNvPicPr>
            <a:picLocks noChangeAspect="1"/>
          </p:cNvPicPr>
          <p:nvPr/>
        </p:nvPicPr>
        <p:blipFill>
          <a:blip r:embed="rId3"/>
          <a:stretch>
            <a:fillRect/>
          </a:stretch>
        </p:blipFill>
        <p:spPr>
          <a:xfrm>
            <a:off x="1577031" y="5161743"/>
            <a:ext cx="9037938" cy="1015220"/>
          </a:xfrm>
          <a:prstGeom prst="rect">
            <a:avLst/>
          </a:prstGeom>
        </p:spPr>
      </p:pic>
    </p:spTree>
    <p:extLst>
      <p:ext uri="{BB962C8B-B14F-4D97-AF65-F5344CB8AC3E}">
        <p14:creationId xmlns:p14="http://schemas.microsoft.com/office/powerpoint/2010/main" val="143229324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BA97-35F5-43A3-6CDF-DA50B837A86B}"/>
              </a:ext>
            </a:extLst>
          </p:cNvPr>
          <p:cNvSpPr>
            <a:spLocks noGrp="1"/>
          </p:cNvSpPr>
          <p:nvPr>
            <p:ph type="title"/>
          </p:nvPr>
        </p:nvSpPr>
        <p:spPr/>
        <p:txBody>
          <a:bodyPr/>
          <a:lstStyle/>
          <a:p>
            <a:r>
              <a:rPr lang="en-ID" dirty="0"/>
              <a:t>Authentication and Authorization Logs </a:t>
            </a:r>
          </a:p>
        </p:txBody>
      </p:sp>
      <p:sp>
        <p:nvSpPr>
          <p:cNvPr id="3" name="Content Placeholder 2">
            <a:extLst>
              <a:ext uri="{FF2B5EF4-FFF2-40B4-BE49-F238E27FC236}">
                <a16:creationId xmlns:a16="http://schemas.microsoft.com/office/drawing/2014/main" id="{F1E7700E-26EF-4E3C-B160-9353B4AB7EB2}"/>
              </a:ext>
            </a:extLst>
          </p:cNvPr>
          <p:cNvSpPr>
            <a:spLocks noGrp="1"/>
          </p:cNvSpPr>
          <p:nvPr>
            <p:ph idx="1"/>
          </p:nvPr>
        </p:nvSpPr>
        <p:spPr/>
        <p:txBody>
          <a:bodyPr/>
          <a:lstStyle/>
          <a:p>
            <a:r>
              <a:rPr lang="en-US" b="1" dirty="0"/>
              <a:t>Most distros capture account-use data by default</a:t>
            </a:r>
          </a:p>
          <a:p>
            <a:r>
              <a:rPr lang="en-US" b="1" dirty="0"/>
              <a:t>Data includes</a:t>
            </a:r>
          </a:p>
          <a:p>
            <a:pPr lvl="1"/>
            <a:r>
              <a:rPr lang="en-US" dirty="0"/>
              <a:t>Timestamps</a:t>
            </a:r>
          </a:p>
          <a:p>
            <a:pPr lvl="1"/>
            <a:r>
              <a:rPr lang="en-US" dirty="0"/>
              <a:t>Username</a:t>
            </a:r>
          </a:p>
          <a:p>
            <a:pPr lvl="1"/>
            <a:r>
              <a:rPr lang="en-US" dirty="0"/>
              <a:t>Login source</a:t>
            </a:r>
          </a:p>
          <a:p>
            <a:pPr lvl="1"/>
            <a:r>
              <a:rPr lang="en-US" dirty="0"/>
              <a:t>Authentication mechanism</a:t>
            </a:r>
          </a:p>
          <a:p>
            <a:r>
              <a:rPr lang="en-US" b="1" dirty="0"/>
              <a:t>Authentication logs can be plain text, but most are binary.</a:t>
            </a:r>
          </a:p>
          <a:p>
            <a:pPr lvl="1"/>
            <a:r>
              <a:rPr lang="en-US" dirty="0" err="1"/>
              <a:t>utmp</a:t>
            </a:r>
            <a:r>
              <a:rPr lang="en-US" dirty="0"/>
              <a:t> | </a:t>
            </a:r>
            <a:r>
              <a:rPr lang="en-US" dirty="0" err="1"/>
              <a:t>wtmp</a:t>
            </a:r>
            <a:r>
              <a:rPr lang="en-US" dirty="0"/>
              <a:t> | </a:t>
            </a:r>
            <a:r>
              <a:rPr lang="en-US" dirty="0" err="1"/>
              <a:t>btmp</a:t>
            </a:r>
            <a:r>
              <a:rPr lang="en-US" dirty="0"/>
              <a:t> are binary</a:t>
            </a:r>
          </a:p>
          <a:p>
            <a:pPr lvl="1"/>
            <a:r>
              <a:rPr lang="en-US" dirty="0"/>
              <a:t>auth.log and secure are plain text</a:t>
            </a:r>
            <a:endParaRPr lang="en-ID" dirty="0"/>
          </a:p>
          <a:p>
            <a:endParaRPr lang="en-ID" dirty="0"/>
          </a:p>
        </p:txBody>
      </p:sp>
    </p:spTree>
    <p:extLst>
      <p:ext uri="{BB962C8B-B14F-4D97-AF65-F5344CB8AC3E}">
        <p14:creationId xmlns:p14="http://schemas.microsoft.com/office/powerpoint/2010/main" val="22302262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025A-2718-2F7E-7819-A3361EE61B1A}"/>
              </a:ext>
            </a:extLst>
          </p:cNvPr>
          <p:cNvSpPr>
            <a:spLocks noGrp="1"/>
          </p:cNvSpPr>
          <p:nvPr>
            <p:ph type="title"/>
          </p:nvPr>
        </p:nvSpPr>
        <p:spPr/>
        <p:txBody>
          <a:bodyPr/>
          <a:lstStyle/>
          <a:p>
            <a:r>
              <a:rPr lang="en-ID" dirty="0"/>
              <a:t>Authorization and Privilege Use </a:t>
            </a:r>
          </a:p>
        </p:txBody>
      </p:sp>
      <p:sp>
        <p:nvSpPr>
          <p:cNvPr id="3" name="Content Placeholder 2">
            <a:extLst>
              <a:ext uri="{FF2B5EF4-FFF2-40B4-BE49-F238E27FC236}">
                <a16:creationId xmlns:a16="http://schemas.microsoft.com/office/drawing/2014/main" id="{18FFAC2C-E4AB-2EB7-3BED-F83E437236CE}"/>
              </a:ext>
            </a:extLst>
          </p:cNvPr>
          <p:cNvSpPr>
            <a:spLocks noGrp="1"/>
          </p:cNvSpPr>
          <p:nvPr>
            <p:ph idx="1"/>
          </p:nvPr>
        </p:nvSpPr>
        <p:spPr/>
        <p:txBody>
          <a:bodyPr>
            <a:normAutofit/>
          </a:bodyPr>
          <a:lstStyle/>
          <a:p>
            <a:r>
              <a:rPr lang="en-ID" sz="2400" dirty="0"/>
              <a:t>/var/log/secure – CentOS/RHEL</a:t>
            </a:r>
          </a:p>
          <a:p>
            <a:r>
              <a:rPr lang="en-ID" sz="2400" dirty="0"/>
              <a:t>/var/log/auth.log – Ubuntu</a:t>
            </a:r>
          </a:p>
          <a:p>
            <a:r>
              <a:rPr lang="en-ID" sz="2400" dirty="0"/>
              <a:t>Contains data on user login and privilege use</a:t>
            </a:r>
          </a:p>
          <a:p>
            <a:r>
              <a:rPr lang="en-ID" sz="2400" dirty="0"/>
              <a:t>Example – using </a:t>
            </a:r>
            <a:r>
              <a:rPr lang="en-ID" sz="2400" dirty="0" err="1"/>
              <a:t>sudo</a:t>
            </a:r>
            <a:r>
              <a:rPr lang="en-ID" sz="2400" dirty="0"/>
              <a:t> to install a package (Ubuntu)</a:t>
            </a:r>
          </a:p>
          <a:p>
            <a:endParaRPr lang="en-ID" sz="2400" dirty="0"/>
          </a:p>
          <a:p>
            <a:endParaRPr lang="en-ID" sz="2400" dirty="0"/>
          </a:p>
          <a:p>
            <a:r>
              <a:rPr lang="en-US" sz="2400" dirty="0">
                <a:solidFill>
                  <a:prstClr val="black"/>
                </a:solidFill>
                <a:latin typeface="Georgia" panose="02040502050405020303"/>
              </a:rPr>
              <a:t>Example – root adding new user account (CentOS) </a:t>
            </a:r>
            <a:endParaRPr lang="en-ID" sz="2400" dirty="0">
              <a:solidFill>
                <a:prstClr val="black"/>
              </a:solidFill>
              <a:latin typeface="Georgia" panose="02040502050405020303"/>
            </a:endParaRPr>
          </a:p>
          <a:p>
            <a:endParaRPr lang="en-ID" sz="2400" dirty="0"/>
          </a:p>
        </p:txBody>
      </p:sp>
      <p:pic>
        <p:nvPicPr>
          <p:cNvPr id="4" name="image183.png">
            <a:extLst>
              <a:ext uri="{FF2B5EF4-FFF2-40B4-BE49-F238E27FC236}">
                <a16:creationId xmlns:a16="http://schemas.microsoft.com/office/drawing/2014/main" id="{843AF068-C12B-268D-0E91-CC4A9BB0DE7D}"/>
              </a:ext>
            </a:extLst>
          </p:cNvPr>
          <p:cNvPicPr>
            <a:picLocks noChangeAspect="1"/>
          </p:cNvPicPr>
          <p:nvPr/>
        </p:nvPicPr>
        <p:blipFill>
          <a:blip r:embed="rId2" cstate="print"/>
          <a:stretch>
            <a:fillRect/>
          </a:stretch>
        </p:blipFill>
        <p:spPr>
          <a:xfrm>
            <a:off x="410862" y="3696787"/>
            <a:ext cx="11370276" cy="780625"/>
          </a:xfrm>
          <a:prstGeom prst="rect">
            <a:avLst/>
          </a:prstGeom>
        </p:spPr>
      </p:pic>
      <p:pic>
        <p:nvPicPr>
          <p:cNvPr id="5" name="image184.png">
            <a:extLst>
              <a:ext uri="{FF2B5EF4-FFF2-40B4-BE49-F238E27FC236}">
                <a16:creationId xmlns:a16="http://schemas.microsoft.com/office/drawing/2014/main" id="{849EE8DA-04DF-578A-1C70-393394D02AA4}"/>
              </a:ext>
            </a:extLst>
          </p:cNvPr>
          <p:cNvPicPr>
            <a:picLocks noChangeAspect="1"/>
          </p:cNvPicPr>
          <p:nvPr/>
        </p:nvPicPr>
        <p:blipFill>
          <a:blip r:embed="rId3" cstate="print"/>
          <a:stretch>
            <a:fillRect/>
          </a:stretch>
        </p:blipFill>
        <p:spPr>
          <a:xfrm>
            <a:off x="594947" y="5069766"/>
            <a:ext cx="11002105" cy="780625"/>
          </a:xfrm>
          <a:prstGeom prst="rect">
            <a:avLst/>
          </a:prstGeom>
        </p:spPr>
      </p:pic>
    </p:spTree>
    <p:extLst>
      <p:ext uri="{BB962C8B-B14F-4D97-AF65-F5344CB8AC3E}">
        <p14:creationId xmlns:p14="http://schemas.microsoft.com/office/powerpoint/2010/main" val="246080456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CE0C7-D50A-6A65-A736-E64F64962293}"/>
              </a:ext>
            </a:extLst>
          </p:cNvPr>
          <p:cNvSpPr>
            <a:spLocks noGrp="1"/>
          </p:cNvSpPr>
          <p:nvPr>
            <p:ph type="title"/>
          </p:nvPr>
        </p:nvSpPr>
        <p:spPr/>
        <p:txBody>
          <a:bodyPr/>
          <a:lstStyle/>
          <a:p>
            <a:r>
              <a:rPr lang="en-ID" dirty="0"/>
              <a:t>Binary Login Logs </a:t>
            </a:r>
          </a:p>
        </p:txBody>
      </p:sp>
      <p:sp>
        <p:nvSpPr>
          <p:cNvPr id="3" name="Content Placeholder 2">
            <a:extLst>
              <a:ext uri="{FF2B5EF4-FFF2-40B4-BE49-F238E27FC236}">
                <a16:creationId xmlns:a16="http://schemas.microsoft.com/office/drawing/2014/main" id="{0D3DE9A6-D420-3374-4963-E29964B632E0}"/>
              </a:ext>
            </a:extLst>
          </p:cNvPr>
          <p:cNvSpPr>
            <a:spLocks noGrp="1"/>
          </p:cNvSpPr>
          <p:nvPr>
            <p:ph idx="1"/>
          </p:nvPr>
        </p:nvSpPr>
        <p:spPr/>
        <p:txBody>
          <a:bodyPr/>
          <a:lstStyle/>
          <a:p>
            <a:r>
              <a:rPr lang="en-US" b="1" dirty="0"/>
              <a:t>Three main files</a:t>
            </a:r>
          </a:p>
          <a:p>
            <a:pPr lvl="1"/>
            <a:r>
              <a:rPr lang="en-US" dirty="0"/>
              <a:t>/var/ </a:t>
            </a:r>
            <a:r>
              <a:rPr lang="en-US" b="1" dirty="0"/>
              <a:t>run</a:t>
            </a:r>
            <a:r>
              <a:rPr lang="en-US" dirty="0"/>
              <a:t>/</a:t>
            </a:r>
            <a:r>
              <a:rPr lang="en-US" dirty="0" err="1"/>
              <a:t>utmp</a:t>
            </a:r>
            <a:endParaRPr lang="en-US" dirty="0"/>
          </a:p>
          <a:p>
            <a:pPr lvl="2"/>
            <a:r>
              <a:rPr lang="en-ID" dirty="0"/>
              <a:t>Users/sessions currently logged in. Data is written to </a:t>
            </a:r>
            <a:r>
              <a:rPr lang="en-ID" dirty="0" err="1"/>
              <a:t>wtmp</a:t>
            </a:r>
            <a:r>
              <a:rPr lang="en-ID" dirty="0"/>
              <a:t> on system shutdown/reboot.</a:t>
            </a:r>
          </a:p>
          <a:p>
            <a:pPr lvl="1"/>
            <a:r>
              <a:rPr lang="en-ID" dirty="0"/>
              <a:t>/var/log/</a:t>
            </a:r>
            <a:r>
              <a:rPr lang="en-ID" dirty="0" err="1"/>
              <a:t>wtmp</a:t>
            </a:r>
            <a:endParaRPr lang="en-ID" dirty="0"/>
          </a:p>
          <a:p>
            <a:pPr lvl="2"/>
            <a:r>
              <a:rPr lang="en-ID" dirty="0"/>
              <a:t>Historical </a:t>
            </a:r>
            <a:r>
              <a:rPr lang="en-ID" dirty="0" err="1"/>
              <a:t>utmp</a:t>
            </a:r>
            <a:r>
              <a:rPr lang="en-ID" dirty="0"/>
              <a:t> data</a:t>
            </a:r>
          </a:p>
          <a:p>
            <a:pPr lvl="1"/>
            <a:r>
              <a:rPr lang="en-ID" dirty="0"/>
              <a:t>/var/log/</a:t>
            </a:r>
            <a:r>
              <a:rPr lang="en-ID" dirty="0" err="1"/>
              <a:t>btmp</a:t>
            </a:r>
            <a:endParaRPr lang="en-ID" dirty="0"/>
          </a:p>
          <a:p>
            <a:pPr lvl="2"/>
            <a:r>
              <a:rPr lang="en-ID" dirty="0"/>
              <a:t>Failed login events.</a:t>
            </a:r>
          </a:p>
          <a:p>
            <a:r>
              <a:rPr lang="en-ID" b="1" dirty="0"/>
              <a:t>All are binary files</a:t>
            </a:r>
          </a:p>
          <a:p>
            <a:endParaRPr lang="en-ID" dirty="0"/>
          </a:p>
        </p:txBody>
      </p:sp>
    </p:spTree>
    <p:extLst>
      <p:ext uri="{BB962C8B-B14F-4D97-AF65-F5344CB8AC3E}">
        <p14:creationId xmlns:p14="http://schemas.microsoft.com/office/powerpoint/2010/main" val="344003830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4FC9-2879-1EBD-C3DA-ACDB4E0DAEE4}"/>
              </a:ext>
            </a:extLst>
          </p:cNvPr>
          <p:cNvSpPr>
            <a:spLocks noGrp="1"/>
          </p:cNvSpPr>
          <p:nvPr>
            <p:ph type="title"/>
          </p:nvPr>
        </p:nvSpPr>
        <p:spPr/>
        <p:txBody>
          <a:bodyPr/>
          <a:lstStyle/>
          <a:p>
            <a:r>
              <a:rPr lang="en-ID" dirty="0"/>
              <a:t>Viewing Binary Login Files </a:t>
            </a:r>
          </a:p>
        </p:txBody>
      </p:sp>
      <p:sp>
        <p:nvSpPr>
          <p:cNvPr id="3" name="Content Placeholder 2">
            <a:extLst>
              <a:ext uri="{FF2B5EF4-FFF2-40B4-BE49-F238E27FC236}">
                <a16:creationId xmlns:a16="http://schemas.microsoft.com/office/drawing/2014/main" id="{387CF0D6-7553-0D60-02AC-F8EC4BDC8E48}"/>
              </a:ext>
            </a:extLst>
          </p:cNvPr>
          <p:cNvSpPr>
            <a:spLocks noGrp="1"/>
          </p:cNvSpPr>
          <p:nvPr>
            <p:ph idx="1"/>
          </p:nvPr>
        </p:nvSpPr>
        <p:spPr/>
        <p:txBody>
          <a:bodyPr/>
          <a:lstStyle/>
          <a:p>
            <a:r>
              <a:rPr lang="en-US" dirty="0"/>
              <a:t>Using last</a:t>
            </a:r>
          </a:p>
          <a:p>
            <a:pPr marL="0" indent="0">
              <a:buNone/>
            </a:pPr>
            <a:endParaRPr lang="en-US" dirty="0"/>
          </a:p>
          <a:p>
            <a:pPr marL="0" indent="0">
              <a:buNone/>
            </a:pPr>
            <a:endParaRPr lang="en-US" dirty="0"/>
          </a:p>
          <a:p>
            <a:pPr marL="0" indent="0">
              <a:buNone/>
            </a:pPr>
            <a:endParaRPr lang="en-US" dirty="0"/>
          </a:p>
          <a:p>
            <a:r>
              <a:rPr lang="en-US" dirty="0"/>
              <a:t>Using </a:t>
            </a:r>
            <a:r>
              <a:rPr lang="en-US" dirty="0" err="1"/>
              <a:t>utmpdump</a:t>
            </a:r>
            <a:endParaRPr lang="en-US" dirty="0"/>
          </a:p>
          <a:p>
            <a:pPr marL="0" indent="0">
              <a:buNone/>
            </a:pPr>
            <a:endParaRPr lang="en-ID" dirty="0"/>
          </a:p>
          <a:p>
            <a:endParaRPr lang="en-ID" dirty="0"/>
          </a:p>
        </p:txBody>
      </p:sp>
      <p:pic>
        <p:nvPicPr>
          <p:cNvPr id="4" name="image185.png">
            <a:extLst>
              <a:ext uri="{FF2B5EF4-FFF2-40B4-BE49-F238E27FC236}">
                <a16:creationId xmlns:a16="http://schemas.microsoft.com/office/drawing/2014/main" id="{AD7CFD5D-397F-189F-71CD-DB279653244D}"/>
              </a:ext>
            </a:extLst>
          </p:cNvPr>
          <p:cNvPicPr>
            <a:picLocks noChangeAspect="1"/>
          </p:cNvPicPr>
          <p:nvPr/>
        </p:nvPicPr>
        <p:blipFill>
          <a:blip r:embed="rId2" cstate="print"/>
          <a:stretch>
            <a:fillRect/>
          </a:stretch>
        </p:blipFill>
        <p:spPr>
          <a:xfrm>
            <a:off x="965562" y="2278582"/>
            <a:ext cx="10260876" cy="1199405"/>
          </a:xfrm>
          <a:prstGeom prst="rect">
            <a:avLst/>
          </a:prstGeom>
        </p:spPr>
      </p:pic>
      <p:pic>
        <p:nvPicPr>
          <p:cNvPr id="5" name="image186.png">
            <a:extLst>
              <a:ext uri="{FF2B5EF4-FFF2-40B4-BE49-F238E27FC236}">
                <a16:creationId xmlns:a16="http://schemas.microsoft.com/office/drawing/2014/main" id="{7C158569-AB34-AF29-867E-CF7D984D0DDC}"/>
              </a:ext>
            </a:extLst>
          </p:cNvPr>
          <p:cNvPicPr>
            <a:picLocks noChangeAspect="1"/>
          </p:cNvPicPr>
          <p:nvPr/>
        </p:nvPicPr>
        <p:blipFill>
          <a:blip r:embed="rId3" cstate="print"/>
          <a:stretch>
            <a:fillRect/>
          </a:stretch>
        </p:blipFill>
        <p:spPr>
          <a:xfrm>
            <a:off x="1061973" y="4382419"/>
            <a:ext cx="10068054" cy="1794544"/>
          </a:xfrm>
          <a:prstGeom prst="rect">
            <a:avLst/>
          </a:prstGeom>
        </p:spPr>
      </p:pic>
    </p:spTree>
    <p:extLst>
      <p:ext uri="{BB962C8B-B14F-4D97-AF65-F5344CB8AC3E}">
        <p14:creationId xmlns:p14="http://schemas.microsoft.com/office/powerpoint/2010/main" val="29226758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CD6D9-3567-FEB4-E13C-6E303DE83945}"/>
              </a:ext>
            </a:extLst>
          </p:cNvPr>
          <p:cNvSpPr>
            <a:spLocks noGrp="1"/>
          </p:cNvSpPr>
          <p:nvPr>
            <p:ph type="title"/>
          </p:nvPr>
        </p:nvSpPr>
        <p:spPr/>
        <p:txBody>
          <a:bodyPr/>
          <a:lstStyle/>
          <a:p>
            <a:r>
              <a:rPr lang="en-ID" dirty="0"/>
              <a:t>Logins: </a:t>
            </a:r>
            <a:r>
              <a:rPr lang="en-ID" dirty="0" err="1"/>
              <a:t>wtmp</a:t>
            </a:r>
            <a:r>
              <a:rPr lang="en-ID" dirty="0"/>
              <a:t> Analysis </a:t>
            </a:r>
          </a:p>
        </p:txBody>
      </p:sp>
      <p:pic>
        <p:nvPicPr>
          <p:cNvPr id="4" name="Content Placeholder 3">
            <a:extLst>
              <a:ext uri="{FF2B5EF4-FFF2-40B4-BE49-F238E27FC236}">
                <a16:creationId xmlns:a16="http://schemas.microsoft.com/office/drawing/2014/main" id="{C280DDDF-298C-6653-99BD-E9CE03B88A6D}"/>
              </a:ext>
            </a:extLst>
          </p:cNvPr>
          <p:cNvPicPr>
            <a:picLocks noGrp="1" noChangeAspect="1"/>
          </p:cNvPicPr>
          <p:nvPr>
            <p:ph idx="1"/>
          </p:nvPr>
        </p:nvPicPr>
        <p:blipFill>
          <a:blip r:embed="rId2"/>
          <a:stretch>
            <a:fillRect/>
          </a:stretch>
        </p:blipFill>
        <p:spPr>
          <a:xfrm>
            <a:off x="1036864" y="1807578"/>
            <a:ext cx="10118271" cy="4422237"/>
          </a:xfrm>
          <a:prstGeom prst="rect">
            <a:avLst/>
          </a:prstGeom>
        </p:spPr>
      </p:pic>
    </p:spTree>
    <p:extLst>
      <p:ext uri="{BB962C8B-B14F-4D97-AF65-F5344CB8AC3E}">
        <p14:creationId xmlns:p14="http://schemas.microsoft.com/office/powerpoint/2010/main" val="350189112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B4A1E-02A2-CAA0-98F8-CAD446370B46}"/>
              </a:ext>
            </a:extLst>
          </p:cNvPr>
          <p:cNvSpPr>
            <a:spLocks noGrp="1"/>
          </p:cNvSpPr>
          <p:nvPr>
            <p:ph type="title"/>
          </p:nvPr>
        </p:nvSpPr>
        <p:spPr/>
        <p:txBody>
          <a:bodyPr/>
          <a:lstStyle/>
          <a:p>
            <a:r>
              <a:rPr lang="en-ID" dirty="0"/>
              <a:t>Logins: </a:t>
            </a:r>
            <a:r>
              <a:rPr lang="en-ID" dirty="0" err="1"/>
              <a:t>btmp</a:t>
            </a:r>
            <a:r>
              <a:rPr lang="en-ID" dirty="0"/>
              <a:t> Analysis </a:t>
            </a:r>
          </a:p>
        </p:txBody>
      </p:sp>
      <p:pic>
        <p:nvPicPr>
          <p:cNvPr id="4" name="Content Placeholder 3">
            <a:extLst>
              <a:ext uri="{FF2B5EF4-FFF2-40B4-BE49-F238E27FC236}">
                <a16:creationId xmlns:a16="http://schemas.microsoft.com/office/drawing/2014/main" id="{4A2447C2-72AC-6118-91AA-711619BEC2FF}"/>
              </a:ext>
            </a:extLst>
          </p:cNvPr>
          <p:cNvPicPr>
            <a:picLocks noGrp="1" noChangeAspect="1"/>
          </p:cNvPicPr>
          <p:nvPr>
            <p:ph idx="1"/>
          </p:nvPr>
        </p:nvPicPr>
        <p:blipFill>
          <a:blip r:embed="rId2"/>
          <a:stretch>
            <a:fillRect/>
          </a:stretch>
        </p:blipFill>
        <p:spPr>
          <a:xfrm>
            <a:off x="1254712" y="2189810"/>
            <a:ext cx="9682575" cy="3516730"/>
          </a:xfrm>
          <a:prstGeom prst="rect">
            <a:avLst/>
          </a:prstGeom>
        </p:spPr>
      </p:pic>
    </p:spTree>
    <p:extLst>
      <p:ext uri="{BB962C8B-B14F-4D97-AF65-F5344CB8AC3E}">
        <p14:creationId xmlns:p14="http://schemas.microsoft.com/office/powerpoint/2010/main" val="151241492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3BF3C-EBFA-ECD3-69C5-928DE76718A0}"/>
              </a:ext>
            </a:extLst>
          </p:cNvPr>
          <p:cNvSpPr>
            <a:spLocks noGrp="1"/>
          </p:cNvSpPr>
          <p:nvPr>
            <p:ph type="title"/>
          </p:nvPr>
        </p:nvSpPr>
        <p:spPr/>
        <p:txBody>
          <a:bodyPr/>
          <a:lstStyle/>
          <a:p>
            <a:r>
              <a:rPr lang="en-ID" dirty="0"/>
              <a:t>Finally: </a:t>
            </a:r>
            <a:r>
              <a:rPr lang="en-ID" dirty="0" err="1"/>
              <a:t>lastlog</a:t>
            </a:r>
            <a:r>
              <a:rPr lang="en-ID" dirty="0"/>
              <a:t>/</a:t>
            </a:r>
            <a:r>
              <a:rPr lang="en-ID" dirty="0" err="1"/>
              <a:t>faillog</a:t>
            </a:r>
            <a:r>
              <a:rPr lang="en-ID" dirty="0"/>
              <a:t> </a:t>
            </a:r>
          </a:p>
        </p:txBody>
      </p:sp>
      <p:sp>
        <p:nvSpPr>
          <p:cNvPr id="3" name="Content Placeholder 2">
            <a:extLst>
              <a:ext uri="{FF2B5EF4-FFF2-40B4-BE49-F238E27FC236}">
                <a16:creationId xmlns:a16="http://schemas.microsoft.com/office/drawing/2014/main" id="{C3147AFE-8810-2D4A-3134-3AD008634E8E}"/>
              </a:ext>
            </a:extLst>
          </p:cNvPr>
          <p:cNvSpPr>
            <a:spLocks noGrp="1"/>
          </p:cNvSpPr>
          <p:nvPr>
            <p:ph idx="1"/>
          </p:nvPr>
        </p:nvSpPr>
        <p:spPr/>
        <p:txBody>
          <a:bodyPr/>
          <a:lstStyle/>
          <a:p>
            <a:r>
              <a:rPr lang="en-US" b="1" dirty="0"/>
              <a:t>/var/log/</a:t>
            </a:r>
            <a:r>
              <a:rPr lang="en-US" b="1" dirty="0" err="1"/>
              <a:t>lastlog</a:t>
            </a:r>
            <a:endParaRPr lang="en-US" b="1" dirty="0"/>
          </a:p>
          <a:p>
            <a:pPr lvl="1"/>
            <a:r>
              <a:rPr lang="en-US" dirty="0"/>
              <a:t>Displays the last login time for users on the system.</a:t>
            </a:r>
          </a:p>
          <a:p>
            <a:pPr lvl="1"/>
            <a:r>
              <a:rPr lang="en-US" dirty="0"/>
              <a:t>Use </a:t>
            </a:r>
            <a:r>
              <a:rPr lang="en-US" dirty="0" err="1"/>
              <a:t>lastlog</a:t>
            </a:r>
            <a:r>
              <a:rPr lang="en-US" dirty="0"/>
              <a:t> command to view</a:t>
            </a:r>
          </a:p>
          <a:p>
            <a:pPr lvl="1"/>
            <a:r>
              <a:rPr lang="en-US" dirty="0"/>
              <a:t>Unreliable with terminal logins</a:t>
            </a:r>
          </a:p>
          <a:p>
            <a:r>
              <a:rPr lang="en-US" b="1" dirty="0"/>
              <a:t>/var/log/</a:t>
            </a:r>
            <a:r>
              <a:rPr lang="en-US" b="1" dirty="0" err="1"/>
              <a:t>failog</a:t>
            </a:r>
            <a:endParaRPr lang="en-US" b="1" dirty="0"/>
          </a:p>
          <a:p>
            <a:pPr lvl="1"/>
            <a:r>
              <a:rPr lang="en-US" dirty="0"/>
              <a:t>Records failed authorization events</a:t>
            </a:r>
          </a:p>
          <a:p>
            <a:pPr lvl="1"/>
            <a:r>
              <a:rPr lang="en-US" dirty="0"/>
              <a:t>Very unreliable</a:t>
            </a:r>
          </a:p>
          <a:p>
            <a:pPr lvl="1"/>
            <a:r>
              <a:rPr lang="en-US" dirty="0"/>
              <a:t>Better to use secure /auth.log</a:t>
            </a:r>
          </a:p>
          <a:p>
            <a:pPr lvl="1"/>
            <a:r>
              <a:rPr lang="en-US" dirty="0"/>
              <a:t>Removed from CentOS</a:t>
            </a:r>
            <a:endParaRPr lang="en-ID" dirty="0"/>
          </a:p>
          <a:p>
            <a:endParaRPr lang="en-ID" dirty="0"/>
          </a:p>
        </p:txBody>
      </p:sp>
    </p:spTree>
    <p:extLst>
      <p:ext uri="{BB962C8B-B14F-4D97-AF65-F5344CB8AC3E}">
        <p14:creationId xmlns:p14="http://schemas.microsoft.com/office/powerpoint/2010/main" val="20105417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1032-C2BB-5A14-43C1-57D03F3D0AE1}"/>
              </a:ext>
            </a:extLst>
          </p:cNvPr>
          <p:cNvSpPr>
            <a:spLocks noGrp="1"/>
          </p:cNvSpPr>
          <p:nvPr>
            <p:ph type="title"/>
          </p:nvPr>
        </p:nvSpPr>
        <p:spPr/>
        <p:txBody>
          <a:bodyPr/>
          <a:lstStyle/>
          <a:p>
            <a:r>
              <a:rPr lang="en-ID" dirty="0"/>
              <a:t>Audit Logs </a:t>
            </a:r>
          </a:p>
        </p:txBody>
      </p:sp>
      <p:sp>
        <p:nvSpPr>
          <p:cNvPr id="3" name="Content Placeholder 2">
            <a:extLst>
              <a:ext uri="{FF2B5EF4-FFF2-40B4-BE49-F238E27FC236}">
                <a16:creationId xmlns:a16="http://schemas.microsoft.com/office/drawing/2014/main" id="{24B792AC-2B89-9783-0C24-6C863E9EAB94}"/>
              </a:ext>
            </a:extLst>
          </p:cNvPr>
          <p:cNvSpPr>
            <a:spLocks noGrp="1"/>
          </p:cNvSpPr>
          <p:nvPr>
            <p:ph idx="1"/>
          </p:nvPr>
        </p:nvSpPr>
        <p:spPr/>
        <p:txBody>
          <a:bodyPr>
            <a:normAutofit fontScale="85000" lnSpcReduction="20000"/>
          </a:bodyPr>
          <a:lstStyle/>
          <a:p>
            <a:r>
              <a:rPr lang="en-ID" b="1" dirty="0"/>
              <a:t>Driven by </a:t>
            </a:r>
            <a:r>
              <a:rPr lang="en-ID" b="1" dirty="0" err="1"/>
              <a:t>auditd</a:t>
            </a:r>
            <a:endParaRPr lang="en-ID" b="1" dirty="0"/>
          </a:p>
          <a:p>
            <a:pPr lvl="1"/>
            <a:r>
              <a:rPr lang="en-ID" dirty="0"/>
              <a:t>/var/log/audit/audit.log</a:t>
            </a:r>
          </a:p>
          <a:p>
            <a:r>
              <a:rPr lang="en-ID" b="1" dirty="0"/>
              <a:t>Text format: can be read with any tools but format is challenging</a:t>
            </a:r>
          </a:p>
          <a:p>
            <a:pPr lvl="1"/>
            <a:r>
              <a:rPr lang="en-ID" dirty="0"/>
              <a:t>grep /</a:t>
            </a:r>
            <a:r>
              <a:rPr lang="en-ID" dirty="0" err="1"/>
              <a:t>usr</a:t>
            </a:r>
            <a:r>
              <a:rPr lang="en-ID" dirty="0"/>
              <a:t>/bin/</a:t>
            </a:r>
            <a:r>
              <a:rPr lang="en-ID" dirty="0" err="1"/>
              <a:t>su</a:t>
            </a:r>
            <a:r>
              <a:rPr lang="en-ID" dirty="0"/>
              <a:t> audit.log </a:t>
            </a:r>
          </a:p>
          <a:p>
            <a:pPr lvl="1"/>
            <a:r>
              <a:rPr lang="en-ID" dirty="0"/>
              <a:t>type=USER_AUTH </a:t>
            </a:r>
            <a:r>
              <a:rPr lang="en-ID" dirty="0" err="1"/>
              <a:t>msg</a:t>
            </a:r>
            <a:r>
              <a:rPr lang="en-ID" dirty="0"/>
              <a:t>=audit(1620581024.735:176): </a:t>
            </a:r>
            <a:r>
              <a:rPr lang="en-ID" dirty="0" err="1"/>
              <a:t>pid</a:t>
            </a:r>
            <a:r>
              <a:rPr lang="en-ID" dirty="0"/>
              <a:t>=6778 </a:t>
            </a:r>
            <a:r>
              <a:rPr lang="en-ID" dirty="0" err="1"/>
              <a:t>uid</a:t>
            </a:r>
            <a:r>
              <a:rPr lang="en-ID" dirty="0"/>
              <a:t>=1000 </a:t>
            </a:r>
            <a:r>
              <a:rPr lang="en-ID" dirty="0" err="1"/>
              <a:t>auid</a:t>
            </a:r>
            <a:r>
              <a:rPr lang="en-ID" dirty="0"/>
              <a:t>=1000 </a:t>
            </a:r>
            <a:r>
              <a:rPr lang="en-ID" dirty="0" err="1"/>
              <a:t>ses</a:t>
            </a:r>
            <a:r>
              <a:rPr lang="en-ID" dirty="0"/>
              <a:t>=3 subj=unconfined_u:unconfined_r:unconfined_t:s0-s0:c0.c1023 </a:t>
            </a:r>
            <a:r>
              <a:rPr lang="en-ID" dirty="0" err="1"/>
              <a:t>msg</a:t>
            </a:r>
            <a:r>
              <a:rPr lang="en-ID" dirty="0"/>
              <a:t>='op=</a:t>
            </a:r>
            <a:r>
              <a:rPr lang="en-ID" dirty="0" err="1"/>
              <a:t>PAM:authentication</a:t>
            </a:r>
            <a:r>
              <a:rPr lang="en-ID" dirty="0"/>
              <a:t> grantors=</a:t>
            </a:r>
            <a:r>
              <a:rPr lang="en-ID" dirty="0" err="1"/>
              <a:t>pam_unix</a:t>
            </a:r>
            <a:r>
              <a:rPr lang="en-ID" dirty="0"/>
              <a:t> acct="root" exe="/</a:t>
            </a:r>
            <a:r>
              <a:rPr lang="en-ID" dirty="0" err="1"/>
              <a:t>usr</a:t>
            </a:r>
            <a:r>
              <a:rPr lang="en-ID" dirty="0"/>
              <a:t>/bin/</a:t>
            </a:r>
            <a:r>
              <a:rPr lang="en-ID" dirty="0" err="1"/>
              <a:t>su</a:t>
            </a:r>
            <a:r>
              <a:rPr lang="en-ID" dirty="0"/>
              <a:t>" hostname=</a:t>
            </a:r>
            <a:r>
              <a:rPr lang="en-ID" dirty="0" err="1"/>
              <a:t>localhost.localdomain</a:t>
            </a:r>
            <a:r>
              <a:rPr lang="en-ID" dirty="0"/>
              <a:t> </a:t>
            </a:r>
            <a:r>
              <a:rPr lang="en-ID" dirty="0" err="1"/>
              <a:t>addr</a:t>
            </a:r>
            <a:r>
              <a:rPr lang="en-ID" dirty="0"/>
              <a:t>=? terminal=pts/1 res=</a:t>
            </a:r>
            <a:r>
              <a:rPr lang="en-ID" dirty="0" err="1"/>
              <a:t>success'UID</a:t>
            </a:r>
            <a:r>
              <a:rPr lang="en-ID" dirty="0"/>
              <a:t>="</a:t>
            </a:r>
            <a:r>
              <a:rPr lang="en-ID" dirty="0" err="1"/>
              <a:t>userone</a:t>
            </a:r>
            <a:r>
              <a:rPr lang="en-ID" dirty="0"/>
              <a:t>" AUID="</a:t>
            </a:r>
            <a:r>
              <a:rPr lang="en-ID" dirty="0" err="1"/>
              <a:t>userone</a:t>
            </a:r>
            <a:r>
              <a:rPr lang="en-ID" dirty="0"/>
              <a:t>"</a:t>
            </a:r>
          </a:p>
          <a:p>
            <a:r>
              <a:rPr lang="en-ID" b="1" dirty="0" err="1"/>
              <a:t>ausearch</a:t>
            </a:r>
            <a:r>
              <a:rPr lang="en-ID" b="1" dirty="0"/>
              <a:t> command allows user-friendly searching</a:t>
            </a:r>
          </a:p>
          <a:p>
            <a:pPr marL="457200" lvl="1" indent="0">
              <a:buNone/>
            </a:pPr>
            <a:r>
              <a:rPr lang="en-ID" dirty="0"/>
              <a:t>• </a:t>
            </a:r>
            <a:r>
              <a:rPr lang="en-ID" dirty="0" err="1"/>
              <a:t>ausearch</a:t>
            </a:r>
            <a:r>
              <a:rPr lang="en-ID" dirty="0"/>
              <a:t> -m USER_AUTH</a:t>
            </a:r>
          </a:p>
          <a:p>
            <a:pPr lvl="1"/>
            <a:r>
              <a:rPr lang="en-ID" dirty="0"/>
              <a:t>type=USER_AUTH </a:t>
            </a:r>
            <a:r>
              <a:rPr lang="en-ID" dirty="0" err="1"/>
              <a:t>msg</a:t>
            </a:r>
            <a:r>
              <a:rPr lang="en-ID" dirty="0"/>
              <a:t>=audit(1620581024.735:176): </a:t>
            </a:r>
            <a:r>
              <a:rPr lang="en-ID" dirty="0" err="1"/>
              <a:t>pid</a:t>
            </a:r>
            <a:r>
              <a:rPr lang="en-ID" dirty="0"/>
              <a:t>=6778 </a:t>
            </a:r>
            <a:r>
              <a:rPr lang="en-ID" dirty="0" err="1"/>
              <a:t>uid</a:t>
            </a:r>
            <a:r>
              <a:rPr lang="en-ID" dirty="0"/>
              <a:t>=1000 </a:t>
            </a:r>
            <a:r>
              <a:rPr lang="en-ID" dirty="0" err="1"/>
              <a:t>auid</a:t>
            </a:r>
            <a:r>
              <a:rPr lang="en-ID" dirty="0"/>
              <a:t>=1000 </a:t>
            </a:r>
            <a:r>
              <a:rPr lang="en-ID" dirty="0" err="1"/>
              <a:t>ses</a:t>
            </a:r>
            <a:r>
              <a:rPr lang="en-ID" dirty="0"/>
              <a:t>=3 subj=unconfined_u:unconfined_r:unconfined_t:s0-s0:c0.c1023 </a:t>
            </a:r>
            <a:r>
              <a:rPr lang="en-ID" dirty="0" err="1"/>
              <a:t>msg</a:t>
            </a:r>
            <a:r>
              <a:rPr lang="en-ID" dirty="0"/>
              <a:t>='op=</a:t>
            </a:r>
            <a:r>
              <a:rPr lang="en-ID" dirty="0" err="1"/>
              <a:t>PAM:authentication</a:t>
            </a:r>
            <a:r>
              <a:rPr lang="en-ID" dirty="0"/>
              <a:t> grantors=</a:t>
            </a:r>
            <a:r>
              <a:rPr lang="en-ID" dirty="0" err="1"/>
              <a:t>pam_unix</a:t>
            </a:r>
            <a:r>
              <a:rPr lang="en-ID" dirty="0"/>
              <a:t> acct="root" exe="/</a:t>
            </a:r>
            <a:r>
              <a:rPr lang="en-ID" dirty="0" err="1"/>
              <a:t>usr</a:t>
            </a:r>
            <a:r>
              <a:rPr lang="en-ID" dirty="0"/>
              <a:t>/bin/</a:t>
            </a:r>
            <a:r>
              <a:rPr lang="en-ID" dirty="0" err="1"/>
              <a:t>su</a:t>
            </a:r>
            <a:r>
              <a:rPr lang="en-ID" dirty="0"/>
              <a:t>" hostname=</a:t>
            </a:r>
            <a:r>
              <a:rPr lang="en-ID" dirty="0" err="1"/>
              <a:t>localhost.localdomain</a:t>
            </a:r>
            <a:r>
              <a:rPr lang="en-ID" dirty="0"/>
              <a:t> </a:t>
            </a:r>
            <a:r>
              <a:rPr lang="en-ID" dirty="0" err="1"/>
              <a:t>addr</a:t>
            </a:r>
            <a:r>
              <a:rPr lang="en-ID" dirty="0"/>
              <a:t>=? terminal=pts/1 res=success'</a:t>
            </a:r>
          </a:p>
        </p:txBody>
      </p:sp>
    </p:spTree>
    <p:extLst>
      <p:ext uri="{BB962C8B-B14F-4D97-AF65-F5344CB8AC3E}">
        <p14:creationId xmlns:p14="http://schemas.microsoft.com/office/powerpoint/2010/main" val="422906268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3F970-3FA6-3C26-A29E-BB1F19919F28}"/>
              </a:ext>
            </a:extLst>
          </p:cNvPr>
          <p:cNvSpPr>
            <a:spLocks noGrp="1"/>
          </p:cNvSpPr>
          <p:nvPr>
            <p:ph type="title"/>
          </p:nvPr>
        </p:nvSpPr>
        <p:spPr/>
        <p:txBody>
          <a:bodyPr/>
          <a:lstStyle/>
          <a:p>
            <a:r>
              <a:rPr lang="en-ID" dirty="0"/>
              <a:t>Application Logs </a:t>
            </a:r>
          </a:p>
        </p:txBody>
      </p:sp>
      <p:sp>
        <p:nvSpPr>
          <p:cNvPr id="3" name="Content Placeholder 2">
            <a:extLst>
              <a:ext uri="{FF2B5EF4-FFF2-40B4-BE49-F238E27FC236}">
                <a16:creationId xmlns:a16="http://schemas.microsoft.com/office/drawing/2014/main" id="{FE47E375-541D-4E9E-A84C-FF3A7E7C1A7A}"/>
              </a:ext>
            </a:extLst>
          </p:cNvPr>
          <p:cNvSpPr>
            <a:spLocks noGrp="1"/>
          </p:cNvSpPr>
          <p:nvPr>
            <p:ph idx="1"/>
          </p:nvPr>
        </p:nvSpPr>
        <p:spPr/>
        <p:txBody>
          <a:bodyPr>
            <a:normAutofit/>
          </a:bodyPr>
          <a:lstStyle/>
          <a:p>
            <a:r>
              <a:rPr lang="en-ID" b="1" dirty="0"/>
              <a:t>Web server: Apache logs, very useful</a:t>
            </a:r>
          </a:p>
          <a:p>
            <a:pPr lvl="1"/>
            <a:r>
              <a:rPr lang="en-ID" dirty="0"/>
              <a:t>/var/log/nginx</a:t>
            </a:r>
          </a:p>
          <a:p>
            <a:pPr lvl="1"/>
            <a:r>
              <a:rPr lang="en-ID" dirty="0"/>
              <a:t>/var/log/apache2</a:t>
            </a:r>
          </a:p>
          <a:p>
            <a:pPr lvl="1"/>
            <a:r>
              <a:rPr lang="en-ID" dirty="0"/>
              <a:t>/var/log/httpd</a:t>
            </a:r>
          </a:p>
          <a:p>
            <a:r>
              <a:rPr lang="en-ID" b="1" dirty="0"/>
              <a:t>Mail Server</a:t>
            </a:r>
          </a:p>
          <a:p>
            <a:pPr lvl="1"/>
            <a:r>
              <a:rPr lang="en-ID" dirty="0"/>
              <a:t>/var/log/mail</a:t>
            </a:r>
          </a:p>
          <a:p>
            <a:r>
              <a:rPr lang="en-ID" b="1" dirty="0"/>
              <a:t>Databases</a:t>
            </a:r>
          </a:p>
          <a:p>
            <a:pPr lvl="1"/>
            <a:r>
              <a:rPr lang="en-ID" dirty="0"/>
              <a:t>/var/log/mysqld.log</a:t>
            </a:r>
          </a:p>
          <a:p>
            <a:pPr lvl="1"/>
            <a:r>
              <a:rPr lang="en-ID" dirty="0"/>
              <a:t>/var/log/mysql.log</a:t>
            </a:r>
          </a:p>
          <a:p>
            <a:pPr lvl="1"/>
            <a:r>
              <a:rPr lang="en-ID" dirty="0"/>
              <a:t>/var/log/</a:t>
            </a:r>
            <a:r>
              <a:rPr lang="en-ID" dirty="0" err="1"/>
              <a:t>mariadb</a:t>
            </a:r>
            <a:r>
              <a:rPr lang="en-ID" dirty="0"/>
              <a:t>/*</a:t>
            </a:r>
          </a:p>
          <a:p>
            <a:endParaRPr lang="en-ID" dirty="0"/>
          </a:p>
        </p:txBody>
      </p:sp>
      <p:sp>
        <p:nvSpPr>
          <p:cNvPr id="4" name="TextBox 3">
            <a:extLst>
              <a:ext uri="{FF2B5EF4-FFF2-40B4-BE49-F238E27FC236}">
                <a16:creationId xmlns:a16="http://schemas.microsoft.com/office/drawing/2014/main" id="{FB78728D-0141-D479-B264-53BB3E66BF01}"/>
              </a:ext>
            </a:extLst>
          </p:cNvPr>
          <p:cNvSpPr txBox="1"/>
          <p:nvPr/>
        </p:nvSpPr>
        <p:spPr>
          <a:xfrm>
            <a:off x="701056" y="6032511"/>
            <a:ext cx="1078988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Georgia" panose="02040502050405020303"/>
                <a:ea typeface="+mn-ea"/>
                <a:cs typeface="+mn-cs"/>
              </a:rPr>
              <a:t>Remember: The applications running on a system and where they log can vary. Make sure you validate this. </a:t>
            </a:r>
            <a:endParaRPr kumimoji="0" lang="en-ID" sz="1200" b="0" i="1" u="none" strike="noStrike" kern="1200" cap="none" spc="0" normalizeH="0" baseline="0" noProof="0" dirty="0">
              <a:ln>
                <a:noFill/>
              </a:ln>
              <a:solidFill>
                <a:prstClr val="black"/>
              </a:solidFill>
              <a:effectLst/>
              <a:uLnTx/>
              <a:uFillTx/>
              <a:latin typeface="Georgia" panose="02040502050405020303"/>
              <a:ea typeface="+mn-ea"/>
              <a:cs typeface="+mn-cs"/>
            </a:endParaRPr>
          </a:p>
        </p:txBody>
      </p:sp>
    </p:spTree>
    <p:extLst>
      <p:ext uri="{BB962C8B-B14F-4D97-AF65-F5344CB8AC3E}">
        <p14:creationId xmlns:p14="http://schemas.microsoft.com/office/powerpoint/2010/main" val="17024248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D8CC12F-D550-01F4-C619-B5EA570126CC}"/>
              </a:ext>
            </a:extLst>
          </p:cNvPr>
          <p:cNvPicPr>
            <a:picLocks noChangeAspect="1"/>
          </p:cNvPicPr>
          <p:nvPr/>
        </p:nvPicPr>
        <p:blipFill>
          <a:blip r:embed="rId2"/>
          <a:stretch>
            <a:fillRect/>
          </a:stretch>
        </p:blipFill>
        <p:spPr>
          <a:xfrm>
            <a:off x="3294515" y="2231435"/>
            <a:ext cx="8448306" cy="2705531"/>
          </a:xfrm>
          <a:prstGeom prst="rect">
            <a:avLst/>
          </a:prstGeom>
        </p:spPr>
      </p:pic>
      <p:sp>
        <p:nvSpPr>
          <p:cNvPr id="2" name="Title 1">
            <a:extLst>
              <a:ext uri="{FF2B5EF4-FFF2-40B4-BE49-F238E27FC236}">
                <a16:creationId xmlns:a16="http://schemas.microsoft.com/office/drawing/2014/main" id="{6ACDD6DB-0967-3E1C-5272-EAEE26B552C3}"/>
              </a:ext>
            </a:extLst>
          </p:cNvPr>
          <p:cNvSpPr>
            <a:spLocks noGrp="1"/>
          </p:cNvSpPr>
          <p:nvPr>
            <p:ph type="title"/>
          </p:nvPr>
        </p:nvSpPr>
        <p:spPr/>
        <p:txBody>
          <a:bodyPr/>
          <a:lstStyle/>
          <a:p>
            <a:r>
              <a:rPr lang="en-ID" dirty="0"/>
              <a:t>Application Logs: </a:t>
            </a:r>
            <a:r>
              <a:rPr lang="en-ID" dirty="0" err="1"/>
              <a:t>HTTPd</a:t>
            </a:r>
            <a:r>
              <a:rPr lang="en-ID" dirty="0"/>
              <a:t> </a:t>
            </a:r>
          </a:p>
        </p:txBody>
      </p:sp>
      <p:sp>
        <p:nvSpPr>
          <p:cNvPr id="3" name="Content Placeholder 2">
            <a:extLst>
              <a:ext uri="{FF2B5EF4-FFF2-40B4-BE49-F238E27FC236}">
                <a16:creationId xmlns:a16="http://schemas.microsoft.com/office/drawing/2014/main" id="{B44311F8-A932-13F3-EA4A-9C1C1AB08DD2}"/>
              </a:ext>
            </a:extLst>
          </p:cNvPr>
          <p:cNvSpPr>
            <a:spLocks noGrp="1"/>
          </p:cNvSpPr>
          <p:nvPr>
            <p:ph idx="1"/>
          </p:nvPr>
        </p:nvSpPr>
        <p:spPr/>
        <p:txBody>
          <a:bodyPr>
            <a:normAutofit fontScale="85000" lnSpcReduction="20000"/>
          </a:bodyPr>
          <a:lstStyle/>
          <a:p>
            <a:r>
              <a:rPr lang="en-US" dirty="0"/>
              <a:t>Can be an hunting goldmine</a:t>
            </a:r>
          </a:p>
          <a:p>
            <a:endParaRPr lang="en-US" dirty="0"/>
          </a:p>
          <a:p>
            <a:r>
              <a:rPr lang="en-US" dirty="0"/>
              <a:t>Found on </a:t>
            </a:r>
          </a:p>
          <a:p>
            <a:pPr lvl="1"/>
            <a:r>
              <a:rPr lang="en-US" dirty="0"/>
              <a:t>Web servers</a:t>
            </a:r>
          </a:p>
          <a:p>
            <a:pPr lvl="1"/>
            <a:r>
              <a:rPr lang="en-US" dirty="0"/>
              <a:t>Proxy servers</a:t>
            </a:r>
          </a:p>
          <a:p>
            <a:pPr lvl="1"/>
            <a:r>
              <a:rPr lang="en-US" dirty="0"/>
              <a:t>Databases servers</a:t>
            </a:r>
          </a:p>
          <a:p>
            <a:endParaRPr lang="en-US" dirty="0"/>
          </a:p>
          <a:p>
            <a:endParaRPr lang="en-US" dirty="0"/>
          </a:p>
          <a:p>
            <a:endParaRPr lang="en-US" dirty="0"/>
          </a:p>
          <a:p>
            <a:endParaRPr lang="en-US" dirty="0"/>
          </a:p>
          <a:p>
            <a:pPr marL="0" indent="0">
              <a:buNone/>
            </a:pPr>
            <a:r>
              <a:rPr lang="en-US" sz="3000" i="1" dirty="0"/>
              <a:t>General point: If a web server is running, it is likely to have been attacked</a:t>
            </a:r>
            <a:endParaRPr lang="en-ID" sz="3000" i="1" dirty="0"/>
          </a:p>
          <a:p>
            <a:endParaRPr lang="en-ID" dirty="0"/>
          </a:p>
        </p:txBody>
      </p:sp>
    </p:spTree>
    <p:extLst>
      <p:ext uri="{BB962C8B-B14F-4D97-AF65-F5344CB8AC3E}">
        <p14:creationId xmlns:p14="http://schemas.microsoft.com/office/powerpoint/2010/main" val="392544897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B72D-B94B-7B66-AECE-A4B844C43348}"/>
              </a:ext>
            </a:extLst>
          </p:cNvPr>
          <p:cNvSpPr>
            <a:spLocks noGrp="1"/>
          </p:cNvSpPr>
          <p:nvPr>
            <p:ph type="title"/>
          </p:nvPr>
        </p:nvSpPr>
        <p:spPr/>
        <p:txBody>
          <a:bodyPr/>
          <a:lstStyle/>
          <a:p>
            <a:r>
              <a:rPr lang="en-ID" dirty="0"/>
              <a:t>Web Server Logs </a:t>
            </a:r>
          </a:p>
        </p:txBody>
      </p:sp>
      <p:sp>
        <p:nvSpPr>
          <p:cNvPr id="3" name="Content Placeholder 2">
            <a:extLst>
              <a:ext uri="{FF2B5EF4-FFF2-40B4-BE49-F238E27FC236}">
                <a16:creationId xmlns:a16="http://schemas.microsoft.com/office/drawing/2014/main" id="{50EF8CDE-B76E-EC4D-3F0F-5F372A506A2C}"/>
              </a:ext>
            </a:extLst>
          </p:cNvPr>
          <p:cNvSpPr>
            <a:spLocks noGrp="1"/>
          </p:cNvSpPr>
          <p:nvPr>
            <p:ph idx="1"/>
          </p:nvPr>
        </p:nvSpPr>
        <p:spPr/>
        <p:txBody>
          <a:bodyPr>
            <a:normAutofit/>
          </a:bodyPr>
          <a:lstStyle/>
          <a:p>
            <a:r>
              <a:rPr lang="en-ID" b="1" dirty="0"/>
              <a:t>Access log (</a:t>
            </a:r>
            <a:r>
              <a:rPr lang="en-ID" b="1" dirty="0" err="1"/>
              <a:t>access_log</a:t>
            </a:r>
            <a:r>
              <a:rPr lang="en-ID" b="1" dirty="0"/>
              <a:t>)</a:t>
            </a:r>
          </a:p>
          <a:p>
            <a:pPr lvl="1"/>
            <a:r>
              <a:rPr lang="en-ID" dirty="0"/>
              <a:t>Captures HTTP requests to the web server</a:t>
            </a:r>
          </a:p>
          <a:p>
            <a:pPr lvl="1"/>
            <a:r>
              <a:rPr lang="en-ID" dirty="0"/>
              <a:t>Includes HTTP Method (GET, POST, HEAD, etc.)</a:t>
            </a:r>
          </a:p>
          <a:p>
            <a:pPr lvl="1"/>
            <a:r>
              <a:rPr lang="en-ID" dirty="0"/>
              <a:t>Includes HTTP Response code (200, 404, etc.)</a:t>
            </a:r>
          </a:p>
          <a:p>
            <a:r>
              <a:rPr lang="en-ID" b="1" dirty="0"/>
              <a:t>Error log (</a:t>
            </a:r>
            <a:r>
              <a:rPr lang="en-ID" b="1" dirty="0" err="1"/>
              <a:t>error_log</a:t>
            </a:r>
            <a:r>
              <a:rPr lang="en-ID" b="1" dirty="0"/>
              <a:t>)</a:t>
            </a:r>
          </a:p>
          <a:p>
            <a:pPr lvl="1"/>
            <a:r>
              <a:rPr lang="en-ID" dirty="0"/>
              <a:t>Any errors generated by the server</a:t>
            </a:r>
          </a:p>
          <a:p>
            <a:pPr lvl="1"/>
            <a:r>
              <a:rPr lang="en-ID" dirty="0"/>
              <a:t>Diagnostic information</a:t>
            </a:r>
          </a:p>
          <a:p>
            <a:r>
              <a:rPr lang="en-ID" b="1" dirty="0"/>
              <a:t>SSL logs may also exist</a:t>
            </a:r>
          </a:p>
          <a:p>
            <a:pPr lvl="1"/>
            <a:r>
              <a:rPr lang="en-ID" dirty="0" err="1"/>
              <a:t>ssl_access_log</a:t>
            </a:r>
            <a:r>
              <a:rPr lang="en-ID" dirty="0"/>
              <a:t> and </a:t>
            </a:r>
            <a:r>
              <a:rPr lang="en-ID" dirty="0" err="1"/>
              <a:t>ssl_request_log</a:t>
            </a:r>
            <a:r>
              <a:rPr lang="en-ID" dirty="0"/>
              <a:t> can be useful</a:t>
            </a:r>
          </a:p>
          <a:p>
            <a:endParaRPr lang="en-ID" dirty="0"/>
          </a:p>
        </p:txBody>
      </p:sp>
    </p:spTree>
    <p:extLst>
      <p:ext uri="{BB962C8B-B14F-4D97-AF65-F5344CB8AC3E}">
        <p14:creationId xmlns:p14="http://schemas.microsoft.com/office/powerpoint/2010/main" val="93932338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E2CE-2EE7-14EA-DC3E-1F00C17E9F0A}"/>
              </a:ext>
            </a:extLst>
          </p:cNvPr>
          <p:cNvSpPr>
            <a:spLocks noGrp="1"/>
          </p:cNvSpPr>
          <p:nvPr>
            <p:ph type="title"/>
          </p:nvPr>
        </p:nvSpPr>
        <p:spPr/>
        <p:txBody>
          <a:bodyPr/>
          <a:lstStyle/>
          <a:p>
            <a:r>
              <a:rPr lang="en-ID" dirty="0" err="1"/>
              <a:t>access_log</a:t>
            </a:r>
            <a:r>
              <a:rPr lang="en-ID" dirty="0"/>
              <a:t> </a:t>
            </a:r>
          </a:p>
        </p:txBody>
      </p:sp>
      <p:sp>
        <p:nvSpPr>
          <p:cNvPr id="3" name="Content Placeholder 2">
            <a:extLst>
              <a:ext uri="{FF2B5EF4-FFF2-40B4-BE49-F238E27FC236}">
                <a16:creationId xmlns:a16="http://schemas.microsoft.com/office/drawing/2014/main" id="{BFEE9695-2E06-6D0F-2BE8-DED009DB9253}"/>
              </a:ext>
            </a:extLst>
          </p:cNvPr>
          <p:cNvSpPr>
            <a:spLocks noGrp="1"/>
          </p:cNvSpPr>
          <p:nvPr>
            <p:ph idx="1"/>
          </p:nvPr>
        </p:nvSpPr>
        <p:spPr/>
        <p:txBody>
          <a:bodyPr/>
          <a:lstStyle/>
          <a:p>
            <a:pPr marL="0" indent="0">
              <a:buNone/>
            </a:pPr>
            <a:r>
              <a:rPr lang="en-US" b="1" dirty="0"/>
              <a:t>Example: Apache Combined Log Format </a:t>
            </a:r>
            <a:endParaRPr lang="en-ID" b="1" dirty="0"/>
          </a:p>
          <a:p>
            <a:pPr marL="0" indent="0">
              <a:buNone/>
            </a:pPr>
            <a:endParaRPr lang="en-ID" dirty="0"/>
          </a:p>
        </p:txBody>
      </p:sp>
      <p:pic>
        <p:nvPicPr>
          <p:cNvPr id="4" name="Picture 3">
            <a:extLst>
              <a:ext uri="{FF2B5EF4-FFF2-40B4-BE49-F238E27FC236}">
                <a16:creationId xmlns:a16="http://schemas.microsoft.com/office/drawing/2014/main" id="{BA7ABF49-F6EE-1CE5-752E-05DA543FFA67}"/>
              </a:ext>
            </a:extLst>
          </p:cNvPr>
          <p:cNvPicPr>
            <a:picLocks noChangeAspect="1"/>
          </p:cNvPicPr>
          <p:nvPr/>
        </p:nvPicPr>
        <p:blipFill>
          <a:blip r:embed="rId2"/>
          <a:stretch>
            <a:fillRect/>
          </a:stretch>
        </p:blipFill>
        <p:spPr>
          <a:xfrm>
            <a:off x="677680" y="2627059"/>
            <a:ext cx="10836639" cy="3176256"/>
          </a:xfrm>
          <a:prstGeom prst="rect">
            <a:avLst/>
          </a:prstGeom>
        </p:spPr>
      </p:pic>
    </p:spTree>
    <p:extLst>
      <p:ext uri="{BB962C8B-B14F-4D97-AF65-F5344CB8AC3E}">
        <p14:creationId xmlns:p14="http://schemas.microsoft.com/office/powerpoint/2010/main" val="4612057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AD20-E9F3-5FD8-065F-19498986EAB7}"/>
              </a:ext>
            </a:extLst>
          </p:cNvPr>
          <p:cNvSpPr>
            <a:spLocks noGrp="1"/>
          </p:cNvSpPr>
          <p:nvPr>
            <p:ph type="title"/>
          </p:nvPr>
        </p:nvSpPr>
        <p:spPr/>
        <p:txBody>
          <a:bodyPr/>
          <a:lstStyle/>
          <a:p>
            <a:r>
              <a:rPr lang="en-ID" dirty="0"/>
              <a:t>Quick Wins </a:t>
            </a:r>
          </a:p>
        </p:txBody>
      </p:sp>
      <p:sp>
        <p:nvSpPr>
          <p:cNvPr id="3" name="Content Placeholder 2">
            <a:extLst>
              <a:ext uri="{FF2B5EF4-FFF2-40B4-BE49-F238E27FC236}">
                <a16:creationId xmlns:a16="http://schemas.microsoft.com/office/drawing/2014/main" id="{2BB78B39-1AD7-80F6-9284-0E7E477BC0DA}"/>
              </a:ext>
            </a:extLst>
          </p:cNvPr>
          <p:cNvSpPr>
            <a:spLocks noGrp="1"/>
          </p:cNvSpPr>
          <p:nvPr>
            <p:ph idx="1"/>
          </p:nvPr>
        </p:nvSpPr>
        <p:spPr/>
        <p:txBody>
          <a:bodyPr>
            <a:normAutofit fontScale="92500"/>
          </a:bodyPr>
          <a:lstStyle/>
          <a:p>
            <a:r>
              <a:rPr lang="en-US" b="1" dirty="0"/>
              <a:t>Review HTTP methods used</a:t>
            </a:r>
          </a:p>
          <a:p>
            <a:pPr lvl="1"/>
            <a:r>
              <a:rPr lang="en-US" dirty="0"/>
              <a:t>Scanning tools often try obscure methods like OPTIONS, DELETE, or PATCH</a:t>
            </a:r>
          </a:p>
          <a:p>
            <a:pPr lvl="1"/>
            <a:r>
              <a:rPr lang="en-US" dirty="0" err="1"/>
              <a:t>Webshells</a:t>
            </a:r>
            <a:r>
              <a:rPr lang="en-US" dirty="0"/>
              <a:t> and exploits often need a POST request</a:t>
            </a:r>
          </a:p>
          <a:p>
            <a:r>
              <a:rPr lang="en-US" b="1" dirty="0"/>
              <a:t>Look at the pages requested</a:t>
            </a:r>
          </a:p>
          <a:p>
            <a:pPr lvl="1"/>
            <a:r>
              <a:rPr lang="en-US" dirty="0"/>
              <a:t>Look for random names or non-existent files</a:t>
            </a:r>
          </a:p>
          <a:p>
            <a:pPr lvl="1"/>
            <a:r>
              <a:rPr lang="en-US" dirty="0"/>
              <a:t>Attackers often leave default names on shells (c99.php, etc.)</a:t>
            </a:r>
          </a:p>
          <a:p>
            <a:pPr lvl="1"/>
            <a:r>
              <a:rPr lang="en-US" dirty="0"/>
              <a:t>Start with files that return HTTP 200 responses</a:t>
            </a:r>
          </a:p>
          <a:p>
            <a:r>
              <a:rPr lang="en-US" b="1" dirty="0"/>
              <a:t>Analyze user agent strings</a:t>
            </a:r>
          </a:p>
          <a:p>
            <a:pPr lvl="1"/>
            <a:r>
              <a:rPr lang="en-US" dirty="0"/>
              <a:t>Although they can be set by the attacker, they can also allow you to trace and identify an attacker</a:t>
            </a:r>
          </a:p>
          <a:p>
            <a:pPr lvl="1"/>
            <a:r>
              <a:rPr lang="en-US" dirty="0"/>
              <a:t>Especially valuable for internal web servers</a:t>
            </a:r>
            <a:endParaRPr lang="en-ID" dirty="0"/>
          </a:p>
          <a:p>
            <a:endParaRPr lang="en-ID" dirty="0"/>
          </a:p>
        </p:txBody>
      </p:sp>
    </p:spTree>
    <p:extLst>
      <p:ext uri="{BB962C8B-B14F-4D97-AF65-F5344CB8AC3E}">
        <p14:creationId xmlns:p14="http://schemas.microsoft.com/office/powerpoint/2010/main" val="129288268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81754-CA72-6E56-13F1-B12DBBD3BD57}"/>
              </a:ext>
            </a:extLst>
          </p:cNvPr>
          <p:cNvSpPr>
            <a:spLocks noGrp="1"/>
          </p:cNvSpPr>
          <p:nvPr>
            <p:ph type="title"/>
          </p:nvPr>
        </p:nvSpPr>
        <p:spPr/>
        <p:txBody>
          <a:bodyPr/>
          <a:lstStyle/>
          <a:p>
            <a:r>
              <a:rPr lang="en-ID" dirty="0"/>
              <a:t>Quick Wins: Example 1 </a:t>
            </a:r>
          </a:p>
        </p:txBody>
      </p:sp>
      <p:sp>
        <p:nvSpPr>
          <p:cNvPr id="3" name="Content Placeholder 2">
            <a:extLst>
              <a:ext uri="{FF2B5EF4-FFF2-40B4-BE49-F238E27FC236}">
                <a16:creationId xmlns:a16="http://schemas.microsoft.com/office/drawing/2014/main" id="{45895602-43F1-A615-BEF3-0B6910EC5033}"/>
              </a:ext>
            </a:extLst>
          </p:cNvPr>
          <p:cNvSpPr>
            <a:spLocks noGrp="1"/>
          </p:cNvSpPr>
          <p:nvPr>
            <p:ph idx="1"/>
          </p:nvPr>
        </p:nvSpPr>
        <p:spPr/>
        <p:txBody>
          <a:bodyPr>
            <a:normAutofit/>
          </a:bodyPr>
          <a:lstStyle/>
          <a:p>
            <a:r>
              <a:rPr lang="en-ID" dirty="0"/>
              <a:t>Checking the methods </a:t>
            </a:r>
          </a:p>
          <a:p>
            <a:endParaRPr lang="en-ID" dirty="0"/>
          </a:p>
          <a:p>
            <a:pPr marL="0" indent="0">
              <a:buNone/>
            </a:pPr>
            <a:endParaRPr lang="en-ID" dirty="0"/>
          </a:p>
          <a:p>
            <a:pPr marL="0" indent="0">
              <a:buNone/>
            </a:pPr>
            <a:endParaRPr lang="en-ID" dirty="0"/>
          </a:p>
          <a:p>
            <a:r>
              <a:rPr lang="en-US" dirty="0"/>
              <a:t>Dig in to the use of OPTIONS (exclude localhost noise) </a:t>
            </a:r>
          </a:p>
          <a:p>
            <a:pPr marL="0" indent="0">
              <a:buNone/>
            </a:pPr>
            <a:endParaRPr lang="en-US" dirty="0"/>
          </a:p>
          <a:p>
            <a:r>
              <a:rPr lang="en-US" dirty="0"/>
              <a:t>Now there is a single IP exhibiting suspicious behavior which can be investigated further</a:t>
            </a:r>
            <a:endParaRPr lang="en-ID" dirty="0"/>
          </a:p>
          <a:p>
            <a:endParaRPr lang="en-ID" dirty="0"/>
          </a:p>
        </p:txBody>
      </p:sp>
      <p:pic>
        <p:nvPicPr>
          <p:cNvPr id="4" name="image195.png">
            <a:extLst>
              <a:ext uri="{FF2B5EF4-FFF2-40B4-BE49-F238E27FC236}">
                <a16:creationId xmlns:a16="http://schemas.microsoft.com/office/drawing/2014/main" id="{843386A0-9B28-F7DC-F16F-8CAEF1964F05}"/>
              </a:ext>
            </a:extLst>
          </p:cNvPr>
          <p:cNvPicPr>
            <a:picLocks noChangeAspect="1"/>
          </p:cNvPicPr>
          <p:nvPr/>
        </p:nvPicPr>
        <p:blipFill>
          <a:blip r:embed="rId2" cstate="print"/>
          <a:stretch>
            <a:fillRect/>
          </a:stretch>
        </p:blipFill>
        <p:spPr>
          <a:xfrm>
            <a:off x="766360" y="2440337"/>
            <a:ext cx="9245267" cy="1375215"/>
          </a:xfrm>
          <a:prstGeom prst="rect">
            <a:avLst/>
          </a:prstGeom>
        </p:spPr>
      </p:pic>
      <p:pic>
        <p:nvPicPr>
          <p:cNvPr id="5" name="image196.png">
            <a:extLst>
              <a:ext uri="{FF2B5EF4-FFF2-40B4-BE49-F238E27FC236}">
                <a16:creationId xmlns:a16="http://schemas.microsoft.com/office/drawing/2014/main" id="{3EF94FBA-C3BC-6DDA-1243-B3575BCE22BD}"/>
              </a:ext>
            </a:extLst>
          </p:cNvPr>
          <p:cNvPicPr>
            <a:picLocks noChangeAspect="1"/>
          </p:cNvPicPr>
          <p:nvPr/>
        </p:nvPicPr>
        <p:blipFill>
          <a:blip r:embed="rId3" cstate="print"/>
          <a:stretch>
            <a:fillRect/>
          </a:stretch>
        </p:blipFill>
        <p:spPr>
          <a:xfrm>
            <a:off x="766360" y="4430264"/>
            <a:ext cx="10398945" cy="432669"/>
          </a:xfrm>
          <a:prstGeom prst="rect">
            <a:avLst/>
          </a:prstGeom>
        </p:spPr>
      </p:pic>
    </p:spTree>
    <p:extLst>
      <p:ext uri="{BB962C8B-B14F-4D97-AF65-F5344CB8AC3E}">
        <p14:creationId xmlns:p14="http://schemas.microsoft.com/office/powerpoint/2010/main" val="198232254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7B64-C4CC-B562-4A52-07CB2F92AB2D}"/>
              </a:ext>
            </a:extLst>
          </p:cNvPr>
          <p:cNvSpPr>
            <a:spLocks noGrp="1"/>
          </p:cNvSpPr>
          <p:nvPr>
            <p:ph type="title"/>
          </p:nvPr>
        </p:nvSpPr>
        <p:spPr/>
        <p:txBody>
          <a:bodyPr/>
          <a:lstStyle/>
          <a:p>
            <a:r>
              <a:rPr lang="en-ID" dirty="0"/>
              <a:t>Quick Wins: Example 2 </a:t>
            </a:r>
          </a:p>
        </p:txBody>
      </p:sp>
      <p:sp>
        <p:nvSpPr>
          <p:cNvPr id="3" name="Content Placeholder 2">
            <a:extLst>
              <a:ext uri="{FF2B5EF4-FFF2-40B4-BE49-F238E27FC236}">
                <a16:creationId xmlns:a16="http://schemas.microsoft.com/office/drawing/2014/main" id="{719E8626-F3F3-C335-1679-EF7EBE909C2B}"/>
              </a:ext>
            </a:extLst>
          </p:cNvPr>
          <p:cNvSpPr>
            <a:spLocks noGrp="1"/>
          </p:cNvSpPr>
          <p:nvPr>
            <p:ph idx="1"/>
          </p:nvPr>
        </p:nvSpPr>
        <p:spPr/>
        <p:txBody>
          <a:bodyPr>
            <a:normAutofit fontScale="92500" lnSpcReduction="20000"/>
          </a:bodyPr>
          <a:lstStyle/>
          <a:p>
            <a:r>
              <a:rPr lang="en-ID" dirty="0"/>
              <a:t>Checking the pages requested</a:t>
            </a:r>
          </a:p>
          <a:p>
            <a:pPr marL="0" indent="0">
              <a:buNone/>
            </a:pPr>
            <a:r>
              <a:rPr lang="en-US" dirty="0">
                <a:latin typeface="Courier New" panose="02070309020205020404" pitchFamily="49" charset="0"/>
                <a:cs typeface="Courier New" panose="02070309020205020404" pitchFamily="49" charset="0"/>
              </a:rPr>
              <a:t>cat access log* | cut -d '"' -f2 | cut -</a:t>
            </a:r>
          </a:p>
          <a:p>
            <a:pPr marL="0" indent="0">
              <a:buNone/>
            </a:pPr>
            <a:r>
              <a:rPr lang="fr-FR" dirty="0">
                <a:latin typeface="Courier New" panose="02070309020205020404" pitchFamily="49" charset="0"/>
                <a:cs typeface="Courier New" panose="02070309020205020404" pitchFamily="49" charset="0"/>
              </a:rPr>
              <a:t>d' ' -f2 | sort \ </a:t>
            </a:r>
            <a:r>
              <a:rPr lang="fr-FR" dirty="0" err="1">
                <a:latin typeface="Courier New" panose="02070309020205020404" pitchFamily="49" charset="0"/>
                <a:cs typeface="Courier New" panose="02070309020205020404" pitchFamily="49" charset="0"/>
              </a:rPr>
              <a:t>uniq</a:t>
            </a:r>
            <a:r>
              <a:rPr lang="fr-FR" dirty="0">
                <a:latin typeface="Courier New" panose="02070309020205020404" pitchFamily="49" charset="0"/>
                <a:cs typeface="Courier New" panose="02070309020205020404" pitchFamily="49" charset="0"/>
              </a:rPr>
              <a:t> -c \ sort -n</a:t>
            </a:r>
          </a:p>
          <a:p>
            <a:pPr marL="0" indent="0">
              <a:buNone/>
            </a:pPr>
            <a:endParaRPr lang="en-ID" dirty="0"/>
          </a:p>
          <a:p>
            <a:endParaRPr lang="en-ID" dirty="0"/>
          </a:p>
          <a:p>
            <a:endParaRPr lang="en-ID" dirty="0"/>
          </a:p>
          <a:p>
            <a:endParaRPr lang="en-ID" dirty="0"/>
          </a:p>
          <a:p>
            <a:endParaRPr lang="en-ID" dirty="0"/>
          </a:p>
          <a:p>
            <a:pPr marL="0" indent="0">
              <a:buNone/>
            </a:pPr>
            <a:endParaRPr lang="en-ID" dirty="0"/>
          </a:p>
          <a:p>
            <a:r>
              <a:rPr lang="en-US" dirty="0"/>
              <a:t>Identifies suspicious files for further review </a:t>
            </a:r>
            <a:r>
              <a:rPr lang="en-ID" dirty="0"/>
              <a:t> </a:t>
            </a:r>
          </a:p>
          <a:p>
            <a:endParaRPr lang="en-ID" dirty="0"/>
          </a:p>
        </p:txBody>
      </p:sp>
      <p:pic>
        <p:nvPicPr>
          <p:cNvPr id="5" name="image197.png">
            <a:extLst>
              <a:ext uri="{FF2B5EF4-FFF2-40B4-BE49-F238E27FC236}">
                <a16:creationId xmlns:a16="http://schemas.microsoft.com/office/drawing/2014/main" id="{05BADEC8-23A3-0AF6-5C7B-6E8189D2ECD2}"/>
              </a:ext>
            </a:extLst>
          </p:cNvPr>
          <p:cNvPicPr>
            <a:picLocks noChangeAspect="1"/>
          </p:cNvPicPr>
          <p:nvPr/>
        </p:nvPicPr>
        <p:blipFill>
          <a:blip r:embed="rId2" cstate="print"/>
          <a:stretch>
            <a:fillRect/>
          </a:stretch>
        </p:blipFill>
        <p:spPr>
          <a:xfrm>
            <a:off x="838200" y="3108157"/>
            <a:ext cx="9460832" cy="2096095"/>
          </a:xfrm>
          <a:prstGeom prst="rect">
            <a:avLst/>
          </a:prstGeom>
        </p:spPr>
      </p:pic>
    </p:spTree>
    <p:extLst>
      <p:ext uri="{BB962C8B-B14F-4D97-AF65-F5344CB8AC3E}">
        <p14:creationId xmlns:p14="http://schemas.microsoft.com/office/powerpoint/2010/main" val="10215641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6D77C-AFD2-3621-7C09-099535D39034}"/>
              </a:ext>
            </a:extLst>
          </p:cNvPr>
          <p:cNvSpPr>
            <a:spLocks noGrp="1"/>
          </p:cNvSpPr>
          <p:nvPr>
            <p:ph type="ctrTitle"/>
          </p:nvPr>
        </p:nvSpPr>
        <p:spPr>
          <a:xfrm>
            <a:off x="1524000" y="1860299"/>
            <a:ext cx="9144000" cy="2387600"/>
          </a:xfrm>
        </p:spPr>
        <p:txBody>
          <a:bodyPr/>
          <a:lstStyle/>
          <a:p>
            <a:r>
              <a:rPr lang="en-US" b="1" dirty="0">
                <a:solidFill>
                  <a:schemeClr val="bg1"/>
                </a:solidFill>
              </a:rPr>
              <a:t>LAB HANDS ON SESSION</a:t>
            </a:r>
            <a:endParaRPr lang="en-ID" b="1" dirty="0">
              <a:solidFill>
                <a:schemeClr val="bg1"/>
              </a:solidFill>
            </a:endParaRPr>
          </a:p>
        </p:txBody>
      </p:sp>
    </p:spTree>
    <p:extLst>
      <p:ext uri="{BB962C8B-B14F-4D97-AF65-F5344CB8AC3E}">
        <p14:creationId xmlns:p14="http://schemas.microsoft.com/office/powerpoint/2010/main" val="35826641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0667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8007</Words>
  <Application>Microsoft Office PowerPoint</Application>
  <PresentationFormat>Widescreen</PresentationFormat>
  <Paragraphs>1186</Paragraphs>
  <Slides>147</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147</vt:i4>
      </vt:variant>
    </vt:vector>
  </HeadingPairs>
  <TitlesOfParts>
    <vt:vector size="156" baseType="lpstr">
      <vt:lpstr>Arial</vt:lpstr>
      <vt:lpstr>Calibri</vt:lpstr>
      <vt:lpstr>Courier New</vt:lpstr>
      <vt:lpstr>Fira Sans</vt:lpstr>
      <vt:lpstr>Georgia</vt:lpstr>
      <vt:lpstr>Montserrat</vt:lpstr>
      <vt:lpstr>Wingdings</vt:lpstr>
      <vt:lpstr>Office Theme</vt:lpstr>
      <vt:lpstr>Custom Design</vt:lpstr>
      <vt:lpstr>APJII Training Incident Response </vt:lpstr>
      <vt:lpstr>Agenda</vt:lpstr>
      <vt:lpstr>Dwell Time In Cyber Security </vt:lpstr>
      <vt:lpstr>Shifting Priority in Cyber Security</vt:lpstr>
      <vt:lpstr>PowerPoint Presentation</vt:lpstr>
      <vt:lpstr>Logs, Security Events, Alert, and Incidents</vt:lpstr>
      <vt:lpstr>Logs</vt:lpstr>
      <vt:lpstr>Security Events</vt:lpstr>
      <vt:lpstr>Security Events – Adverse Events</vt:lpstr>
      <vt:lpstr>Alerts</vt:lpstr>
      <vt:lpstr>Incidents</vt:lpstr>
      <vt:lpstr>Correlation Between Logs, Security Events, Alerts and Incidents</vt:lpstr>
      <vt:lpstr>Introduction to Digital Forensic and Incident Response</vt:lpstr>
      <vt:lpstr>Illustration of SOC Function</vt:lpstr>
      <vt:lpstr>Incident Response</vt:lpstr>
      <vt:lpstr>Digital Forensic</vt:lpstr>
      <vt:lpstr>Between DF and IR</vt:lpstr>
      <vt:lpstr>Digital Forensic by Category</vt:lpstr>
      <vt:lpstr>DFIR Investigation</vt:lpstr>
      <vt:lpstr>Investigator Mindset</vt:lpstr>
      <vt:lpstr>Analysis Process in Cyber Investigation </vt:lpstr>
      <vt:lpstr>Importance of Incident Response</vt:lpstr>
      <vt:lpstr>Why It is Important?</vt:lpstr>
      <vt:lpstr>Why It is Important?</vt:lpstr>
      <vt:lpstr>Need for DFIR</vt:lpstr>
      <vt:lpstr>Goals of an DFIR Plan </vt:lpstr>
      <vt:lpstr>DFIR Life Cycle</vt:lpstr>
      <vt:lpstr>DFIR Life Cycle</vt:lpstr>
      <vt:lpstr>Digital Forensic and Incident Response </vt:lpstr>
      <vt:lpstr>DFIR &gt;&lt; Threat Hunting &gt;&lt; Detection Engineering &gt;&lt; Malware Analysis</vt:lpstr>
      <vt:lpstr>Finding Evil</vt:lpstr>
      <vt:lpstr>Why ISPs Are a Prime Target</vt:lpstr>
      <vt:lpstr>What Makes ISPs Uniquely Valuable to Attackers</vt:lpstr>
      <vt:lpstr>ISP Threat Landscape — By the Numbers (2024-2025)</vt:lpstr>
      <vt:lpstr>ISP Attack Surface — What Attackers Target</vt:lpstr>
      <vt:lpstr>Threat Actor Categories Targeting ISPs</vt:lpstr>
      <vt:lpstr>Case Study: Salt Typhoon —  Global Telecom &amp; ISP Espionage (2024–2025)</vt:lpstr>
      <vt:lpstr>Case Study: Operation Pumpkin Eclipse —  600,000 Routers Destroyed (Oct 2023)</vt:lpstr>
      <vt:lpstr>Case Study: StormBamboo —  DNS Poisoning at ISP Level (2023)</vt:lpstr>
      <vt:lpstr>Case Study : Ransomware Targeting ISP Operations</vt:lpstr>
      <vt:lpstr>ISP IR Maturity — Self-Assessment</vt:lpstr>
      <vt:lpstr>Building ISP IR Capability — 90-Day Roadmap</vt:lpstr>
      <vt:lpstr>DFIR Readiness</vt:lpstr>
      <vt:lpstr>DFIR Readiness Program Example</vt:lpstr>
      <vt:lpstr>What is missing?</vt:lpstr>
      <vt:lpstr>Let’s Stop for a While</vt:lpstr>
      <vt:lpstr>What is Digital Forensic Readiness? </vt:lpstr>
      <vt:lpstr>Are you ready - Digital Forensic Readiness checklist </vt:lpstr>
      <vt:lpstr>Enterprise Log Data Flow</vt:lpstr>
      <vt:lpstr>The Funnel of Fidelity</vt:lpstr>
      <vt:lpstr>Blue Team Funnel </vt:lpstr>
      <vt:lpstr>Modern Threat Analysis, Detection, and Response</vt:lpstr>
      <vt:lpstr>Losing Battle</vt:lpstr>
      <vt:lpstr>Detection Engineering Core Process</vt:lpstr>
      <vt:lpstr>Development Step for Building Modern SOC</vt:lpstr>
      <vt:lpstr>Detection Engineering</vt:lpstr>
      <vt:lpstr>Detection Engineering in Cyber Security Org</vt:lpstr>
      <vt:lpstr>Requirements for Detection Engineering Program</vt:lpstr>
      <vt:lpstr>PowerPoint Presentation</vt:lpstr>
      <vt:lpstr>Threats (TTP)</vt:lpstr>
      <vt:lpstr>Data (Logs or Telemetry)</vt:lpstr>
      <vt:lpstr>Log Sources and Telemetry</vt:lpstr>
      <vt:lpstr>Log Sources and Telemetry</vt:lpstr>
      <vt:lpstr>Data… Data… Data…</vt:lpstr>
      <vt:lpstr>Data Source Spectrum</vt:lpstr>
      <vt:lpstr>Example of Data Sources from Endpoint</vt:lpstr>
      <vt:lpstr>Endpoint Telemetry</vt:lpstr>
      <vt:lpstr>Example of Data Sources from Network</vt:lpstr>
      <vt:lpstr>Log Sources – Security Control</vt:lpstr>
      <vt:lpstr>Log Sources - Network Infrastructure</vt:lpstr>
      <vt:lpstr>Log Sources – Host Operating Systems</vt:lpstr>
      <vt:lpstr>Log Sources - Applications</vt:lpstr>
      <vt:lpstr>Prioritization of Log Sources</vt:lpstr>
      <vt:lpstr>Deciding Log Sources and Details</vt:lpstr>
      <vt:lpstr>Good Log Data - Quality and Performances Factors</vt:lpstr>
      <vt:lpstr>Log Sources Prioritization  Example by Florian Roth</vt:lpstr>
      <vt:lpstr>PowerPoint Presentation</vt:lpstr>
      <vt:lpstr>Network Security Incident</vt:lpstr>
      <vt:lpstr>Handling Incidents with Network Security</vt:lpstr>
      <vt:lpstr>DoS and DDoS Incidents </vt:lpstr>
      <vt:lpstr>What is Denial of Service?</vt:lpstr>
      <vt:lpstr>DoS vs. DDoS</vt:lpstr>
      <vt:lpstr>DoS and DDoS Incidents </vt:lpstr>
      <vt:lpstr>DoS and DDoS Incidents </vt:lpstr>
      <vt:lpstr>DoS and DDoS Incidents </vt:lpstr>
      <vt:lpstr>Indications of a DoS/DDoS Attack</vt:lpstr>
      <vt:lpstr>Detecting DoS/DDoS Attack</vt:lpstr>
      <vt:lpstr>Preparing For a DoS/DDoS attack and  How to Handle It</vt:lpstr>
      <vt:lpstr>Incident of Unauthorized Access</vt:lpstr>
      <vt:lpstr>Incident of Unauthorized Access</vt:lpstr>
      <vt:lpstr>Indication of Unauthorized Access Incidents</vt:lpstr>
      <vt:lpstr>Incident of Inappropriate Usage</vt:lpstr>
      <vt:lpstr>Indication of Inappropriate Access Incident</vt:lpstr>
      <vt:lpstr>Hands-On Lab Exercise</vt:lpstr>
      <vt:lpstr>Linux DFIR Fundamental </vt:lpstr>
      <vt:lpstr>DFIR Fundamentals – Topics </vt:lpstr>
      <vt:lpstr>Incident Response </vt:lpstr>
      <vt:lpstr>Live Response vs. Dead Box </vt:lpstr>
      <vt:lpstr>Linux Filesystems</vt:lpstr>
      <vt:lpstr>DFIR Fundamentals – Topics </vt:lpstr>
      <vt:lpstr>Linux File Systems </vt:lpstr>
      <vt:lpstr>File System Hierarchy </vt:lpstr>
      <vt:lpstr>Linux Log Analysis</vt:lpstr>
      <vt:lpstr>DFIR Fundamentals – Topics </vt:lpstr>
      <vt:lpstr>Incident Response Log Strategy </vt:lpstr>
      <vt:lpstr>Common Logs and Locations</vt:lpstr>
      <vt:lpstr>Determine the Time Zone </vt:lpstr>
      <vt:lpstr>Common Logs and Locations</vt:lpstr>
      <vt:lpstr>Global System Log (1) </vt:lpstr>
      <vt:lpstr>Global System Log (2) </vt:lpstr>
      <vt:lpstr>Authentication and Authorization Logs </vt:lpstr>
      <vt:lpstr>Authorization and Privilege Use </vt:lpstr>
      <vt:lpstr>Binary Login Logs </vt:lpstr>
      <vt:lpstr>Viewing Binary Login Files </vt:lpstr>
      <vt:lpstr>Logins: wtmp Analysis </vt:lpstr>
      <vt:lpstr>Logins: btmp Analysis </vt:lpstr>
      <vt:lpstr>Modern Attack Technique Against Linux</vt:lpstr>
      <vt:lpstr>Attacking Linux </vt:lpstr>
      <vt:lpstr>Attacking Linux: Initial Exploitation </vt:lpstr>
      <vt:lpstr>Attacking Linux: Privilege Escalation </vt:lpstr>
      <vt:lpstr>Attacking Linux: Persistence </vt:lpstr>
      <vt:lpstr>Attacking Linux: Lateral Movement </vt:lpstr>
      <vt:lpstr>Attacking Linux: C2 and Exfiltration </vt:lpstr>
      <vt:lpstr>Linux Log Analysis</vt:lpstr>
      <vt:lpstr>Log Analysis and Hunting</vt:lpstr>
      <vt:lpstr>Hunting From Log Strategy </vt:lpstr>
      <vt:lpstr>Common Logs and Locations </vt:lpstr>
      <vt:lpstr>Common Logs and Locations</vt:lpstr>
      <vt:lpstr>Global System Log (1) </vt:lpstr>
      <vt:lpstr>Global System Log (2) </vt:lpstr>
      <vt:lpstr>Authentication and Authorization Logs </vt:lpstr>
      <vt:lpstr>Authorization and Privilege Use </vt:lpstr>
      <vt:lpstr>Binary Login Logs </vt:lpstr>
      <vt:lpstr>Viewing Binary Login Files </vt:lpstr>
      <vt:lpstr>Logins: wtmp Analysis </vt:lpstr>
      <vt:lpstr>Logins: btmp Analysis </vt:lpstr>
      <vt:lpstr>Finally: lastlog/faillog </vt:lpstr>
      <vt:lpstr>Audit Logs </vt:lpstr>
      <vt:lpstr>Application Logs </vt:lpstr>
      <vt:lpstr>Application Logs: HTTPd </vt:lpstr>
      <vt:lpstr>Web Server Logs </vt:lpstr>
      <vt:lpstr>access_log </vt:lpstr>
      <vt:lpstr>Quick Wins </vt:lpstr>
      <vt:lpstr>Quick Wins: Example 1 </vt:lpstr>
      <vt:lpstr>Quick Wins: Example 2 </vt:lpstr>
      <vt:lpstr>LAB HANDS ON SESSION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Digit Oktavianto</dc:creator>
  <cp:lastModifiedBy>Digit Oktavianto</cp:lastModifiedBy>
  <cp:revision>14</cp:revision>
  <dcterms:created xsi:type="dcterms:W3CDTF">2026-04-14T13:38:53Z</dcterms:created>
  <dcterms:modified xsi:type="dcterms:W3CDTF">2026-04-15T02:17:39Z</dcterms:modified>
</cp:coreProperties>
</file>