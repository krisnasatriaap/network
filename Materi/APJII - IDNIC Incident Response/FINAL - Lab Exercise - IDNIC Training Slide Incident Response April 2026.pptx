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99"/>
  </p:notesMasterIdLst>
  <p:handoutMasterIdLst>
    <p:handoutMasterId r:id="rId100"/>
  </p:handoutMasterIdLst>
  <p:sldIdLst>
    <p:sldId id="257" r:id="rId3"/>
    <p:sldId id="399" r:id="rId4"/>
    <p:sldId id="400" r:id="rId5"/>
    <p:sldId id="401" r:id="rId6"/>
    <p:sldId id="402" r:id="rId7"/>
    <p:sldId id="403" r:id="rId8"/>
    <p:sldId id="404" r:id="rId9"/>
    <p:sldId id="405" r:id="rId10"/>
    <p:sldId id="406" r:id="rId11"/>
    <p:sldId id="407" r:id="rId12"/>
    <p:sldId id="408" r:id="rId13"/>
    <p:sldId id="409" r:id="rId14"/>
    <p:sldId id="410" r:id="rId15"/>
    <p:sldId id="411" r:id="rId16"/>
    <p:sldId id="412" r:id="rId17"/>
    <p:sldId id="413" r:id="rId18"/>
    <p:sldId id="414" r:id="rId19"/>
    <p:sldId id="415" r:id="rId20"/>
    <p:sldId id="416" r:id="rId21"/>
    <p:sldId id="417" r:id="rId22"/>
    <p:sldId id="418" r:id="rId23"/>
    <p:sldId id="419" r:id="rId24"/>
    <p:sldId id="420" r:id="rId25"/>
    <p:sldId id="421" r:id="rId26"/>
    <p:sldId id="422" r:id="rId27"/>
    <p:sldId id="423" r:id="rId28"/>
    <p:sldId id="424" r:id="rId29"/>
    <p:sldId id="425" r:id="rId30"/>
    <p:sldId id="426" r:id="rId31"/>
    <p:sldId id="427" r:id="rId32"/>
    <p:sldId id="428" r:id="rId33"/>
    <p:sldId id="429" r:id="rId34"/>
    <p:sldId id="430" r:id="rId35"/>
    <p:sldId id="431" r:id="rId36"/>
    <p:sldId id="432" r:id="rId37"/>
    <p:sldId id="433" r:id="rId38"/>
    <p:sldId id="434" r:id="rId39"/>
    <p:sldId id="435" r:id="rId40"/>
    <p:sldId id="436" r:id="rId41"/>
    <p:sldId id="451" r:id="rId42"/>
    <p:sldId id="452" r:id="rId43"/>
    <p:sldId id="437" r:id="rId44"/>
    <p:sldId id="438" r:id="rId45"/>
    <p:sldId id="439" r:id="rId46"/>
    <p:sldId id="440" r:id="rId47"/>
    <p:sldId id="441" r:id="rId48"/>
    <p:sldId id="442" r:id="rId49"/>
    <p:sldId id="443" r:id="rId50"/>
    <p:sldId id="444" r:id="rId51"/>
    <p:sldId id="445" r:id="rId52"/>
    <p:sldId id="446" r:id="rId53"/>
    <p:sldId id="447" r:id="rId54"/>
    <p:sldId id="448" r:id="rId55"/>
    <p:sldId id="449" r:id="rId56"/>
    <p:sldId id="450" r:id="rId57"/>
    <p:sldId id="457" r:id="rId58"/>
    <p:sldId id="458" r:id="rId59"/>
    <p:sldId id="459" r:id="rId60"/>
    <p:sldId id="455" r:id="rId61"/>
    <p:sldId id="456" r:id="rId62"/>
    <p:sldId id="453" r:id="rId63"/>
    <p:sldId id="460" r:id="rId64"/>
    <p:sldId id="461" r:id="rId65"/>
    <p:sldId id="462" r:id="rId66"/>
    <p:sldId id="463" r:id="rId67"/>
    <p:sldId id="464" r:id="rId68"/>
    <p:sldId id="465" r:id="rId69"/>
    <p:sldId id="466" r:id="rId70"/>
    <p:sldId id="467" r:id="rId71"/>
    <p:sldId id="468" r:id="rId72"/>
    <p:sldId id="469" r:id="rId73"/>
    <p:sldId id="470" r:id="rId74"/>
    <p:sldId id="471" r:id="rId75"/>
    <p:sldId id="472" r:id="rId76"/>
    <p:sldId id="473" r:id="rId77"/>
    <p:sldId id="474" r:id="rId78"/>
    <p:sldId id="475" r:id="rId79"/>
    <p:sldId id="476" r:id="rId80"/>
    <p:sldId id="477" r:id="rId81"/>
    <p:sldId id="478" r:id="rId82"/>
    <p:sldId id="479" r:id="rId83"/>
    <p:sldId id="480" r:id="rId84"/>
    <p:sldId id="481" r:id="rId85"/>
    <p:sldId id="482" r:id="rId86"/>
    <p:sldId id="483" r:id="rId87"/>
    <p:sldId id="484" r:id="rId88"/>
    <p:sldId id="485" r:id="rId89"/>
    <p:sldId id="486" r:id="rId90"/>
    <p:sldId id="487" r:id="rId91"/>
    <p:sldId id="488" r:id="rId92"/>
    <p:sldId id="489" r:id="rId93"/>
    <p:sldId id="454" r:id="rId94"/>
    <p:sldId id="491" r:id="rId95"/>
    <p:sldId id="490" r:id="rId96"/>
    <p:sldId id="398" r:id="rId97"/>
    <p:sldId id="397"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10" autoAdjust="0"/>
    <p:restoredTop sz="93916" autoAdjust="0"/>
  </p:normalViewPr>
  <p:slideViewPr>
    <p:cSldViewPr snapToGrid="0">
      <p:cViewPr varScale="1">
        <p:scale>
          <a:sx n="88" d="100"/>
          <a:sy n="88" d="100"/>
        </p:scale>
        <p:origin x="525" y="45"/>
      </p:cViewPr>
      <p:guideLst/>
    </p:cSldViewPr>
  </p:slideViewPr>
  <p:notesTextViewPr>
    <p:cViewPr>
      <p:scale>
        <a:sx n="1" d="1"/>
        <a:sy n="1" d="1"/>
      </p:scale>
      <p:origin x="0" y="0"/>
    </p:cViewPr>
  </p:notesTextViewPr>
  <p:notesViewPr>
    <p:cSldViewPr snapToGrid="0">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viewProps" Target="view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3A82F6-0B44-1F56-4150-EBA0A4E6E0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04CCF917-323A-6F77-42F3-61DCF86F65D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7F99B2E-246A-45AF-8CA9-E340686BD273}" type="datetimeFigureOut">
              <a:rPr lang="en-ID" smtClean="0"/>
              <a:t>15/04/2026</a:t>
            </a:fld>
            <a:endParaRPr lang="en-ID"/>
          </a:p>
        </p:txBody>
      </p:sp>
      <p:sp>
        <p:nvSpPr>
          <p:cNvPr id="4" name="Footer Placeholder 3">
            <a:extLst>
              <a:ext uri="{FF2B5EF4-FFF2-40B4-BE49-F238E27FC236}">
                <a16:creationId xmlns:a16="http://schemas.microsoft.com/office/drawing/2014/main" id="{F5989389-16FB-9D5E-CC19-71FCA7C719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01836662-B223-3B2A-2A87-3EEEDD90C89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0AC853-091B-48DB-8A36-94DA6AB33536}" type="slidenum">
              <a:rPr lang="en-ID" smtClean="0"/>
              <a:t>‹#›</a:t>
            </a:fld>
            <a:endParaRPr lang="en-ID"/>
          </a:p>
        </p:txBody>
      </p:sp>
    </p:spTree>
    <p:extLst>
      <p:ext uri="{BB962C8B-B14F-4D97-AF65-F5344CB8AC3E}">
        <p14:creationId xmlns:p14="http://schemas.microsoft.com/office/powerpoint/2010/main" val="11874280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D17C0-BC3E-4918-82E1-30C75579F902}" type="datetimeFigureOut">
              <a:rPr lang="en-ID" smtClean="0"/>
              <a:t>15/04/2026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615B0A-756A-4CEE-A7D4-97E8896C4F9F}" type="slidenum">
              <a:rPr lang="en-ID" smtClean="0"/>
              <a:t>‹#›</a:t>
            </a:fld>
            <a:endParaRPr lang="en-ID"/>
          </a:p>
        </p:txBody>
      </p:sp>
    </p:spTree>
    <p:extLst>
      <p:ext uri="{BB962C8B-B14F-4D97-AF65-F5344CB8AC3E}">
        <p14:creationId xmlns:p14="http://schemas.microsoft.com/office/powerpoint/2010/main" val="1998348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A7615B0A-756A-4CEE-A7D4-97E8896C4F9F}" type="slidenum">
              <a:rPr lang="en-ID" smtClean="0"/>
              <a:t>62</a:t>
            </a:fld>
            <a:endParaRPr lang="en-ID"/>
          </a:p>
        </p:txBody>
      </p:sp>
    </p:spTree>
    <p:extLst>
      <p:ext uri="{BB962C8B-B14F-4D97-AF65-F5344CB8AC3E}">
        <p14:creationId xmlns:p14="http://schemas.microsoft.com/office/powerpoint/2010/main" val="23983163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AFA4-538B-24E6-8098-705B484F9284}"/>
              </a:ext>
            </a:extLst>
          </p:cNvPr>
          <p:cNvSpPr>
            <a:spLocks noGrp="1"/>
          </p:cNvSpPr>
          <p:nvPr>
            <p:ph type="ctrTitle"/>
          </p:nvPr>
        </p:nvSpPr>
        <p:spPr>
          <a:xfrm>
            <a:off x="1524000" y="1122363"/>
            <a:ext cx="9144000" cy="2387600"/>
          </a:xfrm>
        </p:spPr>
        <p:txBody>
          <a:bodyPr anchor="b"/>
          <a:lstStyle>
            <a:lvl1pPr algn="ctr">
              <a:defRPr sz="6000">
                <a:latin typeface="Georgia" panose="02040502050405020303" pitchFamily="18" charset="0"/>
              </a:defRPr>
            </a:lvl1pPr>
          </a:lstStyle>
          <a:p>
            <a:r>
              <a:rPr lang="en-US" dirty="0"/>
              <a:t>Click to edit Master title style</a:t>
            </a:r>
            <a:endParaRPr lang="en-ID" dirty="0"/>
          </a:p>
        </p:txBody>
      </p:sp>
      <p:sp>
        <p:nvSpPr>
          <p:cNvPr id="3" name="Subtitle 2">
            <a:extLst>
              <a:ext uri="{FF2B5EF4-FFF2-40B4-BE49-F238E27FC236}">
                <a16:creationId xmlns:a16="http://schemas.microsoft.com/office/drawing/2014/main" id="{79BF8C5A-DD84-5E57-9533-FF83822160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Tree>
    <p:extLst>
      <p:ext uri="{BB962C8B-B14F-4D97-AF65-F5344CB8AC3E}">
        <p14:creationId xmlns:p14="http://schemas.microsoft.com/office/powerpoint/2010/main" val="3077445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65C2D-F565-AC30-ACED-C5187FFE16D2}"/>
              </a:ext>
            </a:extLst>
          </p:cNvPr>
          <p:cNvSpPr>
            <a:spLocks noGrp="1"/>
          </p:cNvSpPr>
          <p:nvPr>
            <p:ph type="title"/>
          </p:nvPr>
        </p:nvSpPr>
        <p:spPr/>
        <p:txBody>
          <a:bodyPr>
            <a:normAutofit/>
          </a:bodyPr>
          <a:lstStyle>
            <a:lvl1pPr>
              <a:defRPr sz="2900" b="1"/>
            </a:lvl1pPr>
          </a:lstStyle>
          <a:p>
            <a:r>
              <a:rPr lang="en-US" dirty="0"/>
              <a:t>Click to edit Master title style</a:t>
            </a:r>
            <a:endParaRPr lang="en-ID" dirty="0"/>
          </a:p>
        </p:txBody>
      </p:sp>
      <p:sp>
        <p:nvSpPr>
          <p:cNvPr id="3" name="Content Placeholder 2">
            <a:extLst>
              <a:ext uri="{FF2B5EF4-FFF2-40B4-BE49-F238E27FC236}">
                <a16:creationId xmlns:a16="http://schemas.microsoft.com/office/drawing/2014/main" id="{6FB84EB5-2BBD-6222-6D17-1557D33B651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339108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2B38A-A830-979F-51C5-B5C145C8B135}"/>
              </a:ext>
            </a:extLst>
          </p:cNvPr>
          <p:cNvSpPr>
            <a:spLocks noGrp="1"/>
          </p:cNvSpPr>
          <p:nvPr>
            <p:ph type="title"/>
          </p:nvPr>
        </p:nvSpPr>
        <p:spPr>
          <a:xfrm>
            <a:off x="831850" y="1709738"/>
            <a:ext cx="10515600" cy="2852737"/>
          </a:xfrm>
        </p:spPr>
        <p:txBody>
          <a:bodyPr anchor="b">
            <a:normAutofit/>
          </a:bodyPr>
          <a:lstStyle>
            <a:lvl1pPr>
              <a:defRPr sz="5400"/>
            </a:lvl1p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814934BF-982C-8BDA-0F26-B6DB9DAA5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147428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76D86-293A-218B-7471-789C6019F29B}"/>
              </a:ext>
            </a:extLst>
          </p:cNvPr>
          <p:cNvSpPr>
            <a:spLocks noGrp="1"/>
          </p:cNvSpPr>
          <p:nvPr>
            <p:ph type="title"/>
          </p:nvPr>
        </p:nvSpPr>
        <p:spPr/>
        <p:txBody>
          <a:bodyPr>
            <a:normAutofit/>
          </a:bodyPr>
          <a:lstStyle>
            <a:lvl1pPr>
              <a:defRPr sz="2900"/>
            </a:lvl1pPr>
          </a:lstStyle>
          <a:p>
            <a:r>
              <a:rPr lang="en-US" dirty="0"/>
              <a:t>Click to edit Master title style</a:t>
            </a:r>
            <a:endParaRPr lang="en-ID" dirty="0"/>
          </a:p>
        </p:txBody>
      </p:sp>
      <p:sp>
        <p:nvSpPr>
          <p:cNvPr id="3" name="Content Placeholder 2">
            <a:extLst>
              <a:ext uri="{FF2B5EF4-FFF2-40B4-BE49-F238E27FC236}">
                <a16:creationId xmlns:a16="http://schemas.microsoft.com/office/drawing/2014/main" id="{6E36A9F0-28E2-D44B-C5BD-E0BF60529E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33EED4C2-4D6C-1779-71FE-E17C010291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2208434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851D0-7E4B-914C-1936-4388F8A61BE1}"/>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519D6BF0-BA14-49E7-0B21-8A535EDDC0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2938CA-13DC-79D0-230F-ED8B4ECD05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14F2804C-E0B2-B58B-5757-9A3E9CCCF5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9A476F-E822-A151-37EF-D2C0BBB7DE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1962856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49493-11B6-053D-48A9-C3E131BBF5FF}"/>
              </a:ext>
            </a:extLst>
          </p:cNvPr>
          <p:cNvSpPr>
            <a:spLocks noGrp="1"/>
          </p:cNvSpPr>
          <p:nvPr>
            <p:ph type="title"/>
          </p:nvPr>
        </p:nvSpPr>
        <p:spPr/>
        <p:txBody>
          <a:bodyPr>
            <a:normAutofit/>
          </a:bodyPr>
          <a:lstStyle>
            <a:lvl1pPr>
              <a:defRPr sz="2900"/>
            </a:lvl1pPr>
          </a:lstStyle>
          <a:p>
            <a:r>
              <a:rPr lang="en-US" dirty="0"/>
              <a:t>Click to edit Master title style</a:t>
            </a:r>
            <a:endParaRPr lang="en-ID" dirty="0"/>
          </a:p>
        </p:txBody>
      </p:sp>
    </p:spTree>
    <p:extLst>
      <p:ext uri="{BB962C8B-B14F-4D97-AF65-F5344CB8AC3E}">
        <p14:creationId xmlns:p14="http://schemas.microsoft.com/office/powerpoint/2010/main" val="1325217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2253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3806F-26BF-491A-3B38-B7D923BB16F3}"/>
              </a:ext>
            </a:extLst>
          </p:cNvPr>
          <p:cNvSpPr>
            <a:spLocks noGrp="1"/>
          </p:cNvSpPr>
          <p:nvPr>
            <p:ph type="title"/>
          </p:nvPr>
        </p:nvSpPr>
        <p:spPr/>
        <p:txBody>
          <a:bodyPr>
            <a:normAutofit/>
          </a:bodyPr>
          <a:lstStyle>
            <a:lvl1pPr>
              <a:defRPr sz="2900"/>
            </a:lvl1pPr>
          </a:lstStyle>
          <a:p>
            <a:r>
              <a:rPr lang="en-US" dirty="0"/>
              <a:t>Click to edit Master title style</a:t>
            </a:r>
            <a:endParaRPr lang="en-ID" dirty="0"/>
          </a:p>
        </p:txBody>
      </p:sp>
    </p:spTree>
    <p:extLst>
      <p:ext uri="{BB962C8B-B14F-4D97-AF65-F5344CB8AC3E}">
        <p14:creationId xmlns:p14="http://schemas.microsoft.com/office/powerpoint/2010/main" val="1153726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EE4A9-91F0-81A8-D5EB-B17A326387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7C54C029-36DE-BF9E-CFBD-4877AED307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1DAB7438-BA0C-0A3D-873B-766E84B1AA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743990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08546-A5A8-1904-431D-039925000A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3FE193B0-B998-D44F-51A0-228102040B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E1FC93A2-ECEA-4D19-D218-B89E7EE154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129411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C7651-B59C-62C2-C703-C636A70ACDE1}"/>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30DD56FD-75D0-BB50-5E42-75AA79EDD4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14013347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D67674-1F79-2185-FED0-FFAA35E7256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1B3D2CC5-EB4D-FC4B-F82B-B43931302A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4189167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E984A-2424-5C8A-C1AD-0BF13A52925A}"/>
              </a:ext>
            </a:extLst>
          </p:cNvPr>
          <p:cNvSpPr>
            <a:spLocks noGrp="1"/>
          </p:cNvSpPr>
          <p:nvPr>
            <p:ph type="ctrTitle"/>
          </p:nvPr>
        </p:nvSpPr>
        <p:spPr>
          <a:xfrm>
            <a:off x="1524000" y="1122363"/>
            <a:ext cx="9144000" cy="2387600"/>
          </a:xfrm>
        </p:spPr>
        <p:txBody>
          <a:bodyPr anchor="b">
            <a:normAutofit/>
          </a:bodyPr>
          <a:lstStyle>
            <a:lvl1pPr algn="ctr">
              <a:defRPr sz="5400">
                <a:latin typeface="Georgia" panose="02040502050405020303" pitchFamily="18" charset="0"/>
              </a:defRPr>
            </a:lvl1pPr>
          </a:lstStyle>
          <a:p>
            <a:r>
              <a:rPr lang="en-US" dirty="0"/>
              <a:t>Click to edit Master title style</a:t>
            </a:r>
            <a:endParaRPr lang="en-ID" dirty="0"/>
          </a:p>
        </p:txBody>
      </p:sp>
      <p:sp>
        <p:nvSpPr>
          <p:cNvPr id="3" name="Subtitle 2">
            <a:extLst>
              <a:ext uri="{FF2B5EF4-FFF2-40B4-BE49-F238E27FC236}">
                <a16:creationId xmlns:a16="http://schemas.microsoft.com/office/drawing/2014/main" id="{35EAB82A-32A0-1E8C-BFFB-EFA755429760}"/>
              </a:ext>
            </a:extLst>
          </p:cNvPr>
          <p:cNvSpPr>
            <a:spLocks noGrp="1"/>
          </p:cNvSpPr>
          <p:nvPr>
            <p:ph type="subTitle" idx="1"/>
          </p:nvPr>
        </p:nvSpPr>
        <p:spPr>
          <a:xfrm>
            <a:off x="1524000" y="3602038"/>
            <a:ext cx="9144000" cy="1655762"/>
          </a:xfrm>
        </p:spPr>
        <p:txBody>
          <a:bodyPr/>
          <a:lstStyle>
            <a:lvl1pPr marL="0" indent="0" algn="ctr">
              <a:buNone/>
              <a:defRPr sz="2400">
                <a:latin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D" dirty="0"/>
          </a:p>
        </p:txBody>
      </p:sp>
    </p:spTree>
    <p:extLst>
      <p:ext uri="{BB962C8B-B14F-4D97-AF65-F5344CB8AC3E}">
        <p14:creationId xmlns:p14="http://schemas.microsoft.com/office/powerpoint/2010/main" val="15034947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0C836-5F3C-514B-52A3-85F0A8E5C7BE}"/>
              </a:ext>
            </a:extLst>
          </p:cNvPr>
          <p:cNvSpPr>
            <a:spLocks noGrp="1"/>
          </p:cNvSpPr>
          <p:nvPr>
            <p:ph type="title"/>
          </p:nvPr>
        </p:nvSpPr>
        <p:spPr/>
        <p:txBody>
          <a:bodyPr>
            <a:normAutofit/>
          </a:bodyPr>
          <a:lstStyle>
            <a:lvl1pPr>
              <a:defRPr sz="2900">
                <a:latin typeface="Georgia" panose="02040502050405020303" pitchFamily="18" charset="0"/>
              </a:defRPr>
            </a:lvl1pPr>
          </a:lstStyle>
          <a:p>
            <a:r>
              <a:rPr lang="en-US" dirty="0"/>
              <a:t>Click to edit Master title style</a:t>
            </a:r>
            <a:endParaRPr lang="en-ID" dirty="0"/>
          </a:p>
        </p:txBody>
      </p:sp>
      <p:sp>
        <p:nvSpPr>
          <p:cNvPr id="3" name="Content Placeholder 2">
            <a:extLst>
              <a:ext uri="{FF2B5EF4-FFF2-40B4-BE49-F238E27FC236}">
                <a16:creationId xmlns:a16="http://schemas.microsoft.com/office/drawing/2014/main" id="{E536B611-365D-9434-EB52-EE497CDBCB88}"/>
              </a:ext>
            </a:extLst>
          </p:cNvPr>
          <p:cNvSpPr>
            <a:spLocks noGrp="1"/>
          </p:cNvSpPr>
          <p:nvPr>
            <p:ph idx="1"/>
          </p:nvPr>
        </p:nvSpPr>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32809039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B5B1-5E61-08E2-BB6E-302AAB5DA9C6}"/>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6E4FBA33-5526-B40A-ED6F-6A0891DC70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47905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AADC5-2A48-4509-9FB9-FBD11E666997}"/>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FC3D7B28-4AAD-5E81-FE53-FE4444F007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79FAF301-C0D2-E9BE-0340-B25C071931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2147325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5676D-BBF6-3EBC-0555-1CA2014B4919}"/>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69D415D7-6880-7FF8-4BFF-5559AF49F2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91C8CE-0ABA-35B9-75F0-C9DFD80308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0A78A93E-2564-0B40-124C-D121CC4F27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B4FE1E-3BEB-A345-CC09-84AFEE67F6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7674445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EDE13-F8F3-FC34-6011-F740B4F13548}"/>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16682737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07955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60A39-A8EB-05E6-4A05-6F5E02CBD8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3EE442D4-1BF5-9F3F-05B1-4435632050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506E34FA-EFA9-DA51-3058-DFD8D0365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7381418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BF7D3-6FB5-5AD8-6C05-62A3D2C53E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C1C430B8-926E-10A4-EBB8-5F47155408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8108D1F0-3D55-C311-B045-10CA5686C2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051186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FAAE5-508A-CBCC-7657-F57EBCDE27BD}"/>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FF50D07D-1C8E-B9DE-BCC6-AA8A2A886C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11600960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993214-5383-73B3-F624-17E20A128E0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72C085D8-26CA-F9CD-CBEB-132F03A012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1794179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496FAE-8B7F-4AE9-70D2-8109289AB7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738623BB-6464-5E64-F381-6CE9FB7DF3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1205403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72"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3F3EB6-DF6C-B3D1-25BF-4073A908BD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C24BD81E-4A60-8BBF-FA00-188EA868B1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26977446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2900" kern="1200">
          <a:solidFill>
            <a:schemeClr val="tx1"/>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threathunting.i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1.na.dl.wireshark.org/osx/Wireshark%203.4.9%20Intel%2064.dmg" TargetMode="External"/><Relationship Id="rId2" Type="http://schemas.openxmlformats.org/officeDocument/2006/relationships/hyperlink" Target="https://1.na.dl.wireshark.org/win64/Wireshark-win64-3.4.9.exe" TargetMode="External"/><Relationship Id="rId1" Type="http://schemas.openxmlformats.org/officeDocument/2006/relationships/slideLayout" Target="../slideLayouts/slideLayout2.xml"/><Relationship Id="rId4" Type="http://schemas.openxmlformats.org/officeDocument/2006/relationships/hyperlink" Target="https://drive.google.com/file/d/1JjlceCBngrVevZFlWT_9CEi9zb4jRxRR/view?usp=sharing"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mazebolt.com/what-is-ddos-attack"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brimdata/brim/releases/download/v0.26.0/Brim-0.26.0.deb" TargetMode="External"/><Relationship Id="rId2" Type="http://schemas.openxmlformats.org/officeDocument/2006/relationships/hyperlink" Target="https://github.com/brimdata/brim/releases/download/v0.26.0/Brim-Setup-0.26.0.exe" TargetMode="External"/><Relationship Id="rId1" Type="http://schemas.openxmlformats.org/officeDocument/2006/relationships/slideLayout" Target="../slideLayouts/slideLayout2.xml"/><Relationship Id="rId5" Type="http://schemas.openxmlformats.org/officeDocument/2006/relationships/hyperlink" Target="https://github.com/brimdata/brim/releases/download/v0.26.0/Brim-0.26.0.dmg" TargetMode="External"/><Relationship Id="rId4" Type="http://schemas.openxmlformats.org/officeDocument/2006/relationships/hyperlink" Target="https://github.com/brimdata/brim/releases/download/v0.26.0/Brim-0.26.0.rpm"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hyperlink" Target="https://github.com/Yamato-Security/hayabusa"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github.com/Yamato-Security/hayabusa"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hyperlink" Target="https://github.com/Yamato-Security/hayabusa"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hyperlink" Target="https://github.com/WithSecureLabs/chainsaw"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hyperlink" Target="https://github.com/WithSecureLabs/chainsaw"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hyperlink" Target="https://github.com/WithSecureLabs/chainsaw/releases"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9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C81F236-1F11-FEE9-A566-6B4FDD5E176B}"/>
              </a:ext>
            </a:extLst>
          </p:cNvPr>
          <p:cNvSpPr>
            <a:spLocks noGrp="1"/>
          </p:cNvSpPr>
          <p:nvPr>
            <p:ph type="ctrTitle"/>
          </p:nvPr>
        </p:nvSpPr>
        <p:spPr/>
        <p:txBody>
          <a:bodyPr>
            <a:normAutofit/>
          </a:bodyPr>
          <a:lstStyle/>
          <a:p>
            <a:pPr algn="l"/>
            <a:r>
              <a:rPr lang="en-GB" b="1" dirty="0">
                <a:solidFill>
                  <a:schemeClr val="bg1"/>
                </a:solidFill>
                <a:ea typeface="Montserrat ExtraBold"/>
                <a:cs typeface="Montserrat ExtraBold"/>
                <a:sym typeface="Montserrat ExtraBold"/>
              </a:rPr>
              <a:t>Lab Exercise</a:t>
            </a:r>
            <a:br>
              <a:rPr lang="en-GB" b="1" dirty="0">
                <a:solidFill>
                  <a:schemeClr val="bg1"/>
                </a:solidFill>
                <a:ea typeface="Montserrat ExtraBold"/>
                <a:cs typeface="Montserrat ExtraBold"/>
                <a:sym typeface="Montserrat ExtraBold"/>
              </a:rPr>
            </a:br>
            <a:r>
              <a:rPr lang="en-GB" b="1" dirty="0">
                <a:solidFill>
                  <a:schemeClr val="bg1"/>
                </a:solidFill>
                <a:ea typeface="Montserrat ExtraBold"/>
                <a:cs typeface="Montserrat ExtraBold"/>
                <a:sym typeface="Montserrat ExtraBold"/>
              </a:rPr>
              <a:t>Incident Response </a:t>
            </a:r>
            <a:endParaRPr lang="en-ID" dirty="0">
              <a:solidFill>
                <a:schemeClr val="bg1"/>
              </a:solidFill>
              <a:latin typeface="Georgia" panose="02040502050405020303" pitchFamily="18" charset="0"/>
            </a:endParaRPr>
          </a:p>
        </p:txBody>
      </p:sp>
      <p:sp>
        <p:nvSpPr>
          <p:cNvPr id="6" name="Subtitle 5">
            <a:extLst>
              <a:ext uri="{FF2B5EF4-FFF2-40B4-BE49-F238E27FC236}">
                <a16:creationId xmlns:a16="http://schemas.microsoft.com/office/drawing/2014/main" id="{D3EA918C-6A43-91A9-B65D-2A193165CA7C}"/>
              </a:ext>
            </a:extLst>
          </p:cNvPr>
          <p:cNvSpPr>
            <a:spLocks noGrp="1"/>
          </p:cNvSpPr>
          <p:nvPr>
            <p:ph type="subTitle" idx="1"/>
          </p:nvPr>
        </p:nvSpPr>
        <p:spPr/>
        <p:txBody>
          <a:bodyPr>
            <a:normAutofit lnSpcReduction="10000"/>
          </a:bodyPr>
          <a:lstStyle/>
          <a:p>
            <a:pPr algn="l"/>
            <a:r>
              <a:rPr lang="nb-NO" b="1" dirty="0">
                <a:solidFill>
                  <a:schemeClr val="bg1"/>
                </a:solidFill>
                <a:ea typeface="Montserrat"/>
                <a:cs typeface="Montserrat"/>
                <a:sym typeface="Montserrat"/>
              </a:rPr>
              <a:t>15 April 2026</a:t>
            </a:r>
          </a:p>
          <a:p>
            <a:pPr algn="l"/>
            <a:endParaRPr lang="nb-NO" b="1" dirty="0">
              <a:solidFill>
                <a:schemeClr val="bg1"/>
              </a:solidFill>
              <a:ea typeface="Montserrat"/>
              <a:cs typeface="Montserrat"/>
              <a:sym typeface="Montserrat"/>
            </a:endParaRPr>
          </a:p>
          <a:p>
            <a:pPr algn="l"/>
            <a:r>
              <a:rPr lang="nb-NO" b="1" dirty="0">
                <a:solidFill>
                  <a:schemeClr val="bg1"/>
                </a:solidFill>
                <a:ea typeface="Montserrat"/>
                <a:cs typeface="Montserrat"/>
                <a:sym typeface="Montserrat"/>
              </a:rPr>
              <a:t>Digit Oktavianto</a:t>
            </a:r>
          </a:p>
          <a:p>
            <a:pPr algn="l"/>
            <a:r>
              <a:rPr lang="nb-NO" b="1" dirty="0">
                <a:solidFill>
                  <a:schemeClr val="bg1"/>
                </a:solidFill>
                <a:ea typeface="Montserrat"/>
                <a:cs typeface="Montserrat"/>
                <a:sym typeface="Montserrat"/>
                <a:hlinkClick r:id="rId2">
                  <a:extLst>
                    <a:ext uri="{A12FA001-AC4F-418D-AE19-62706E023703}">
                      <ahyp:hlinkClr xmlns:ahyp="http://schemas.microsoft.com/office/drawing/2018/hyperlinkcolor" val="tx"/>
                    </a:ext>
                  </a:extLst>
                </a:hlinkClick>
              </a:rPr>
              <a:t>https://threathunting.id</a:t>
            </a:r>
            <a:r>
              <a:rPr lang="nb-NO" b="1" dirty="0">
                <a:solidFill>
                  <a:schemeClr val="bg1"/>
                </a:solidFill>
                <a:ea typeface="Montserrat"/>
                <a:cs typeface="Montserrat"/>
                <a:sym typeface="Montserrat"/>
              </a:rPr>
              <a:t> </a:t>
            </a:r>
          </a:p>
          <a:p>
            <a:pPr algn="l"/>
            <a:endParaRPr lang="en-ID" dirty="0">
              <a:solidFill>
                <a:schemeClr val="bg1"/>
              </a:solidFill>
            </a:endParaRPr>
          </a:p>
        </p:txBody>
      </p:sp>
    </p:spTree>
    <p:extLst>
      <p:ext uri="{BB962C8B-B14F-4D97-AF65-F5344CB8AC3E}">
        <p14:creationId xmlns:p14="http://schemas.microsoft.com/office/powerpoint/2010/main" val="2017358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5CE2-A382-CB06-A354-424F6F607961}"/>
              </a:ext>
            </a:extLst>
          </p:cNvPr>
          <p:cNvSpPr>
            <a:spLocks noGrp="1"/>
          </p:cNvSpPr>
          <p:nvPr>
            <p:ph type="title"/>
          </p:nvPr>
        </p:nvSpPr>
        <p:spPr/>
        <p:txBody>
          <a:bodyPr/>
          <a:lstStyle/>
          <a:p>
            <a:r>
              <a:rPr lang="en-US" dirty="0"/>
              <a:t>Analyzing DDOS Packet using Wireshark</a:t>
            </a:r>
            <a:endParaRPr lang="en-ID" dirty="0"/>
          </a:p>
        </p:txBody>
      </p:sp>
      <p:sp>
        <p:nvSpPr>
          <p:cNvPr id="3" name="Content Placeholder 2">
            <a:extLst>
              <a:ext uri="{FF2B5EF4-FFF2-40B4-BE49-F238E27FC236}">
                <a16:creationId xmlns:a16="http://schemas.microsoft.com/office/drawing/2014/main" id="{B84249AA-FCA3-79AD-CDD7-B1480A3BB2BE}"/>
              </a:ext>
            </a:extLst>
          </p:cNvPr>
          <p:cNvSpPr>
            <a:spLocks noGrp="1"/>
          </p:cNvSpPr>
          <p:nvPr>
            <p:ph idx="1"/>
          </p:nvPr>
        </p:nvSpPr>
        <p:spPr/>
        <p:txBody>
          <a:bodyPr>
            <a:normAutofit fontScale="77500" lnSpcReduction="20000"/>
          </a:bodyPr>
          <a:lstStyle/>
          <a:p>
            <a:pPr marL="0" indent="0">
              <a:buNone/>
            </a:pPr>
            <a:r>
              <a:rPr lang="en-US" dirty="0"/>
              <a:t>Tools :</a:t>
            </a:r>
          </a:p>
          <a:p>
            <a:r>
              <a:rPr lang="en-US" dirty="0"/>
              <a:t>Wireshark : </a:t>
            </a:r>
          </a:p>
          <a:p>
            <a:pPr marL="0" indent="0">
              <a:buNone/>
            </a:pPr>
            <a:r>
              <a:rPr lang="en-US" dirty="0"/>
              <a:t>Windows : </a:t>
            </a:r>
            <a:r>
              <a:rPr lang="en-US" dirty="0">
                <a:hlinkClick r:id="rId2"/>
              </a:rPr>
              <a:t>https://1.na.dl.wireshark.org/win64/Wireshark-win64-3.4.9.exe</a:t>
            </a:r>
            <a:endParaRPr lang="en-US" dirty="0"/>
          </a:p>
          <a:p>
            <a:pPr marL="0" indent="0">
              <a:buNone/>
            </a:pPr>
            <a:r>
              <a:rPr lang="en-US" dirty="0"/>
              <a:t>macOS : </a:t>
            </a:r>
            <a:r>
              <a:rPr lang="en-US" dirty="0">
                <a:hlinkClick r:id="rId3"/>
              </a:rPr>
              <a:t>https://1.na.dl.wireshark.org/osx/Wireshark%203.4.9%20Intel%2064.dmg</a:t>
            </a:r>
            <a:endParaRPr lang="en-US" dirty="0"/>
          </a:p>
          <a:p>
            <a:pPr marL="0" indent="0">
              <a:buNone/>
            </a:pPr>
            <a:r>
              <a:rPr lang="en-US" dirty="0"/>
              <a:t>Linux (Ubuntu) : </a:t>
            </a:r>
            <a:r>
              <a:rPr lang="en-ID" dirty="0">
                <a:solidFill>
                  <a:srgbClr val="000000"/>
                </a:solidFill>
                <a:latin typeface="Monaco"/>
              </a:rPr>
              <a:t>apt </a:t>
            </a:r>
            <a:r>
              <a:rPr lang="en-ID" dirty="0">
                <a:solidFill>
                  <a:srgbClr val="2060A0"/>
                </a:solidFill>
                <a:latin typeface="Monaco"/>
              </a:rPr>
              <a:t>install</a:t>
            </a:r>
            <a:r>
              <a:rPr lang="en-ID" dirty="0">
                <a:solidFill>
                  <a:srgbClr val="000000"/>
                </a:solidFill>
                <a:latin typeface="Monaco"/>
              </a:rPr>
              <a:t> </a:t>
            </a:r>
            <a:r>
              <a:rPr lang="en-ID" dirty="0" err="1">
                <a:solidFill>
                  <a:srgbClr val="000000"/>
                </a:solidFill>
                <a:latin typeface="Monaco"/>
              </a:rPr>
              <a:t>wireshark</a:t>
            </a:r>
            <a:endParaRPr lang="en-ID" dirty="0">
              <a:solidFill>
                <a:srgbClr val="000000"/>
              </a:solidFill>
              <a:latin typeface="Monaco"/>
            </a:endParaRPr>
          </a:p>
          <a:p>
            <a:pPr marL="0" indent="0">
              <a:buNone/>
            </a:pPr>
            <a:r>
              <a:rPr lang="en-US" dirty="0"/>
              <a:t>Linux (</a:t>
            </a:r>
            <a:r>
              <a:rPr lang="en-US" dirty="0" err="1"/>
              <a:t>redhat</a:t>
            </a:r>
            <a:r>
              <a:rPr lang="en-US" dirty="0"/>
              <a:t> family) : yum install </a:t>
            </a:r>
            <a:r>
              <a:rPr lang="en-US" dirty="0" err="1"/>
              <a:t>wireshark</a:t>
            </a:r>
            <a:r>
              <a:rPr lang="en-US" dirty="0"/>
              <a:t> / </a:t>
            </a:r>
            <a:r>
              <a:rPr lang="en-US" dirty="0" err="1"/>
              <a:t>dnf</a:t>
            </a:r>
            <a:r>
              <a:rPr lang="en-US" dirty="0"/>
              <a:t> install </a:t>
            </a:r>
            <a:r>
              <a:rPr lang="en-US" dirty="0" err="1"/>
              <a:t>wireshark</a:t>
            </a:r>
            <a:endParaRPr lang="en-US" dirty="0"/>
          </a:p>
          <a:p>
            <a:pPr marL="0" indent="0">
              <a:buNone/>
            </a:pPr>
            <a:endParaRPr lang="en-US" dirty="0"/>
          </a:p>
          <a:p>
            <a:r>
              <a:rPr lang="en-US" dirty="0" err="1"/>
              <a:t>Pcap</a:t>
            </a:r>
            <a:r>
              <a:rPr lang="en-US" dirty="0"/>
              <a:t> DDOS File Incident : </a:t>
            </a:r>
            <a:r>
              <a:rPr lang="en-US" dirty="0">
                <a:hlinkClick r:id="rId4"/>
              </a:rPr>
              <a:t>https://drive.google.com/file/d/1JjlceCBngrVevZFlWT_9CEi9zb4jRxRR/view?usp=sharing</a:t>
            </a:r>
            <a:r>
              <a:rPr lang="en-US" dirty="0"/>
              <a:t> </a:t>
            </a:r>
          </a:p>
          <a:p>
            <a:pPr marL="0" indent="0">
              <a:buNone/>
            </a:pPr>
            <a:endParaRPr lang="en-US" dirty="0"/>
          </a:p>
          <a:p>
            <a:r>
              <a:rPr lang="en-US" dirty="0"/>
              <a:t>Some filter for detection</a:t>
            </a:r>
            <a:endParaRPr lang="en-ID" dirty="0"/>
          </a:p>
          <a:p>
            <a:endParaRPr lang="en-ID" dirty="0"/>
          </a:p>
        </p:txBody>
      </p:sp>
    </p:spTree>
    <p:extLst>
      <p:ext uri="{BB962C8B-B14F-4D97-AF65-F5344CB8AC3E}">
        <p14:creationId xmlns:p14="http://schemas.microsoft.com/office/powerpoint/2010/main" val="1122863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0618C-8B31-F275-0E9D-3D86739542C2}"/>
              </a:ext>
            </a:extLst>
          </p:cNvPr>
          <p:cNvSpPr>
            <a:spLocks noGrp="1"/>
          </p:cNvSpPr>
          <p:nvPr>
            <p:ph type="title"/>
          </p:nvPr>
        </p:nvSpPr>
        <p:spPr/>
        <p:txBody>
          <a:bodyPr/>
          <a:lstStyle/>
          <a:p>
            <a:r>
              <a:rPr lang="en-US" dirty="0"/>
              <a:t>Wireshark Settings First!</a:t>
            </a:r>
            <a:endParaRPr lang="en-ID" dirty="0"/>
          </a:p>
        </p:txBody>
      </p:sp>
      <p:sp>
        <p:nvSpPr>
          <p:cNvPr id="3" name="Content Placeholder 2">
            <a:extLst>
              <a:ext uri="{FF2B5EF4-FFF2-40B4-BE49-F238E27FC236}">
                <a16:creationId xmlns:a16="http://schemas.microsoft.com/office/drawing/2014/main" id="{2CF1A9E8-8820-CF43-AF13-8B302BF97708}"/>
              </a:ext>
            </a:extLst>
          </p:cNvPr>
          <p:cNvSpPr>
            <a:spLocks noGrp="1"/>
          </p:cNvSpPr>
          <p:nvPr>
            <p:ph idx="1"/>
          </p:nvPr>
        </p:nvSpPr>
        <p:spPr/>
        <p:txBody>
          <a:bodyPr/>
          <a:lstStyle/>
          <a:p>
            <a:r>
              <a:rPr lang="en-US" dirty="0"/>
              <a:t>Let's change this by editing our preferences ( edit --&gt; Preferences ):</a:t>
            </a:r>
          </a:p>
          <a:p>
            <a:pPr marL="0" indent="0">
              <a:buNone/>
            </a:pPr>
            <a:endParaRPr lang="en-US" dirty="0"/>
          </a:p>
        </p:txBody>
      </p:sp>
      <p:pic>
        <p:nvPicPr>
          <p:cNvPr id="4" name="Picture 3">
            <a:extLst>
              <a:ext uri="{FF2B5EF4-FFF2-40B4-BE49-F238E27FC236}">
                <a16:creationId xmlns:a16="http://schemas.microsoft.com/office/drawing/2014/main" id="{83B20205-0E41-DC29-AD71-82C58BF082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3294" y="2554013"/>
            <a:ext cx="2685411" cy="3622950"/>
          </a:xfrm>
          <a:prstGeom prst="rect">
            <a:avLst/>
          </a:prstGeom>
        </p:spPr>
      </p:pic>
    </p:spTree>
    <p:extLst>
      <p:ext uri="{BB962C8B-B14F-4D97-AF65-F5344CB8AC3E}">
        <p14:creationId xmlns:p14="http://schemas.microsoft.com/office/powerpoint/2010/main" val="2417841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8162B-037F-64F3-C573-0C6ABF9775AE}"/>
              </a:ext>
            </a:extLst>
          </p:cNvPr>
          <p:cNvSpPr>
            <a:spLocks noGrp="1"/>
          </p:cNvSpPr>
          <p:nvPr>
            <p:ph type="title"/>
          </p:nvPr>
        </p:nvSpPr>
        <p:spPr/>
        <p:txBody>
          <a:bodyPr/>
          <a:lstStyle/>
          <a:p>
            <a:r>
              <a:rPr lang="en-US" dirty="0"/>
              <a:t>Wireshark Settings First!</a:t>
            </a:r>
            <a:endParaRPr lang="en-ID" dirty="0"/>
          </a:p>
        </p:txBody>
      </p:sp>
      <p:sp>
        <p:nvSpPr>
          <p:cNvPr id="3" name="Content Placeholder 2">
            <a:extLst>
              <a:ext uri="{FF2B5EF4-FFF2-40B4-BE49-F238E27FC236}">
                <a16:creationId xmlns:a16="http://schemas.microsoft.com/office/drawing/2014/main" id="{F7FF26B0-22DF-9455-ED1E-E6BC35522C40}"/>
              </a:ext>
            </a:extLst>
          </p:cNvPr>
          <p:cNvSpPr>
            <a:spLocks noGrp="1"/>
          </p:cNvSpPr>
          <p:nvPr>
            <p:ph idx="1"/>
          </p:nvPr>
        </p:nvSpPr>
        <p:spPr/>
        <p:txBody>
          <a:bodyPr/>
          <a:lstStyle/>
          <a:p>
            <a:r>
              <a:rPr lang="en-US" dirty="0"/>
              <a:t>From the Wireshark Preferences menu, select columns:</a:t>
            </a:r>
          </a:p>
        </p:txBody>
      </p:sp>
      <p:pic>
        <p:nvPicPr>
          <p:cNvPr id="4" name="Picture 3">
            <a:extLst>
              <a:ext uri="{FF2B5EF4-FFF2-40B4-BE49-F238E27FC236}">
                <a16:creationId xmlns:a16="http://schemas.microsoft.com/office/drawing/2014/main" id="{3E32EE1B-7928-4AEC-6BF8-945CE27D3D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2341112"/>
            <a:ext cx="10401300" cy="3933825"/>
          </a:xfrm>
          <a:prstGeom prst="rect">
            <a:avLst/>
          </a:prstGeom>
        </p:spPr>
      </p:pic>
    </p:spTree>
    <p:extLst>
      <p:ext uri="{BB962C8B-B14F-4D97-AF65-F5344CB8AC3E}">
        <p14:creationId xmlns:p14="http://schemas.microsoft.com/office/powerpoint/2010/main" val="673547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B90B-98C3-C861-1781-5942E789A4BB}"/>
              </a:ext>
            </a:extLst>
          </p:cNvPr>
          <p:cNvSpPr>
            <a:spLocks noGrp="1"/>
          </p:cNvSpPr>
          <p:nvPr>
            <p:ph type="title"/>
          </p:nvPr>
        </p:nvSpPr>
        <p:spPr/>
        <p:txBody>
          <a:bodyPr/>
          <a:lstStyle/>
          <a:p>
            <a:r>
              <a:rPr lang="en-US" dirty="0"/>
              <a:t>Wireshark Settings First!</a:t>
            </a:r>
            <a:endParaRPr lang="en-ID" dirty="0"/>
          </a:p>
        </p:txBody>
      </p:sp>
      <p:sp>
        <p:nvSpPr>
          <p:cNvPr id="3" name="Content Placeholder 2">
            <a:extLst>
              <a:ext uri="{FF2B5EF4-FFF2-40B4-BE49-F238E27FC236}">
                <a16:creationId xmlns:a16="http://schemas.microsoft.com/office/drawing/2014/main" id="{F3A2024A-A3C4-577C-DFF5-07224CF3B6CA}"/>
              </a:ext>
            </a:extLst>
          </p:cNvPr>
          <p:cNvSpPr>
            <a:spLocks noGrp="1"/>
          </p:cNvSpPr>
          <p:nvPr>
            <p:ph idx="1"/>
          </p:nvPr>
        </p:nvSpPr>
        <p:spPr>
          <a:xfrm>
            <a:off x="838200" y="1825625"/>
            <a:ext cx="10515600" cy="1217974"/>
          </a:xfrm>
        </p:spPr>
        <p:txBody>
          <a:bodyPr>
            <a:normAutofit fontScale="92500" lnSpcReduction="20000"/>
          </a:bodyPr>
          <a:lstStyle/>
          <a:p>
            <a:r>
              <a:rPr lang="en-US" dirty="0"/>
              <a:t>The first new column to add is the source port.  You'll want to select </a:t>
            </a:r>
            <a:r>
              <a:rPr lang="en-US" dirty="0" err="1"/>
              <a:t>Src</a:t>
            </a:r>
            <a:r>
              <a:rPr lang="en-US" dirty="0"/>
              <a:t> port (unresolved) so you can see the port number.  Otherwise, it'll show whatever server is associated with that port instead of the number.</a:t>
            </a:r>
          </a:p>
          <a:p>
            <a:endParaRPr lang="en-US" dirty="0"/>
          </a:p>
          <a:p>
            <a:endParaRPr lang="en-US" dirty="0"/>
          </a:p>
          <a:p>
            <a:endParaRPr lang="en-ID" dirty="0"/>
          </a:p>
        </p:txBody>
      </p:sp>
      <p:pic>
        <p:nvPicPr>
          <p:cNvPr id="4" name="Picture 2">
            <a:extLst>
              <a:ext uri="{FF2B5EF4-FFF2-40B4-BE49-F238E27FC236}">
                <a16:creationId xmlns:a16="http://schemas.microsoft.com/office/drawing/2014/main" id="{2630B10D-1CF9-D618-2E4A-7A841B00CE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7346" y="3043599"/>
            <a:ext cx="5237307" cy="3061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090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D7E93-1064-4FDC-6320-3833F70DF2CE}"/>
              </a:ext>
            </a:extLst>
          </p:cNvPr>
          <p:cNvSpPr>
            <a:spLocks noGrp="1"/>
          </p:cNvSpPr>
          <p:nvPr>
            <p:ph type="title"/>
          </p:nvPr>
        </p:nvSpPr>
        <p:spPr/>
        <p:txBody>
          <a:bodyPr/>
          <a:lstStyle/>
          <a:p>
            <a:r>
              <a:rPr lang="en-US" dirty="0"/>
              <a:t>Wireshark Settings First!</a:t>
            </a:r>
            <a:endParaRPr lang="en-ID" dirty="0"/>
          </a:p>
        </p:txBody>
      </p:sp>
      <p:sp>
        <p:nvSpPr>
          <p:cNvPr id="3" name="Content Placeholder 2">
            <a:extLst>
              <a:ext uri="{FF2B5EF4-FFF2-40B4-BE49-F238E27FC236}">
                <a16:creationId xmlns:a16="http://schemas.microsoft.com/office/drawing/2014/main" id="{17E81A5E-EBB2-C7B7-77C0-BC389628557D}"/>
              </a:ext>
            </a:extLst>
          </p:cNvPr>
          <p:cNvSpPr>
            <a:spLocks noGrp="1"/>
          </p:cNvSpPr>
          <p:nvPr>
            <p:ph idx="1"/>
          </p:nvPr>
        </p:nvSpPr>
        <p:spPr/>
        <p:txBody>
          <a:bodyPr/>
          <a:lstStyle/>
          <a:p>
            <a:r>
              <a:rPr lang="en-US" dirty="0"/>
              <a:t>The default name of any new columns is "New Column", so change the name of that new column.</a:t>
            </a:r>
          </a:p>
          <a:p>
            <a:endParaRPr lang="en-US" dirty="0"/>
          </a:p>
          <a:p>
            <a:endParaRPr lang="en-ID" dirty="0"/>
          </a:p>
        </p:txBody>
      </p:sp>
      <p:pic>
        <p:nvPicPr>
          <p:cNvPr id="4" name="Picture 4">
            <a:extLst>
              <a:ext uri="{FF2B5EF4-FFF2-40B4-BE49-F238E27FC236}">
                <a16:creationId xmlns:a16="http://schemas.microsoft.com/office/drawing/2014/main" id="{C3D72A43-6311-2D22-49A9-AD42175B3F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3747" y="2957849"/>
            <a:ext cx="7064505" cy="2086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856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3ADBE-8307-3D46-7940-A89CBA11B242}"/>
              </a:ext>
            </a:extLst>
          </p:cNvPr>
          <p:cNvSpPr>
            <a:spLocks noGrp="1"/>
          </p:cNvSpPr>
          <p:nvPr>
            <p:ph type="title"/>
          </p:nvPr>
        </p:nvSpPr>
        <p:spPr/>
        <p:txBody>
          <a:bodyPr/>
          <a:lstStyle/>
          <a:p>
            <a:r>
              <a:rPr lang="en-US" dirty="0"/>
              <a:t>Wireshark Settings First!</a:t>
            </a:r>
            <a:endParaRPr lang="en-ID" dirty="0"/>
          </a:p>
        </p:txBody>
      </p:sp>
      <p:sp>
        <p:nvSpPr>
          <p:cNvPr id="3" name="Content Placeholder 2">
            <a:extLst>
              <a:ext uri="{FF2B5EF4-FFF2-40B4-BE49-F238E27FC236}">
                <a16:creationId xmlns:a16="http://schemas.microsoft.com/office/drawing/2014/main" id="{08B30DF8-D876-1498-1393-E7E7C40925B4}"/>
              </a:ext>
            </a:extLst>
          </p:cNvPr>
          <p:cNvSpPr>
            <a:spLocks noGrp="1"/>
          </p:cNvSpPr>
          <p:nvPr>
            <p:ph idx="1"/>
          </p:nvPr>
        </p:nvSpPr>
        <p:spPr/>
        <p:txBody>
          <a:bodyPr/>
          <a:lstStyle/>
          <a:p>
            <a:r>
              <a:rPr lang="en-US" dirty="0"/>
              <a:t>Once you've changed the name, you can left-click and drag that column to the location you choose.  We'll put it after the Source address.</a:t>
            </a:r>
          </a:p>
          <a:p>
            <a:endParaRPr lang="en-US" dirty="0"/>
          </a:p>
          <a:p>
            <a:endParaRPr lang="en-ID" dirty="0"/>
          </a:p>
        </p:txBody>
      </p:sp>
      <p:pic>
        <p:nvPicPr>
          <p:cNvPr id="4" name="Picture 2">
            <a:extLst>
              <a:ext uri="{FF2B5EF4-FFF2-40B4-BE49-F238E27FC236}">
                <a16:creationId xmlns:a16="http://schemas.microsoft.com/office/drawing/2014/main" id="{86C79697-5D0E-1D02-BE20-D36DA14960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9275" y="3112604"/>
            <a:ext cx="8553450" cy="203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753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CBD90-3F13-E571-E5E0-0ECDBAD51429}"/>
              </a:ext>
            </a:extLst>
          </p:cNvPr>
          <p:cNvSpPr>
            <a:spLocks noGrp="1"/>
          </p:cNvSpPr>
          <p:nvPr>
            <p:ph type="title"/>
          </p:nvPr>
        </p:nvSpPr>
        <p:spPr/>
        <p:txBody>
          <a:bodyPr/>
          <a:lstStyle/>
          <a:p>
            <a:r>
              <a:rPr lang="en-US" dirty="0"/>
              <a:t>Wireshark Settings First!</a:t>
            </a:r>
            <a:endParaRPr lang="en-ID" dirty="0"/>
          </a:p>
        </p:txBody>
      </p:sp>
      <p:sp>
        <p:nvSpPr>
          <p:cNvPr id="3" name="Content Placeholder 2">
            <a:extLst>
              <a:ext uri="{FF2B5EF4-FFF2-40B4-BE49-F238E27FC236}">
                <a16:creationId xmlns:a16="http://schemas.microsoft.com/office/drawing/2014/main" id="{785546F1-4FE0-CA7F-0E1D-49A27DD434FE}"/>
              </a:ext>
            </a:extLst>
          </p:cNvPr>
          <p:cNvSpPr>
            <a:spLocks noGrp="1"/>
          </p:cNvSpPr>
          <p:nvPr>
            <p:ph idx="1"/>
          </p:nvPr>
        </p:nvSpPr>
        <p:spPr/>
        <p:txBody>
          <a:bodyPr/>
          <a:lstStyle/>
          <a:p>
            <a:r>
              <a:rPr lang="en-US" dirty="0"/>
              <a:t>After a few additions and column changes, here's the setup that I use.  Notice how the Source and Destination addresses are changed to an "unresolved" field type.</a:t>
            </a:r>
          </a:p>
          <a:p>
            <a:endParaRPr lang="en-US" dirty="0"/>
          </a:p>
          <a:p>
            <a:endParaRPr lang="en-ID" dirty="0"/>
          </a:p>
        </p:txBody>
      </p:sp>
      <p:pic>
        <p:nvPicPr>
          <p:cNvPr id="4" name="Picture 2">
            <a:extLst>
              <a:ext uri="{FF2B5EF4-FFF2-40B4-BE49-F238E27FC236}">
                <a16:creationId xmlns:a16="http://schemas.microsoft.com/office/drawing/2014/main" id="{59E3684B-F6E2-2F4B-BE66-034ED91570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4603" y="3287444"/>
            <a:ext cx="4602794" cy="2582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9059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30735-9205-CAE8-8252-D54DA63C7900}"/>
              </a:ext>
            </a:extLst>
          </p:cNvPr>
          <p:cNvSpPr>
            <a:spLocks noGrp="1"/>
          </p:cNvSpPr>
          <p:nvPr>
            <p:ph type="title"/>
          </p:nvPr>
        </p:nvSpPr>
        <p:spPr/>
        <p:txBody>
          <a:bodyPr/>
          <a:lstStyle/>
          <a:p>
            <a:r>
              <a:rPr lang="en-US" dirty="0"/>
              <a:t>Wireshark Settings First!</a:t>
            </a:r>
            <a:endParaRPr lang="en-ID" dirty="0"/>
          </a:p>
        </p:txBody>
      </p:sp>
      <p:sp>
        <p:nvSpPr>
          <p:cNvPr id="3" name="Content Placeholder 2">
            <a:extLst>
              <a:ext uri="{FF2B5EF4-FFF2-40B4-BE49-F238E27FC236}">
                <a16:creationId xmlns:a16="http://schemas.microsoft.com/office/drawing/2014/main" id="{763765D9-6D19-5F48-6F76-A7D118629BFF}"/>
              </a:ext>
            </a:extLst>
          </p:cNvPr>
          <p:cNvSpPr>
            <a:spLocks noGrp="1"/>
          </p:cNvSpPr>
          <p:nvPr>
            <p:ph idx="1"/>
          </p:nvPr>
        </p:nvSpPr>
        <p:spPr>
          <a:xfrm>
            <a:off x="838200" y="1825626"/>
            <a:ext cx="4256314" cy="4264931"/>
          </a:xfrm>
        </p:spPr>
        <p:txBody>
          <a:bodyPr>
            <a:normAutofit/>
          </a:bodyPr>
          <a:lstStyle/>
          <a:p>
            <a:r>
              <a:rPr lang="en-US" dirty="0"/>
              <a:t>Now let's fix the time.  The default format is "Seconds Since Beginning Capture".  Let's change it to "Date and Time of Day".  Go to: View --&gt; Time Display Format --&gt; Date and Time of Day.</a:t>
            </a:r>
          </a:p>
          <a:p>
            <a:pPr marL="0" indent="0">
              <a:buNone/>
            </a:pPr>
            <a:endParaRPr lang="en-US" dirty="0"/>
          </a:p>
          <a:p>
            <a:endParaRPr lang="en-ID" dirty="0"/>
          </a:p>
        </p:txBody>
      </p:sp>
      <p:pic>
        <p:nvPicPr>
          <p:cNvPr id="4" name="Picture 2">
            <a:extLst>
              <a:ext uri="{FF2B5EF4-FFF2-40B4-BE49-F238E27FC236}">
                <a16:creationId xmlns:a16="http://schemas.microsoft.com/office/drawing/2014/main" id="{D8EC800C-8545-EB99-25DC-C20D239FA9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7626" y="2141326"/>
            <a:ext cx="5986174" cy="3633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3739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E2BC5-EC9C-744C-E94D-977EFEF2E0C0}"/>
              </a:ext>
            </a:extLst>
          </p:cNvPr>
          <p:cNvSpPr>
            <a:spLocks noGrp="1"/>
          </p:cNvSpPr>
          <p:nvPr>
            <p:ph type="title"/>
          </p:nvPr>
        </p:nvSpPr>
        <p:spPr/>
        <p:txBody>
          <a:bodyPr/>
          <a:lstStyle/>
          <a:p>
            <a:r>
              <a:rPr lang="en-US" dirty="0"/>
              <a:t>Wireshark Settings First!</a:t>
            </a:r>
            <a:endParaRPr lang="en-ID" dirty="0"/>
          </a:p>
        </p:txBody>
      </p:sp>
      <p:sp>
        <p:nvSpPr>
          <p:cNvPr id="3" name="Content Placeholder 2">
            <a:extLst>
              <a:ext uri="{FF2B5EF4-FFF2-40B4-BE49-F238E27FC236}">
                <a16:creationId xmlns:a16="http://schemas.microsoft.com/office/drawing/2014/main" id="{403EB2E4-BBA9-FA80-405A-62E15712DADF}"/>
              </a:ext>
            </a:extLst>
          </p:cNvPr>
          <p:cNvSpPr>
            <a:spLocks noGrp="1"/>
          </p:cNvSpPr>
          <p:nvPr>
            <p:ph idx="1"/>
          </p:nvPr>
        </p:nvSpPr>
        <p:spPr>
          <a:xfrm>
            <a:off x="838200" y="1825625"/>
            <a:ext cx="4305300" cy="4351338"/>
          </a:xfrm>
        </p:spPr>
        <p:txBody>
          <a:bodyPr/>
          <a:lstStyle/>
          <a:p>
            <a:r>
              <a:rPr lang="en-US" dirty="0"/>
              <a:t>After that, we'll change the precision of the displayed time from automatic to "Seconds", as shown below ( View --&gt; Time Display Format --&gt; select "Seconds: 0"):</a:t>
            </a:r>
          </a:p>
          <a:p>
            <a:endParaRPr lang="en-US" dirty="0"/>
          </a:p>
          <a:p>
            <a:pPr marL="0" indent="0">
              <a:buNone/>
            </a:pPr>
            <a:endParaRPr lang="en-US" dirty="0"/>
          </a:p>
          <a:p>
            <a:endParaRPr lang="en-ID" dirty="0"/>
          </a:p>
        </p:txBody>
      </p:sp>
      <p:pic>
        <p:nvPicPr>
          <p:cNvPr id="4" name="Picture 2">
            <a:extLst>
              <a:ext uri="{FF2B5EF4-FFF2-40B4-BE49-F238E27FC236}">
                <a16:creationId xmlns:a16="http://schemas.microsoft.com/office/drawing/2014/main" id="{6B3258C2-BDA7-8F46-020E-AD65ED24A8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9818" y="1825625"/>
            <a:ext cx="6043982" cy="3873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8872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9DD13-B1B4-F12F-2AD9-2CE707688985}"/>
              </a:ext>
            </a:extLst>
          </p:cNvPr>
          <p:cNvSpPr>
            <a:spLocks noGrp="1"/>
          </p:cNvSpPr>
          <p:nvPr>
            <p:ph type="title"/>
          </p:nvPr>
        </p:nvSpPr>
        <p:spPr/>
        <p:txBody>
          <a:bodyPr/>
          <a:lstStyle/>
          <a:p>
            <a:r>
              <a:rPr lang="en-US" dirty="0"/>
              <a:t>Wireshark Settings </a:t>
            </a:r>
            <a:r>
              <a:rPr lang="en-US"/>
              <a:t>First! </a:t>
            </a:r>
            <a:endParaRPr lang="en-ID" dirty="0"/>
          </a:p>
        </p:txBody>
      </p:sp>
      <p:sp>
        <p:nvSpPr>
          <p:cNvPr id="3" name="Content Placeholder 2">
            <a:extLst>
              <a:ext uri="{FF2B5EF4-FFF2-40B4-BE49-F238E27FC236}">
                <a16:creationId xmlns:a16="http://schemas.microsoft.com/office/drawing/2014/main" id="{F6FED391-4D87-EA9A-D44C-C2181EC28947}"/>
              </a:ext>
            </a:extLst>
          </p:cNvPr>
          <p:cNvSpPr>
            <a:spLocks noGrp="1"/>
          </p:cNvSpPr>
          <p:nvPr>
            <p:ph idx="1"/>
          </p:nvPr>
        </p:nvSpPr>
        <p:spPr/>
        <p:txBody>
          <a:bodyPr/>
          <a:lstStyle/>
          <a:p>
            <a:r>
              <a:rPr lang="en-US" dirty="0"/>
              <a:t>Now we have everything, but I also want to see the </a:t>
            </a:r>
            <a:r>
              <a:rPr lang="en-US" dirty="0" err="1"/>
              <a:t>http.host</a:t>
            </a:r>
            <a:r>
              <a:rPr lang="en-US" dirty="0"/>
              <a:t> name as one of the columns.  To do that, let's filter on </a:t>
            </a:r>
            <a:r>
              <a:rPr lang="en-US" b="1" dirty="0" err="1"/>
              <a:t>http.request</a:t>
            </a:r>
            <a:r>
              <a:rPr lang="en-US" dirty="0"/>
              <a:t>, so we're only seeing the HTTP requests.</a:t>
            </a:r>
          </a:p>
          <a:p>
            <a:endParaRPr lang="en-US" dirty="0"/>
          </a:p>
          <a:p>
            <a:endParaRPr lang="en-US" dirty="0"/>
          </a:p>
          <a:p>
            <a:pPr marL="0" indent="0">
              <a:buNone/>
            </a:pPr>
            <a:endParaRPr lang="en-US" dirty="0"/>
          </a:p>
          <a:p>
            <a:endParaRPr lang="en-ID" dirty="0"/>
          </a:p>
        </p:txBody>
      </p:sp>
      <p:pic>
        <p:nvPicPr>
          <p:cNvPr id="4" name="Picture 2">
            <a:extLst>
              <a:ext uri="{FF2B5EF4-FFF2-40B4-BE49-F238E27FC236}">
                <a16:creationId xmlns:a16="http://schemas.microsoft.com/office/drawing/2014/main" id="{DEB07B69-A0E3-F5EC-8603-5569244551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229" y="3429000"/>
            <a:ext cx="9401542" cy="1758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7472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3FA6A-3985-8314-8B35-B5A0B842F283}"/>
              </a:ext>
            </a:extLst>
          </p:cNvPr>
          <p:cNvSpPr>
            <a:spLocks noGrp="1"/>
          </p:cNvSpPr>
          <p:nvPr>
            <p:ph type="title"/>
          </p:nvPr>
        </p:nvSpPr>
        <p:spPr/>
        <p:txBody>
          <a:bodyPr/>
          <a:lstStyle/>
          <a:p>
            <a:r>
              <a:rPr lang="en-US" dirty="0"/>
              <a:t>Wireshark Settings First!</a:t>
            </a:r>
            <a:endParaRPr lang="en-ID" dirty="0"/>
          </a:p>
        </p:txBody>
      </p:sp>
      <p:sp>
        <p:nvSpPr>
          <p:cNvPr id="3" name="Content Placeholder 2">
            <a:extLst>
              <a:ext uri="{FF2B5EF4-FFF2-40B4-BE49-F238E27FC236}">
                <a16:creationId xmlns:a16="http://schemas.microsoft.com/office/drawing/2014/main" id="{FD17960D-E95E-FADF-8012-57614A2874FE}"/>
              </a:ext>
            </a:extLst>
          </p:cNvPr>
          <p:cNvSpPr>
            <a:spLocks noGrp="1"/>
          </p:cNvSpPr>
          <p:nvPr>
            <p:ph idx="1"/>
          </p:nvPr>
        </p:nvSpPr>
        <p:spPr>
          <a:xfrm>
            <a:off x="838200" y="1825625"/>
            <a:ext cx="5040086" cy="4351338"/>
          </a:xfrm>
        </p:spPr>
        <p:txBody>
          <a:bodyPr/>
          <a:lstStyle/>
          <a:p>
            <a:r>
              <a:rPr lang="en-US" dirty="0"/>
              <a:t>Expand the breakout in the middle section, so you see the Host: line in the HTTP header.  Right-click on that, and select </a:t>
            </a:r>
            <a:r>
              <a:rPr lang="en-US" b="1" dirty="0"/>
              <a:t>"Apply as Column" </a:t>
            </a:r>
            <a:r>
              <a:rPr lang="en-US" dirty="0"/>
              <a:t>from the menu.</a:t>
            </a:r>
          </a:p>
          <a:p>
            <a:endParaRPr lang="en-US" dirty="0"/>
          </a:p>
          <a:p>
            <a:endParaRPr lang="en-ID" dirty="0"/>
          </a:p>
        </p:txBody>
      </p:sp>
      <p:pic>
        <p:nvPicPr>
          <p:cNvPr id="4" name="Picture 2">
            <a:extLst>
              <a:ext uri="{FF2B5EF4-FFF2-40B4-BE49-F238E27FC236}">
                <a16:creationId xmlns:a16="http://schemas.microsoft.com/office/drawing/2014/main" id="{A7646F32-A07F-21E2-FB1A-2D6CC9AABA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3716" y="1825625"/>
            <a:ext cx="4981575" cy="3997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8557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98CBB-5D35-E7D2-9A3E-BD0F94D18559}"/>
              </a:ext>
            </a:extLst>
          </p:cNvPr>
          <p:cNvSpPr>
            <a:spLocks noGrp="1"/>
          </p:cNvSpPr>
          <p:nvPr>
            <p:ph type="title"/>
          </p:nvPr>
        </p:nvSpPr>
        <p:spPr/>
        <p:txBody>
          <a:bodyPr/>
          <a:lstStyle/>
          <a:p>
            <a:r>
              <a:rPr lang="en-US" dirty="0"/>
              <a:t>Wireshark Settings First!</a:t>
            </a:r>
            <a:endParaRPr lang="en-ID" dirty="0"/>
          </a:p>
        </p:txBody>
      </p:sp>
      <p:sp>
        <p:nvSpPr>
          <p:cNvPr id="3" name="Content Placeholder 2">
            <a:extLst>
              <a:ext uri="{FF2B5EF4-FFF2-40B4-BE49-F238E27FC236}">
                <a16:creationId xmlns:a16="http://schemas.microsoft.com/office/drawing/2014/main" id="{4D304521-D94B-DC36-4578-4373ECA65A33}"/>
              </a:ext>
            </a:extLst>
          </p:cNvPr>
          <p:cNvSpPr>
            <a:spLocks noGrp="1"/>
          </p:cNvSpPr>
          <p:nvPr>
            <p:ph idx="1"/>
          </p:nvPr>
        </p:nvSpPr>
        <p:spPr/>
        <p:txBody>
          <a:bodyPr/>
          <a:lstStyle/>
          <a:p>
            <a:r>
              <a:rPr lang="en-US" dirty="0"/>
              <a:t>You'll notice now that the HTTP host from the GET or POST requests is now shown as a column.  You might have to widen the column to see the whole name.</a:t>
            </a:r>
          </a:p>
          <a:p>
            <a:endParaRPr lang="en-US" dirty="0"/>
          </a:p>
          <a:p>
            <a:endParaRPr lang="en-US" dirty="0"/>
          </a:p>
          <a:p>
            <a:endParaRPr lang="en-ID" dirty="0"/>
          </a:p>
        </p:txBody>
      </p:sp>
      <p:pic>
        <p:nvPicPr>
          <p:cNvPr id="4" name="Picture 2">
            <a:extLst>
              <a:ext uri="{FF2B5EF4-FFF2-40B4-BE49-F238E27FC236}">
                <a16:creationId xmlns:a16="http://schemas.microsoft.com/office/drawing/2014/main" id="{1C1DBE28-E707-1479-3E1A-428F371B0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3845" y="3429000"/>
            <a:ext cx="9924310" cy="965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750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E705F-4CF3-CB4E-0D1E-D83D81FB3415}"/>
              </a:ext>
            </a:extLst>
          </p:cNvPr>
          <p:cNvSpPr>
            <a:spLocks noGrp="1"/>
          </p:cNvSpPr>
          <p:nvPr>
            <p:ph type="title"/>
          </p:nvPr>
        </p:nvSpPr>
        <p:spPr/>
        <p:txBody>
          <a:bodyPr/>
          <a:lstStyle/>
          <a:p>
            <a:r>
              <a:rPr lang="en-US" dirty="0"/>
              <a:t>ACK-SYN Flood</a:t>
            </a:r>
            <a:endParaRPr lang="en-ID" dirty="0"/>
          </a:p>
        </p:txBody>
      </p:sp>
      <p:sp>
        <p:nvSpPr>
          <p:cNvPr id="3" name="Content Placeholder 2">
            <a:extLst>
              <a:ext uri="{FF2B5EF4-FFF2-40B4-BE49-F238E27FC236}">
                <a16:creationId xmlns:a16="http://schemas.microsoft.com/office/drawing/2014/main" id="{4ADC2B52-9A06-FB1E-1210-DE8DAEA9D9FF}"/>
              </a:ext>
            </a:extLst>
          </p:cNvPr>
          <p:cNvSpPr>
            <a:spLocks noGrp="1"/>
          </p:cNvSpPr>
          <p:nvPr>
            <p:ph idx="1"/>
          </p:nvPr>
        </p:nvSpPr>
        <p:spPr/>
        <p:txBody>
          <a:bodyPr/>
          <a:lstStyle/>
          <a:p>
            <a:pPr fontAlgn="base"/>
            <a:r>
              <a:rPr lang="en-US" dirty="0">
                <a:solidFill>
                  <a:srgbClr val="000000"/>
                </a:solidFill>
              </a:rPr>
              <a:t>An ACK-SYN flood is a </a:t>
            </a:r>
            <a:r>
              <a:rPr lang="en-US" dirty="0">
                <a:solidFill>
                  <a:srgbClr val="175DAD"/>
                </a:solidFill>
                <a:hlinkClick r:id="rId2"/>
              </a:rPr>
              <a:t>DDoS attack</a:t>
            </a:r>
            <a:r>
              <a:rPr lang="en-US" dirty="0">
                <a:solidFill>
                  <a:srgbClr val="000000"/>
                </a:solidFill>
              </a:rPr>
              <a:t> designed to disrupt network activity by saturating bandwidth and resources on stateful devices in its path.</a:t>
            </a:r>
          </a:p>
          <a:p>
            <a:pPr fontAlgn="base"/>
            <a:r>
              <a:rPr lang="en-US" dirty="0">
                <a:solidFill>
                  <a:srgbClr val="000000"/>
                </a:solidFill>
              </a:rPr>
              <a:t>By continuously sending ACK-SYN packets towards a target, stateful defenses can go down (In some cases into a fail open mode). This flood could also be used as a smoke screen for more advanced attacks. This is true for other out of state floods too.</a:t>
            </a:r>
          </a:p>
          <a:p>
            <a:endParaRPr lang="en-ID" dirty="0"/>
          </a:p>
        </p:txBody>
      </p:sp>
    </p:spTree>
    <p:extLst>
      <p:ext uri="{BB962C8B-B14F-4D97-AF65-F5344CB8AC3E}">
        <p14:creationId xmlns:p14="http://schemas.microsoft.com/office/powerpoint/2010/main" val="2302906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F6F6B-CFA4-6B0A-CB41-CB147B35645C}"/>
              </a:ext>
            </a:extLst>
          </p:cNvPr>
          <p:cNvSpPr>
            <a:spLocks noGrp="1"/>
          </p:cNvSpPr>
          <p:nvPr>
            <p:ph type="title"/>
          </p:nvPr>
        </p:nvSpPr>
        <p:spPr/>
        <p:txBody>
          <a:bodyPr/>
          <a:lstStyle/>
          <a:p>
            <a:r>
              <a:rPr lang="en-US" dirty="0"/>
              <a:t>ACK-SYN Flood</a:t>
            </a:r>
            <a:endParaRPr lang="en-ID" dirty="0"/>
          </a:p>
        </p:txBody>
      </p:sp>
      <p:sp>
        <p:nvSpPr>
          <p:cNvPr id="3" name="Content Placeholder 2">
            <a:extLst>
              <a:ext uri="{FF2B5EF4-FFF2-40B4-BE49-F238E27FC236}">
                <a16:creationId xmlns:a16="http://schemas.microsoft.com/office/drawing/2014/main" id="{9827665F-1FB6-E4BA-6406-6CC0C1CA38CD}"/>
              </a:ext>
            </a:extLst>
          </p:cNvPr>
          <p:cNvSpPr>
            <a:spLocks noGrp="1"/>
          </p:cNvSpPr>
          <p:nvPr>
            <p:ph idx="1"/>
          </p:nvPr>
        </p:nvSpPr>
        <p:spPr/>
        <p:txBody>
          <a:bodyPr>
            <a:normAutofit/>
          </a:bodyPr>
          <a:lstStyle/>
          <a:p>
            <a:pPr>
              <a:lnSpc>
                <a:spcPct val="100000"/>
              </a:lnSpc>
            </a:pPr>
            <a:r>
              <a:rPr lang="en-US" sz="2400" dirty="0"/>
              <a:t> Open </a:t>
            </a:r>
            <a:r>
              <a:rPr lang="en-US" sz="2400" dirty="0" err="1"/>
              <a:t>Pcap</a:t>
            </a:r>
            <a:r>
              <a:rPr lang="en-US" sz="2400" dirty="0"/>
              <a:t> files by clicking the </a:t>
            </a:r>
            <a:r>
              <a:rPr lang="en-US" sz="2400" dirty="0" err="1"/>
              <a:t>pcap</a:t>
            </a:r>
            <a:r>
              <a:rPr lang="en-US" sz="2400" dirty="0"/>
              <a:t> files or Open files in Wireshark by clicking </a:t>
            </a:r>
            <a:r>
              <a:rPr lang="en-US" sz="2400" b="1" dirty="0"/>
              <a:t>File -&gt; Open -&gt; ack-</a:t>
            </a:r>
            <a:r>
              <a:rPr lang="en-US" sz="2400" b="1" dirty="0" err="1"/>
              <a:t>syn.pcap</a:t>
            </a:r>
            <a:r>
              <a:rPr lang="en-US" sz="2400" dirty="0"/>
              <a:t> files. If file opened, you can see the result looks like a picture down below.</a:t>
            </a:r>
          </a:p>
          <a:p>
            <a:pPr marL="0" indent="0">
              <a:lnSpc>
                <a:spcPct val="100000"/>
              </a:lnSpc>
              <a:buNone/>
            </a:pPr>
            <a:endParaRPr lang="en-ID" sz="2400" dirty="0"/>
          </a:p>
          <a:p>
            <a:pPr>
              <a:lnSpc>
                <a:spcPct val="100000"/>
              </a:lnSpc>
            </a:pPr>
            <a:endParaRPr lang="en-ID" sz="2400" dirty="0"/>
          </a:p>
        </p:txBody>
      </p:sp>
      <p:pic>
        <p:nvPicPr>
          <p:cNvPr id="4" name="Picture 3">
            <a:extLst>
              <a:ext uri="{FF2B5EF4-FFF2-40B4-BE49-F238E27FC236}">
                <a16:creationId xmlns:a16="http://schemas.microsoft.com/office/drawing/2014/main" id="{F5381705-311D-E2B6-BFC7-C077EA4EBB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5606" y="3139539"/>
            <a:ext cx="7540788" cy="3139703"/>
          </a:xfrm>
          <a:prstGeom prst="rect">
            <a:avLst/>
          </a:prstGeom>
        </p:spPr>
      </p:pic>
    </p:spTree>
    <p:extLst>
      <p:ext uri="{BB962C8B-B14F-4D97-AF65-F5344CB8AC3E}">
        <p14:creationId xmlns:p14="http://schemas.microsoft.com/office/powerpoint/2010/main" val="1123757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46C0F-BF77-2921-33EA-55530D938B73}"/>
              </a:ext>
            </a:extLst>
          </p:cNvPr>
          <p:cNvSpPr>
            <a:spLocks noGrp="1"/>
          </p:cNvSpPr>
          <p:nvPr>
            <p:ph type="title"/>
          </p:nvPr>
        </p:nvSpPr>
        <p:spPr/>
        <p:txBody>
          <a:bodyPr/>
          <a:lstStyle/>
          <a:p>
            <a:r>
              <a:rPr lang="en-US" dirty="0"/>
              <a:t>ACK-SYN Flood</a:t>
            </a:r>
            <a:endParaRPr lang="en-ID" dirty="0"/>
          </a:p>
        </p:txBody>
      </p:sp>
      <p:sp>
        <p:nvSpPr>
          <p:cNvPr id="3" name="Content Placeholder 2">
            <a:extLst>
              <a:ext uri="{FF2B5EF4-FFF2-40B4-BE49-F238E27FC236}">
                <a16:creationId xmlns:a16="http://schemas.microsoft.com/office/drawing/2014/main" id="{A58A84C0-E6DA-2EEC-0F29-0A6E48E776BA}"/>
              </a:ext>
            </a:extLst>
          </p:cNvPr>
          <p:cNvSpPr>
            <a:spLocks noGrp="1"/>
          </p:cNvSpPr>
          <p:nvPr>
            <p:ph idx="1"/>
          </p:nvPr>
        </p:nvSpPr>
        <p:spPr>
          <a:xfrm>
            <a:off x="838200" y="1825625"/>
            <a:ext cx="10515600" cy="1325563"/>
          </a:xfrm>
        </p:spPr>
        <p:txBody>
          <a:bodyPr>
            <a:normAutofit fontScale="85000" lnSpcReduction="10000"/>
          </a:bodyPr>
          <a:lstStyle/>
          <a:p>
            <a:pPr algn="just">
              <a:lnSpc>
                <a:spcPct val="120000"/>
              </a:lnSpc>
            </a:pPr>
            <a:r>
              <a:rPr lang="en-US" dirty="0"/>
              <a:t>Filter the packet by click filter from search box in text “current filter” and fill : (</a:t>
            </a:r>
            <a:r>
              <a:rPr lang="en-US" b="1" dirty="0" err="1"/>
              <a:t>tcp.flags.ack</a:t>
            </a:r>
            <a:r>
              <a:rPr lang="en-US" b="1" dirty="0"/>
              <a:t> == 1) &amp;&amp; (</a:t>
            </a:r>
            <a:r>
              <a:rPr lang="en-US" b="1" dirty="0" err="1"/>
              <a:t>tcp.flags.syn</a:t>
            </a:r>
            <a:r>
              <a:rPr lang="en-US" b="1" dirty="0"/>
              <a:t> == 1)</a:t>
            </a:r>
            <a:r>
              <a:rPr lang="en-US" dirty="0"/>
              <a:t> for filtering packet with ack and syn in DDOS packets incident and analyze it.</a:t>
            </a:r>
            <a:endParaRPr lang="en-ID" dirty="0"/>
          </a:p>
          <a:p>
            <a:pPr algn="just">
              <a:lnSpc>
                <a:spcPct val="120000"/>
              </a:lnSpc>
            </a:pPr>
            <a:endParaRPr lang="en-ID" dirty="0"/>
          </a:p>
        </p:txBody>
      </p:sp>
      <p:pic>
        <p:nvPicPr>
          <p:cNvPr id="4" name="Picture 3">
            <a:extLst>
              <a:ext uri="{FF2B5EF4-FFF2-40B4-BE49-F238E27FC236}">
                <a16:creationId xmlns:a16="http://schemas.microsoft.com/office/drawing/2014/main" id="{112DB9D1-D4E4-D11A-C77C-CD03BFB2A705}"/>
              </a:ext>
            </a:extLst>
          </p:cNvPr>
          <p:cNvPicPr>
            <a:picLocks noChangeAspect="1"/>
          </p:cNvPicPr>
          <p:nvPr/>
        </p:nvPicPr>
        <p:blipFill>
          <a:blip r:embed="rId2"/>
          <a:stretch>
            <a:fillRect/>
          </a:stretch>
        </p:blipFill>
        <p:spPr>
          <a:xfrm>
            <a:off x="2377460" y="3151188"/>
            <a:ext cx="7437079" cy="3044438"/>
          </a:xfrm>
          <a:prstGeom prst="rect">
            <a:avLst/>
          </a:prstGeom>
        </p:spPr>
      </p:pic>
    </p:spTree>
    <p:extLst>
      <p:ext uri="{BB962C8B-B14F-4D97-AF65-F5344CB8AC3E}">
        <p14:creationId xmlns:p14="http://schemas.microsoft.com/office/powerpoint/2010/main" val="480391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A6E48-79DB-9EE3-5295-A0F11F0581C1}"/>
              </a:ext>
            </a:extLst>
          </p:cNvPr>
          <p:cNvSpPr>
            <a:spLocks noGrp="1"/>
          </p:cNvSpPr>
          <p:nvPr>
            <p:ph type="title"/>
          </p:nvPr>
        </p:nvSpPr>
        <p:spPr/>
        <p:txBody>
          <a:bodyPr/>
          <a:lstStyle/>
          <a:p>
            <a:r>
              <a:rPr lang="en-US" dirty="0"/>
              <a:t>ACK-SYN Flood</a:t>
            </a:r>
            <a:endParaRPr lang="en-ID" dirty="0"/>
          </a:p>
        </p:txBody>
      </p:sp>
      <p:sp>
        <p:nvSpPr>
          <p:cNvPr id="3" name="Content Placeholder 2">
            <a:extLst>
              <a:ext uri="{FF2B5EF4-FFF2-40B4-BE49-F238E27FC236}">
                <a16:creationId xmlns:a16="http://schemas.microsoft.com/office/drawing/2014/main" id="{17778A99-052C-A24E-8250-6FF02BA15308}"/>
              </a:ext>
            </a:extLst>
          </p:cNvPr>
          <p:cNvSpPr>
            <a:spLocks noGrp="1"/>
          </p:cNvSpPr>
          <p:nvPr>
            <p:ph idx="1"/>
          </p:nvPr>
        </p:nvSpPr>
        <p:spPr>
          <a:xfrm>
            <a:off x="838200" y="1825625"/>
            <a:ext cx="10515600" cy="2060575"/>
          </a:xfrm>
        </p:spPr>
        <p:txBody>
          <a:bodyPr>
            <a:normAutofit fontScale="92500" lnSpcReduction="10000"/>
          </a:bodyPr>
          <a:lstStyle/>
          <a:p>
            <a:pPr>
              <a:lnSpc>
                <a:spcPct val="100000"/>
              </a:lnSpc>
            </a:pPr>
            <a:r>
              <a:rPr lang="en-US" sz="2400" dirty="0"/>
              <a:t>You can check the rate of data by click </a:t>
            </a:r>
            <a:r>
              <a:rPr lang="en-US" sz="2400" b="1" dirty="0"/>
              <a:t>Statistics -&gt; Summary/Capture file properties. </a:t>
            </a:r>
          </a:p>
          <a:p>
            <a:pPr marL="0" indent="0">
              <a:lnSpc>
                <a:spcPct val="100000"/>
              </a:lnSpc>
              <a:buNone/>
            </a:pPr>
            <a:r>
              <a:rPr lang="en-US" sz="2400" dirty="0"/>
              <a:t>A typical ACK-SYN flood running against an unsuspecting host will look similar to the above analysis. Generally what is seen is a high rate of ACK-SYN packets (not preceded by a TCP handshake) and a slightly lesser rate of RST packets coming from the targeted server.</a:t>
            </a:r>
            <a:endParaRPr lang="en-ID" sz="2400" dirty="0"/>
          </a:p>
          <a:p>
            <a:pPr>
              <a:lnSpc>
                <a:spcPct val="100000"/>
              </a:lnSpc>
            </a:pPr>
            <a:endParaRPr lang="en-ID" sz="2400" dirty="0"/>
          </a:p>
        </p:txBody>
      </p:sp>
      <p:pic>
        <p:nvPicPr>
          <p:cNvPr id="4" name="Picture 3">
            <a:extLst>
              <a:ext uri="{FF2B5EF4-FFF2-40B4-BE49-F238E27FC236}">
                <a16:creationId xmlns:a16="http://schemas.microsoft.com/office/drawing/2014/main" id="{5F1E5EEA-DDD6-C9D1-2A1E-CF33F5D3C9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0350" y="3886200"/>
            <a:ext cx="6591300" cy="2133600"/>
          </a:xfrm>
          <a:prstGeom prst="rect">
            <a:avLst/>
          </a:prstGeom>
        </p:spPr>
      </p:pic>
    </p:spTree>
    <p:extLst>
      <p:ext uri="{BB962C8B-B14F-4D97-AF65-F5344CB8AC3E}">
        <p14:creationId xmlns:p14="http://schemas.microsoft.com/office/powerpoint/2010/main" val="1025645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E6310-6336-4A3C-1702-F3D2FEDA3958}"/>
              </a:ext>
            </a:extLst>
          </p:cNvPr>
          <p:cNvSpPr>
            <a:spLocks noGrp="1"/>
          </p:cNvSpPr>
          <p:nvPr>
            <p:ph type="title"/>
          </p:nvPr>
        </p:nvSpPr>
        <p:spPr/>
        <p:txBody>
          <a:bodyPr/>
          <a:lstStyle/>
          <a:p>
            <a:r>
              <a:rPr lang="en-US" dirty="0"/>
              <a:t>HTTP Flood</a:t>
            </a:r>
            <a:endParaRPr lang="en-ID" dirty="0"/>
          </a:p>
        </p:txBody>
      </p:sp>
      <p:sp>
        <p:nvSpPr>
          <p:cNvPr id="3" name="Content Placeholder 2">
            <a:extLst>
              <a:ext uri="{FF2B5EF4-FFF2-40B4-BE49-F238E27FC236}">
                <a16:creationId xmlns:a16="http://schemas.microsoft.com/office/drawing/2014/main" id="{211BEB53-C3B6-CD04-7B5C-CEA0E6D12E74}"/>
              </a:ext>
            </a:extLst>
          </p:cNvPr>
          <p:cNvSpPr>
            <a:spLocks noGrp="1"/>
          </p:cNvSpPr>
          <p:nvPr>
            <p:ph idx="1"/>
          </p:nvPr>
        </p:nvSpPr>
        <p:spPr/>
        <p:txBody>
          <a:bodyPr>
            <a:normAutofit fontScale="62500" lnSpcReduction="20000"/>
          </a:bodyPr>
          <a:lstStyle/>
          <a:p>
            <a:r>
              <a:rPr lang="en-US" dirty="0"/>
              <a:t>HTTP flood is a layer 7 DDoS attack that targets web servers and applications.</a:t>
            </a:r>
          </a:p>
          <a:p>
            <a:r>
              <a:rPr lang="en-US" dirty="0"/>
              <a:t>Layer 7 is the application layer of the OSI model. The  HTTP protocol –  is an Internet protocol which is the basis of browser-based Internet requests, and is commonly used to send form contents over the Internet or to load web pages.</a:t>
            </a:r>
          </a:p>
          <a:p>
            <a:r>
              <a:rPr lang="en-US" dirty="0"/>
              <a:t>HTTP floods are designed to overwhelm web servers’ resources by continuously requesting single or multiple URL’s from many source attacking machines, which simulate a HTTP clients, such as web browsers (Though the attack analyzed here, does not use browser emulation).</a:t>
            </a:r>
          </a:p>
          <a:p>
            <a:r>
              <a:rPr lang="en-US" dirty="0"/>
              <a:t>An HTTP Flood may consist of either GET (images and scripts), POST (files and forms) or combined GET and POST requests. There are also more exotic attacks which may utilize other HTTP methods such as PUT, DELETE etc.</a:t>
            </a:r>
          </a:p>
          <a:p>
            <a:r>
              <a:rPr lang="en-US" dirty="0"/>
              <a:t>When the servers’ limits of concurrent connections are reached, the server can no longer respond to legitimate requests from other clients attempting to connect, causing a denial of service.</a:t>
            </a:r>
          </a:p>
          <a:p>
            <a:r>
              <a:rPr lang="en-US" dirty="0"/>
              <a:t>HTTP flood attacks use standard URL requests, hence it may be quite challenging to differentiate from valid traffic. Traditional rate-based volumetric detection, is ineffective in detecting HTTP flood attacks, since traffic volume in HTTP floods is often under detection thresholds.</a:t>
            </a:r>
            <a:endParaRPr lang="en-ID" dirty="0"/>
          </a:p>
          <a:p>
            <a:endParaRPr lang="en-ID" dirty="0"/>
          </a:p>
        </p:txBody>
      </p:sp>
    </p:spTree>
    <p:extLst>
      <p:ext uri="{BB962C8B-B14F-4D97-AF65-F5344CB8AC3E}">
        <p14:creationId xmlns:p14="http://schemas.microsoft.com/office/powerpoint/2010/main" val="2015428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9F4E9-4FEE-A50D-92EC-063A3F23517B}"/>
              </a:ext>
            </a:extLst>
          </p:cNvPr>
          <p:cNvSpPr>
            <a:spLocks noGrp="1"/>
          </p:cNvSpPr>
          <p:nvPr>
            <p:ph type="title"/>
          </p:nvPr>
        </p:nvSpPr>
        <p:spPr/>
        <p:txBody>
          <a:bodyPr/>
          <a:lstStyle/>
          <a:p>
            <a:r>
              <a:rPr lang="en-US" dirty="0"/>
              <a:t>HTTP Flood</a:t>
            </a:r>
            <a:endParaRPr lang="en-ID" dirty="0"/>
          </a:p>
        </p:txBody>
      </p:sp>
      <p:sp>
        <p:nvSpPr>
          <p:cNvPr id="3" name="Content Placeholder 2">
            <a:extLst>
              <a:ext uri="{FF2B5EF4-FFF2-40B4-BE49-F238E27FC236}">
                <a16:creationId xmlns:a16="http://schemas.microsoft.com/office/drawing/2014/main" id="{0EBC0798-CA6C-770D-AF57-A2261CBF8CC6}"/>
              </a:ext>
            </a:extLst>
          </p:cNvPr>
          <p:cNvSpPr>
            <a:spLocks noGrp="1"/>
          </p:cNvSpPr>
          <p:nvPr>
            <p:ph idx="1"/>
          </p:nvPr>
        </p:nvSpPr>
        <p:spPr/>
        <p:txBody>
          <a:bodyPr>
            <a:normAutofit/>
          </a:bodyPr>
          <a:lstStyle/>
          <a:p>
            <a:pPr algn="just">
              <a:lnSpc>
                <a:spcPct val="100000"/>
              </a:lnSpc>
            </a:pPr>
            <a:r>
              <a:rPr lang="en-US" sz="2400" dirty="0"/>
              <a:t> Open </a:t>
            </a:r>
            <a:r>
              <a:rPr lang="en-US" sz="2400" dirty="0" err="1"/>
              <a:t>Pcap</a:t>
            </a:r>
            <a:r>
              <a:rPr lang="en-US" sz="2400" dirty="0"/>
              <a:t> files by clicking the </a:t>
            </a:r>
            <a:r>
              <a:rPr lang="en-US" sz="2400" dirty="0" err="1"/>
              <a:t>pcap</a:t>
            </a:r>
            <a:r>
              <a:rPr lang="en-US" sz="2400" dirty="0"/>
              <a:t> files or Open files in Wireshark by clicking </a:t>
            </a:r>
            <a:r>
              <a:rPr lang="en-US" sz="2400" b="1" dirty="0"/>
              <a:t>File -&gt; Open -&gt; http-</a:t>
            </a:r>
            <a:r>
              <a:rPr lang="en-US" sz="2400" b="1" dirty="0" err="1"/>
              <a:t>flood.pcap</a:t>
            </a:r>
            <a:r>
              <a:rPr lang="en-US" sz="2400" b="1" dirty="0"/>
              <a:t> files</a:t>
            </a:r>
            <a:r>
              <a:rPr lang="en-US" sz="2400" dirty="0"/>
              <a:t>. If file opened, you can see the result looks like a picture down below.</a:t>
            </a:r>
          </a:p>
          <a:p>
            <a:pPr algn="just">
              <a:lnSpc>
                <a:spcPct val="100000"/>
              </a:lnSpc>
            </a:pPr>
            <a:endParaRPr lang="en-ID" sz="2400" dirty="0"/>
          </a:p>
        </p:txBody>
      </p:sp>
      <p:pic>
        <p:nvPicPr>
          <p:cNvPr id="4" name="Picture 3">
            <a:extLst>
              <a:ext uri="{FF2B5EF4-FFF2-40B4-BE49-F238E27FC236}">
                <a16:creationId xmlns:a16="http://schemas.microsoft.com/office/drawing/2014/main" id="{799A1038-05AF-8FC0-F8D9-9920E6C09F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2669" y="2984205"/>
            <a:ext cx="9466661" cy="3327695"/>
          </a:xfrm>
          <a:prstGeom prst="rect">
            <a:avLst/>
          </a:prstGeom>
        </p:spPr>
      </p:pic>
    </p:spTree>
    <p:extLst>
      <p:ext uri="{BB962C8B-B14F-4D97-AF65-F5344CB8AC3E}">
        <p14:creationId xmlns:p14="http://schemas.microsoft.com/office/powerpoint/2010/main" val="4069000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81119-6171-2379-28F0-78ED5E1E79A8}"/>
              </a:ext>
            </a:extLst>
          </p:cNvPr>
          <p:cNvSpPr>
            <a:spLocks noGrp="1"/>
          </p:cNvSpPr>
          <p:nvPr>
            <p:ph type="title"/>
          </p:nvPr>
        </p:nvSpPr>
        <p:spPr/>
        <p:txBody>
          <a:bodyPr/>
          <a:lstStyle/>
          <a:p>
            <a:r>
              <a:rPr lang="en-US" dirty="0"/>
              <a:t>HTTP Flood</a:t>
            </a:r>
            <a:endParaRPr lang="en-ID" dirty="0"/>
          </a:p>
        </p:txBody>
      </p:sp>
      <p:sp>
        <p:nvSpPr>
          <p:cNvPr id="3" name="Content Placeholder 2">
            <a:extLst>
              <a:ext uri="{FF2B5EF4-FFF2-40B4-BE49-F238E27FC236}">
                <a16:creationId xmlns:a16="http://schemas.microsoft.com/office/drawing/2014/main" id="{3105AC47-5C57-D8C1-362E-7B93F7E51657}"/>
              </a:ext>
            </a:extLst>
          </p:cNvPr>
          <p:cNvSpPr>
            <a:spLocks noGrp="1"/>
          </p:cNvSpPr>
          <p:nvPr>
            <p:ph idx="1"/>
          </p:nvPr>
        </p:nvSpPr>
        <p:spPr>
          <a:xfrm>
            <a:off x="838200" y="1825626"/>
            <a:ext cx="10515600" cy="1325563"/>
          </a:xfrm>
        </p:spPr>
        <p:txBody>
          <a:bodyPr>
            <a:normAutofit fontScale="85000" lnSpcReduction="20000"/>
          </a:bodyPr>
          <a:lstStyle/>
          <a:p>
            <a:pPr algn="just" fontAlgn="base">
              <a:lnSpc>
                <a:spcPct val="120000"/>
              </a:lnSpc>
            </a:pPr>
            <a:r>
              <a:rPr lang="en-US" sz="2000" dirty="0">
                <a:solidFill>
                  <a:srgbClr val="000000"/>
                </a:solidFill>
              </a:rPr>
              <a:t>Before sending a HTTP request a TCP connection between a user agent and a server is established, using 3-Way Handshake  (SYN, SYN-ACK, ACK) , seen in packets 2,14,15 in the example above. You can see and filter it </a:t>
            </a:r>
            <a:r>
              <a:rPr lang="en-US" sz="2000" dirty="0"/>
              <a:t>from search box in text “current filter” and fill : ‘</a:t>
            </a:r>
            <a:r>
              <a:rPr lang="en-US" sz="2000" b="1" dirty="0" err="1"/>
              <a:t>tcp.stream</a:t>
            </a:r>
            <a:r>
              <a:rPr lang="en-US" sz="2000" b="1" dirty="0"/>
              <a:t> eq 1</a:t>
            </a:r>
            <a:r>
              <a:rPr lang="en-US" sz="2000" dirty="0"/>
              <a:t>’ (to trace </a:t>
            </a:r>
            <a:r>
              <a:rPr lang="en-US" sz="2000" dirty="0" err="1"/>
              <a:t>tcp</a:t>
            </a:r>
            <a:r>
              <a:rPr lang="en-US" sz="2000" dirty="0"/>
              <a:t> stream 1st).</a:t>
            </a:r>
            <a:endParaRPr lang="en-US" sz="2000" dirty="0">
              <a:solidFill>
                <a:srgbClr val="000000"/>
              </a:solidFill>
            </a:endParaRPr>
          </a:p>
          <a:p>
            <a:pPr algn="just" fontAlgn="base">
              <a:lnSpc>
                <a:spcPct val="120000"/>
              </a:lnSpc>
            </a:pPr>
            <a:r>
              <a:rPr lang="en-US" sz="2000" dirty="0">
                <a:solidFill>
                  <a:srgbClr val="000000"/>
                </a:solidFill>
              </a:rPr>
              <a:t>HTTP request packet will generally be in a PSH, ACK packet, as seen in packet 25 above.</a:t>
            </a:r>
          </a:p>
          <a:p>
            <a:pPr algn="just">
              <a:lnSpc>
                <a:spcPct val="120000"/>
              </a:lnSpc>
            </a:pPr>
            <a:endParaRPr lang="en-US" sz="2000" dirty="0"/>
          </a:p>
          <a:p>
            <a:pPr algn="just">
              <a:lnSpc>
                <a:spcPct val="120000"/>
              </a:lnSpc>
            </a:pPr>
            <a:endParaRPr lang="en-ID" sz="2000" dirty="0"/>
          </a:p>
        </p:txBody>
      </p:sp>
      <p:pic>
        <p:nvPicPr>
          <p:cNvPr id="4" name="Picture 3">
            <a:extLst>
              <a:ext uri="{FF2B5EF4-FFF2-40B4-BE49-F238E27FC236}">
                <a16:creationId xmlns:a16="http://schemas.microsoft.com/office/drawing/2014/main" id="{0FAA378D-F9E8-E593-7AB8-D095725303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4252" y="3151189"/>
            <a:ext cx="6923495" cy="3118982"/>
          </a:xfrm>
          <a:prstGeom prst="rect">
            <a:avLst/>
          </a:prstGeom>
        </p:spPr>
      </p:pic>
    </p:spTree>
    <p:extLst>
      <p:ext uri="{BB962C8B-B14F-4D97-AF65-F5344CB8AC3E}">
        <p14:creationId xmlns:p14="http://schemas.microsoft.com/office/powerpoint/2010/main" val="343803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5F5F8-DAF6-9FF2-5C8F-B9CFE95877F5}"/>
              </a:ext>
            </a:extLst>
          </p:cNvPr>
          <p:cNvSpPr>
            <a:spLocks noGrp="1"/>
          </p:cNvSpPr>
          <p:nvPr>
            <p:ph type="title"/>
          </p:nvPr>
        </p:nvSpPr>
        <p:spPr/>
        <p:txBody>
          <a:bodyPr/>
          <a:lstStyle/>
          <a:p>
            <a:r>
              <a:rPr lang="en-US" dirty="0"/>
              <a:t>HTTP Flood</a:t>
            </a:r>
            <a:endParaRPr lang="en-ID" dirty="0"/>
          </a:p>
        </p:txBody>
      </p:sp>
      <p:sp>
        <p:nvSpPr>
          <p:cNvPr id="3" name="Content Placeholder 2">
            <a:extLst>
              <a:ext uri="{FF2B5EF4-FFF2-40B4-BE49-F238E27FC236}">
                <a16:creationId xmlns:a16="http://schemas.microsoft.com/office/drawing/2014/main" id="{9248F75D-8DF6-006F-5A34-F587FC5BC578}"/>
              </a:ext>
            </a:extLst>
          </p:cNvPr>
          <p:cNvSpPr>
            <a:spLocks noGrp="1"/>
          </p:cNvSpPr>
          <p:nvPr>
            <p:ph idx="1"/>
          </p:nvPr>
        </p:nvSpPr>
        <p:spPr>
          <a:xfrm>
            <a:off x="838200" y="1825625"/>
            <a:ext cx="5089071" cy="4351338"/>
          </a:xfrm>
        </p:spPr>
        <p:txBody>
          <a:bodyPr>
            <a:normAutofit fontScale="85000" lnSpcReduction="10000"/>
          </a:bodyPr>
          <a:lstStyle/>
          <a:p>
            <a:r>
              <a:rPr lang="en-US" dirty="0"/>
              <a:t>You can filter from filter from search box in text “current filter” and fill : “</a:t>
            </a:r>
            <a:r>
              <a:rPr lang="en-US" b="1" dirty="0"/>
              <a:t>http</a:t>
            </a:r>
            <a:r>
              <a:rPr lang="en-US" dirty="0"/>
              <a:t>” for showing all http related packets and you can filter specific function http from filter search box and fill : “</a:t>
            </a:r>
            <a:r>
              <a:rPr lang="en-US" b="1" dirty="0" err="1">
                <a:solidFill>
                  <a:srgbClr val="000000"/>
                </a:solidFill>
              </a:rPr>
              <a:t>http.request.method</a:t>
            </a:r>
            <a:r>
              <a:rPr lang="en-US" b="1" dirty="0">
                <a:solidFill>
                  <a:srgbClr val="000000"/>
                </a:solidFill>
              </a:rPr>
              <a:t> == GET</a:t>
            </a:r>
            <a:r>
              <a:rPr lang="en-US" dirty="0">
                <a:solidFill>
                  <a:srgbClr val="000000"/>
                </a:solidFill>
              </a:rPr>
              <a:t>” or “</a:t>
            </a:r>
            <a:r>
              <a:rPr lang="en-US" b="1" dirty="0" err="1">
                <a:solidFill>
                  <a:srgbClr val="000000"/>
                </a:solidFill>
              </a:rPr>
              <a:t>http.request.method</a:t>
            </a:r>
            <a:r>
              <a:rPr lang="en-US" b="1" dirty="0">
                <a:solidFill>
                  <a:srgbClr val="000000"/>
                </a:solidFill>
              </a:rPr>
              <a:t> == POST</a:t>
            </a:r>
            <a:r>
              <a:rPr lang="en-US" dirty="0">
                <a:solidFill>
                  <a:srgbClr val="000000"/>
                </a:solidFill>
              </a:rPr>
              <a:t>”. As you can see An attacker (Ip 10.0.0.2) sends many GET / HTTP / 1.1 and POST requests, while the target responds with HTTP/1.1 200 OK</a:t>
            </a:r>
            <a:endParaRPr lang="en-US" dirty="0"/>
          </a:p>
          <a:p>
            <a:endParaRPr lang="en-ID" dirty="0"/>
          </a:p>
        </p:txBody>
      </p:sp>
      <p:pic>
        <p:nvPicPr>
          <p:cNvPr id="4" name="Picture 3">
            <a:extLst>
              <a:ext uri="{FF2B5EF4-FFF2-40B4-BE49-F238E27FC236}">
                <a16:creationId xmlns:a16="http://schemas.microsoft.com/office/drawing/2014/main" id="{39D6E50B-C70B-2CE7-04DB-B94675BC0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7271" y="2245230"/>
            <a:ext cx="6092558" cy="3512127"/>
          </a:xfrm>
          <a:prstGeom prst="rect">
            <a:avLst/>
          </a:prstGeom>
        </p:spPr>
      </p:pic>
    </p:spTree>
    <p:extLst>
      <p:ext uri="{BB962C8B-B14F-4D97-AF65-F5344CB8AC3E}">
        <p14:creationId xmlns:p14="http://schemas.microsoft.com/office/powerpoint/2010/main" val="4046587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A24B5-1F9D-EA9F-5322-C3614367CDBB}"/>
              </a:ext>
            </a:extLst>
          </p:cNvPr>
          <p:cNvSpPr>
            <a:spLocks noGrp="1"/>
          </p:cNvSpPr>
          <p:nvPr>
            <p:ph type="title"/>
          </p:nvPr>
        </p:nvSpPr>
        <p:spPr/>
        <p:txBody>
          <a:bodyPr/>
          <a:lstStyle/>
          <a:p>
            <a:r>
              <a:rPr lang="en-US" dirty="0"/>
              <a:t>HTTP Flood</a:t>
            </a:r>
            <a:endParaRPr lang="en-ID" dirty="0"/>
          </a:p>
        </p:txBody>
      </p:sp>
      <p:sp>
        <p:nvSpPr>
          <p:cNvPr id="3" name="Content Placeholder 2">
            <a:extLst>
              <a:ext uri="{FF2B5EF4-FFF2-40B4-BE49-F238E27FC236}">
                <a16:creationId xmlns:a16="http://schemas.microsoft.com/office/drawing/2014/main" id="{7CFBDA34-3F0C-DF31-BE4F-9FBBED58E0B2}"/>
              </a:ext>
            </a:extLst>
          </p:cNvPr>
          <p:cNvSpPr>
            <a:spLocks noGrp="1"/>
          </p:cNvSpPr>
          <p:nvPr>
            <p:ph idx="1"/>
          </p:nvPr>
        </p:nvSpPr>
        <p:spPr>
          <a:xfrm>
            <a:off x="838200" y="1825625"/>
            <a:ext cx="10515600" cy="1831975"/>
          </a:xfrm>
        </p:spPr>
        <p:txBody>
          <a:bodyPr>
            <a:normAutofit fontScale="85000" lnSpcReduction="10000"/>
          </a:bodyPr>
          <a:lstStyle/>
          <a:p>
            <a:r>
              <a:rPr lang="en-US" dirty="0"/>
              <a:t>You can check the rate of data by click </a:t>
            </a:r>
            <a:r>
              <a:rPr lang="en-US" b="1" dirty="0"/>
              <a:t>Statistics -&gt; Summary/Capture file properties. </a:t>
            </a:r>
          </a:p>
          <a:p>
            <a:r>
              <a:rPr lang="en-US" dirty="0">
                <a:solidFill>
                  <a:srgbClr val="000000"/>
                </a:solidFill>
              </a:rPr>
              <a:t>As seen in the image above. The capture analyzed is around 22.061 seconds and the average number of packets per second are around 110.2 PPS, with a rate of around 344000 bits per second or 0.344 Mbps.</a:t>
            </a:r>
            <a:endParaRPr lang="en-US" b="1" dirty="0"/>
          </a:p>
          <a:p>
            <a:endParaRPr lang="en-ID" dirty="0"/>
          </a:p>
        </p:txBody>
      </p:sp>
      <p:pic>
        <p:nvPicPr>
          <p:cNvPr id="4" name="Picture 3">
            <a:extLst>
              <a:ext uri="{FF2B5EF4-FFF2-40B4-BE49-F238E27FC236}">
                <a16:creationId xmlns:a16="http://schemas.microsoft.com/office/drawing/2014/main" id="{4632F1C9-233B-FE5C-6F2E-80C022364F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976" y="3657600"/>
            <a:ext cx="11370047" cy="1840296"/>
          </a:xfrm>
          <a:prstGeom prst="rect">
            <a:avLst/>
          </a:prstGeom>
        </p:spPr>
      </p:pic>
    </p:spTree>
    <p:extLst>
      <p:ext uri="{BB962C8B-B14F-4D97-AF65-F5344CB8AC3E}">
        <p14:creationId xmlns:p14="http://schemas.microsoft.com/office/powerpoint/2010/main" val="1316691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CCC57-ECD6-0742-0289-22118279C6F2}"/>
              </a:ext>
            </a:extLst>
          </p:cNvPr>
          <p:cNvSpPr>
            <a:spLocks noGrp="1"/>
          </p:cNvSpPr>
          <p:nvPr>
            <p:ph type="title"/>
          </p:nvPr>
        </p:nvSpPr>
        <p:spPr/>
        <p:txBody>
          <a:bodyPr/>
          <a:lstStyle/>
          <a:p>
            <a:r>
              <a:rPr lang="en-US" dirty="0"/>
              <a:t>UDP Flood</a:t>
            </a:r>
            <a:endParaRPr lang="en-ID" dirty="0"/>
          </a:p>
        </p:txBody>
      </p:sp>
      <p:sp>
        <p:nvSpPr>
          <p:cNvPr id="3" name="Content Placeholder 2">
            <a:extLst>
              <a:ext uri="{FF2B5EF4-FFF2-40B4-BE49-F238E27FC236}">
                <a16:creationId xmlns:a16="http://schemas.microsoft.com/office/drawing/2014/main" id="{B1C7DA8A-D1C7-56E8-293E-80F014E13B2E}"/>
              </a:ext>
            </a:extLst>
          </p:cNvPr>
          <p:cNvSpPr>
            <a:spLocks noGrp="1"/>
          </p:cNvSpPr>
          <p:nvPr>
            <p:ph idx="1"/>
          </p:nvPr>
        </p:nvSpPr>
        <p:spPr/>
        <p:txBody>
          <a:bodyPr/>
          <a:lstStyle/>
          <a:p>
            <a:pPr fontAlgn="base"/>
            <a:r>
              <a:rPr lang="en-US" dirty="0">
                <a:solidFill>
                  <a:srgbClr val="000000"/>
                </a:solidFill>
              </a:rPr>
              <a:t>A UDP flood tries to saturate bandwidth in order to bring about a DoS state to the network.</a:t>
            </a:r>
          </a:p>
          <a:p>
            <a:pPr fontAlgn="base"/>
            <a:r>
              <a:rPr lang="en-US" dirty="0">
                <a:solidFill>
                  <a:srgbClr val="000000"/>
                </a:solidFill>
              </a:rPr>
              <a:t>This DDoS attack is normally done by sending a rapid succession of UDP datagrams with spoofed IPs to a server within the network via various different ports, forcing the server to respond with ICMP traffic. The saturation of bandwidth happens both on the ingress and the egress direction. This flood has some garbage in the data section of the datagram.</a:t>
            </a:r>
          </a:p>
          <a:p>
            <a:endParaRPr lang="en-ID" dirty="0"/>
          </a:p>
        </p:txBody>
      </p:sp>
    </p:spTree>
    <p:extLst>
      <p:ext uri="{BB962C8B-B14F-4D97-AF65-F5344CB8AC3E}">
        <p14:creationId xmlns:p14="http://schemas.microsoft.com/office/powerpoint/2010/main" val="2359393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88420-E9D3-B809-DECE-08F882E628F8}"/>
              </a:ext>
            </a:extLst>
          </p:cNvPr>
          <p:cNvSpPr>
            <a:spLocks noGrp="1"/>
          </p:cNvSpPr>
          <p:nvPr>
            <p:ph type="title"/>
          </p:nvPr>
        </p:nvSpPr>
        <p:spPr/>
        <p:txBody>
          <a:bodyPr/>
          <a:lstStyle/>
          <a:p>
            <a:r>
              <a:rPr lang="en-US" dirty="0"/>
              <a:t>UDP Flood</a:t>
            </a:r>
            <a:endParaRPr lang="en-ID" dirty="0"/>
          </a:p>
        </p:txBody>
      </p:sp>
      <p:sp>
        <p:nvSpPr>
          <p:cNvPr id="3" name="Content Placeholder 2">
            <a:extLst>
              <a:ext uri="{FF2B5EF4-FFF2-40B4-BE49-F238E27FC236}">
                <a16:creationId xmlns:a16="http://schemas.microsoft.com/office/drawing/2014/main" id="{8F628AC0-C207-80F3-3FF0-782CD1413473}"/>
              </a:ext>
            </a:extLst>
          </p:cNvPr>
          <p:cNvSpPr>
            <a:spLocks noGrp="1"/>
          </p:cNvSpPr>
          <p:nvPr>
            <p:ph idx="1"/>
          </p:nvPr>
        </p:nvSpPr>
        <p:spPr>
          <a:xfrm>
            <a:off x="838200" y="1825625"/>
            <a:ext cx="10515600" cy="1060811"/>
          </a:xfrm>
        </p:spPr>
        <p:txBody>
          <a:bodyPr>
            <a:normAutofit fontScale="77500" lnSpcReduction="20000"/>
          </a:bodyPr>
          <a:lstStyle/>
          <a:p>
            <a:pPr algn="just" fontAlgn="base">
              <a:lnSpc>
                <a:spcPct val="110000"/>
              </a:lnSpc>
            </a:pPr>
            <a:r>
              <a:rPr lang="en-US" dirty="0"/>
              <a:t>Open </a:t>
            </a:r>
            <a:r>
              <a:rPr lang="en-US" dirty="0" err="1"/>
              <a:t>Pcap</a:t>
            </a:r>
            <a:r>
              <a:rPr lang="en-US" dirty="0"/>
              <a:t> files by clicking the </a:t>
            </a:r>
            <a:r>
              <a:rPr lang="en-US" dirty="0" err="1"/>
              <a:t>pcap</a:t>
            </a:r>
            <a:r>
              <a:rPr lang="en-US" dirty="0"/>
              <a:t> files or Open files in Wireshark by clicking </a:t>
            </a:r>
            <a:r>
              <a:rPr lang="en-US" b="1" dirty="0"/>
              <a:t>File -&gt; Open -&gt; </a:t>
            </a:r>
            <a:r>
              <a:rPr lang="en-US" b="1" dirty="0" err="1"/>
              <a:t>udp-flood.pcap</a:t>
            </a:r>
            <a:r>
              <a:rPr lang="en-US" dirty="0"/>
              <a:t> files. If file opened, you can see the result looks like a picture down below.</a:t>
            </a:r>
          </a:p>
          <a:p>
            <a:pPr algn="just" fontAlgn="base">
              <a:lnSpc>
                <a:spcPct val="110000"/>
              </a:lnSpc>
            </a:pPr>
            <a:endParaRPr lang="en-US" dirty="0">
              <a:solidFill>
                <a:srgbClr val="000000"/>
              </a:solidFill>
              <a:latin typeface="Helvetica" panose="020B0604020202020204" pitchFamily="34" charset="0"/>
            </a:endParaRPr>
          </a:p>
          <a:p>
            <a:pPr algn="just">
              <a:lnSpc>
                <a:spcPct val="110000"/>
              </a:lnSpc>
            </a:pPr>
            <a:endParaRPr lang="en-ID" dirty="0"/>
          </a:p>
        </p:txBody>
      </p:sp>
      <p:pic>
        <p:nvPicPr>
          <p:cNvPr id="4" name="Picture 3">
            <a:extLst>
              <a:ext uri="{FF2B5EF4-FFF2-40B4-BE49-F238E27FC236}">
                <a16:creationId xmlns:a16="http://schemas.microsoft.com/office/drawing/2014/main" id="{10ADAE4E-A6B3-5B16-34CF-634B1CF3CE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1094" y="2886436"/>
            <a:ext cx="9969812" cy="3425180"/>
          </a:xfrm>
          <a:prstGeom prst="rect">
            <a:avLst/>
          </a:prstGeom>
        </p:spPr>
      </p:pic>
    </p:spTree>
    <p:extLst>
      <p:ext uri="{BB962C8B-B14F-4D97-AF65-F5344CB8AC3E}">
        <p14:creationId xmlns:p14="http://schemas.microsoft.com/office/powerpoint/2010/main" val="966546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9ACE-4C6F-4DAA-0071-FF1715C7B5EF}"/>
              </a:ext>
            </a:extLst>
          </p:cNvPr>
          <p:cNvSpPr>
            <a:spLocks noGrp="1"/>
          </p:cNvSpPr>
          <p:nvPr>
            <p:ph type="title"/>
          </p:nvPr>
        </p:nvSpPr>
        <p:spPr/>
        <p:txBody>
          <a:bodyPr/>
          <a:lstStyle/>
          <a:p>
            <a:r>
              <a:rPr lang="en-US" dirty="0"/>
              <a:t>UDP Flood</a:t>
            </a:r>
            <a:endParaRPr lang="en-ID" dirty="0"/>
          </a:p>
        </p:txBody>
      </p:sp>
      <p:sp>
        <p:nvSpPr>
          <p:cNvPr id="3" name="Content Placeholder 2">
            <a:extLst>
              <a:ext uri="{FF2B5EF4-FFF2-40B4-BE49-F238E27FC236}">
                <a16:creationId xmlns:a16="http://schemas.microsoft.com/office/drawing/2014/main" id="{5191A567-A395-31F4-5B18-6D0A4F8971D4}"/>
              </a:ext>
            </a:extLst>
          </p:cNvPr>
          <p:cNvSpPr>
            <a:spLocks noGrp="1"/>
          </p:cNvSpPr>
          <p:nvPr>
            <p:ph idx="1"/>
          </p:nvPr>
        </p:nvSpPr>
        <p:spPr>
          <a:xfrm>
            <a:off x="838200" y="1825625"/>
            <a:ext cx="4707188" cy="4351338"/>
          </a:xfrm>
        </p:spPr>
        <p:txBody>
          <a:bodyPr>
            <a:normAutofit fontScale="92500" lnSpcReduction="20000"/>
          </a:bodyPr>
          <a:lstStyle/>
          <a:p>
            <a:pPr fontAlgn="base"/>
            <a:r>
              <a:rPr lang="en-US" dirty="0"/>
              <a:t>Below is an analysis of a UDP flood running from a single SRC attacking IP at a high rate to a single destination target IP.</a:t>
            </a:r>
          </a:p>
          <a:p>
            <a:pPr fontAlgn="base"/>
            <a:r>
              <a:rPr lang="en-US" dirty="0"/>
              <a:t>In Image below you can see the UDP packets being sent to port 80 of the destination target IP. This is highly unusual and in most cases UDP does not need to send to port 80 legitimately, These are the first signs of a UDP flood attack.</a:t>
            </a:r>
            <a:endParaRPr lang="en-US" dirty="0">
              <a:solidFill>
                <a:srgbClr val="000000"/>
              </a:solidFill>
              <a:latin typeface="Helvetica" panose="020B0604020202020204" pitchFamily="34" charset="0"/>
            </a:endParaRPr>
          </a:p>
          <a:p>
            <a:endParaRPr lang="en-ID" dirty="0"/>
          </a:p>
        </p:txBody>
      </p:sp>
      <p:pic>
        <p:nvPicPr>
          <p:cNvPr id="4" name="Picture 3">
            <a:extLst>
              <a:ext uri="{FF2B5EF4-FFF2-40B4-BE49-F238E27FC236}">
                <a16:creationId xmlns:a16="http://schemas.microsoft.com/office/drawing/2014/main" id="{1748F88E-9A2B-5CA8-190B-50DA8E3F94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5388" y="1982576"/>
            <a:ext cx="6161102" cy="4037436"/>
          </a:xfrm>
          <a:prstGeom prst="rect">
            <a:avLst/>
          </a:prstGeom>
        </p:spPr>
      </p:pic>
    </p:spTree>
    <p:extLst>
      <p:ext uri="{BB962C8B-B14F-4D97-AF65-F5344CB8AC3E}">
        <p14:creationId xmlns:p14="http://schemas.microsoft.com/office/powerpoint/2010/main" val="33814070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573C1-C02D-A0DC-DD9A-C86C6A355944}"/>
              </a:ext>
            </a:extLst>
          </p:cNvPr>
          <p:cNvSpPr>
            <a:spLocks noGrp="1"/>
          </p:cNvSpPr>
          <p:nvPr>
            <p:ph type="title"/>
          </p:nvPr>
        </p:nvSpPr>
        <p:spPr/>
        <p:txBody>
          <a:bodyPr/>
          <a:lstStyle/>
          <a:p>
            <a:r>
              <a:rPr lang="en-US" dirty="0"/>
              <a:t>UDP Flood</a:t>
            </a:r>
            <a:endParaRPr lang="en-ID" dirty="0"/>
          </a:p>
        </p:txBody>
      </p:sp>
      <p:sp>
        <p:nvSpPr>
          <p:cNvPr id="3" name="Content Placeholder 2">
            <a:extLst>
              <a:ext uri="{FF2B5EF4-FFF2-40B4-BE49-F238E27FC236}">
                <a16:creationId xmlns:a16="http://schemas.microsoft.com/office/drawing/2014/main" id="{01439D5D-FC05-A698-B683-E62D747791FB}"/>
              </a:ext>
            </a:extLst>
          </p:cNvPr>
          <p:cNvSpPr>
            <a:spLocks noGrp="1"/>
          </p:cNvSpPr>
          <p:nvPr>
            <p:ph idx="1"/>
          </p:nvPr>
        </p:nvSpPr>
        <p:spPr>
          <a:xfrm>
            <a:off x="838200" y="1825625"/>
            <a:ext cx="3772140" cy="4667250"/>
          </a:xfrm>
        </p:spPr>
        <p:txBody>
          <a:bodyPr>
            <a:normAutofit lnSpcReduction="10000"/>
          </a:bodyPr>
          <a:lstStyle/>
          <a:p>
            <a:r>
              <a:rPr lang="en-US" dirty="0">
                <a:solidFill>
                  <a:srgbClr val="000000"/>
                </a:solidFill>
              </a:rPr>
              <a:t>As seen in Image below, in the data section of the packet, notice all the “XXXXXXXXXXXX” , 500 bytes of “garbage”, this is further evidence the packet is an attacking packet. Still targeting port 80.</a:t>
            </a:r>
            <a:br>
              <a:rPr lang="en-US" dirty="0"/>
            </a:br>
            <a:endParaRPr lang="en-US" dirty="0">
              <a:solidFill>
                <a:srgbClr val="000000"/>
              </a:solidFill>
            </a:endParaRPr>
          </a:p>
          <a:p>
            <a:endParaRPr lang="en-ID" dirty="0"/>
          </a:p>
        </p:txBody>
      </p:sp>
      <p:pic>
        <p:nvPicPr>
          <p:cNvPr id="4" name="Picture 3">
            <a:extLst>
              <a:ext uri="{FF2B5EF4-FFF2-40B4-BE49-F238E27FC236}">
                <a16:creationId xmlns:a16="http://schemas.microsoft.com/office/drawing/2014/main" id="{DF9C5338-60C7-A47E-9129-0F821BED64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2611" y="1825625"/>
            <a:ext cx="6743460" cy="3966997"/>
          </a:xfrm>
          <a:prstGeom prst="rect">
            <a:avLst/>
          </a:prstGeom>
        </p:spPr>
      </p:pic>
    </p:spTree>
    <p:extLst>
      <p:ext uri="{BB962C8B-B14F-4D97-AF65-F5344CB8AC3E}">
        <p14:creationId xmlns:p14="http://schemas.microsoft.com/office/powerpoint/2010/main" val="29621054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77BA-39D1-E992-9CC2-4D32978DB535}"/>
              </a:ext>
            </a:extLst>
          </p:cNvPr>
          <p:cNvSpPr>
            <a:spLocks noGrp="1"/>
          </p:cNvSpPr>
          <p:nvPr>
            <p:ph type="title"/>
          </p:nvPr>
        </p:nvSpPr>
        <p:spPr/>
        <p:txBody>
          <a:bodyPr/>
          <a:lstStyle/>
          <a:p>
            <a:r>
              <a:rPr lang="en-US" dirty="0"/>
              <a:t>UDP Flood</a:t>
            </a:r>
            <a:endParaRPr lang="en-ID" dirty="0"/>
          </a:p>
        </p:txBody>
      </p:sp>
      <p:sp>
        <p:nvSpPr>
          <p:cNvPr id="3" name="Content Placeholder 2">
            <a:extLst>
              <a:ext uri="{FF2B5EF4-FFF2-40B4-BE49-F238E27FC236}">
                <a16:creationId xmlns:a16="http://schemas.microsoft.com/office/drawing/2014/main" id="{4F33CD13-5119-D0AB-71AF-2E97053F5775}"/>
              </a:ext>
            </a:extLst>
          </p:cNvPr>
          <p:cNvSpPr>
            <a:spLocks noGrp="1"/>
          </p:cNvSpPr>
          <p:nvPr>
            <p:ph idx="1"/>
          </p:nvPr>
        </p:nvSpPr>
        <p:spPr>
          <a:xfrm>
            <a:off x="838200" y="1825626"/>
            <a:ext cx="10515600" cy="2599418"/>
          </a:xfrm>
        </p:spPr>
        <p:txBody>
          <a:bodyPr>
            <a:normAutofit fontScale="77500" lnSpcReduction="20000"/>
          </a:bodyPr>
          <a:lstStyle/>
          <a:p>
            <a:pPr fontAlgn="base"/>
            <a:r>
              <a:rPr lang="en-US" dirty="0">
                <a:solidFill>
                  <a:srgbClr val="000000"/>
                </a:solidFill>
              </a:rPr>
              <a:t>You can filter the packet by click filter from search box in text “current filter” and fill : </a:t>
            </a:r>
            <a:r>
              <a:rPr lang="en-US" b="1" dirty="0">
                <a:solidFill>
                  <a:srgbClr val="000000"/>
                </a:solidFill>
              </a:rPr>
              <a:t>(</a:t>
            </a:r>
            <a:r>
              <a:rPr lang="en-US" b="1" dirty="0" err="1">
                <a:solidFill>
                  <a:srgbClr val="000000"/>
                </a:solidFill>
              </a:rPr>
              <a:t>ip.proto</a:t>
            </a:r>
            <a:r>
              <a:rPr lang="en-US" b="1" dirty="0">
                <a:solidFill>
                  <a:srgbClr val="000000"/>
                </a:solidFill>
              </a:rPr>
              <a:t> == 17) &amp;&amp; (</a:t>
            </a:r>
            <a:r>
              <a:rPr lang="en-US" b="1" dirty="0" err="1">
                <a:solidFill>
                  <a:srgbClr val="000000"/>
                </a:solidFill>
              </a:rPr>
              <a:t>udp.dstport</a:t>
            </a:r>
            <a:r>
              <a:rPr lang="en-US" b="1" dirty="0">
                <a:solidFill>
                  <a:srgbClr val="000000"/>
                </a:solidFill>
              </a:rPr>
              <a:t> == 80) </a:t>
            </a:r>
            <a:r>
              <a:rPr lang="en-US" dirty="0">
                <a:solidFill>
                  <a:srgbClr val="000000"/>
                </a:solidFill>
              </a:rPr>
              <a:t>and you can see in summary image below over 2K PPS (Packets Per Second) is a strong indication that this is a UDP flood. a high rate of UDP packets with garbage data in them directed to port 80 at over 2K PPS. This is indicative of a UDP flood.</a:t>
            </a:r>
          </a:p>
          <a:p>
            <a:pPr fontAlgn="base"/>
            <a:r>
              <a:rPr lang="en-US" dirty="0">
                <a:solidFill>
                  <a:srgbClr val="000000"/>
                </a:solidFill>
              </a:rPr>
              <a:t>UDP Flood is a high volume flood due to the size of packets that can be generated per attacking machine. However identification of this type of flood is usually easier because of how easily this attack vector stands out in normal network communications.</a:t>
            </a:r>
          </a:p>
          <a:p>
            <a:pPr fontAlgn="base"/>
            <a:endParaRPr lang="en-US" sz="4000" dirty="0">
              <a:solidFill>
                <a:srgbClr val="000000"/>
              </a:solidFill>
            </a:endParaRPr>
          </a:p>
          <a:p>
            <a:endParaRPr lang="en-ID" dirty="0"/>
          </a:p>
        </p:txBody>
      </p:sp>
      <p:pic>
        <p:nvPicPr>
          <p:cNvPr id="4" name="Picture 3">
            <a:extLst>
              <a:ext uri="{FF2B5EF4-FFF2-40B4-BE49-F238E27FC236}">
                <a16:creationId xmlns:a16="http://schemas.microsoft.com/office/drawing/2014/main" id="{D6F6E75B-AE9E-BABB-9441-B405794538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0075" y="4425044"/>
            <a:ext cx="9571849" cy="1869720"/>
          </a:xfrm>
          <a:prstGeom prst="rect">
            <a:avLst/>
          </a:prstGeom>
        </p:spPr>
      </p:pic>
    </p:spTree>
    <p:extLst>
      <p:ext uri="{BB962C8B-B14F-4D97-AF65-F5344CB8AC3E}">
        <p14:creationId xmlns:p14="http://schemas.microsoft.com/office/powerpoint/2010/main" val="3626098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91087-5D1B-4B44-065D-D58BE04E26E8}"/>
              </a:ext>
            </a:extLst>
          </p:cNvPr>
          <p:cNvSpPr>
            <a:spLocks noGrp="1"/>
          </p:cNvSpPr>
          <p:nvPr>
            <p:ph type="title"/>
          </p:nvPr>
        </p:nvSpPr>
        <p:spPr/>
        <p:txBody>
          <a:bodyPr/>
          <a:lstStyle/>
          <a:p>
            <a:r>
              <a:rPr lang="en-US" dirty="0"/>
              <a:t>Analyzing DDOS using BRIM</a:t>
            </a:r>
            <a:endParaRPr lang="en-ID" dirty="0"/>
          </a:p>
        </p:txBody>
      </p:sp>
      <p:sp>
        <p:nvSpPr>
          <p:cNvPr id="3" name="Content Placeholder 2">
            <a:extLst>
              <a:ext uri="{FF2B5EF4-FFF2-40B4-BE49-F238E27FC236}">
                <a16:creationId xmlns:a16="http://schemas.microsoft.com/office/drawing/2014/main" id="{1EED3153-A3C6-1A97-CBA7-FC52485EA836}"/>
              </a:ext>
            </a:extLst>
          </p:cNvPr>
          <p:cNvSpPr>
            <a:spLocks noGrp="1"/>
          </p:cNvSpPr>
          <p:nvPr>
            <p:ph idx="1"/>
          </p:nvPr>
        </p:nvSpPr>
        <p:spPr/>
        <p:txBody>
          <a:bodyPr>
            <a:normAutofit fontScale="62500" lnSpcReduction="20000"/>
          </a:bodyPr>
          <a:lstStyle/>
          <a:p>
            <a:r>
              <a:rPr lang="en-US" dirty="0"/>
              <a:t>Brim is an open-source application that makes network packet analysis easier. And as per their GitHub repository, "Brim is an open source desktop application for security and network specialists. Brim makes it easy to search and analyze data from:</a:t>
            </a:r>
          </a:p>
          <a:p>
            <a:r>
              <a:rPr lang="en-US" dirty="0"/>
              <a:t>Packet captures, like those created by Wireshark, and</a:t>
            </a:r>
          </a:p>
          <a:p>
            <a:r>
              <a:rPr lang="en-US" dirty="0"/>
              <a:t>Structured logs, especially from the Zeek network analysis framework."</a:t>
            </a:r>
          </a:p>
          <a:p>
            <a:r>
              <a:rPr lang="en-US" dirty="0"/>
              <a:t>Brim uses ZQL query language to search and analyze the data. It is built using multiple different components, that include:</a:t>
            </a:r>
          </a:p>
          <a:p>
            <a:pPr lvl="1"/>
            <a:r>
              <a:rPr lang="en-US" dirty="0" err="1"/>
              <a:t>zq</a:t>
            </a:r>
            <a:r>
              <a:rPr lang="en-US" dirty="0"/>
              <a:t>, a structured log query engine;</a:t>
            </a:r>
          </a:p>
          <a:p>
            <a:pPr lvl="1"/>
            <a:r>
              <a:rPr lang="en-US" dirty="0"/>
              <a:t>Electron and React for multi-platform user interfaces;</a:t>
            </a:r>
          </a:p>
          <a:p>
            <a:pPr lvl="1"/>
            <a:r>
              <a:rPr lang="en-US" dirty="0"/>
              <a:t>And Zeek, a network analysis framework.</a:t>
            </a:r>
          </a:p>
          <a:p>
            <a:endParaRPr lang="en-US" dirty="0"/>
          </a:p>
          <a:p>
            <a:r>
              <a:rPr lang="en-US" dirty="0"/>
              <a:t>Download : </a:t>
            </a:r>
          </a:p>
          <a:p>
            <a:pPr lvl="1"/>
            <a:r>
              <a:rPr lang="en-US" dirty="0"/>
              <a:t>Windows : </a:t>
            </a:r>
            <a:r>
              <a:rPr lang="en-US" dirty="0">
                <a:hlinkClick r:id="rId2"/>
              </a:rPr>
              <a:t>https://github.com/brimdata/brim/releases/download/v0.26.0/Brim-Setup-0.26.0.exe</a:t>
            </a:r>
            <a:r>
              <a:rPr lang="en-US" dirty="0"/>
              <a:t> </a:t>
            </a:r>
          </a:p>
          <a:p>
            <a:pPr lvl="1"/>
            <a:r>
              <a:rPr lang="en-US" dirty="0"/>
              <a:t>Linux : </a:t>
            </a:r>
          </a:p>
          <a:p>
            <a:pPr lvl="2"/>
            <a:r>
              <a:rPr lang="en-US" dirty="0"/>
              <a:t>Deb package : </a:t>
            </a:r>
            <a:r>
              <a:rPr lang="en-US" dirty="0">
                <a:hlinkClick r:id="rId3"/>
              </a:rPr>
              <a:t>https://github.com/brimdata/brim/releases/download/v0.26.0/Brim-0.26.0.deb</a:t>
            </a:r>
            <a:r>
              <a:rPr lang="en-US" dirty="0"/>
              <a:t> </a:t>
            </a:r>
          </a:p>
          <a:p>
            <a:pPr lvl="2"/>
            <a:r>
              <a:rPr lang="en-US" dirty="0"/>
              <a:t>Rpm package : </a:t>
            </a:r>
            <a:r>
              <a:rPr lang="en-US" dirty="0">
                <a:hlinkClick r:id="rId4"/>
              </a:rPr>
              <a:t>https://github.com/brimdata/brim/releases/download/v0.26.0/Brim-0.26.0.rpm</a:t>
            </a:r>
            <a:r>
              <a:rPr lang="en-US" dirty="0"/>
              <a:t> </a:t>
            </a:r>
            <a:endParaRPr lang="en-ID" dirty="0"/>
          </a:p>
          <a:p>
            <a:pPr lvl="1"/>
            <a:r>
              <a:rPr lang="en-ID" dirty="0"/>
              <a:t>MacOS : </a:t>
            </a:r>
            <a:r>
              <a:rPr lang="en-ID" dirty="0">
                <a:hlinkClick r:id="rId5"/>
              </a:rPr>
              <a:t>https://github.com/brimdata/brim/releases/download/v0.26.0/Brim-0.26.0.dmg</a:t>
            </a:r>
            <a:r>
              <a:rPr lang="en-ID" dirty="0"/>
              <a:t> </a:t>
            </a:r>
            <a:endParaRPr lang="en-US" dirty="0"/>
          </a:p>
        </p:txBody>
      </p:sp>
    </p:spTree>
    <p:extLst>
      <p:ext uri="{BB962C8B-B14F-4D97-AF65-F5344CB8AC3E}">
        <p14:creationId xmlns:p14="http://schemas.microsoft.com/office/powerpoint/2010/main" val="18370479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D8F24-A606-C836-851D-A37261B07501}"/>
              </a:ext>
            </a:extLst>
          </p:cNvPr>
          <p:cNvSpPr>
            <a:spLocks noGrp="1"/>
          </p:cNvSpPr>
          <p:nvPr>
            <p:ph type="title"/>
          </p:nvPr>
        </p:nvSpPr>
        <p:spPr/>
        <p:txBody>
          <a:bodyPr/>
          <a:lstStyle/>
          <a:p>
            <a:r>
              <a:rPr lang="en-US" dirty="0"/>
              <a:t>Analyzing DDOS using BRIM</a:t>
            </a:r>
            <a:endParaRPr lang="en-ID" dirty="0"/>
          </a:p>
        </p:txBody>
      </p:sp>
      <p:sp>
        <p:nvSpPr>
          <p:cNvPr id="3" name="Content Placeholder 2">
            <a:extLst>
              <a:ext uri="{FF2B5EF4-FFF2-40B4-BE49-F238E27FC236}">
                <a16:creationId xmlns:a16="http://schemas.microsoft.com/office/drawing/2014/main" id="{F4662C3F-B46C-5501-980C-F4395D406529}"/>
              </a:ext>
            </a:extLst>
          </p:cNvPr>
          <p:cNvSpPr>
            <a:spLocks noGrp="1"/>
          </p:cNvSpPr>
          <p:nvPr>
            <p:ph idx="1"/>
          </p:nvPr>
        </p:nvSpPr>
        <p:spPr>
          <a:xfrm>
            <a:off x="838200" y="1825625"/>
            <a:ext cx="3325586" cy="4351338"/>
          </a:xfrm>
        </p:spPr>
        <p:txBody>
          <a:bodyPr/>
          <a:lstStyle/>
          <a:p>
            <a:r>
              <a:rPr lang="en-US" dirty="0"/>
              <a:t>If you successfully install the brim and open it, you will see menu like the image below.</a:t>
            </a:r>
            <a:endParaRPr lang="en-ID" dirty="0"/>
          </a:p>
          <a:p>
            <a:endParaRPr lang="en-ID" dirty="0"/>
          </a:p>
        </p:txBody>
      </p:sp>
      <p:pic>
        <p:nvPicPr>
          <p:cNvPr id="4" name="Picture 3">
            <a:extLst>
              <a:ext uri="{FF2B5EF4-FFF2-40B4-BE49-F238E27FC236}">
                <a16:creationId xmlns:a16="http://schemas.microsoft.com/office/drawing/2014/main" id="{5216A278-A7EC-8880-F716-9C29AD2D96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4081" y="1825625"/>
            <a:ext cx="6979719" cy="4209124"/>
          </a:xfrm>
          <a:prstGeom prst="rect">
            <a:avLst/>
          </a:prstGeom>
        </p:spPr>
      </p:pic>
    </p:spTree>
    <p:extLst>
      <p:ext uri="{BB962C8B-B14F-4D97-AF65-F5344CB8AC3E}">
        <p14:creationId xmlns:p14="http://schemas.microsoft.com/office/powerpoint/2010/main" val="704453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AAE5E-9C1D-054A-3863-A9B24B57CD5C}"/>
              </a:ext>
            </a:extLst>
          </p:cNvPr>
          <p:cNvSpPr>
            <a:spLocks noGrp="1"/>
          </p:cNvSpPr>
          <p:nvPr>
            <p:ph type="title"/>
          </p:nvPr>
        </p:nvSpPr>
        <p:spPr/>
        <p:txBody>
          <a:bodyPr/>
          <a:lstStyle/>
          <a:p>
            <a:r>
              <a:rPr lang="en-US" dirty="0"/>
              <a:t>Analyzing DDOS using BRIM</a:t>
            </a:r>
            <a:endParaRPr lang="en-ID" dirty="0"/>
          </a:p>
        </p:txBody>
      </p:sp>
      <p:sp>
        <p:nvSpPr>
          <p:cNvPr id="3" name="Content Placeholder 2">
            <a:extLst>
              <a:ext uri="{FF2B5EF4-FFF2-40B4-BE49-F238E27FC236}">
                <a16:creationId xmlns:a16="http://schemas.microsoft.com/office/drawing/2014/main" id="{E41C5F60-4D49-42BB-AD71-B338F6ED5832}"/>
              </a:ext>
            </a:extLst>
          </p:cNvPr>
          <p:cNvSpPr>
            <a:spLocks noGrp="1"/>
          </p:cNvSpPr>
          <p:nvPr>
            <p:ph idx="1"/>
          </p:nvPr>
        </p:nvSpPr>
        <p:spPr>
          <a:xfrm>
            <a:off x="838200" y="1825625"/>
            <a:ext cx="10515600" cy="966561"/>
          </a:xfrm>
        </p:spPr>
        <p:txBody>
          <a:bodyPr>
            <a:normAutofit fontScale="92500" lnSpcReduction="20000"/>
          </a:bodyPr>
          <a:lstStyle/>
          <a:p>
            <a:pPr algn="just"/>
            <a:r>
              <a:rPr lang="en-US" dirty="0"/>
              <a:t>We will analyze type DDOS of https (HTTPS flood attack), so choose </a:t>
            </a:r>
            <a:r>
              <a:rPr lang="en-US" dirty="0" err="1"/>
              <a:t>pcap</a:t>
            </a:r>
            <a:r>
              <a:rPr lang="en-US" dirty="0"/>
              <a:t> files with name </a:t>
            </a:r>
            <a:r>
              <a:rPr lang="en-US" b="1" dirty="0"/>
              <a:t>https-</a:t>
            </a:r>
            <a:r>
              <a:rPr lang="en-US" b="1" dirty="0" err="1"/>
              <a:t>flood.pcap</a:t>
            </a:r>
            <a:r>
              <a:rPr lang="en-US" b="1" dirty="0"/>
              <a:t> </a:t>
            </a:r>
            <a:r>
              <a:rPr lang="en-US" dirty="0"/>
              <a:t>to open it and if successfully opened, you can see the image in right side below.</a:t>
            </a:r>
            <a:endParaRPr lang="en-ID" dirty="0"/>
          </a:p>
          <a:p>
            <a:pPr algn="just"/>
            <a:endParaRPr lang="en-ID" dirty="0"/>
          </a:p>
        </p:txBody>
      </p:sp>
      <p:pic>
        <p:nvPicPr>
          <p:cNvPr id="4" name="Picture 3">
            <a:extLst>
              <a:ext uri="{FF2B5EF4-FFF2-40B4-BE49-F238E27FC236}">
                <a16:creationId xmlns:a16="http://schemas.microsoft.com/office/drawing/2014/main" id="{5659D249-4314-FF40-9C6E-61BA1C9CF3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6223" y="2792186"/>
            <a:ext cx="5149777" cy="3411563"/>
          </a:xfrm>
          <a:prstGeom prst="rect">
            <a:avLst/>
          </a:prstGeom>
        </p:spPr>
      </p:pic>
      <p:pic>
        <p:nvPicPr>
          <p:cNvPr id="5" name="Picture 4">
            <a:extLst>
              <a:ext uri="{FF2B5EF4-FFF2-40B4-BE49-F238E27FC236}">
                <a16:creationId xmlns:a16="http://schemas.microsoft.com/office/drawing/2014/main" id="{13E94FC2-F5B2-22C0-17B2-538D4C16E8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4023" y="2792186"/>
            <a:ext cx="5026412" cy="3411564"/>
          </a:xfrm>
          <a:prstGeom prst="rect">
            <a:avLst/>
          </a:prstGeom>
        </p:spPr>
      </p:pic>
    </p:spTree>
    <p:extLst>
      <p:ext uri="{BB962C8B-B14F-4D97-AF65-F5344CB8AC3E}">
        <p14:creationId xmlns:p14="http://schemas.microsoft.com/office/powerpoint/2010/main" val="2702419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8DA4F-3EFE-C1D9-7A38-EA4C6F841AAB}"/>
              </a:ext>
            </a:extLst>
          </p:cNvPr>
          <p:cNvSpPr>
            <a:spLocks noGrp="1"/>
          </p:cNvSpPr>
          <p:nvPr>
            <p:ph type="title"/>
          </p:nvPr>
        </p:nvSpPr>
        <p:spPr/>
        <p:txBody>
          <a:bodyPr/>
          <a:lstStyle/>
          <a:p>
            <a:r>
              <a:rPr lang="en-US" dirty="0"/>
              <a:t>Analyzing DDOS using BRIM</a:t>
            </a:r>
            <a:endParaRPr lang="en-ID" dirty="0"/>
          </a:p>
        </p:txBody>
      </p:sp>
      <p:sp>
        <p:nvSpPr>
          <p:cNvPr id="3" name="Content Placeholder 2">
            <a:extLst>
              <a:ext uri="{FF2B5EF4-FFF2-40B4-BE49-F238E27FC236}">
                <a16:creationId xmlns:a16="http://schemas.microsoft.com/office/drawing/2014/main" id="{EFAA7634-DFFC-00BA-1D89-FD63EA19E08C}"/>
              </a:ext>
            </a:extLst>
          </p:cNvPr>
          <p:cNvSpPr>
            <a:spLocks noGrp="1"/>
          </p:cNvSpPr>
          <p:nvPr>
            <p:ph idx="1"/>
          </p:nvPr>
        </p:nvSpPr>
        <p:spPr>
          <a:xfrm>
            <a:off x="838200" y="1825625"/>
            <a:ext cx="10515600" cy="999218"/>
          </a:xfrm>
        </p:spPr>
        <p:txBody>
          <a:bodyPr>
            <a:normAutofit fontScale="85000" lnSpcReduction="20000"/>
          </a:bodyPr>
          <a:lstStyle/>
          <a:p>
            <a:pPr algn="just">
              <a:lnSpc>
                <a:spcPct val="100000"/>
              </a:lnSpc>
            </a:pPr>
            <a:r>
              <a:rPr lang="en-US" dirty="0"/>
              <a:t>If you want to select specific path/filter your data, you can select the path you want to specified and click right of your mouse and choose </a:t>
            </a:r>
            <a:r>
              <a:rPr lang="en-US" b="1" dirty="0"/>
              <a:t>Filter==value. </a:t>
            </a:r>
            <a:r>
              <a:rPr lang="en-US" dirty="0"/>
              <a:t>You can see the result from right sight image below.</a:t>
            </a:r>
            <a:endParaRPr lang="en-ID" b="1" dirty="0"/>
          </a:p>
          <a:p>
            <a:pPr algn="just">
              <a:lnSpc>
                <a:spcPct val="100000"/>
              </a:lnSpc>
            </a:pPr>
            <a:endParaRPr lang="en-ID" dirty="0"/>
          </a:p>
        </p:txBody>
      </p:sp>
      <p:pic>
        <p:nvPicPr>
          <p:cNvPr id="4" name="Picture 3">
            <a:extLst>
              <a:ext uri="{FF2B5EF4-FFF2-40B4-BE49-F238E27FC236}">
                <a16:creationId xmlns:a16="http://schemas.microsoft.com/office/drawing/2014/main" id="{918BA9ED-B422-9FAD-CA06-AF5AE5092E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5792" y="2824843"/>
            <a:ext cx="4397600" cy="3506804"/>
          </a:xfrm>
          <a:prstGeom prst="rect">
            <a:avLst/>
          </a:prstGeom>
        </p:spPr>
      </p:pic>
      <p:pic>
        <p:nvPicPr>
          <p:cNvPr id="5" name="Picture 4">
            <a:extLst>
              <a:ext uri="{FF2B5EF4-FFF2-40B4-BE49-F238E27FC236}">
                <a16:creationId xmlns:a16="http://schemas.microsoft.com/office/drawing/2014/main" id="{BEE86B81-7102-4EA7-4A3E-F4FE4C8D70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0983" y="2824843"/>
            <a:ext cx="5362817" cy="3506804"/>
          </a:xfrm>
          <a:prstGeom prst="rect">
            <a:avLst/>
          </a:prstGeom>
        </p:spPr>
      </p:pic>
    </p:spTree>
    <p:extLst>
      <p:ext uri="{BB962C8B-B14F-4D97-AF65-F5344CB8AC3E}">
        <p14:creationId xmlns:p14="http://schemas.microsoft.com/office/powerpoint/2010/main" val="2872189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09BD-3C1A-5D54-BD32-C438EA02CD38}"/>
              </a:ext>
            </a:extLst>
          </p:cNvPr>
          <p:cNvSpPr>
            <a:spLocks noGrp="1"/>
          </p:cNvSpPr>
          <p:nvPr>
            <p:ph type="title"/>
          </p:nvPr>
        </p:nvSpPr>
        <p:spPr/>
        <p:txBody>
          <a:bodyPr/>
          <a:lstStyle/>
          <a:p>
            <a:r>
              <a:rPr lang="en-US" dirty="0"/>
              <a:t>Analyzing DDOS using BRIM</a:t>
            </a:r>
            <a:endParaRPr lang="en-ID" dirty="0"/>
          </a:p>
        </p:txBody>
      </p:sp>
      <p:sp>
        <p:nvSpPr>
          <p:cNvPr id="3" name="Content Placeholder 2">
            <a:extLst>
              <a:ext uri="{FF2B5EF4-FFF2-40B4-BE49-F238E27FC236}">
                <a16:creationId xmlns:a16="http://schemas.microsoft.com/office/drawing/2014/main" id="{8D1384B1-F4DA-4900-16B2-256A41979F12}"/>
              </a:ext>
            </a:extLst>
          </p:cNvPr>
          <p:cNvSpPr>
            <a:spLocks noGrp="1"/>
          </p:cNvSpPr>
          <p:nvPr>
            <p:ph idx="1"/>
          </p:nvPr>
        </p:nvSpPr>
        <p:spPr>
          <a:xfrm>
            <a:off x="838200" y="1825625"/>
            <a:ext cx="10515600" cy="950232"/>
          </a:xfrm>
        </p:spPr>
        <p:txBody>
          <a:bodyPr>
            <a:normAutofit fontScale="92500" lnSpcReduction="20000"/>
          </a:bodyPr>
          <a:lstStyle/>
          <a:p>
            <a:r>
              <a:rPr lang="en-US" dirty="0"/>
              <a:t>If you want to counting the data from path, you can select the path and click right of your mouse and choose count by field, You can see the result from right sight image below.</a:t>
            </a:r>
            <a:endParaRPr lang="en-ID" b="1" dirty="0"/>
          </a:p>
          <a:p>
            <a:endParaRPr lang="en-ID" dirty="0"/>
          </a:p>
        </p:txBody>
      </p:sp>
      <p:pic>
        <p:nvPicPr>
          <p:cNvPr id="4" name="Picture 3">
            <a:extLst>
              <a:ext uri="{FF2B5EF4-FFF2-40B4-BE49-F238E27FC236}">
                <a16:creationId xmlns:a16="http://schemas.microsoft.com/office/drawing/2014/main" id="{A1BB6EF7-08A9-EF29-1C2F-29F02A7CFF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6558" y="2775857"/>
            <a:ext cx="4428310" cy="3461083"/>
          </a:xfrm>
          <a:prstGeom prst="rect">
            <a:avLst/>
          </a:prstGeom>
        </p:spPr>
      </p:pic>
      <p:pic>
        <p:nvPicPr>
          <p:cNvPr id="5" name="Picture 4">
            <a:extLst>
              <a:ext uri="{FF2B5EF4-FFF2-40B4-BE49-F238E27FC236}">
                <a16:creationId xmlns:a16="http://schemas.microsoft.com/office/drawing/2014/main" id="{A4D7431C-25E2-D9C3-53DC-B4E66AAB2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3226" y="2801337"/>
            <a:ext cx="5818932" cy="3410121"/>
          </a:xfrm>
          <a:prstGeom prst="rect">
            <a:avLst/>
          </a:prstGeom>
        </p:spPr>
      </p:pic>
    </p:spTree>
    <p:extLst>
      <p:ext uri="{BB962C8B-B14F-4D97-AF65-F5344CB8AC3E}">
        <p14:creationId xmlns:p14="http://schemas.microsoft.com/office/powerpoint/2010/main" val="20818231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AC3C3-AD62-E531-0592-0C52F77036CA}"/>
              </a:ext>
            </a:extLst>
          </p:cNvPr>
          <p:cNvSpPr>
            <a:spLocks noGrp="1"/>
          </p:cNvSpPr>
          <p:nvPr>
            <p:ph type="title"/>
          </p:nvPr>
        </p:nvSpPr>
        <p:spPr/>
        <p:txBody>
          <a:bodyPr/>
          <a:lstStyle/>
          <a:p>
            <a:r>
              <a:rPr lang="en-US" dirty="0"/>
              <a:t>Analyzing DDOS using BRIM</a:t>
            </a:r>
            <a:endParaRPr lang="en-ID" dirty="0"/>
          </a:p>
        </p:txBody>
      </p:sp>
      <p:sp>
        <p:nvSpPr>
          <p:cNvPr id="3" name="Content Placeholder 2">
            <a:extLst>
              <a:ext uri="{FF2B5EF4-FFF2-40B4-BE49-F238E27FC236}">
                <a16:creationId xmlns:a16="http://schemas.microsoft.com/office/drawing/2014/main" id="{E8AE67E5-DE45-B3C8-4C2E-4A4969DD7CFB}"/>
              </a:ext>
            </a:extLst>
          </p:cNvPr>
          <p:cNvSpPr>
            <a:spLocks noGrp="1"/>
          </p:cNvSpPr>
          <p:nvPr>
            <p:ph idx="1"/>
          </p:nvPr>
        </p:nvSpPr>
        <p:spPr>
          <a:xfrm>
            <a:off x="838199" y="1825625"/>
            <a:ext cx="2835729" cy="4351338"/>
          </a:xfrm>
        </p:spPr>
        <p:txBody>
          <a:bodyPr/>
          <a:lstStyle/>
          <a:p>
            <a:r>
              <a:rPr lang="en-US" dirty="0"/>
              <a:t>If you want to see details of data, you can click the data in example </a:t>
            </a:r>
            <a:r>
              <a:rPr lang="en-US" b="1" dirty="0" err="1"/>
              <a:t>ssl</a:t>
            </a:r>
            <a:r>
              <a:rPr lang="en-US" dirty="0"/>
              <a:t> data and the you can see the menu of details of data</a:t>
            </a:r>
            <a:endParaRPr lang="en-ID" b="1" dirty="0"/>
          </a:p>
          <a:p>
            <a:endParaRPr lang="en-ID" dirty="0"/>
          </a:p>
        </p:txBody>
      </p:sp>
      <p:pic>
        <p:nvPicPr>
          <p:cNvPr id="4" name="Picture 3">
            <a:extLst>
              <a:ext uri="{FF2B5EF4-FFF2-40B4-BE49-F238E27FC236}">
                <a16:creationId xmlns:a16="http://schemas.microsoft.com/office/drawing/2014/main" id="{FFCC55DC-4033-99CB-D6C9-D0A3F59F17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0576" y="1690688"/>
            <a:ext cx="7878782" cy="4226638"/>
          </a:xfrm>
          <a:prstGeom prst="rect">
            <a:avLst/>
          </a:prstGeom>
        </p:spPr>
      </p:pic>
    </p:spTree>
    <p:extLst>
      <p:ext uri="{BB962C8B-B14F-4D97-AF65-F5344CB8AC3E}">
        <p14:creationId xmlns:p14="http://schemas.microsoft.com/office/powerpoint/2010/main" val="2578148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F606-C5F2-89BB-636B-4FB4341EA3F5}"/>
              </a:ext>
            </a:extLst>
          </p:cNvPr>
          <p:cNvSpPr>
            <a:spLocks noGrp="1"/>
          </p:cNvSpPr>
          <p:nvPr>
            <p:ph type="title"/>
          </p:nvPr>
        </p:nvSpPr>
        <p:spPr/>
        <p:txBody>
          <a:bodyPr/>
          <a:lstStyle/>
          <a:p>
            <a:r>
              <a:rPr lang="en-US" dirty="0"/>
              <a:t>Analyzing DDOS using BRIM</a:t>
            </a:r>
            <a:endParaRPr lang="en-ID" dirty="0"/>
          </a:p>
        </p:txBody>
      </p:sp>
      <p:sp>
        <p:nvSpPr>
          <p:cNvPr id="3" name="Content Placeholder 2">
            <a:extLst>
              <a:ext uri="{FF2B5EF4-FFF2-40B4-BE49-F238E27FC236}">
                <a16:creationId xmlns:a16="http://schemas.microsoft.com/office/drawing/2014/main" id="{6265EAA8-5312-49DF-8CE0-8DC938D2168B}"/>
              </a:ext>
            </a:extLst>
          </p:cNvPr>
          <p:cNvSpPr>
            <a:spLocks noGrp="1"/>
          </p:cNvSpPr>
          <p:nvPr>
            <p:ph idx="1"/>
          </p:nvPr>
        </p:nvSpPr>
        <p:spPr>
          <a:xfrm>
            <a:off x="838200" y="1825625"/>
            <a:ext cx="10515600" cy="966561"/>
          </a:xfrm>
        </p:spPr>
        <p:txBody>
          <a:bodyPr>
            <a:normAutofit fontScale="85000" lnSpcReduction="20000"/>
          </a:bodyPr>
          <a:lstStyle/>
          <a:p>
            <a:pPr algn="just"/>
            <a:r>
              <a:rPr lang="en-US" dirty="0"/>
              <a:t>You can check correlation of data too by clicking the correlation menu. Example we want to check correlation data in connection and files, just click the button conn and files you will see the results like the image below</a:t>
            </a:r>
            <a:endParaRPr lang="en-ID" b="1" dirty="0"/>
          </a:p>
        </p:txBody>
      </p:sp>
      <p:pic>
        <p:nvPicPr>
          <p:cNvPr id="4" name="Picture 3">
            <a:extLst>
              <a:ext uri="{FF2B5EF4-FFF2-40B4-BE49-F238E27FC236}">
                <a16:creationId xmlns:a16="http://schemas.microsoft.com/office/drawing/2014/main" id="{DC348C29-2BAD-A868-85F3-08F60BC11C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8640" y="2792186"/>
            <a:ext cx="3615088" cy="3432909"/>
          </a:xfrm>
          <a:prstGeom prst="rect">
            <a:avLst/>
          </a:prstGeom>
        </p:spPr>
      </p:pic>
      <p:pic>
        <p:nvPicPr>
          <p:cNvPr id="5" name="Picture 4">
            <a:extLst>
              <a:ext uri="{FF2B5EF4-FFF2-40B4-BE49-F238E27FC236}">
                <a16:creationId xmlns:a16="http://schemas.microsoft.com/office/drawing/2014/main" id="{6B8099C2-7BAA-4FD4-A31F-B01681428C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8273" y="2792186"/>
            <a:ext cx="3615087" cy="3347357"/>
          </a:xfrm>
          <a:prstGeom prst="rect">
            <a:avLst/>
          </a:prstGeom>
        </p:spPr>
      </p:pic>
    </p:spTree>
    <p:extLst>
      <p:ext uri="{BB962C8B-B14F-4D97-AF65-F5344CB8AC3E}">
        <p14:creationId xmlns:p14="http://schemas.microsoft.com/office/powerpoint/2010/main" val="3708831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3F607-C05A-51CF-4EB2-238718161B92}"/>
              </a:ext>
            </a:extLst>
          </p:cNvPr>
          <p:cNvSpPr>
            <a:spLocks noGrp="1"/>
          </p:cNvSpPr>
          <p:nvPr>
            <p:ph type="title"/>
          </p:nvPr>
        </p:nvSpPr>
        <p:spPr/>
        <p:txBody>
          <a:bodyPr/>
          <a:lstStyle/>
          <a:p>
            <a:r>
              <a:rPr lang="en-US" dirty="0"/>
              <a:t>Analyzing DDOS using BRIM</a:t>
            </a:r>
            <a:endParaRPr lang="en-ID" dirty="0"/>
          </a:p>
        </p:txBody>
      </p:sp>
      <p:sp>
        <p:nvSpPr>
          <p:cNvPr id="3" name="Content Placeholder 2">
            <a:extLst>
              <a:ext uri="{FF2B5EF4-FFF2-40B4-BE49-F238E27FC236}">
                <a16:creationId xmlns:a16="http://schemas.microsoft.com/office/drawing/2014/main" id="{810AA96B-F46E-C711-A567-9F36789C0F9A}"/>
              </a:ext>
            </a:extLst>
          </p:cNvPr>
          <p:cNvSpPr>
            <a:spLocks noGrp="1"/>
          </p:cNvSpPr>
          <p:nvPr>
            <p:ph idx="1"/>
          </p:nvPr>
        </p:nvSpPr>
        <p:spPr>
          <a:xfrm>
            <a:off x="838200" y="1825625"/>
            <a:ext cx="10515600" cy="672646"/>
          </a:xfrm>
        </p:spPr>
        <p:txBody>
          <a:bodyPr>
            <a:normAutofit fontScale="92500" lnSpcReduction="20000"/>
          </a:bodyPr>
          <a:lstStyle/>
          <a:p>
            <a:pPr algn="just"/>
            <a:r>
              <a:rPr lang="en-US" dirty="0"/>
              <a:t>Also the brim integrate by using </a:t>
            </a:r>
            <a:r>
              <a:rPr lang="en-US" dirty="0" err="1"/>
              <a:t>wireshark</a:t>
            </a:r>
            <a:r>
              <a:rPr lang="en-US" dirty="0"/>
              <a:t>, you can check the specific packet using </a:t>
            </a:r>
            <a:r>
              <a:rPr lang="en-US" dirty="0" err="1"/>
              <a:t>wireshark</a:t>
            </a:r>
            <a:r>
              <a:rPr lang="en-US" dirty="0"/>
              <a:t> by clicking logo in top of word </a:t>
            </a:r>
            <a:r>
              <a:rPr lang="en-US" b="1" dirty="0"/>
              <a:t>packets.</a:t>
            </a:r>
            <a:endParaRPr lang="en-ID" b="1" dirty="0"/>
          </a:p>
          <a:p>
            <a:pPr algn="just"/>
            <a:endParaRPr lang="en-ID" dirty="0"/>
          </a:p>
        </p:txBody>
      </p:sp>
      <p:pic>
        <p:nvPicPr>
          <p:cNvPr id="4" name="Picture 3">
            <a:extLst>
              <a:ext uri="{FF2B5EF4-FFF2-40B4-BE49-F238E27FC236}">
                <a16:creationId xmlns:a16="http://schemas.microsoft.com/office/drawing/2014/main" id="{F90DB039-B163-15A9-58CC-ADAEC3E8C6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4878" y="2658662"/>
            <a:ext cx="5534350" cy="3547452"/>
          </a:xfrm>
          <a:prstGeom prst="rect">
            <a:avLst/>
          </a:prstGeom>
        </p:spPr>
      </p:pic>
      <p:pic>
        <p:nvPicPr>
          <p:cNvPr id="5" name="Picture 4">
            <a:extLst>
              <a:ext uri="{FF2B5EF4-FFF2-40B4-BE49-F238E27FC236}">
                <a16:creationId xmlns:a16="http://schemas.microsoft.com/office/drawing/2014/main" id="{967E01A3-9FD1-8A8B-AB1A-5CB3AC1A8F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5358" y="2658662"/>
            <a:ext cx="3895577" cy="3541657"/>
          </a:xfrm>
          <a:prstGeom prst="rect">
            <a:avLst/>
          </a:prstGeom>
        </p:spPr>
      </p:pic>
    </p:spTree>
    <p:extLst>
      <p:ext uri="{BB962C8B-B14F-4D97-AF65-F5344CB8AC3E}">
        <p14:creationId xmlns:p14="http://schemas.microsoft.com/office/powerpoint/2010/main" val="121162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28A76-3538-66B5-B2D8-2CDA4E828506}"/>
              </a:ext>
            </a:extLst>
          </p:cNvPr>
          <p:cNvSpPr>
            <a:spLocks noGrp="1"/>
          </p:cNvSpPr>
          <p:nvPr>
            <p:ph type="title"/>
          </p:nvPr>
        </p:nvSpPr>
        <p:spPr/>
        <p:txBody>
          <a:bodyPr/>
          <a:lstStyle/>
          <a:p>
            <a:r>
              <a:rPr lang="en-US" dirty="0"/>
              <a:t>Analyzing DDOS using BRIM</a:t>
            </a:r>
            <a:endParaRPr lang="en-ID" dirty="0"/>
          </a:p>
        </p:txBody>
      </p:sp>
      <p:sp>
        <p:nvSpPr>
          <p:cNvPr id="3" name="Content Placeholder 2">
            <a:extLst>
              <a:ext uri="{FF2B5EF4-FFF2-40B4-BE49-F238E27FC236}">
                <a16:creationId xmlns:a16="http://schemas.microsoft.com/office/drawing/2014/main" id="{73C3BC44-E7D6-E3BD-14FE-F9230C7FD825}"/>
              </a:ext>
            </a:extLst>
          </p:cNvPr>
          <p:cNvSpPr>
            <a:spLocks noGrp="1"/>
          </p:cNvSpPr>
          <p:nvPr>
            <p:ph idx="1"/>
          </p:nvPr>
        </p:nvSpPr>
        <p:spPr>
          <a:xfrm>
            <a:off x="838200" y="1825625"/>
            <a:ext cx="3048000" cy="3812688"/>
          </a:xfrm>
        </p:spPr>
        <p:txBody>
          <a:bodyPr>
            <a:noAutofit/>
          </a:bodyPr>
          <a:lstStyle/>
          <a:p>
            <a:r>
              <a:rPr lang="en-US" sz="1800" dirty="0"/>
              <a:t>You can check summary of the different connections. in the example below it only shows the source, destination, protocol, source sent bytes and receive bytes. And the result is sorted by source and destination. By </a:t>
            </a:r>
            <a:r>
              <a:rPr lang="en-US" sz="1800" dirty="0" err="1"/>
              <a:t>Quering</a:t>
            </a:r>
            <a:r>
              <a:rPr lang="en-US" sz="1800" dirty="0"/>
              <a:t> : </a:t>
            </a:r>
            <a:r>
              <a:rPr lang="en-US" sz="1800" b="1" dirty="0"/>
              <a:t>_path=="conn" |cut </a:t>
            </a:r>
            <a:r>
              <a:rPr lang="en-US" sz="1800" b="1" dirty="0" err="1"/>
              <a:t>id.orig_h</a:t>
            </a:r>
            <a:r>
              <a:rPr lang="en-US" sz="1800" b="1" dirty="0"/>
              <a:t>, </a:t>
            </a:r>
            <a:r>
              <a:rPr lang="en-US" sz="1800" b="1" dirty="0" err="1"/>
              <a:t>id.resp_h</a:t>
            </a:r>
            <a:r>
              <a:rPr lang="en-US" sz="1800" b="1" dirty="0"/>
              <a:t>, proto, </a:t>
            </a:r>
            <a:r>
              <a:rPr lang="en-US" sz="1800" b="1" dirty="0" err="1"/>
              <a:t>orig_ip_bytes</a:t>
            </a:r>
            <a:r>
              <a:rPr lang="en-US" sz="1800" b="1" dirty="0"/>
              <a:t>, </a:t>
            </a:r>
            <a:r>
              <a:rPr lang="en-US" sz="1800" b="1" dirty="0" err="1"/>
              <a:t>resp_ip_bytes</a:t>
            </a:r>
            <a:r>
              <a:rPr lang="en-US" sz="1800" b="1" dirty="0"/>
              <a:t> | sort </a:t>
            </a:r>
            <a:r>
              <a:rPr lang="en-US" sz="1800" b="1" dirty="0" err="1"/>
              <a:t>id.orig_h</a:t>
            </a:r>
            <a:r>
              <a:rPr lang="en-US" sz="1800" b="1" dirty="0"/>
              <a:t>, </a:t>
            </a:r>
            <a:r>
              <a:rPr lang="en-US" sz="1800" b="1" dirty="0" err="1"/>
              <a:t>id.resp_h</a:t>
            </a:r>
            <a:endParaRPr lang="en-ID" sz="1800" b="1" dirty="0"/>
          </a:p>
          <a:p>
            <a:endParaRPr lang="en-ID" sz="1800" dirty="0"/>
          </a:p>
        </p:txBody>
      </p:sp>
      <p:pic>
        <p:nvPicPr>
          <p:cNvPr id="4" name="Picture 3">
            <a:extLst>
              <a:ext uri="{FF2B5EF4-FFF2-40B4-BE49-F238E27FC236}">
                <a16:creationId xmlns:a16="http://schemas.microsoft.com/office/drawing/2014/main" id="{79CD16C5-EB8C-0E9B-EE48-953BA4E4B8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9250" y="1825625"/>
            <a:ext cx="7114550" cy="3812688"/>
          </a:xfrm>
          <a:prstGeom prst="rect">
            <a:avLst/>
          </a:prstGeom>
        </p:spPr>
      </p:pic>
    </p:spTree>
    <p:extLst>
      <p:ext uri="{BB962C8B-B14F-4D97-AF65-F5344CB8AC3E}">
        <p14:creationId xmlns:p14="http://schemas.microsoft.com/office/powerpoint/2010/main" val="21628424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8A3AE-22E7-79DE-8FFF-6C875F2C6BCB}"/>
              </a:ext>
            </a:extLst>
          </p:cNvPr>
          <p:cNvSpPr>
            <a:spLocks noGrp="1"/>
          </p:cNvSpPr>
          <p:nvPr>
            <p:ph type="title"/>
          </p:nvPr>
        </p:nvSpPr>
        <p:spPr/>
        <p:txBody>
          <a:bodyPr/>
          <a:lstStyle/>
          <a:p>
            <a:r>
              <a:rPr lang="en-US" dirty="0"/>
              <a:t>Analyzing DDOS using BRIM</a:t>
            </a:r>
            <a:endParaRPr lang="en-ID" dirty="0"/>
          </a:p>
        </p:txBody>
      </p:sp>
      <p:sp>
        <p:nvSpPr>
          <p:cNvPr id="3" name="Content Placeholder 2">
            <a:extLst>
              <a:ext uri="{FF2B5EF4-FFF2-40B4-BE49-F238E27FC236}">
                <a16:creationId xmlns:a16="http://schemas.microsoft.com/office/drawing/2014/main" id="{469AC172-E91E-49E6-620B-1635B45BD775}"/>
              </a:ext>
            </a:extLst>
          </p:cNvPr>
          <p:cNvSpPr>
            <a:spLocks noGrp="1"/>
          </p:cNvSpPr>
          <p:nvPr>
            <p:ph idx="1"/>
          </p:nvPr>
        </p:nvSpPr>
        <p:spPr>
          <a:xfrm>
            <a:off x="838200" y="1825625"/>
            <a:ext cx="3276600" cy="4351338"/>
          </a:xfrm>
        </p:spPr>
        <p:txBody>
          <a:bodyPr>
            <a:normAutofit fontScale="92500" lnSpcReduction="20000"/>
          </a:bodyPr>
          <a:lstStyle/>
          <a:p>
            <a:r>
              <a:rPr lang="en-US" dirty="0"/>
              <a:t>You can check total bytes transferred per conversation too, using query : </a:t>
            </a:r>
            <a:r>
              <a:rPr lang="en-US" b="1" dirty="0"/>
              <a:t>_path=="conn" | put </a:t>
            </a:r>
            <a:r>
              <a:rPr lang="en-US" b="1" dirty="0" err="1"/>
              <a:t>total_ip_bytes</a:t>
            </a:r>
            <a:r>
              <a:rPr lang="en-US" b="1" dirty="0"/>
              <a:t>:= </a:t>
            </a:r>
            <a:r>
              <a:rPr lang="en-US" b="1" dirty="0" err="1"/>
              <a:t>orig_ip_bytes</a:t>
            </a:r>
            <a:r>
              <a:rPr lang="en-US" b="1" dirty="0"/>
              <a:t> + </a:t>
            </a:r>
            <a:r>
              <a:rPr lang="en-US" b="1" dirty="0" err="1"/>
              <a:t>resp_ip_bytes</a:t>
            </a:r>
            <a:r>
              <a:rPr lang="en-US" b="1" dirty="0"/>
              <a:t> | sum(</a:t>
            </a:r>
            <a:r>
              <a:rPr lang="en-US" b="1" dirty="0" err="1"/>
              <a:t>total_ip_bytes</a:t>
            </a:r>
            <a:r>
              <a:rPr lang="en-US" b="1" dirty="0"/>
              <a:t>) by </a:t>
            </a:r>
            <a:r>
              <a:rPr lang="en-US" b="1" dirty="0" err="1"/>
              <a:t>id.resp_h</a:t>
            </a:r>
            <a:r>
              <a:rPr lang="en-US" b="1" dirty="0"/>
              <a:t>, </a:t>
            </a:r>
            <a:r>
              <a:rPr lang="en-US" b="1" dirty="0" err="1"/>
              <a:t>id.orig_h</a:t>
            </a:r>
            <a:r>
              <a:rPr lang="en-US" b="1" dirty="0"/>
              <a:t> | sort sum</a:t>
            </a:r>
            <a:endParaRPr lang="en-ID" b="1" dirty="0"/>
          </a:p>
          <a:p>
            <a:endParaRPr lang="en-ID" dirty="0"/>
          </a:p>
        </p:txBody>
      </p:sp>
      <p:pic>
        <p:nvPicPr>
          <p:cNvPr id="4" name="Picture 3">
            <a:extLst>
              <a:ext uri="{FF2B5EF4-FFF2-40B4-BE49-F238E27FC236}">
                <a16:creationId xmlns:a16="http://schemas.microsoft.com/office/drawing/2014/main" id="{9DF3F00B-1254-C025-FF52-830E1FF95E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2407" y="2062244"/>
            <a:ext cx="7229590" cy="3878100"/>
          </a:xfrm>
          <a:prstGeom prst="rect">
            <a:avLst/>
          </a:prstGeom>
        </p:spPr>
      </p:pic>
    </p:spTree>
    <p:extLst>
      <p:ext uri="{BB962C8B-B14F-4D97-AF65-F5344CB8AC3E}">
        <p14:creationId xmlns:p14="http://schemas.microsoft.com/office/powerpoint/2010/main" val="34327271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1AC62-5CD4-E07F-663D-F8984E3E188D}"/>
              </a:ext>
            </a:extLst>
          </p:cNvPr>
          <p:cNvSpPr>
            <a:spLocks noGrp="1"/>
          </p:cNvSpPr>
          <p:nvPr>
            <p:ph type="title"/>
          </p:nvPr>
        </p:nvSpPr>
        <p:spPr/>
        <p:txBody>
          <a:bodyPr/>
          <a:lstStyle/>
          <a:p>
            <a:r>
              <a:rPr lang="en-US" dirty="0"/>
              <a:t>Analyzing DDOS using BRIM</a:t>
            </a:r>
            <a:endParaRPr lang="en-ID" dirty="0"/>
          </a:p>
        </p:txBody>
      </p:sp>
      <p:sp>
        <p:nvSpPr>
          <p:cNvPr id="3" name="Content Placeholder 2">
            <a:extLst>
              <a:ext uri="{FF2B5EF4-FFF2-40B4-BE49-F238E27FC236}">
                <a16:creationId xmlns:a16="http://schemas.microsoft.com/office/drawing/2014/main" id="{4CBA6185-B642-F73A-F306-3F38BC3BBF1E}"/>
              </a:ext>
            </a:extLst>
          </p:cNvPr>
          <p:cNvSpPr>
            <a:spLocks noGrp="1"/>
          </p:cNvSpPr>
          <p:nvPr>
            <p:ph idx="1"/>
          </p:nvPr>
        </p:nvSpPr>
        <p:spPr>
          <a:xfrm>
            <a:off x="838200" y="1825625"/>
            <a:ext cx="2868386" cy="4351338"/>
          </a:xfrm>
        </p:spPr>
        <p:txBody>
          <a:bodyPr>
            <a:normAutofit fontScale="85000" lnSpcReduction="20000"/>
          </a:bodyPr>
          <a:lstStyle/>
          <a:p>
            <a:r>
              <a:rPr lang="en-US" dirty="0"/>
              <a:t>You can count by destination port and source to check Return total count of events for each destination port that source was communication with destination. : </a:t>
            </a:r>
            <a:r>
              <a:rPr lang="en-US" b="1" dirty="0"/>
              <a:t>count() by </a:t>
            </a:r>
            <a:r>
              <a:rPr lang="en-US" b="1" dirty="0" err="1"/>
              <a:t>id.orig_h</a:t>
            </a:r>
            <a:r>
              <a:rPr lang="en-US" b="1" dirty="0"/>
              <a:t>, </a:t>
            </a:r>
            <a:r>
              <a:rPr lang="en-US" b="1" dirty="0" err="1"/>
              <a:t>id.resp_h</a:t>
            </a:r>
            <a:r>
              <a:rPr lang="en-US" b="1" dirty="0"/>
              <a:t>, </a:t>
            </a:r>
            <a:r>
              <a:rPr lang="en-US" b="1" dirty="0" err="1"/>
              <a:t>id.resp_p</a:t>
            </a:r>
            <a:r>
              <a:rPr lang="en-US" b="1" dirty="0"/>
              <a:t> | sort -r count</a:t>
            </a:r>
            <a:endParaRPr lang="en-ID" b="1" dirty="0"/>
          </a:p>
          <a:p>
            <a:endParaRPr lang="en-ID" dirty="0"/>
          </a:p>
        </p:txBody>
      </p:sp>
      <p:pic>
        <p:nvPicPr>
          <p:cNvPr id="4" name="Picture 3">
            <a:extLst>
              <a:ext uri="{FF2B5EF4-FFF2-40B4-BE49-F238E27FC236}">
                <a16:creationId xmlns:a16="http://schemas.microsoft.com/office/drawing/2014/main" id="{7BBE836E-5FBC-601E-6F7B-7DDDBB1F79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7036" y="1825625"/>
            <a:ext cx="7989408" cy="4105955"/>
          </a:xfrm>
          <a:prstGeom prst="rect">
            <a:avLst/>
          </a:prstGeom>
        </p:spPr>
      </p:pic>
    </p:spTree>
    <p:extLst>
      <p:ext uri="{BB962C8B-B14F-4D97-AF65-F5344CB8AC3E}">
        <p14:creationId xmlns:p14="http://schemas.microsoft.com/office/powerpoint/2010/main" val="17722721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D20A16-45A2-E08B-79A9-FEAE44020122}"/>
              </a:ext>
            </a:extLst>
          </p:cNvPr>
          <p:cNvSpPr>
            <a:spLocks noGrp="1"/>
          </p:cNvSpPr>
          <p:nvPr>
            <p:ph type="title"/>
          </p:nvPr>
        </p:nvSpPr>
        <p:spPr/>
        <p:txBody>
          <a:bodyPr/>
          <a:lstStyle/>
          <a:p>
            <a:r>
              <a:rPr lang="en-GB" b="1" dirty="0"/>
              <a:t>Practical Lab : Linux DFIR Analysis</a:t>
            </a:r>
            <a:endParaRPr lang="en-ID" b="1" dirty="0"/>
          </a:p>
        </p:txBody>
      </p:sp>
      <p:sp>
        <p:nvSpPr>
          <p:cNvPr id="5" name="Text Placeholder 4">
            <a:extLst>
              <a:ext uri="{FF2B5EF4-FFF2-40B4-BE49-F238E27FC236}">
                <a16:creationId xmlns:a16="http://schemas.microsoft.com/office/drawing/2014/main" id="{9AB55F06-67DF-06F3-AAE0-B57E66FC0702}"/>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30224420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C781F-D3EF-C7EB-7B57-ED52ECA87E66}"/>
              </a:ext>
            </a:extLst>
          </p:cNvPr>
          <p:cNvSpPr>
            <a:spLocks noGrp="1"/>
          </p:cNvSpPr>
          <p:nvPr>
            <p:ph type="title"/>
          </p:nvPr>
        </p:nvSpPr>
        <p:spPr/>
        <p:txBody>
          <a:bodyPr/>
          <a:lstStyle/>
          <a:p>
            <a:pPr algn="ctr"/>
            <a:r>
              <a:rPr lang="en-US" b="1" dirty="0"/>
              <a:t>Linux Triage IR Tool</a:t>
            </a:r>
            <a:endParaRPr lang="en-ID" dirty="0"/>
          </a:p>
        </p:txBody>
      </p:sp>
      <p:sp>
        <p:nvSpPr>
          <p:cNvPr id="3" name="Text Placeholder 2">
            <a:extLst>
              <a:ext uri="{FF2B5EF4-FFF2-40B4-BE49-F238E27FC236}">
                <a16:creationId xmlns:a16="http://schemas.microsoft.com/office/drawing/2014/main" id="{EB102006-65C6-F2B9-677E-59FBFA6D6EE4}"/>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32840792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79CB4-85AE-5A34-9AD2-5C2F1F7A459F}"/>
              </a:ext>
            </a:extLst>
          </p:cNvPr>
          <p:cNvSpPr>
            <a:spLocks noGrp="1"/>
          </p:cNvSpPr>
          <p:nvPr>
            <p:ph type="title"/>
          </p:nvPr>
        </p:nvSpPr>
        <p:spPr/>
        <p:txBody>
          <a:bodyPr/>
          <a:lstStyle/>
          <a:p>
            <a:r>
              <a:rPr lang="en-US" b="1" dirty="0"/>
              <a:t>Unix-like Artifacts Collector &lt;/UAC&gt;</a:t>
            </a:r>
            <a:endParaRPr lang="en-ID" b="1" dirty="0"/>
          </a:p>
        </p:txBody>
      </p:sp>
      <p:sp>
        <p:nvSpPr>
          <p:cNvPr id="3" name="Text Placeholder 2">
            <a:extLst>
              <a:ext uri="{FF2B5EF4-FFF2-40B4-BE49-F238E27FC236}">
                <a16:creationId xmlns:a16="http://schemas.microsoft.com/office/drawing/2014/main" id="{8E9DD210-B01A-3069-D06B-0BB91B48BF25}"/>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8909241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C2453-AB5B-C30B-2A00-78A7F0E40728}"/>
              </a:ext>
            </a:extLst>
          </p:cNvPr>
          <p:cNvSpPr>
            <a:spLocks noGrp="1"/>
          </p:cNvSpPr>
          <p:nvPr>
            <p:ph type="title"/>
          </p:nvPr>
        </p:nvSpPr>
        <p:spPr/>
        <p:txBody>
          <a:bodyPr/>
          <a:lstStyle/>
          <a:p>
            <a:r>
              <a:rPr lang="en-US" dirty="0"/>
              <a:t>UAC (Unix-like Artifacts Collector)</a:t>
            </a:r>
            <a:endParaRPr lang="en-ID" dirty="0"/>
          </a:p>
        </p:txBody>
      </p:sp>
      <p:sp>
        <p:nvSpPr>
          <p:cNvPr id="3" name="Content Placeholder 2">
            <a:extLst>
              <a:ext uri="{FF2B5EF4-FFF2-40B4-BE49-F238E27FC236}">
                <a16:creationId xmlns:a16="http://schemas.microsoft.com/office/drawing/2014/main" id="{A32E1CBC-E73E-CBE8-1AA2-5D564956FBE6}"/>
              </a:ext>
            </a:extLst>
          </p:cNvPr>
          <p:cNvSpPr>
            <a:spLocks noGrp="1"/>
          </p:cNvSpPr>
          <p:nvPr>
            <p:ph idx="1"/>
          </p:nvPr>
        </p:nvSpPr>
        <p:spPr/>
        <p:txBody>
          <a:bodyPr/>
          <a:lstStyle/>
          <a:p>
            <a:pPr>
              <a:spcAft>
                <a:spcPts val="600"/>
              </a:spcAft>
              <a:defRPr/>
            </a:pPr>
            <a:r>
              <a:rPr lang="en-US" dirty="0">
                <a:cs typeface="Segoe UI" panose="020B0502040204020203" pitchFamily="34" charset="0"/>
              </a:rPr>
              <a:t>Runs on </a:t>
            </a:r>
            <a:r>
              <a:rPr lang="en-US" b="1" dirty="0">
                <a:cs typeface="Segoe UI" panose="020B0502040204020203" pitchFamily="34" charset="0"/>
              </a:rPr>
              <a:t>Android</a:t>
            </a:r>
            <a:r>
              <a:rPr lang="en-US" dirty="0">
                <a:cs typeface="Segoe UI" panose="020B0502040204020203" pitchFamily="34" charset="0"/>
              </a:rPr>
              <a:t>, </a:t>
            </a:r>
            <a:r>
              <a:rPr lang="en-US" b="1" dirty="0">
                <a:cs typeface="Segoe UI" panose="020B0502040204020203" pitchFamily="34" charset="0"/>
              </a:rPr>
              <a:t>AIX</a:t>
            </a:r>
            <a:r>
              <a:rPr lang="en-US" dirty="0">
                <a:cs typeface="Segoe UI" panose="020B0502040204020203" pitchFamily="34" charset="0"/>
              </a:rPr>
              <a:t>, </a:t>
            </a:r>
            <a:r>
              <a:rPr lang="en-US" b="1" dirty="0" err="1">
                <a:cs typeface="Segoe UI" panose="020B0502040204020203" pitchFamily="34" charset="0"/>
              </a:rPr>
              <a:t>ESXi</a:t>
            </a:r>
            <a:r>
              <a:rPr lang="en-US" dirty="0">
                <a:cs typeface="Segoe UI" panose="020B0502040204020203" pitchFamily="34" charset="0"/>
              </a:rPr>
              <a:t>, </a:t>
            </a:r>
            <a:r>
              <a:rPr lang="en-US" b="1" dirty="0">
                <a:cs typeface="Segoe UI" panose="020B0502040204020203" pitchFamily="34" charset="0"/>
              </a:rPr>
              <a:t>FreeBSD</a:t>
            </a:r>
            <a:r>
              <a:rPr lang="en-US" dirty="0">
                <a:cs typeface="Segoe UI" panose="020B0502040204020203" pitchFamily="34" charset="0"/>
              </a:rPr>
              <a:t>, </a:t>
            </a:r>
            <a:r>
              <a:rPr lang="en-US" b="1" dirty="0">
                <a:cs typeface="Segoe UI" panose="020B0502040204020203" pitchFamily="34" charset="0"/>
              </a:rPr>
              <a:t>Linux</a:t>
            </a:r>
            <a:r>
              <a:rPr lang="en-US" dirty="0">
                <a:cs typeface="Segoe UI" panose="020B0502040204020203" pitchFamily="34" charset="0"/>
              </a:rPr>
              <a:t>, </a:t>
            </a:r>
            <a:r>
              <a:rPr lang="en-US" b="1" dirty="0">
                <a:cs typeface="Segoe UI" panose="020B0502040204020203" pitchFamily="34" charset="0"/>
              </a:rPr>
              <a:t>macOS</a:t>
            </a:r>
            <a:r>
              <a:rPr lang="en-US" dirty="0">
                <a:cs typeface="Segoe UI" panose="020B0502040204020203" pitchFamily="34" charset="0"/>
              </a:rPr>
              <a:t>, </a:t>
            </a:r>
            <a:r>
              <a:rPr lang="en-US" b="1" dirty="0">
                <a:cs typeface="Segoe UI" panose="020B0502040204020203" pitchFamily="34" charset="0"/>
              </a:rPr>
              <a:t>NetBSD</a:t>
            </a:r>
            <a:r>
              <a:rPr lang="en-US" dirty="0">
                <a:cs typeface="Segoe UI" panose="020B0502040204020203" pitchFamily="34" charset="0"/>
              </a:rPr>
              <a:t>, </a:t>
            </a:r>
            <a:r>
              <a:rPr lang="en-US" b="1" dirty="0">
                <a:cs typeface="Segoe UI" panose="020B0502040204020203" pitchFamily="34" charset="0"/>
              </a:rPr>
              <a:t>NetScaler</a:t>
            </a:r>
            <a:r>
              <a:rPr lang="en-US" dirty="0">
                <a:cs typeface="Segoe UI" panose="020B0502040204020203" pitchFamily="34" charset="0"/>
              </a:rPr>
              <a:t>, </a:t>
            </a:r>
            <a:r>
              <a:rPr lang="en-US" b="1" dirty="0">
                <a:cs typeface="Segoe UI" panose="020B0502040204020203" pitchFamily="34" charset="0"/>
              </a:rPr>
              <a:t>OpenBSD</a:t>
            </a:r>
            <a:r>
              <a:rPr lang="en-US" dirty="0">
                <a:cs typeface="Segoe UI" panose="020B0502040204020203" pitchFamily="34" charset="0"/>
              </a:rPr>
              <a:t> and </a:t>
            </a:r>
            <a:r>
              <a:rPr lang="en-US" b="1" dirty="0">
                <a:cs typeface="Segoe UI" panose="020B0502040204020203" pitchFamily="34" charset="0"/>
              </a:rPr>
              <a:t>Solaris</a:t>
            </a:r>
          </a:p>
          <a:p>
            <a:pPr>
              <a:spcAft>
                <a:spcPts val="600"/>
              </a:spcAft>
              <a:defRPr/>
            </a:pPr>
            <a:r>
              <a:rPr lang="en-US" dirty="0">
                <a:cs typeface="Segoe UI" panose="020B0502040204020203" pitchFamily="34" charset="0"/>
              </a:rPr>
              <a:t>Runs everywhere with no external dependencies</a:t>
            </a:r>
          </a:p>
          <a:p>
            <a:pPr lvl="1">
              <a:spcAft>
                <a:spcPts val="600"/>
              </a:spcAft>
              <a:defRPr/>
            </a:pPr>
            <a:r>
              <a:rPr lang="en-US" sz="2800" dirty="0">
                <a:cs typeface="Segoe UI" panose="020B0502040204020203" pitchFamily="34" charset="0"/>
              </a:rPr>
              <a:t>All UAC needs is shell ( </a:t>
            </a:r>
            <a:r>
              <a:rPr lang="en-US" sz="2800" b="1" dirty="0">
                <a:cs typeface="Segoe UI" panose="020B0502040204020203" pitchFamily="34" charset="0"/>
              </a:rPr>
              <a:t>/bin/</a:t>
            </a:r>
            <a:r>
              <a:rPr lang="en-US" sz="2800" b="1" dirty="0" err="1">
                <a:cs typeface="Segoe UI" panose="020B0502040204020203" pitchFamily="34" charset="0"/>
              </a:rPr>
              <a:t>sh</a:t>
            </a:r>
            <a:r>
              <a:rPr lang="en-US" sz="2800" b="1" dirty="0">
                <a:cs typeface="Segoe UI" panose="020B0502040204020203" pitchFamily="34" charset="0"/>
              </a:rPr>
              <a:t> </a:t>
            </a:r>
            <a:r>
              <a:rPr lang="en-US" sz="2800" dirty="0">
                <a:cs typeface="Segoe UI" panose="020B0502040204020203" pitchFamily="34" charset="0"/>
              </a:rPr>
              <a:t>)</a:t>
            </a:r>
          </a:p>
          <a:p>
            <a:pPr>
              <a:spcAft>
                <a:spcPts val="600"/>
              </a:spcAft>
              <a:defRPr/>
            </a:pPr>
            <a:r>
              <a:rPr lang="en-US" dirty="0">
                <a:cs typeface="Segoe UI" panose="020B0502040204020203" pitchFamily="34" charset="0"/>
              </a:rPr>
              <a:t>Free and open source</a:t>
            </a:r>
          </a:p>
          <a:p>
            <a:pPr lvl="1">
              <a:spcAft>
                <a:spcPts val="600"/>
              </a:spcAft>
              <a:defRPr/>
            </a:pPr>
            <a:r>
              <a:rPr lang="en-US" sz="2800" dirty="0">
                <a:cs typeface="Segoe UI" panose="020B0502040204020203" pitchFamily="34" charset="0"/>
              </a:rPr>
              <a:t>Project page: </a:t>
            </a:r>
            <a:r>
              <a:rPr lang="en-US" sz="2800" b="1" dirty="0">
                <a:cs typeface="Segoe UI" panose="020B0502040204020203" pitchFamily="34" charset="0"/>
              </a:rPr>
              <a:t>github.com/</a:t>
            </a:r>
            <a:r>
              <a:rPr lang="en-US" sz="2800" b="1" dirty="0" err="1">
                <a:cs typeface="Segoe UI" panose="020B0502040204020203" pitchFamily="34" charset="0"/>
              </a:rPr>
              <a:t>tclahr</a:t>
            </a:r>
            <a:r>
              <a:rPr lang="en-US" sz="2800" b="1" dirty="0">
                <a:cs typeface="Segoe UI" panose="020B0502040204020203" pitchFamily="34" charset="0"/>
              </a:rPr>
              <a:t>/</a:t>
            </a:r>
            <a:r>
              <a:rPr lang="en-US" sz="2800" b="1" dirty="0" err="1">
                <a:cs typeface="Segoe UI" panose="020B0502040204020203" pitchFamily="34" charset="0"/>
              </a:rPr>
              <a:t>uac</a:t>
            </a:r>
            <a:endParaRPr lang="en-US" sz="2800" b="1" dirty="0">
              <a:cs typeface="Segoe UI" panose="020B0502040204020203" pitchFamily="34" charset="0"/>
            </a:endParaRPr>
          </a:p>
          <a:p>
            <a:pPr lvl="1">
              <a:spcAft>
                <a:spcPts val="600"/>
              </a:spcAft>
              <a:defRPr/>
            </a:pPr>
            <a:r>
              <a:rPr lang="en-US" sz="2800" dirty="0">
                <a:cs typeface="Segoe UI" panose="020B0502040204020203" pitchFamily="34" charset="0"/>
              </a:rPr>
              <a:t>Project documentation page: </a:t>
            </a:r>
            <a:r>
              <a:rPr lang="en-US" sz="2800" b="1" dirty="0">
                <a:cs typeface="Segoe UI" panose="020B0502040204020203" pitchFamily="34" charset="0"/>
              </a:rPr>
              <a:t>tclahr.github.io/</a:t>
            </a:r>
            <a:r>
              <a:rPr lang="en-US" sz="2800" b="1" dirty="0" err="1">
                <a:cs typeface="Segoe UI" panose="020B0502040204020203" pitchFamily="34" charset="0"/>
              </a:rPr>
              <a:t>uac</a:t>
            </a:r>
            <a:r>
              <a:rPr lang="en-US" sz="2800" b="1" dirty="0">
                <a:cs typeface="Segoe UI" panose="020B0502040204020203" pitchFamily="34" charset="0"/>
              </a:rPr>
              <a:t>-docs</a:t>
            </a:r>
          </a:p>
          <a:p>
            <a:endParaRPr lang="en-ID" dirty="0"/>
          </a:p>
        </p:txBody>
      </p:sp>
    </p:spTree>
    <p:extLst>
      <p:ext uri="{BB962C8B-B14F-4D97-AF65-F5344CB8AC3E}">
        <p14:creationId xmlns:p14="http://schemas.microsoft.com/office/powerpoint/2010/main" val="1601204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FF735-959A-32D1-0C84-B7C241876CD4}"/>
              </a:ext>
            </a:extLst>
          </p:cNvPr>
          <p:cNvSpPr>
            <a:spLocks noGrp="1"/>
          </p:cNvSpPr>
          <p:nvPr>
            <p:ph type="title"/>
          </p:nvPr>
        </p:nvSpPr>
        <p:spPr/>
        <p:txBody>
          <a:bodyPr/>
          <a:lstStyle/>
          <a:p>
            <a:r>
              <a:rPr lang="en-US" dirty="0">
                <a:cs typeface="Segoe UI Light" panose="020B0502040204020203" pitchFamily="34" charset="0"/>
              </a:rPr>
              <a:t>Behind the Scenes</a:t>
            </a:r>
            <a:endParaRPr lang="en-ID" dirty="0"/>
          </a:p>
        </p:txBody>
      </p:sp>
      <p:sp>
        <p:nvSpPr>
          <p:cNvPr id="3" name="Content Placeholder 2">
            <a:extLst>
              <a:ext uri="{FF2B5EF4-FFF2-40B4-BE49-F238E27FC236}">
                <a16:creationId xmlns:a16="http://schemas.microsoft.com/office/drawing/2014/main" id="{AF577D83-BC4C-2D8A-30B4-DD0DDA627610}"/>
              </a:ext>
            </a:extLst>
          </p:cNvPr>
          <p:cNvSpPr>
            <a:spLocks noGrp="1"/>
          </p:cNvSpPr>
          <p:nvPr>
            <p:ph idx="1"/>
          </p:nvPr>
        </p:nvSpPr>
        <p:spPr>
          <a:xfrm>
            <a:off x="838200" y="1825625"/>
            <a:ext cx="5513614" cy="4351338"/>
          </a:xfrm>
        </p:spPr>
        <p:txBody>
          <a:bodyPr/>
          <a:lstStyle/>
          <a:p>
            <a:pPr marL="0" indent="0">
              <a:buNone/>
            </a:pPr>
            <a:r>
              <a:rPr lang="en-US" b="1" dirty="0">
                <a:cs typeface="Segoe UI" panose="020B0502040204020203" pitchFamily="34" charset="0"/>
              </a:rPr>
              <a:t>How it works:</a:t>
            </a:r>
          </a:p>
          <a:p>
            <a:pPr marL="514350" indent="-514350">
              <a:buFont typeface="+mj-lt"/>
              <a:buAutoNum type="arabicPeriod"/>
            </a:pPr>
            <a:r>
              <a:rPr lang="en-US" dirty="0">
                <a:cs typeface="Segoe UI" panose="020B0502040204020203" pitchFamily="34" charset="0"/>
              </a:rPr>
              <a:t>Execute tools UAC.</a:t>
            </a:r>
            <a:endParaRPr lang="en-US" dirty="0">
              <a:cs typeface="Segoe UI"/>
            </a:endParaRPr>
          </a:p>
          <a:p>
            <a:pPr marL="514350" indent="-514350">
              <a:buFont typeface="+mj-lt"/>
              <a:buAutoNum type="arabicPeriod"/>
            </a:pPr>
            <a:r>
              <a:rPr lang="en-US" dirty="0">
                <a:cs typeface="Segoe UI" panose="020B0502040204020203" pitchFamily="34" charset="0"/>
              </a:rPr>
              <a:t>UAC program will be processing information related target Operating System.</a:t>
            </a:r>
          </a:p>
          <a:p>
            <a:pPr marL="514350" indent="-514350">
              <a:buFont typeface="+mj-lt"/>
              <a:buAutoNum type="arabicPeriod"/>
            </a:pPr>
            <a:r>
              <a:rPr lang="en-US" dirty="0">
                <a:cs typeface="Segoe UI" panose="020B0502040204020203" pitchFamily="34" charset="0"/>
              </a:rPr>
              <a:t>UAC will be process to collect artifact from list.</a:t>
            </a:r>
            <a:endParaRPr lang="en-US" dirty="0">
              <a:cs typeface="Segoe UI"/>
            </a:endParaRPr>
          </a:p>
          <a:p>
            <a:pPr marL="514350" indent="-514350">
              <a:buFont typeface="+mj-lt"/>
              <a:buAutoNum type="arabicPeriod"/>
            </a:pPr>
            <a:r>
              <a:rPr lang="en-US" dirty="0">
                <a:cs typeface="Segoe UI" panose="020B0502040204020203" pitchFamily="34" charset="0"/>
              </a:rPr>
              <a:t>Done. Enjoy your life</a:t>
            </a:r>
            <a:r>
              <a:rPr lang="en-US" dirty="0">
                <a:cs typeface="Segoe UI" panose="020B0502040204020203" pitchFamily="34" charset="0"/>
                <a:sym typeface="Wingdings" panose="05000000000000000000" pitchFamily="2" charset="2"/>
              </a:rPr>
              <a:t></a:t>
            </a:r>
            <a:endParaRPr lang="en-US" dirty="0">
              <a:cs typeface="Segoe UI" panose="020B0502040204020203" pitchFamily="34" charset="0"/>
            </a:endParaRPr>
          </a:p>
          <a:p>
            <a:endParaRPr lang="en-ID" dirty="0"/>
          </a:p>
        </p:txBody>
      </p:sp>
      <p:pic>
        <p:nvPicPr>
          <p:cNvPr id="4" name="Picture 3">
            <a:extLst>
              <a:ext uri="{FF2B5EF4-FFF2-40B4-BE49-F238E27FC236}">
                <a16:creationId xmlns:a16="http://schemas.microsoft.com/office/drawing/2014/main" id="{6E328F19-ACB0-24D7-9D01-F7BF47C7CF69}"/>
              </a:ext>
            </a:extLst>
          </p:cNvPr>
          <p:cNvPicPr>
            <a:picLocks noChangeAspect="1"/>
          </p:cNvPicPr>
          <p:nvPr/>
        </p:nvPicPr>
        <p:blipFill>
          <a:blip r:embed="rId2"/>
          <a:stretch>
            <a:fillRect/>
          </a:stretch>
        </p:blipFill>
        <p:spPr>
          <a:xfrm>
            <a:off x="6096000" y="2082006"/>
            <a:ext cx="5705475" cy="3838575"/>
          </a:xfrm>
          <a:prstGeom prst="rect">
            <a:avLst/>
          </a:prstGeom>
        </p:spPr>
      </p:pic>
    </p:spTree>
    <p:extLst>
      <p:ext uri="{BB962C8B-B14F-4D97-AF65-F5344CB8AC3E}">
        <p14:creationId xmlns:p14="http://schemas.microsoft.com/office/powerpoint/2010/main" val="36861187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5CB06-2F9C-0CA3-2F79-12D6615B497E}"/>
              </a:ext>
            </a:extLst>
          </p:cNvPr>
          <p:cNvSpPr>
            <a:spLocks noGrp="1"/>
          </p:cNvSpPr>
          <p:nvPr>
            <p:ph type="title"/>
          </p:nvPr>
        </p:nvSpPr>
        <p:spPr/>
        <p:txBody>
          <a:bodyPr/>
          <a:lstStyle/>
          <a:p>
            <a:r>
              <a:rPr lang="en-US" dirty="0">
                <a:cs typeface="Segoe UI Light" panose="020B0502040204020203" pitchFamily="34" charset="0"/>
              </a:rPr>
              <a:t>Running UAC ( Case on </a:t>
            </a:r>
            <a:r>
              <a:rPr lang="en-US" dirty="0" err="1">
                <a:cs typeface="Segoe UI Light" panose="020B0502040204020203" pitchFamily="34" charset="0"/>
              </a:rPr>
              <a:t>ESXi</a:t>
            </a:r>
            <a:r>
              <a:rPr lang="en-US" dirty="0">
                <a:cs typeface="Segoe UI Light" panose="020B0502040204020203" pitchFamily="34" charset="0"/>
              </a:rPr>
              <a:t> )</a:t>
            </a:r>
            <a:endParaRPr lang="en-ID" dirty="0"/>
          </a:p>
        </p:txBody>
      </p:sp>
      <p:sp>
        <p:nvSpPr>
          <p:cNvPr id="3" name="Content Placeholder 2">
            <a:extLst>
              <a:ext uri="{FF2B5EF4-FFF2-40B4-BE49-F238E27FC236}">
                <a16:creationId xmlns:a16="http://schemas.microsoft.com/office/drawing/2014/main" id="{3A6EB27D-A70A-F177-4F6C-D74C8E65B07B}"/>
              </a:ext>
            </a:extLst>
          </p:cNvPr>
          <p:cNvSpPr>
            <a:spLocks noGrp="1"/>
          </p:cNvSpPr>
          <p:nvPr>
            <p:ph idx="1"/>
          </p:nvPr>
        </p:nvSpPr>
        <p:spPr/>
        <p:txBody>
          <a:bodyPr>
            <a:normAutofit/>
          </a:bodyPr>
          <a:lstStyle/>
          <a:p>
            <a:pPr marL="0" indent="0">
              <a:buNone/>
            </a:pPr>
            <a:r>
              <a:rPr lang="en-US" sz="2400" b="1" dirty="0"/>
              <a:t>Play ./</a:t>
            </a:r>
            <a:r>
              <a:rPr lang="en-US" sz="2400" b="1" dirty="0" err="1"/>
              <a:t>uac</a:t>
            </a:r>
            <a:r>
              <a:rPr lang="en-US" sz="2400" b="1" dirty="0"/>
              <a:t> –p full /location-directory --operating-system </a:t>
            </a:r>
            <a:r>
              <a:rPr lang="en-US" sz="2400" b="1" dirty="0" err="1"/>
              <a:t>esxi</a:t>
            </a:r>
            <a:endParaRPr lang="en-US" sz="2400" b="1" dirty="0"/>
          </a:p>
          <a:p>
            <a:pPr marL="0" indent="0">
              <a:buNone/>
            </a:pPr>
            <a:endParaRPr lang="en-ID" sz="2400" b="1" dirty="0"/>
          </a:p>
          <a:p>
            <a:endParaRPr lang="en-ID" sz="2400" dirty="0"/>
          </a:p>
        </p:txBody>
      </p:sp>
      <p:pic>
        <p:nvPicPr>
          <p:cNvPr id="4" name="Picture 3">
            <a:extLst>
              <a:ext uri="{FF2B5EF4-FFF2-40B4-BE49-F238E27FC236}">
                <a16:creationId xmlns:a16="http://schemas.microsoft.com/office/drawing/2014/main" id="{F0524127-7588-A448-D776-AA4237FDAA18}"/>
              </a:ext>
            </a:extLst>
          </p:cNvPr>
          <p:cNvPicPr>
            <a:picLocks noChangeAspect="1"/>
          </p:cNvPicPr>
          <p:nvPr/>
        </p:nvPicPr>
        <p:blipFill>
          <a:blip r:embed="rId2"/>
          <a:stretch>
            <a:fillRect/>
          </a:stretch>
        </p:blipFill>
        <p:spPr>
          <a:xfrm>
            <a:off x="1059798" y="2382229"/>
            <a:ext cx="5856797" cy="3929671"/>
          </a:xfrm>
          <a:prstGeom prst="rect">
            <a:avLst/>
          </a:prstGeom>
        </p:spPr>
      </p:pic>
      <p:pic>
        <p:nvPicPr>
          <p:cNvPr id="5" name="Picture 4">
            <a:extLst>
              <a:ext uri="{FF2B5EF4-FFF2-40B4-BE49-F238E27FC236}">
                <a16:creationId xmlns:a16="http://schemas.microsoft.com/office/drawing/2014/main" id="{E233F2A9-6F91-49BC-2826-9DB4B97F8E66}"/>
              </a:ext>
            </a:extLst>
          </p:cNvPr>
          <p:cNvPicPr>
            <a:picLocks noChangeAspect="1"/>
          </p:cNvPicPr>
          <p:nvPr/>
        </p:nvPicPr>
        <p:blipFill>
          <a:blip r:embed="rId3"/>
          <a:stretch>
            <a:fillRect/>
          </a:stretch>
        </p:blipFill>
        <p:spPr>
          <a:xfrm>
            <a:off x="7361557" y="2382229"/>
            <a:ext cx="3547280" cy="3929671"/>
          </a:xfrm>
          <a:prstGeom prst="rect">
            <a:avLst/>
          </a:prstGeom>
        </p:spPr>
      </p:pic>
    </p:spTree>
    <p:extLst>
      <p:ext uri="{BB962C8B-B14F-4D97-AF65-F5344CB8AC3E}">
        <p14:creationId xmlns:p14="http://schemas.microsoft.com/office/powerpoint/2010/main" val="28992691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8D2B2-F355-7095-BD48-DFDF44C20D1F}"/>
              </a:ext>
            </a:extLst>
          </p:cNvPr>
          <p:cNvSpPr>
            <a:spLocks noGrp="1"/>
          </p:cNvSpPr>
          <p:nvPr>
            <p:ph type="title"/>
          </p:nvPr>
        </p:nvSpPr>
        <p:spPr/>
        <p:txBody>
          <a:bodyPr/>
          <a:lstStyle/>
          <a:p>
            <a:r>
              <a:rPr lang="en-US" dirty="0"/>
              <a:t>Artifact Collected</a:t>
            </a:r>
            <a:endParaRPr lang="en-ID" dirty="0"/>
          </a:p>
        </p:txBody>
      </p:sp>
      <p:sp>
        <p:nvSpPr>
          <p:cNvPr id="3" name="Content Placeholder 2">
            <a:extLst>
              <a:ext uri="{FF2B5EF4-FFF2-40B4-BE49-F238E27FC236}">
                <a16:creationId xmlns:a16="http://schemas.microsoft.com/office/drawing/2014/main" id="{CD15DA5E-53F6-664F-C384-492E70B36788}"/>
              </a:ext>
            </a:extLst>
          </p:cNvPr>
          <p:cNvSpPr>
            <a:spLocks noGrp="1"/>
          </p:cNvSpPr>
          <p:nvPr>
            <p:ph idx="1"/>
          </p:nvPr>
        </p:nvSpPr>
        <p:spPr/>
        <p:txBody>
          <a:bodyPr/>
          <a:lstStyle/>
          <a:p>
            <a:endParaRPr lang="en-ID" dirty="0"/>
          </a:p>
        </p:txBody>
      </p:sp>
      <p:pic>
        <p:nvPicPr>
          <p:cNvPr id="4" name="Picture 3">
            <a:extLst>
              <a:ext uri="{FF2B5EF4-FFF2-40B4-BE49-F238E27FC236}">
                <a16:creationId xmlns:a16="http://schemas.microsoft.com/office/drawing/2014/main" id="{57AEDED9-4872-3AC7-80E0-32024767F15A}"/>
              </a:ext>
            </a:extLst>
          </p:cNvPr>
          <p:cNvPicPr>
            <a:picLocks noChangeAspect="1"/>
          </p:cNvPicPr>
          <p:nvPr/>
        </p:nvPicPr>
        <p:blipFill>
          <a:blip r:embed="rId2"/>
          <a:stretch>
            <a:fillRect/>
          </a:stretch>
        </p:blipFill>
        <p:spPr>
          <a:xfrm>
            <a:off x="2247900" y="1841500"/>
            <a:ext cx="7696200" cy="2457450"/>
          </a:xfrm>
          <a:prstGeom prst="rect">
            <a:avLst/>
          </a:prstGeom>
        </p:spPr>
      </p:pic>
      <p:pic>
        <p:nvPicPr>
          <p:cNvPr id="5" name="Picture 4">
            <a:extLst>
              <a:ext uri="{FF2B5EF4-FFF2-40B4-BE49-F238E27FC236}">
                <a16:creationId xmlns:a16="http://schemas.microsoft.com/office/drawing/2014/main" id="{F44CC6DB-FF12-AD98-4877-4C05414DA6A4}"/>
              </a:ext>
            </a:extLst>
          </p:cNvPr>
          <p:cNvPicPr>
            <a:picLocks noChangeAspect="1"/>
          </p:cNvPicPr>
          <p:nvPr/>
        </p:nvPicPr>
        <p:blipFill>
          <a:blip r:embed="rId3"/>
          <a:stretch>
            <a:fillRect/>
          </a:stretch>
        </p:blipFill>
        <p:spPr>
          <a:xfrm>
            <a:off x="2581275" y="4433887"/>
            <a:ext cx="7029450" cy="1743076"/>
          </a:xfrm>
          <a:prstGeom prst="rect">
            <a:avLst/>
          </a:prstGeom>
        </p:spPr>
      </p:pic>
    </p:spTree>
    <p:extLst>
      <p:ext uri="{BB962C8B-B14F-4D97-AF65-F5344CB8AC3E}">
        <p14:creationId xmlns:p14="http://schemas.microsoft.com/office/powerpoint/2010/main" val="34388454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86ABF-1256-928C-2815-AAF340C377C4}"/>
              </a:ext>
            </a:extLst>
          </p:cNvPr>
          <p:cNvSpPr>
            <a:spLocks noGrp="1"/>
          </p:cNvSpPr>
          <p:nvPr>
            <p:ph type="title"/>
          </p:nvPr>
        </p:nvSpPr>
        <p:spPr/>
        <p:txBody>
          <a:bodyPr/>
          <a:lstStyle/>
          <a:p>
            <a:r>
              <a:rPr lang="en-US" dirty="0">
                <a:cs typeface="Segoe UI Light" panose="020B0502040204020203" pitchFamily="34" charset="0"/>
              </a:rPr>
              <a:t>Acquisition Log</a:t>
            </a:r>
            <a:endParaRPr lang="en-ID" dirty="0"/>
          </a:p>
        </p:txBody>
      </p:sp>
      <p:pic>
        <p:nvPicPr>
          <p:cNvPr id="4" name="Content Placeholder 3">
            <a:extLst>
              <a:ext uri="{FF2B5EF4-FFF2-40B4-BE49-F238E27FC236}">
                <a16:creationId xmlns:a16="http://schemas.microsoft.com/office/drawing/2014/main" id="{AAEE0F9D-C1B0-726C-F1AA-573F325C9F26}"/>
              </a:ext>
            </a:extLst>
          </p:cNvPr>
          <p:cNvPicPr>
            <a:picLocks noGrp="1" noChangeAspect="1"/>
          </p:cNvPicPr>
          <p:nvPr>
            <p:ph idx="1"/>
          </p:nvPr>
        </p:nvPicPr>
        <p:blipFill>
          <a:blip r:embed="rId2"/>
          <a:stretch>
            <a:fillRect/>
          </a:stretch>
        </p:blipFill>
        <p:spPr>
          <a:xfrm>
            <a:off x="2652712" y="1929606"/>
            <a:ext cx="6886575" cy="4143375"/>
          </a:xfrm>
          <a:prstGeom prst="rect">
            <a:avLst/>
          </a:prstGeom>
        </p:spPr>
      </p:pic>
    </p:spTree>
    <p:extLst>
      <p:ext uri="{BB962C8B-B14F-4D97-AF65-F5344CB8AC3E}">
        <p14:creationId xmlns:p14="http://schemas.microsoft.com/office/powerpoint/2010/main" val="21507089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13788-917C-49DC-C6CD-03C0E04182B5}"/>
              </a:ext>
            </a:extLst>
          </p:cNvPr>
          <p:cNvSpPr>
            <a:spLocks noGrp="1"/>
          </p:cNvSpPr>
          <p:nvPr>
            <p:ph type="title"/>
          </p:nvPr>
        </p:nvSpPr>
        <p:spPr/>
        <p:txBody>
          <a:bodyPr/>
          <a:lstStyle/>
          <a:p>
            <a:r>
              <a:rPr lang="en-US" dirty="0">
                <a:cs typeface="Segoe UI Light" panose="020B0502040204020203" pitchFamily="34" charset="0"/>
              </a:rPr>
              <a:t>Output File</a:t>
            </a:r>
            <a:endParaRPr lang="en-ID" dirty="0"/>
          </a:p>
        </p:txBody>
      </p:sp>
      <p:sp>
        <p:nvSpPr>
          <p:cNvPr id="3" name="Content Placeholder 2">
            <a:extLst>
              <a:ext uri="{FF2B5EF4-FFF2-40B4-BE49-F238E27FC236}">
                <a16:creationId xmlns:a16="http://schemas.microsoft.com/office/drawing/2014/main" id="{659E1092-37F3-115E-1C33-F23753B6DA45}"/>
              </a:ext>
            </a:extLst>
          </p:cNvPr>
          <p:cNvSpPr>
            <a:spLocks noGrp="1"/>
          </p:cNvSpPr>
          <p:nvPr>
            <p:ph idx="1"/>
          </p:nvPr>
        </p:nvSpPr>
        <p:spPr/>
        <p:txBody>
          <a:bodyPr/>
          <a:lstStyle/>
          <a:p>
            <a:endParaRPr lang="en-ID" dirty="0"/>
          </a:p>
        </p:txBody>
      </p:sp>
      <p:pic>
        <p:nvPicPr>
          <p:cNvPr id="4" name="Picture 3">
            <a:extLst>
              <a:ext uri="{FF2B5EF4-FFF2-40B4-BE49-F238E27FC236}">
                <a16:creationId xmlns:a16="http://schemas.microsoft.com/office/drawing/2014/main" id="{28B81880-A71E-DEEB-D514-3185B901C806}"/>
              </a:ext>
            </a:extLst>
          </p:cNvPr>
          <p:cNvPicPr>
            <a:picLocks noChangeAspect="1"/>
          </p:cNvPicPr>
          <p:nvPr/>
        </p:nvPicPr>
        <p:blipFill>
          <a:blip r:embed="rId2"/>
          <a:stretch>
            <a:fillRect/>
          </a:stretch>
        </p:blipFill>
        <p:spPr>
          <a:xfrm>
            <a:off x="342622" y="3074549"/>
            <a:ext cx="3317450" cy="1113888"/>
          </a:xfrm>
          <a:prstGeom prst="rect">
            <a:avLst/>
          </a:prstGeom>
        </p:spPr>
      </p:pic>
      <p:pic>
        <p:nvPicPr>
          <p:cNvPr id="5" name="Picture 4">
            <a:extLst>
              <a:ext uri="{FF2B5EF4-FFF2-40B4-BE49-F238E27FC236}">
                <a16:creationId xmlns:a16="http://schemas.microsoft.com/office/drawing/2014/main" id="{3B619031-1B84-8C89-D973-8F9ADEF3CF40}"/>
              </a:ext>
            </a:extLst>
          </p:cNvPr>
          <p:cNvPicPr>
            <a:picLocks noChangeAspect="1"/>
          </p:cNvPicPr>
          <p:nvPr/>
        </p:nvPicPr>
        <p:blipFill>
          <a:blip r:embed="rId3"/>
          <a:stretch>
            <a:fillRect/>
          </a:stretch>
        </p:blipFill>
        <p:spPr>
          <a:xfrm>
            <a:off x="3796871" y="1017040"/>
            <a:ext cx="4371975" cy="5228906"/>
          </a:xfrm>
          <a:prstGeom prst="rect">
            <a:avLst/>
          </a:prstGeom>
        </p:spPr>
      </p:pic>
      <p:pic>
        <p:nvPicPr>
          <p:cNvPr id="6" name="Picture 5">
            <a:extLst>
              <a:ext uri="{FF2B5EF4-FFF2-40B4-BE49-F238E27FC236}">
                <a16:creationId xmlns:a16="http://schemas.microsoft.com/office/drawing/2014/main" id="{466499C8-331F-8E30-BCCF-72E131D962D5}"/>
              </a:ext>
            </a:extLst>
          </p:cNvPr>
          <p:cNvPicPr>
            <a:picLocks noChangeAspect="1"/>
          </p:cNvPicPr>
          <p:nvPr/>
        </p:nvPicPr>
        <p:blipFill>
          <a:blip r:embed="rId4"/>
          <a:stretch>
            <a:fillRect/>
          </a:stretch>
        </p:blipFill>
        <p:spPr>
          <a:xfrm>
            <a:off x="8305645" y="1017040"/>
            <a:ext cx="3625038" cy="5228906"/>
          </a:xfrm>
          <a:prstGeom prst="rect">
            <a:avLst/>
          </a:prstGeom>
        </p:spPr>
      </p:pic>
    </p:spTree>
    <p:extLst>
      <p:ext uri="{BB962C8B-B14F-4D97-AF65-F5344CB8AC3E}">
        <p14:creationId xmlns:p14="http://schemas.microsoft.com/office/powerpoint/2010/main" val="11908637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C9D78-F295-6ADF-273E-73C96904D712}"/>
              </a:ext>
            </a:extLst>
          </p:cNvPr>
          <p:cNvSpPr>
            <a:spLocks noGrp="1"/>
          </p:cNvSpPr>
          <p:nvPr>
            <p:ph type="title"/>
          </p:nvPr>
        </p:nvSpPr>
        <p:spPr/>
        <p:txBody>
          <a:bodyPr/>
          <a:lstStyle/>
          <a:p>
            <a:r>
              <a:rPr lang="en-US" dirty="0"/>
              <a:t>uac.log</a:t>
            </a:r>
            <a:endParaRPr lang="en-ID" dirty="0"/>
          </a:p>
        </p:txBody>
      </p:sp>
      <p:sp>
        <p:nvSpPr>
          <p:cNvPr id="3" name="Content Placeholder 2">
            <a:extLst>
              <a:ext uri="{FF2B5EF4-FFF2-40B4-BE49-F238E27FC236}">
                <a16:creationId xmlns:a16="http://schemas.microsoft.com/office/drawing/2014/main" id="{2BC3BA18-978F-1521-10EA-1845A3BEA148}"/>
              </a:ext>
            </a:extLst>
          </p:cNvPr>
          <p:cNvSpPr>
            <a:spLocks noGrp="1"/>
          </p:cNvSpPr>
          <p:nvPr>
            <p:ph idx="1"/>
          </p:nvPr>
        </p:nvSpPr>
        <p:spPr>
          <a:xfrm>
            <a:off x="838200" y="1825625"/>
            <a:ext cx="3505200" cy="4351338"/>
          </a:xfrm>
        </p:spPr>
        <p:txBody>
          <a:bodyPr/>
          <a:lstStyle/>
          <a:p>
            <a:pPr>
              <a:spcAft>
                <a:spcPts val="600"/>
              </a:spcAft>
              <a:defRPr/>
            </a:pPr>
            <a:r>
              <a:rPr lang="en-US" b="1" dirty="0">
                <a:cs typeface="Segoe UI" panose="020B0502040204020203" pitchFamily="34" charset="0"/>
              </a:rPr>
              <a:t>Command line parameters</a:t>
            </a:r>
          </a:p>
          <a:p>
            <a:pPr>
              <a:spcAft>
                <a:spcPts val="600"/>
              </a:spcAft>
              <a:defRPr/>
            </a:pPr>
            <a:r>
              <a:rPr lang="en-US" b="1" dirty="0">
                <a:cs typeface="Segoe UI" panose="020B0502040204020203" pitchFamily="34" charset="0"/>
              </a:rPr>
              <a:t>System information</a:t>
            </a:r>
          </a:p>
          <a:p>
            <a:pPr>
              <a:spcAft>
                <a:spcPts val="600"/>
              </a:spcAft>
              <a:defRPr/>
            </a:pPr>
            <a:r>
              <a:rPr lang="en-US" b="1" dirty="0">
                <a:cs typeface="Segoe UI" panose="020B0502040204020203" pitchFamily="34" charset="0"/>
              </a:rPr>
              <a:t>Parsing artifacts</a:t>
            </a:r>
          </a:p>
          <a:p>
            <a:endParaRPr lang="en-ID" dirty="0"/>
          </a:p>
          <a:p>
            <a:endParaRPr lang="en-ID" dirty="0"/>
          </a:p>
        </p:txBody>
      </p:sp>
      <p:pic>
        <p:nvPicPr>
          <p:cNvPr id="4" name="Content Placeholder 6">
            <a:extLst>
              <a:ext uri="{FF2B5EF4-FFF2-40B4-BE49-F238E27FC236}">
                <a16:creationId xmlns:a16="http://schemas.microsoft.com/office/drawing/2014/main" id="{09EE5769-0618-EAAC-3C42-50DF6A50DD7F}"/>
              </a:ext>
            </a:extLst>
          </p:cNvPr>
          <p:cNvPicPr>
            <a:picLocks noChangeAspect="1"/>
          </p:cNvPicPr>
          <p:nvPr/>
        </p:nvPicPr>
        <p:blipFill>
          <a:blip r:embed="rId2"/>
          <a:stretch>
            <a:fillRect/>
          </a:stretch>
        </p:blipFill>
        <p:spPr>
          <a:xfrm>
            <a:off x="4683124" y="1928877"/>
            <a:ext cx="7215570" cy="4144834"/>
          </a:xfrm>
          <a:prstGeom prst="rect">
            <a:avLst/>
          </a:prstGeom>
        </p:spPr>
      </p:pic>
    </p:spTree>
    <p:extLst>
      <p:ext uri="{BB962C8B-B14F-4D97-AF65-F5344CB8AC3E}">
        <p14:creationId xmlns:p14="http://schemas.microsoft.com/office/powerpoint/2010/main" val="21662280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C2B9E-3428-966D-5452-15DB53EC2392}"/>
              </a:ext>
            </a:extLst>
          </p:cNvPr>
          <p:cNvSpPr>
            <a:spLocks noGrp="1"/>
          </p:cNvSpPr>
          <p:nvPr>
            <p:ph type="title"/>
          </p:nvPr>
        </p:nvSpPr>
        <p:spPr/>
        <p:txBody>
          <a:bodyPr/>
          <a:lstStyle/>
          <a:p>
            <a:r>
              <a:rPr lang="en-US" dirty="0"/>
              <a:t>uac.log</a:t>
            </a:r>
            <a:endParaRPr lang="en-ID" dirty="0"/>
          </a:p>
        </p:txBody>
      </p:sp>
      <p:sp>
        <p:nvSpPr>
          <p:cNvPr id="3" name="Content Placeholder 2">
            <a:extLst>
              <a:ext uri="{FF2B5EF4-FFF2-40B4-BE49-F238E27FC236}">
                <a16:creationId xmlns:a16="http://schemas.microsoft.com/office/drawing/2014/main" id="{108F8EFF-5B57-BA87-9CE2-A8EC70089FF2}"/>
              </a:ext>
            </a:extLst>
          </p:cNvPr>
          <p:cNvSpPr>
            <a:spLocks noGrp="1"/>
          </p:cNvSpPr>
          <p:nvPr>
            <p:ph idx="1"/>
          </p:nvPr>
        </p:nvSpPr>
        <p:spPr/>
        <p:txBody>
          <a:bodyPr/>
          <a:lstStyle/>
          <a:p>
            <a:r>
              <a:rPr lang="en-US" b="1" dirty="0"/>
              <a:t>Commands and parameters used during the collection</a:t>
            </a:r>
          </a:p>
          <a:p>
            <a:endParaRPr lang="en-ID" b="1" dirty="0"/>
          </a:p>
          <a:p>
            <a:endParaRPr lang="en-ID" dirty="0"/>
          </a:p>
        </p:txBody>
      </p:sp>
      <p:pic>
        <p:nvPicPr>
          <p:cNvPr id="4" name="Content Placeholder 6">
            <a:extLst>
              <a:ext uri="{FF2B5EF4-FFF2-40B4-BE49-F238E27FC236}">
                <a16:creationId xmlns:a16="http://schemas.microsoft.com/office/drawing/2014/main" id="{E808B0D9-CC2B-CFE4-6866-A1F94777186B}"/>
              </a:ext>
            </a:extLst>
          </p:cNvPr>
          <p:cNvPicPr>
            <a:picLocks noChangeAspect="1"/>
          </p:cNvPicPr>
          <p:nvPr/>
        </p:nvPicPr>
        <p:blipFill>
          <a:blip r:embed="rId2"/>
          <a:stretch>
            <a:fillRect/>
          </a:stretch>
        </p:blipFill>
        <p:spPr>
          <a:xfrm>
            <a:off x="447193" y="2571033"/>
            <a:ext cx="11297614" cy="1715933"/>
          </a:xfrm>
          <a:prstGeom prst="rect">
            <a:avLst/>
          </a:prstGeom>
        </p:spPr>
      </p:pic>
    </p:spTree>
    <p:extLst>
      <p:ext uri="{BB962C8B-B14F-4D97-AF65-F5344CB8AC3E}">
        <p14:creationId xmlns:p14="http://schemas.microsoft.com/office/powerpoint/2010/main" val="21564519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D57A1-F266-0989-896B-76E9469EF31A}"/>
              </a:ext>
            </a:extLst>
          </p:cNvPr>
          <p:cNvSpPr>
            <a:spLocks noGrp="1"/>
          </p:cNvSpPr>
          <p:nvPr>
            <p:ph type="title"/>
          </p:nvPr>
        </p:nvSpPr>
        <p:spPr/>
        <p:txBody>
          <a:bodyPr/>
          <a:lstStyle/>
          <a:p>
            <a:r>
              <a:rPr lang="en-ID" dirty="0"/>
              <a:t>Let’s Investigating! </a:t>
            </a:r>
          </a:p>
        </p:txBody>
      </p:sp>
      <p:pic>
        <p:nvPicPr>
          <p:cNvPr id="4" name="Content Placeholder 8">
            <a:extLst>
              <a:ext uri="{FF2B5EF4-FFF2-40B4-BE49-F238E27FC236}">
                <a16:creationId xmlns:a16="http://schemas.microsoft.com/office/drawing/2014/main" id="{29E36C03-A42D-1BBB-BE35-A0F2C586E3AC}"/>
              </a:ext>
            </a:extLst>
          </p:cNvPr>
          <p:cNvPicPr>
            <a:picLocks noGrp="1" noChangeAspect="1"/>
          </p:cNvPicPr>
          <p:nvPr>
            <p:ph idx="1"/>
          </p:nvPr>
        </p:nvPicPr>
        <p:blipFill>
          <a:blip r:embed="rId2"/>
          <a:stretch>
            <a:fillRect/>
          </a:stretch>
        </p:blipFill>
        <p:spPr>
          <a:xfrm>
            <a:off x="3892557" y="1825625"/>
            <a:ext cx="4406886" cy="4351338"/>
          </a:xfrm>
          <a:prstGeom prst="rect">
            <a:avLst/>
          </a:prstGeom>
        </p:spPr>
      </p:pic>
    </p:spTree>
    <p:extLst>
      <p:ext uri="{BB962C8B-B14F-4D97-AF65-F5344CB8AC3E}">
        <p14:creationId xmlns:p14="http://schemas.microsoft.com/office/powerpoint/2010/main" val="20146308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D9D9B-3FE4-AC5B-070C-BDFC0EDD4F4C}"/>
              </a:ext>
            </a:extLst>
          </p:cNvPr>
          <p:cNvSpPr>
            <a:spLocks noGrp="1"/>
          </p:cNvSpPr>
          <p:nvPr>
            <p:ph type="title"/>
          </p:nvPr>
        </p:nvSpPr>
        <p:spPr/>
        <p:txBody>
          <a:bodyPr/>
          <a:lstStyle/>
          <a:p>
            <a:r>
              <a:rPr lang="en-US" dirty="0">
                <a:cs typeface="Segoe UI Light" panose="020B0502040204020203" pitchFamily="34" charset="0"/>
              </a:rPr>
              <a:t>.</a:t>
            </a:r>
            <a:r>
              <a:rPr lang="en-US" dirty="0" err="1">
                <a:cs typeface="Segoe UI Light" panose="020B0502040204020203" pitchFamily="34" charset="0"/>
              </a:rPr>
              <a:t>ash_history</a:t>
            </a:r>
            <a:endParaRPr lang="en-ID" dirty="0"/>
          </a:p>
        </p:txBody>
      </p:sp>
      <p:sp>
        <p:nvSpPr>
          <p:cNvPr id="3" name="Content Placeholder 2">
            <a:extLst>
              <a:ext uri="{FF2B5EF4-FFF2-40B4-BE49-F238E27FC236}">
                <a16:creationId xmlns:a16="http://schemas.microsoft.com/office/drawing/2014/main" id="{F9381224-8056-0963-A6D2-224B2C916040}"/>
              </a:ext>
            </a:extLst>
          </p:cNvPr>
          <p:cNvSpPr>
            <a:spLocks noGrp="1"/>
          </p:cNvSpPr>
          <p:nvPr>
            <p:ph idx="1"/>
          </p:nvPr>
        </p:nvSpPr>
        <p:spPr>
          <a:xfrm>
            <a:off x="838200" y="1825625"/>
            <a:ext cx="3766457" cy="4351338"/>
          </a:xfrm>
        </p:spPr>
        <p:txBody>
          <a:bodyPr/>
          <a:lstStyle/>
          <a:p>
            <a:pPr>
              <a:lnSpc>
                <a:spcPct val="100000"/>
              </a:lnSpc>
              <a:spcAft>
                <a:spcPts val="600"/>
              </a:spcAft>
              <a:defRPr/>
            </a:pPr>
            <a:r>
              <a:rPr lang="en-US" dirty="0">
                <a:cs typeface="Segoe UI" panose="020B0502040204020203" pitchFamily="34" charset="0"/>
              </a:rPr>
              <a:t>Same like </a:t>
            </a:r>
            <a:r>
              <a:rPr lang="en-US" b="1" dirty="0">
                <a:cs typeface="Segoe UI" panose="020B0502040204020203" pitchFamily="34" charset="0"/>
              </a:rPr>
              <a:t>bash history</a:t>
            </a:r>
            <a:r>
              <a:rPr lang="en-US" dirty="0">
                <a:cs typeface="Segoe UI" panose="020B0502040204020203" pitchFamily="34" charset="0"/>
              </a:rPr>
              <a:t> on </a:t>
            </a:r>
            <a:r>
              <a:rPr lang="en-US" dirty="0" err="1">
                <a:cs typeface="Segoe UI" panose="020B0502040204020203" pitchFamily="34" charset="0"/>
              </a:rPr>
              <a:t>linux</a:t>
            </a:r>
            <a:endParaRPr lang="en-US" dirty="0">
              <a:cs typeface="Segoe UI" panose="020B0502040204020203" pitchFamily="34" charset="0"/>
            </a:endParaRPr>
          </a:p>
          <a:p>
            <a:pPr>
              <a:lnSpc>
                <a:spcPct val="100000"/>
              </a:lnSpc>
              <a:spcAft>
                <a:spcPts val="600"/>
              </a:spcAft>
              <a:defRPr/>
            </a:pPr>
            <a:r>
              <a:rPr lang="en-US" dirty="0">
                <a:cs typeface="Segoe UI" panose="020B0502040204020203" pitchFamily="34" charset="0"/>
              </a:rPr>
              <a:t>To see user activity</a:t>
            </a:r>
          </a:p>
          <a:p>
            <a:pPr>
              <a:lnSpc>
                <a:spcPct val="100000"/>
              </a:lnSpc>
              <a:spcAft>
                <a:spcPts val="600"/>
              </a:spcAft>
              <a:defRPr/>
            </a:pPr>
            <a:endParaRPr lang="en-US" dirty="0">
              <a:cs typeface="Segoe UI" panose="020B0502040204020203" pitchFamily="34" charset="0"/>
            </a:endParaRPr>
          </a:p>
          <a:p>
            <a:pPr>
              <a:lnSpc>
                <a:spcPct val="100000"/>
              </a:lnSpc>
            </a:pPr>
            <a:endParaRPr lang="en-ID" dirty="0"/>
          </a:p>
          <a:p>
            <a:pPr>
              <a:lnSpc>
                <a:spcPct val="100000"/>
              </a:lnSpc>
            </a:pPr>
            <a:endParaRPr lang="en-ID" dirty="0"/>
          </a:p>
        </p:txBody>
      </p:sp>
      <p:pic>
        <p:nvPicPr>
          <p:cNvPr id="4" name="Picture 3">
            <a:extLst>
              <a:ext uri="{FF2B5EF4-FFF2-40B4-BE49-F238E27FC236}">
                <a16:creationId xmlns:a16="http://schemas.microsoft.com/office/drawing/2014/main" id="{A9DFA2C9-3950-BB75-61F5-B082BAD52D9E}"/>
              </a:ext>
            </a:extLst>
          </p:cNvPr>
          <p:cNvPicPr>
            <a:picLocks noChangeAspect="1"/>
          </p:cNvPicPr>
          <p:nvPr/>
        </p:nvPicPr>
        <p:blipFill>
          <a:blip r:embed="rId2"/>
          <a:stretch>
            <a:fillRect/>
          </a:stretch>
        </p:blipFill>
        <p:spPr>
          <a:xfrm>
            <a:off x="4608426" y="1044236"/>
            <a:ext cx="7007888" cy="5252524"/>
          </a:xfrm>
          <a:prstGeom prst="rect">
            <a:avLst/>
          </a:prstGeom>
        </p:spPr>
      </p:pic>
    </p:spTree>
    <p:extLst>
      <p:ext uri="{BB962C8B-B14F-4D97-AF65-F5344CB8AC3E}">
        <p14:creationId xmlns:p14="http://schemas.microsoft.com/office/powerpoint/2010/main" val="11766225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C6B38-A047-1FFE-9C6E-1D02BB378BEA}"/>
              </a:ext>
            </a:extLst>
          </p:cNvPr>
          <p:cNvSpPr>
            <a:spLocks noGrp="1"/>
          </p:cNvSpPr>
          <p:nvPr>
            <p:ph type="title"/>
          </p:nvPr>
        </p:nvSpPr>
        <p:spPr/>
        <p:txBody>
          <a:bodyPr/>
          <a:lstStyle/>
          <a:p>
            <a:r>
              <a:rPr lang="en-US" dirty="0"/>
              <a:t>Auth.log</a:t>
            </a:r>
            <a:endParaRPr lang="en-ID" dirty="0"/>
          </a:p>
        </p:txBody>
      </p:sp>
      <p:sp>
        <p:nvSpPr>
          <p:cNvPr id="3" name="Content Placeholder 2">
            <a:extLst>
              <a:ext uri="{FF2B5EF4-FFF2-40B4-BE49-F238E27FC236}">
                <a16:creationId xmlns:a16="http://schemas.microsoft.com/office/drawing/2014/main" id="{C6F67AE8-2333-92EE-CA94-FBEC117BE1C2}"/>
              </a:ext>
            </a:extLst>
          </p:cNvPr>
          <p:cNvSpPr>
            <a:spLocks noGrp="1"/>
          </p:cNvSpPr>
          <p:nvPr>
            <p:ph idx="1"/>
          </p:nvPr>
        </p:nvSpPr>
        <p:spPr>
          <a:xfrm>
            <a:off x="838201" y="1825625"/>
            <a:ext cx="3436000" cy="4351338"/>
          </a:xfrm>
        </p:spPr>
        <p:txBody>
          <a:bodyPr/>
          <a:lstStyle/>
          <a:p>
            <a:pPr>
              <a:lnSpc>
                <a:spcPct val="100000"/>
              </a:lnSpc>
              <a:spcAft>
                <a:spcPts val="600"/>
              </a:spcAft>
              <a:defRPr/>
            </a:pPr>
            <a:r>
              <a:rPr lang="en-US" dirty="0" err="1">
                <a:cs typeface="Segoe UI" panose="020B0502040204020203" pitchFamily="34" charset="0"/>
              </a:rPr>
              <a:t>Bruteforce</a:t>
            </a:r>
            <a:r>
              <a:rPr lang="en-US" dirty="0">
                <a:cs typeface="Segoe UI" panose="020B0502040204020203" pitchFamily="34" charset="0"/>
              </a:rPr>
              <a:t> activity</a:t>
            </a:r>
          </a:p>
          <a:p>
            <a:pPr>
              <a:lnSpc>
                <a:spcPct val="100000"/>
              </a:lnSpc>
              <a:spcAft>
                <a:spcPts val="600"/>
              </a:spcAft>
              <a:defRPr/>
            </a:pPr>
            <a:r>
              <a:rPr lang="en-US" dirty="0">
                <a:cs typeface="Segoe UI" panose="020B0502040204020203" pitchFamily="34" charset="0"/>
              </a:rPr>
              <a:t>User login</a:t>
            </a:r>
          </a:p>
          <a:p>
            <a:pPr>
              <a:lnSpc>
                <a:spcPct val="100000"/>
              </a:lnSpc>
              <a:spcAft>
                <a:spcPts val="600"/>
              </a:spcAft>
              <a:defRPr/>
            </a:pPr>
            <a:r>
              <a:rPr lang="en-US" dirty="0">
                <a:cs typeface="Segoe UI" panose="020B0502040204020203" pitchFamily="34" charset="0"/>
              </a:rPr>
              <a:t>Create user backdoor ( in case machine compromised )</a:t>
            </a:r>
          </a:p>
          <a:p>
            <a:pPr>
              <a:lnSpc>
                <a:spcPct val="100000"/>
              </a:lnSpc>
            </a:pPr>
            <a:endParaRPr lang="en-ID" dirty="0"/>
          </a:p>
          <a:p>
            <a:pPr>
              <a:lnSpc>
                <a:spcPct val="100000"/>
              </a:lnSpc>
            </a:pPr>
            <a:endParaRPr lang="en-ID" dirty="0"/>
          </a:p>
        </p:txBody>
      </p:sp>
      <p:pic>
        <p:nvPicPr>
          <p:cNvPr id="4" name="Picture 3">
            <a:extLst>
              <a:ext uri="{FF2B5EF4-FFF2-40B4-BE49-F238E27FC236}">
                <a16:creationId xmlns:a16="http://schemas.microsoft.com/office/drawing/2014/main" id="{7C9F23F8-DDF1-004C-C3B3-330E51C0E529}"/>
              </a:ext>
            </a:extLst>
          </p:cNvPr>
          <p:cNvPicPr>
            <a:picLocks noChangeAspect="1"/>
          </p:cNvPicPr>
          <p:nvPr/>
        </p:nvPicPr>
        <p:blipFill>
          <a:blip r:embed="rId2"/>
          <a:stretch>
            <a:fillRect/>
          </a:stretch>
        </p:blipFill>
        <p:spPr>
          <a:xfrm>
            <a:off x="4404829" y="2126774"/>
            <a:ext cx="7457952" cy="3749040"/>
          </a:xfrm>
          <a:prstGeom prst="rect">
            <a:avLst/>
          </a:prstGeom>
        </p:spPr>
      </p:pic>
    </p:spTree>
    <p:extLst>
      <p:ext uri="{BB962C8B-B14F-4D97-AF65-F5344CB8AC3E}">
        <p14:creationId xmlns:p14="http://schemas.microsoft.com/office/powerpoint/2010/main" val="24042382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08554-F40E-AD83-E609-C4BEC5B3957D}"/>
              </a:ext>
            </a:extLst>
          </p:cNvPr>
          <p:cNvSpPr>
            <a:spLocks noGrp="1"/>
          </p:cNvSpPr>
          <p:nvPr>
            <p:ph type="title"/>
          </p:nvPr>
        </p:nvSpPr>
        <p:spPr/>
        <p:txBody>
          <a:bodyPr/>
          <a:lstStyle/>
          <a:p>
            <a:r>
              <a:rPr lang="en-US" dirty="0"/>
              <a:t>Hidden Files</a:t>
            </a:r>
            <a:endParaRPr lang="en-ID" dirty="0"/>
          </a:p>
        </p:txBody>
      </p:sp>
      <p:sp>
        <p:nvSpPr>
          <p:cNvPr id="3" name="Content Placeholder 2">
            <a:extLst>
              <a:ext uri="{FF2B5EF4-FFF2-40B4-BE49-F238E27FC236}">
                <a16:creationId xmlns:a16="http://schemas.microsoft.com/office/drawing/2014/main" id="{DB5B0512-3AC9-3DA0-C4E6-BE4E9A0ADECB}"/>
              </a:ext>
            </a:extLst>
          </p:cNvPr>
          <p:cNvSpPr>
            <a:spLocks noGrp="1"/>
          </p:cNvSpPr>
          <p:nvPr>
            <p:ph idx="1"/>
          </p:nvPr>
        </p:nvSpPr>
        <p:spPr>
          <a:xfrm>
            <a:off x="838200" y="1825625"/>
            <a:ext cx="2950029" cy="4351338"/>
          </a:xfrm>
        </p:spPr>
        <p:txBody>
          <a:bodyPr/>
          <a:lstStyle/>
          <a:p>
            <a:pPr>
              <a:lnSpc>
                <a:spcPct val="100000"/>
              </a:lnSpc>
            </a:pPr>
            <a:r>
              <a:rPr lang="en-US" dirty="0"/>
              <a:t>Image, Doc, Executable file ( Include Malware )</a:t>
            </a:r>
          </a:p>
          <a:p>
            <a:pPr>
              <a:lnSpc>
                <a:spcPct val="100000"/>
              </a:lnSpc>
            </a:pPr>
            <a:r>
              <a:rPr lang="en-US" dirty="0"/>
              <a:t>Hidden Miners ( </a:t>
            </a:r>
            <a:r>
              <a:rPr lang="en-US" dirty="0" err="1"/>
              <a:t>Cryptomining</a:t>
            </a:r>
            <a:r>
              <a:rPr lang="en-US" dirty="0"/>
              <a:t> )</a:t>
            </a:r>
            <a:endParaRPr lang="en-ID" dirty="0"/>
          </a:p>
          <a:p>
            <a:pPr>
              <a:lnSpc>
                <a:spcPct val="100000"/>
              </a:lnSpc>
            </a:pPr>
            <a:endParaRPr lang="en-ID" dirty="0"/>
          </a:p>
        </p:txBody>
      </p:sp>
      <p:pic>
        <p:nvPicPr>
          <p:cNvPr id="4" name="Picture 3">
            <a:extLst>
              <a:ext uri="{FF2B5EF4-FFF2-40B4-BE49-F238E27FC236}">
                <a16:creationId xmlns:a16="http://schemas.microsoft.com/office/drawing/2014/main" id="{50D7C383-EB06-5FB9-2C5A-8016E7C2046A}"/>
              </a:ext>
            </a:extLst>
          </p:cNvPr>
          <p:cNvPicPr>
            <a:picLocks noChangeAspect="1"/>
          </p:cNvPicPr>
          <p:nvPr/>
        </p:nvPicPr>
        <p:blipFill>
          <a:blip r:embed="rId2"/>
          <a:stretch>
            <a:fillRect/>
          </a:stretch>
        </p:blipFill>
        <p:spPr>
          <a:xfrm>
            <a:off x="3916038" y="1478962"/>
            <a:ext cx="7880676" cy="4746988"/>
          </a:xfrm>
          <a:prstGeom prst="rect">
            <a:avLst/>
          </a:prstGeom>
        </p:spPr>
      </p:pic>
    </p:spTree>
    <p:extLst>
      <p:ext uri="{BB962C8B-B14F-4D97-AF65-F5344CB8AC3E}">
        <p14:creationId xmlns:p14="http://schemas.microsoft.com/office/powerpoint/2010/main" val="11985637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4890A-BBBD-9CBC-F8F2-3D401CDCFEAE}"/>
              </a:ext>
            </a:extLst>
          </p:cNvPr>
          <p:cNvSpPr>
            <a:spLocks noGrp="1"/>
          </p:cNvSpPr>
          <p:nvPr>
            <p:ph type="title"/>
          </p:nvPr>
        </p:nvSpPr>
        <p:spPr/>
        <p:txBody>
          <a:bodyPr/>
          <a:lstStyle/>
          <a:p>
            <a:r>
              <a:rPr lang="en-US" dirty="0">
                <a:cs typeface="Segoe UI Light" panose="020B0502040204020203" pitchFamily="34" charset="0"/>
              </a:rPr>
              <a:t>Activity Network Connection</a:t>
            </a:r>
            <a:endParaRPr lang="en-ID" dirty="0"/>
          </a:p>
        </p:txBody>
      </p:sp>
      <p:sp>
        <p:nvSpPr>
          <p:cNvPr id="3" name="Content Placeholder 2">
            <a:extLst>
              <a:ext uri="{FF2B5EF4-FFF2-40B4-BE49-F238E27FC236}">
                <a16:creationId xmlns:a16="http://schemas.microsoft.com/office/drawing/2014/main" id="{9FA34F8F-A9A2-C8BE-6A5A-0641C88E612D}"/>
              </a:ext>
            </a:extLst>
          </p:cNvPr>
          <p:cNvSpPr>
            <a:spLocks noGrp="1"/>
          </p:cNvSpPr>
          <p:nvPr>
            <p:ph idx="1"/>
          </p:nvPr>
        </p:nvSpPr>
        <p:spPr>
          <a:xfrm>
            <a:off x="838200" y="1825625"/>
            <a:ext cx="3831771" cy="4351338"/>
          </a:xfrm>
        </p:spPr>
        <p:txBody>
          <a:bodyPr/>
          <a:lstStyle/>
          <a:p>
            <a:pPr>
              <a:lnSpc>
                <a:spcPct val="100000"/>
              </a:lnSpc>
              <a:spcAft>
                <a:spcPts val="600"/>
              </a:spcAft>
              <a:defRPr/>
            </a:pPr>
            <a:r>
              <a:rPr lang="en-US" dirty="0">
                <a:cs typeface="Segoe UI" panose="020B0502040204020203" pitchFamily="34" charset="0"/>
              </a:rPr>
              <a:t>Command &amp; Control Communication</a:t>
            </a:r>
          </a:p>
          <a:p>
            <a:pPr>
              <a:lnSpc>
                <a:spcPct val="100000"/>
              </a:lnSpc>
              <a:spcAft>
                <a:spcPts val="600"/>
              </a:spcAft>
              <a:defRPr/>
            </a:pPr>
            <a:r>
              <a:rPr lang="en-US" dirty="0">
                <a:cs typeface="Segoe UI" panose="020B0502040204020203" pitchFamily="34" charset="0"/>
              </a:rPr>
              <a:t>Running Process</a:t>
            </a:r>
            <a:endParaRPr lang="en-ID" dirty="0"/>
          </a:p>
          <a:p>
            <a:pPr>
              <a:lnSpc>
                <a:spcPct val="100000"/>
              </a:lnSpc>
            </a:pPr>
            <a:endParaRPr lang="en-ID" dirty="0"/>
          </a:p>
        </p:txBody>
      </p:sp>
      <p:pic>
        <p:nvPicPr>
          <p:cNvPr id="4" name="Picture 3">
            <a:extLst>
              <a:ext uri="{FF2B5EF4-FFF2-40B4-BE49-F238E27FC236}">
                <a16:creationId xmlns:a16="http://schemas.microsoft.com/office/drawing/2014/main" id="{0C2192D1-0F15-37CA-5857-B7711373FBD5}"/>
              </a:ext>
            </a:extLst>
          </p:cNvPr>
          <p:cNvPicPr>
            <a:picLocks noChangeAspect="1"/>
          </p:cNvPicPr>
          <p:nvPr/>
        </p:nvPicPr>
        <p:blipFill>
          <a:blip r:embed="rId2"/>
          <a:stretch>
            <a:fillRect/>
          </a:stretch>
        </p:blipFill>
        <p:spPr>
          <a:xfrm>
            <a:off x="4686300" y="1487401"/>
            <a:ext cx="7037198" cy="4820194"/>
          </a:xfrm>
          <a:prstGeom prst="rect">
            <a:avLst/>
          </a:prstGeom>
        </p:spPr>
      </p:pic>
    </p:spTree>
    <p:extLst>
      <p:ext uri="{BB962C8B-B14F-4D97-AF65-F5344CB8AC3E}">
        <p14:creationId xmlns:p14="http://schemas.microsoft.com/office/powerpoint/2010/main" val="20084655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5D4B-B354-9633-3C9D-AE95F5E74BF3}"/>
              </a:ext>
            </a:extLst>
          </p:cNvPr>
          <p:cNvSpPr>
            <a:spLocks noGrp="1"/>
          </p:cNvSpPr>
          <p:nvPr>
            <p:ph type="title"/>
          </p:nvPr>
        </p:nvSpPr>
        <p:spPr/>
        <p:txBody>
          <a:bodyPr/>
          <a:lstStyle/>
          <a:p>
            <a:r>
              <a:rPr lang="en-US" dirty="0">
                <a:cs typeface="Segoe UI Light" panose="020B0502040204020203" pitchFamily="34" charset="0"/>
              </a:rPr>
              <a:t>Hash Executables ( MD5 )</a:t>
            </a:r>
            <a:endParaRPr lang="en-ID" dirty="0"/>
          </a:p>
        </p:txBody>
      </p:sp>
      <p:sp>
        <p:nvSpPr>
          <p:cNvPr id="3" name="Content Placeholder 2">
            <a:extLst>
              <a:ext uri="{FF2B5EF4-FFF2-40B4-BE49-F238E27FC236}">
                <a16:creationId xmlns:a16="http://schemas.microsoft.com/office/drawing/2014/main" id="{2F8695E4-D409-99FC-ACE3-A9330A7D3046}"/>
              </a:ext>
            </a:extLst>
          </p:cNvPr>
          <p:cNvSpPr>
            <a:spLocks noGrp="1"/>
          </p:cNvSpPr>
          <p:nvPr>
            <p:ph idx="1"/>
          </p:nvPr>
        </p:nvSpPr>
        <p:spPr>
          <a:xfrm>
            <a:off x="838200" y="1825625"/>
            <a:ext cx="3554186" cy="4351338"/>
          </a:xfrm>
        </p:spPr>
        <p:txBody>
          <a:bodyPr/>
          <a:lstStyle/>
          <a:p>
            <a:r>
              <a:rPr lang="en-US" dirty="0"/>
              <a:t>Used for verification in platform Threat Intelligence </a:t>
            </a:r>
          </a:p>
          <a:p>
            <a:endParaRPr lang="en-ID" dirty="0"/>
          </a:p>
          <a:p>
            <a:endParaRPr lang="en-ID" dirty="0"/>
          </a:p>
        </p:txBody>
      </p:sp>
      <p:pic>
        <p:nvPicPr>
          <p:cNvPr id="4" name="Picture 3">
            <a:extLst>
              <a:ext uri="{FF2B5EF4-FFF2-40B4-BE49-F238E27FC236}">
                <a16:creationId xmlns:a16="http://schemas.microsoft.com/office/drawing/2014/main" id="{458F820F-B925-ABC4-9D7E-19DA1E4A09E1}"/>
              </a:ext>
            </a:extLst>
          </p:cNvPr>
          <p:cNvPicPr>
            <a:picLocks noChangeAspect="1"/>
          </p:cNvPicPr>
          <p:nvPr/>
        </p:nvPicPr>
        <p:blipFill>
          <a:blip r:embed="rId2"/>
          <a:stretch>
            <a:fillRect/>
          </a:stretch>
        </p:blipFill>
        <p:spPr>
          <a:xfrm>
            <a:off x="4274913" y="1670275"/>
            <a:ext cx="7637236" cy="4506688"/>
          </a:xfrm>
          <a:prstGeom prst="rect">
            <a:avLst/>
          </a:prstGeom>
        </p:spPr>
      </p:pic>
    </p:spTree>
    <p:extLst>
      <p:ext uri="{BB962C8B-B14F-4D97-AF65-F5344CB8AC3E}">
        <p14:creationId xmlns:p14="http://schemas.microsoft.com/office/powerpoint/2010/main" val="38062747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8BFBF-488F-4F85-E326-645CF2B267EC}"/>
              </a:ext>
            </a:extLst>
          </p:cNvPr>
          <p:cNvSpPr>
            <a:spLocks noGrp="1"/>
          </p:cNvSpPr>
          <p:nvPr>
            <p:ph type="title"/>
          </p:nvPr>
        </p:nvSpPr>
        <p:spPr/>
        <p:txBody>
          <a:bodyPr/>
          <a:lstStyle/>
          <a:p>
            <a:r>
              <a:rPr lang="en-US" dirty="0">
                <a:cs typeface="Segoe UI Light" panose="020B0502040204020203" pitchFamily="34" charset="0"/>
              </a:rPr>
              <a:t>System Process List</a:t>
            </a:r>
            <a:endParaRPr lang="en-ID" dirty="0"/>
          </a:p>
        </p:txBody>
      </p:sp>
      <p:sp>
        <p:nvSpPr>
          <p:cNvPr id="3" name="Content Placeholder 2">
            <a:extLst>
              <a:ext uri="{FF2B5EF4-FFF2-40B4-BE49-F238E27FC236}">
                <a16:creationId xmlns:a16="http://schemas.microsoft.com/office/drawing/2014/main" id="{BF4E00D0-D1A2-49E1-A84C-5A2734EDE22C}"/>
              </a:ext>
            </a:extLst>
          </p:cNvPr>
          <p:cNvSpPr>
            <a:spLocks noGrp="1"/>
          </p:cNvSpPr>
          <p:nvPr>
            <p:ph idx="1"/>
          </p:nvPr>
        </p:nvSpPr>
        <p:spPr/>
        <p:txBody>
          <a:bodyPr/>
          <a:lstStyle/>
          <a:p>
            <a:r>
              <a:rPr lang="en-ID" dirty="0"/>
              <a:t>Malicious Process</a:t>
            </a:r>
          </a:p>
          <a:p>
            <a:endParaRPr lang="en-ID" dirty="0"/>
          </a:p>
          <a:p>
            <a:endParaRPr lang="en-ID" dirty="0"/>
          </a:p>
        </p:txBody>
      </p:sp>
      <p:pic>
        <p:nvPicPr>
          <p:cNvPr id="4" name="Picture 3">
            <a:extLst>
              <a:ext uri="{FF2B5EF4-FFF2-40B4-BE49-F238E27FC236}">
                <a16:creationId xmlns:a16="http://schemas.microsoft.com/office/drawing/2014/main" id="{BD17B7D7-73CD-C3CF-0DED-7C97B567F539}"/>
              </a:ext>
            </a:extLst>
          </p:cNvPr>
          <p:cNvPicPr>
            <a:picLocks noChangeAspect="1"/>
          </p:cNvPicPr>
          <p:nvPr/>
        </p:nvPicPr>
        <p:blipFill>
          <a:blip r:embed="rId2"/>
          <a:stretch>
            <a:fillRect/>
          </a:stretch>
        </p:blipFill>
        <p:spPr>
          <a:xfrm>
            <a:off x="4120474" y="1825625"/>
            <a:ext cx="7609446" cy="3696788"/>
          </a:xfrm>
          <a:prstGeom prst="rect">
            <a:avLst/>
          </a:prstGeom>
        </p:spPr>
      </p:pic>
      <p:pic>
        <p:nvPicPr>
          <p:cNvPr id="5" name="Picture 4">
            <a:extLst>
              <a:ext uri="{FF2B5EF4-FFF2-40B4-BE49-F238E27FC236}">
                <a16:creationId xmlns:a16="http://schemas.microsoft.com/office/drawing/2014/main" id="{A6D2A35A-05C6-7A75-A897-509CA9F45C57}"/>
              </a:ext>
            </a:extLst>
          </p:cNvPr>
          <p:cNvPicPr>
            <a:picLocks noChangeAspect="1"/>
          </p:cNvPicPr>
          <p:nvPr/>
        </p:nvPicPr>
        <p:blipFill>
          <a:blip r:embed="rId3"/>
          <a:stretch>
            <a:fillRect/>
          </a:stretch>
        </p:blipFill>
        <p:spPr>
          <a:xfrm>
            <a:off x="4002884" y="5611916"/>
            <a:ext cx="7844626" cy="507470"/>
          </a:xfrm>
          <a:prstGeom prst="rect">
            <a:avLst/>
          </a:prstGeom>
        </p:spPr>
      </p:pic>
    </p:spTree>
    <p:extLst>
      <p:ext uri="{BB962C8B-B14F-4D97-AF65-F5344CB8AC3E}">
        <p14:creationId xmlns:p14="http://schemas.microsoft.com/office/powerpoint/2010/main" val="41626386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7577C8-C21E-1E1C-ADE7-32A59D95DAC5}"/>
              </a:ext>
            </a:extLst>
          </p:cNvPr>
          <p:cNvSpPr>
            <a:spLocks noGrp="1"/>
          </p:cNvSpPr>
          <p:nvPr>
            <p:ph type="title"/>
          </p:nvPr>
        </p:nvSpPr>
        <p:spPr/>
        <p:txBody>
          <a:bodyPr/>
          <a:lstStyle/>
          <a:p>
            <a:r>
              <a:rPr lang="en-GB" b="1" dirty="0"/>
              <a:t>Lab : </a:t>
            </a:r>
            <a:r>
              <a:rPr lang="en-GB" b="1" dirty="0" err="1"/>
              <a:t>Analyzing</a:t>
            </a:r>
            <a:r>
              <a:rPr lang="en-GB" b="1" dirty="0"/>
              <a:t> Linux Bash History</a:t>
            </a:r>
            <a:endParaRPr lang="en-ID" b="1" dirty="0"/>
          </a:p>
        </p:txBody>
      </p:sp>
      <p:sp>
        <p:nvSpPr>
          <p:cNvPr id="5" name="Text Placeholder 4">
            <a:extLst>
              <a:ext uri="{FF2B5EF4-FFF2-40B4-BE49-F238E27FC236}">
                <a16:creationId xmlns:a16="http://schemas.microsoft.com/office/drawing/2014/main" id="{12BCDC7E-552B-C858-3258-932B06260161}"/>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6968942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C8E60-A3F9-EC93-FCCF-8ADC3B420648}"/>
              </a:ext>
            </a:extLst>
          </p:cNvPr>
          <p:cNvSpPr>
            <a:spLocks noGrp="1"/>
          </p:cNvSpPr>
          <p:nvPr>
            <p:ph type="title"/>
          </p:nvPr>
        </p:nvSpPr>
        <p:spPr/>
        <p:txBody>
          <a:bodyPr/>
          <a:lstStyle/>
          <a:p>
            <a:r>
              <a:rPr lang="en-GB" dirty="0"/>
              <a:t>Lab - </a:t>
            </a:r>
            <a:r>
              <a:rPr lang="en-GB" dirty="0" err="1"/>
              <a:t>Analyzing</a:t>
            </a:r>
            <a:r>
              <a:rPr lang="en-GB" dirty="0"/>
              <a:t> Linux Bash History</a:t>
            </a:r>
            <a:endParaRPr lang="en-ID" dirty="0"/>
          </a:p>
        </p:txBody>
      </p:sp>
      <p:sp>
        <p:nvSpPr>
          <p:cNvPr id="3" name="Content Placeholder 2">
            <a:extLst>
              <a:ext uri="{FF2B5EF4-FFF2-40B4-BE49-F238E27FC236}">
                <a16:creationId xmlns:a16="http://schemas.microsoft.com/office/drawing/2014/main" id="{2A4BD905-99BA-6650-1993-1248D211F38B}"/>
              </a:ext>
            </a:extLst>
          </p:cNvPr>
          <p:cNvSpPr>
            <a:spLocks noGrp="1"/>
          </p:cNvSpPr>
          <p:nvPr>
            <p:ph idx="1"/>
          </p:nvPr>
        </p:nvSpPr>
        <p:spPr/>
        <p:txBody>
          <a:bodyPr/>
          <a:lstStyle/>
          <a:p>
            <a:r>
              <a:rPr lang="en-GB" dirty="0">
                <a:ea typeface="Calibri" panose="020F0502020204030204" pitchFamily="34" charset="0"/>
                <a:cs typeface="Times New Roman" panose="02020603050405020304" pitchFamily="18" charset="0"/>
              </a:rPr>
              <a:t>Please Explain line by line bash history shown below </a:t>
            </a:r>
            <a:endParaRPr lang="en-US" dirty="0">
              <a:ea typeface="Calibri" panose="020F0502020204030204" pitchFamily="34" charset="0"/>
              <a:cs typeface="Times New Roman" panose="02020603050405020304" pitchFamily="18" charset="0"/>
            </a:endParaRPr>
          </a:p>
          <a:p>
            <a:endParaRPr lang="en-US" dirty="0"/>
          </a:p>
          <a:p>
            <a:endParaRPr lang="en-ID" dirty="0"/>
          </a:p>
        </p:txBody>
      </p:sp>
      <p:pic>
        <p:nvPicPr>
          <p:cNvPr id="4" name="Picture 3">
            <a:extLst>
              <a:ext uri="{FF2B5EF4-FFF2-40B4-BE49-F238E27FC236}">
                <a16:creationId xmlns:a16="http://schemas.microsoft.com/office/drawing/2014/main" id="{38FAF0A8-7CF7-3BA7-0AB0-39F76E2F120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89042" y="2278149"/>
            <a:ext cx="7013915" cy="4033751"/>
          </a:xfrm>
          <a:prstGeom prst="rect">
            <a:avLst/>
          </a:prstGeom>
          <a:noFill/>
          <a:ln>
            <a:noFill/>
          </a:ln>
        </p:spPr>
      </p:pic>
    </p:spTree>
    <p:extLst>
      <p:ext uri="{BB962C8B-B14F-4D97-AF65-F5344CB8AC3E}">
        <p14:creationId xmlns:p14="http://schemas.microsoft.com/office/powerpoint/2010/main" val="9520215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8E9A9-F00B-C0B7-A8F6-521F9D372898}"/>
              </a:ext>
            </a:extLst>
          </p:cNvPr>
          <p:cNvSpPr>
            <a:spLocks noGrp="1"/>
          </p:cNvSpPr>
          <p:nvPr>
            <p:ph type="title"/>
          </p:nvPr>
        </p:nvSpPr>
        <p:spPr/>
        <p:txBody>
          <a:bodyPr/>
          <a:lstStyle/>
          <a:p>
            <a:r>
              <a:rPr lang="en-GB" dirty="0"/>
              <a:t>Lab - </a:t>
            </a:r>
            <a:r>
              <a:rPr lang="en-GB" dirty="0" err="1"/>
              <a:t>Analyzing</a:t>
            </a:r>
            <a:r>
              <a:rPr lang="en-GB" dirty="0"/>
              <a:t> Linux Bash History</a:t>
            </a:r>
            <a:endParaRPr lang="en-ID" dirty="0"/>
          </a:p>
        </p:txBody>
      </p:sp>
      <p:sp>
        <p:nvSpPr>
          <p:cNvPr id="3" name="Content Placeholder 2">
            <a:extLst>
              <a:ext uri="{FF2B5EF4-FFF2-40B4-BE49-F238E27FC236}">
                <a16:creationId xmlns:a16="http://schemas.microsoft.com/office/drawing/2014/main" id="{FCBC5C4F-53F7-609D-018B-4138A39BCEEC}"/>
              </a:ext>
            </a:extLst>
          </p:cNvPr>
          <p:cNvSpPr>
            <a:spLocks noGrp="1"/>
          </p:cNvSpPr>
          <p:nvPr>
            <p:ph idx="1"/>
          </p:nvPr>
        </p:nvSpPr>
        <p:spPr/>
        <p:txBody>
          <a:bodyPr/>
          <a:lstStyle/>
          <a:p>
            <a:pPr marL="0" lvl="0" indent="0">
              <a:lnSpc>
                <a:spcPct val="150000"/>
              </a:lnSpc>
              <a:spcBef>
                <a:spcPts val="0"/>
              </a:spcBef>
              <a:buClr>
                <a:schemeClr val="dk1"/>
              </a:buClr>
              <a:buSzPts val="2800"/>
              <a:buNone/>
            </a:pPr>
            <a:r>
              <a:rPr lang="en-GB" b="1" dirty="0">
                <a:solidFill>
                  <a:schemeClr val="dk1"/>
                </a:solidFill>
                <a:ea typeface="Georgia"/>
                <a:cs typeface="Georgia"/>
                <a:sym typeface="Georgia"/>
              </a:rPr>
              <a:t>Writeup File will be uploaded in </a:t>
            </a:r>
            <a:r>
              <a:rPr lang="en-GB" b="1" dirty="0" err="1">
                <a:solidFill>
                  <a:schemeClr val="dk1"/>
                </a:solidFill>
                <a:ea typeface="Georgia"/>
                <a:cs typeface="Georgia"/>
                <a:sym typeface="Georgia"/>
              </a:rPr>
              <a:t>Gdrive</a:t>
            </a:r>
            <a:r>
              <a:rPr lang="en-GB" b="1" dirty="0">
                <a:solidFill>
                  <a:schemeClr val="dk1"/>
                </a:solidFill>
                <a:ea typeface="Georgia"/>
                <a:cs typeface="Georgia"/>
                <a:sym typeface="Georgia"/>
              </a:rPr>
              <a:t> :</a:t>
            </a:r>
            <a:endParaRPr lang="en-GB" sz="1400" dirty="0">
              <a:solidFill>
                <a:srgbClr val="000000"/>
              </a:solidFill>
              <a:ea typeface="Arial"/>
              <a:cs typeface="Arial"/>
              <a:sym typeface="Arial"/>
            </a:endParaRPr>
          </a:p>
          <a:p>
            <a:pPr marL="0" lvl="0" indent="0">
              <a:lnSpc>
                <a:spcPct val="150000"/>
              </a:lnSpc>
              <a:buClr>
                <a:schemeClr val="dk1"/>
              </a:buClr>
              <a:buSzPts val="2800"/>
              <a:buNone/>
            </a:pPr>
            <a:r>
              <a:rPr lang="en-GB" b="1" dirty="0">
                <a:solidFill>
                  <a:schemeClr val="dk1"/>
                </a:solidFill>
                <a:ea typeface="Georgia"/>
                <a:cs typeface="Georgia"/>
                <a:sym typeface="Georgia"/>
              </a:rPr>
              <a:t>Lab Writeup – </a:t>
            </a:r>
            <a:r>
              <a:rPr lang="en-GB" b="1" dirty="0" err="1">
                <a:solidFill>
                  <a:schemeClr val="dk1"/>
                </a:solidFill>
                <a:ea typeface="Georgia"/>
                <a:cs typeface="Georgia"/>
                <a:sym typeface="Georgia"/>
              </a:rPr>
              <a:t>Analyzing</a:t>
            </a:r>
            <a:r>
              <a:rPr lang="en-GB" b="1" dirty="0">
                <a:solidFill>
                  <a:schemeClr val="dk1"/>
                </a:solidFill>
                <a:ea typeface="Georgia"/>
                <a:cs typeface="Georgia"/>
                <a:sym typeface="Georgia"/>
              </a:rPr>
              <a:t> Linux Bash History.docx</a:t>
            </a:r>
            <a:endParaRPr lang="en-GB" dirty="0">
              <a:solidFill>
                <a:schemeClr val="dk1"/>
              </a:solidFill>
              <a:ea typeface="Georgia"/>
              <a:cs typeface="Georgia"/>
              <a:sym typeface="Georgia"/>
            </a:endParaRPr>
          </a:p>
          <a:p>
            <a:pPr>
              <a:lnSpc>
                <a:spcPct val="150000"/>
              </a:lnSpc>
            </a:pPr>
            <a:endParaRPr lang="en-US" dirty="0"/>
          </a:p>
          <a:p>
            <a:pPr>
              <a:lnSpc>
                <a:spcPct val="150000"/>
              </a:lnSpc>
            </a:pPr>
            <a:endParaRPr lang="en-ID" dirty="0"/>
          </a:p>
        </p:txBody>
      </p:sp>
    </p:spTree>
    <p:extLst>
      <p:ext uri="{BB962C8B-B14F-4D97-AF65-F5344CB8AC3E}">
        <p14:creationId xmlns:p14="http://schemas.microsoft.com/office/powerpoint/2010/main" val="26499758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1E1503A-00EA-AC53-B148-78F9868212B7}"/>
              </a:ext>
            </a:extLst>
          </p:cNvPr>
          <p:cNvSpPr>
            <a:spLocks noGrp="1"/>
          </p:cNvSpPr>
          <p:nvPr>
            <p:ph type="title"/>
          </p:nvPr>
        </p:nvSpPr>
        <p:spPr/>
        <p:txBody>
          <a:bodyPr/>
          <a:lstStyle/>
          <a:p>
            <a:r>
              <a:rPr lang="en-GB" b="1" dirty="0"/>
              <a:t>Lab : </a:t>
            </a:r>
            <a:r>
              <a:rPr lang="en-GB" b="1" dirty="0" err="1"/>
              <a:t>Analyzing</a:t>
            </a:r>
            <a:r>
              <a:rPr lang="en-GB" b="1" dirty="0"/>
              <a:t> Linux </a:t>
            </a:r>
            <a:r>
              <a:rPr lang="en-GB" b="1" dirty="0" err="1"/>
              <a:t>Auditd</a:t>
            </a:r>
            <a:r>
              <a:rPr lang="en-GB" b="1" dirty="0"/>
              <a:t> Log</a:t>
            </a:r>
            <a:endParaRPr lang="en-ID" b="1" dirty="0"/>
          </a:p>
        </p:txBody>
      </p:sp>
      <p:sp>
        <p:nvSpPr>
          <p:cNvPr id="5" name="Text Placeholder 4">
            <a:extLst>
              <a:ext uri="{FF2B5EF4-FFF2-40B4-BE49-F238E27FC236}">
                <a16:creationId xmlns:a16="http://schemas.microsoft.com/office/drawing/2014/main" id="{45B37321-B18C-10ED-44FC-60416EE8379C}"/>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28850639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73441-5932-A8B9-9787-CEE899EF7DDA}"/>
              </a:ext>
            </a:extLst>
          </p:cNvPr>
          <p:cNvSpPr>
            <a:spLocks noGrp="1"/>
          </p:cNvSpPr>
          <p:nvPr>
            <p:ph type="title"/>
          </p:nvPr>
        </p:nvSpPr>
        <p:spPr/>
        <p:txBody>
          <a:bodyPr/>
          <a:lstStyle/>
          <a:p>
            <a:r>
              <a:rPr lang="en-GB" dirty="0"/>
              <a:t>Lab - </a:t>
            </a:r>
            <a:r>
              <a:rPr lang="en-GB" dirty="0" err="1"/>
              <a:t>Analyzing</a:t>
            </a:r>
            <a:r>
              <a:rPr lang="en-GB" dirty="0"/>
              <a:t> Linux </a:t>
            </a:r>
            <a:r>
              <a:rPr lang="en-GB" dirty="0" err="1"/>
              <a:t>Auditd</a:t>
            </a:r>
            <a:r>
              <a:rPr lang="en-GB" dirty="0"/>
              <a:t> Log</a:t>
            </a:r>
            <a:endParaRPr lang="en-ID" dirty="0"/>
          </a:p>
        </p:txBody>
      </p:sp>
      <p:sp>
        <p:nvSpPr>
          <p:cNvPr id="3" name="Content Placeholder 2">
            <a:extLst>
              <a:ext uri="{FF2B5EF4-FFF2-40B4-BE49-F238E27FC236}">
                <a16:creationId xmlns:a16="http://schemas.microsoft.com/office/drawing/2014/main" id="{C50A80CC-6BA3-84A7-91B6-9BB0762C8475}"/>
              </a:ext>
            </a:extLst>
          </p:cNvPr>
          <p:cNvSpPr>
            <a:spLocks noGrp="1"/>
          </p:cNvSpPr>
          <p:nvPr>
            <p:ph idx="1"/>
          </p:nvPr>
        </p:nvSpPr>
        <p:spPr/>
        <p:txBody>
          <a:bodyPr>
            <a:normAutofit/>
          </a:bodyPr>
          <a:lstStyle/>
          <a:p>
            <a:pPr marL="508000" indent="-457200">
              <a:lnSpc>
                <a:spcPct val="110000"/>
              </a:lnSpc>
              <a:buSzPts val="2800"/>
            </a:pPr>
            <a:r>
              <a:rPr lang="en-GB" dirty="0"/>
              <a:t>Power on the Ubuntu VM Machine</a:t>
            </a:r>
          </a:p>
          <a:p>
            <a:pPr marL="508000" indent="-457200">
              <a:lnSpc>
                <a:spcPct val="110000"/>
              </a:lnSpc>
              <a:spcBef>
                <a:spcPts val="0"/>
              </a:spcBef>
              <a:buSzPts val="2800"/>
            </a:pPr>
            <a:r>
              <a:rPr lang="en-GB" dirty="0"/>
              <a:t>Ensure the log file required for this lab is available.</a:t>
            </a:r>
          </a:p>
          <a:p>
            <a:pPr marL="850900" lvl="1" indent="-342900">
              <a:lnSpc>
                <a:spcPct val="110000"/>
              </a:lnSpc>
              <a:spcBef>
                <a:spcPts val="0"/>
              </a:spcBef>
              <a:buSzPts val="2800"/>
            </a:pPr>
            <a:r>
              <a:rPr lang="en-GB" dirty="0"/>
              <a:t>Open Terminal</a:t>
            </a:r>
          </a:p>
          <a:p>
            <a:pPr marL="850900" lvl="1" indent="-342900">
              <a:lnSpc>
                <a:spcPct val="110000"/>
              </a:lnSpc>
              <a:spcBef>
                <a:spcPts val="0"/>
              </a:spcBef>
              <a:buSzPts val="2800"/>
            </a:pPr>
            <a:r>
              <a:rPr lang="en-GB" dirty="0"/>
              <a:t>cd </a:t>
            </a:r>
            <a:r>
              <a:rPr lang="en-GB" b="1" dirty="0"/>
              <a:t>/home/sysadmin/Desktop/Artifacts/18.5\ -\ </a:t>
            </a:r>
            <a:r>
              <a:rPr lang="en-GB" b="1" dirty="0" err="1"/>
              <a:t>Auditd</a:t>
            </a:r>
            <a:r>
              <a:rPr lang="en-GB" b="1" dirty="0"/>
              <a:t>\ Logs/</a:t>
            </a:r>
          </a:p>
          <a:p>
            <a:pPr marL="850900" lvl="1" indent="-342900">
              <a:lnSpc>
                <a:spcPct val="110000"/>
              </a:lnSpc>
              <a:spcBef>
                <a:spcPts val="0"/>
              </a:spcBef>
              <a:buSzPts val="2800"/>
            </a:pPr>
            <a:r>
              <a:rPr lang="en-GB" dirty="0"/>
              <a:t>ls –la </a:t>
            </a:r>
          </a:p>
          <a:p>
            <a:pPr marL="508000" indent="-457200">
              <a:lnSpc>
                <a:spcPct val="110000"/>
              </a:lnSpc>
              <a:spcBef>
                <a:spcPts val="0"/>
              </a:spcBef>
              <a:buSzPts val="2800"/>
            </a:pPr>
            <a:r>
              <a:rPr lang="en-GB" dirty="0"/>
              <a:t>File Log : </a:t>
            </a:r>
            <a:r>
              <a:rPr lang="en-GB" b="1" dirty="0"/>
              <a:t>audit.log</a:t>
            </a:r>
          </a:p>
          <a:p>
            <a:pPr marL="508000" indent="-457200">
              <a:lnSpc>
                <a:spcPct val="110000"/>
              </a:lnSpc>
              <a:spcBef>
                <a:spcPts val="0"/>
              </a:spcBef>
              <a:buSzPts val="2800"/>
            </a:pPr>
            <a:r>
              <a:rPr lang="en-GB" dirty="0"/>
              <a:t>Alternatively, you can download the log from </a:t>
            </a:r>
            <a:r>
              <a:rPr lang="en-GB" dirty="0" err="1"/>
              <a:t>Gdrive</a:t>
            </a:r>
            <a:r>
              <a:rPr lang="en-GB" dirty="0"/>
              <a:t>. Ask your instructor about the download links. </a:t>
            </a:r>
          </a:p>
        </p:txBody>
      </p:sp>
    </p:spTree>
    <p:extLst>
      <p:ext uri="{BB962C8B-B14F-4D97-AF65-F5344CB8AC3E}">
        <p14:creationId xmlns:p14="http://schemas.microsoft.com/office/powerpoint/2010/main" val="25157784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EB54F-F395-F7C6-7F10-E3CC7DEAD074}"/>
              </a:ext>
            </a:extLst>
          </p:cNvPr>
          <p:cNvSpPr>
            <a:spLocks noGrp="1"/>
          </p:cNvSpPr>
          <p:nvPr>
            <p:ph type="title"/>
          </p:nvPr>
        </p:nvSpPr>
        <p:spPr/>
        <p:txBody>
          <a:bodyPr/>
          <a:lstStyle/>
          <a:p>
            <a:r>
              <a:rPr lang="en-GB" dirty="0"/>
              <a:t>Lab - </a:t>
            </a:r>
            <a:r>
              <a:rPr lang="en-GB" dirty="0" err="1"/>
              <a:t>Analyzing</a:t>
            </a:r>
            <a:r>
              <a:rPr lang="en-GB" dirty="0"/>
              <a:t> Linux </a:t>
            </a:r>
            <a:r>
              <a:rPr lang="en-GB" dirty="0" err="1"/>
              <a:t>Auditd</a:t>
            </a:r>
            <a:r>
              <a:rPr lang="en-GB" dirty="0"/>
              <a:t> Log</a:t>
            </a:r>
            <a:endParaRPr lang="en-ID" dirty="0"/>
          </a:p>
        </p:txBody>
      </p:sp>
      <p:sp>
        <p:nvSpPr>
          <p:cNvPr id="3" name="Content Placeholder 2">
            <a:extLst>
              <a:ext uri="{FF2B5EF4-FFF2-40B4-BE49-F238E27FC236}">
                <a16:creationId xmlns:a16="http://schemas.microsoft.com/office/drawing/2014/main" id="{C577048A-68BC-A97D-A79C-6ECCDAC099BC}"/>
              </a:ext>
            </a:extLst>
          </p:cNvPr>
          <p:cNvSpPr>
            <a:spLocks noGrp="1"/>
          </p:cNvSpPr>
          <p:nvPr>
            <p:ph idx="1"/>
          </p:nvPr>
        </p:nvSpPr>
        <p:spPr/>
        <p:txBody>
          <a:bodyPr>
            <a:normAutofit lnSpcReduction="10000"/>
          </a:bodyPr>
          <a:lstStyle/>
          <a:p>
            <a:pPr marL="457200" lvl="0" indent="-406400">
              <a:lnSpc>
                <a:spcPct val="120000"/>
              </a:lnSpc>
              <a:buSzPts val="2800"/>
            </a:pPr>
            <a:r>
              <a:rPr lang="en-GB" dirty="0"/>
              <a:t>Investigate </a:t>
            </a:r>
            <a:r>
              <a:rPr lang="en-GB" dirty="0" err="1"/>
              <a:t>auditd</a:t>
            </a:r>
            <a:r>
              <a:rPr lang="en-GB" dirty="0"/>
              <a:t> log file and find evidences of compromises</a:t>
            </a:r>
          </a:p>
          <a:p>
            <a:pPr marL="457200" lvl="0" indent="-406400">
              <a:lnSpc>
                <a:spcPct val="120000"/>
              </a:lnSpc>
              <a:spcBef>
                <a:spcPts val="0"/>
              </a:spcBef>
              <a:buSzPts val="2800"/>
            </a:pPr>
            <a:r>
              <a:rPr lang="en-GB" dirty="0"/>
              <a:t>Answer all the questions to guide you find the evidences</a:t>
            </a:r>
          </a:p>
          <a:p>
            <a:pPr marL="457200" lvl="0" indent="-406400">
              <a:lnSpc>
                <a:spcPct val="120000"/>
              </a:lnSpc>
              <a:spcBef>
                <a:spcPts val="0"/>
              </a:spcBef>
              <a:buSzPts val="2800"/>
            </a:pPr>
            <a:r>
              <a:rPr lang="en-GB" dirty="0"/>
              <a:t>Use any tools that you like to investigate</a:t>
            </a:r>
          </a:p>
          <a:p>
            <a:pPr marL="457200" lvl="0" indent="-406400">
              <a:lnSpc>
                <a:spcPct val="120000"/>
              </a:lnSpc>
              <a:spcBef>
                <a:spcPts val="0"/>
              </a:spcBef>
              <a:buSzPts val="2800"/>
            </a:pPr>
            <a:r>
              <a:rPr lang="en-GB" dirty="0"/>
              <a:t>Some tools to consider:</a:t>
            </a:r>
          </a:p>
          <a:p>
            <a:pPr marL="914400" lvl="1" indent="-381000">
              <a:lnSpc>
                <a:spcPct val="120000"/>
              </a:lnSpc>
              <a:spcBef>
                <a:spcPts val="1000"/>
              </a:spcBef>
              <a:buSzPts val="2400"/>
            </a:pPr>
            <a:r>
              <a:rPr lang="en-GB" dirty="0"/>
              <a:t>Text Editor (Notepad++, Sublime, </a:t>
            </a:r>
            <a:r>
              <a:rPr lang="en-GB" dirty="0" err="1"/>
              <a:t>EmEditor</a:t>
            </a:r>
            <a:r>
              <a:rPr lang="en-GB" dirty="0"/>
              <a:t>, etc)</a:t>
            </a:r>
          </a:p>
          <a:p>
            <a:pPr marL="914400" lvl="1" indent="-381000">
              <a:lnSpc>
                <a:spcPct val="120000"/>
              </a:lnSpc>
              <a:spcBef>
                <a:spcPts val="1000"/>
              </a:spcBef>
              <a:buSzPts val="2400"/>
            </a:pPr>
            <a:r>
              <a:rPr lang="en-GB" b="1" dirty="0"/>
              <a:t>Command line in Linux grep, awk, sort, </a:t>
            </a:r>
            <a:r>
              <a:rPr lang="en-GB" b="1" dirty="0" err="1"/>
              <a:t>uniq</a:t>
            </a:r>
            <a:r>
              <a:rPr lang="en-GB" b="1" dirty="0"/>
              <a:t> </a:t>
            </a:r>
          </a:p>
          <a:p>
            <a:pPr marL="914400" lvl="1" indent="-381000">
              <a:lnSpc>
                <a:spcPct val="120000"/>
              </a:lnSpc>
              <a:spcBef>
                <a:spcPts val="1000"/>
              </a:spcBef>
              <a:buSzPts val="2400"/>
            </a:pPr>
            <a:r>
              <a:rPr lang="en-GB" dirty="0"/>
              <a:t>Log Analyzer 2 ( optional )</a:t>
            </a:r>
            <a:endParaRPr lang="en-GB" sz="1400" dirty="0">
              <a:latin typeface="Arial"/>
              <a:ea typeface="Arial"/>
              <a:cs typeface="Arial"/>
              <a:sym typeface="Arial"/>
            </a:endParaRPr>
          </a:p>
          <a:p>
            <a:pPr marL="914400" lvl="1" indent="-381000">
              <a:lnSpc>
                <a:spcPct val="120000"/>
              </a:lnSpc>
              <a:spcBef>
                <a:spcPts val="1000"/>
              </a:spcBef>
              <a:buSzPts val="2400"/>
            </a:pPr>
            <a:r>
              <a:rPr lang="en-GB" dirty="0"/>
              <a:t>Petit Log Analysis Tools </a:t>
            </a:r>
          </a:p>
        </p:txBody>
      </p:sp>
    </p:spTree>
    <p:extLst>
      <p:ext uri="{BB962C8B-B14F-4D97-AF65-F5344CB8AC3E}">
        <p14:creationId xmlns:p14="http://schemas.microsoft.com/office/powerpoint/2010/main" val="41816236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AA931-ECD6-C84E-E7E7-6B887A373CEA}"/>
              </a:ext>
            </a:extLst>
          </p:cNvPr>
          <p:cNvSpPr>
            <a:spLocks noGrp="1"/>
          </p:cNvSpPr>
          <p:nvPr>
            <p:ph type="title"/>
          </p:nvPr>
        </p:nvSpPr>
        <p:spPr/>
        <p:txBody>
          <a:bodyPr/>
          <a:lstStyle/>
          <a:p>
            <a:r>
              <a:rPr lang="en-GB" dirty="0"/>
              <a:t>Lab - </a:t>
            </a:r>
            <a:r>
              <a:rPr lang="en-GB" dirty="0" err="1"/>
              <a:t>Analyzing</a:t>
            </a:r>
            <a:r>
              <a:rPr lang="en-GB" dirty="0"/>
              <a:t> Linux </a:t>
            </a:r>
            <a:r>
              <a:rPr lang="en-GB" dirty="0" err="1"/>
              <a:t>Auditd</a:t>
            </a:r>
            <a:r>
              <a:rPr lang="en-GB" dirty="0"/>
              <a:t> Log</a:t>
            </a:r>
            <a:endParaRPr lang="en-ID" dirty="0"/>
          </a:p>
        </p:txBody>
      </p:sp>
      <p:sp>
        <p:nvSpPr>
          <p:cNvPr id="3" name="Content Placeholder 2">
            <a:extLst>
              <a:ext uri="{FF2B5EF4-FFF2-40B4-BE49-F238E27FC236}">
                <a16:creationId xmlns:a16="http://schemas.microsoft.com/office/drawing/2014/main" id="{5E0013D2-6208-8ECB-CF9F-9A53853E2C36}"/>
              </a:ext>
            </a:extLst>
          </p:cNvPr>
          <p:cNvSpPr>
            <a:spLocks noGrp="1"/>
          </p:cNvSpPr>
          <p:nvPr>
            <p:ph idx="1"/>
          </p:nvPr>
        </p:nvSpPr>
        <p:spPr/>
        <p:txBody>
          <a:bodyPr>
            <a:normAutofit fontScale="92500"/>
          </a:bodyPr>
          <a:lstStyle/>
          <a:p>
            <a:pPr marL="0" indent="0">
              <a:buNone/>
            </a:pPr>
            <a:r>
              <a:rPr lang="en-ID" b="1" dirty="0"/>
              <a:t>Questions :</a:t>
            </a:r>
          </a:p>
          <a:p>
            <a:pPr marL="514350" indent="-514350">
              <a:buSzPct val="95000"/>
              <a:buFont typeface="+mj-lt"/>
              <a:buAutoNum type="arabicPeriod"/>
            </a:pPr>
            <a:r>
              <a:rPr lang="en-ID" dirty="0"/>
              <a:t>What account is compromised?</a:t>
            </a:r>
          </a:p>
          <a:p>
            <a:pPr marL="514350" indent="-514350">
              <a:buSzPct val="95000"/>
              <a:buFont typeface="+mj-lt"/>
              <a:buAutoNum type="arabicPeriod"/>
            </a:pPr>
            <a:r>
              <a:rPr lang="en-US" dirty="0"/>
              <a:t>What attack type was used to gain initial access?</a:t>
            </a:r>
          </a:p>
          <a:p>
            <a:pPr marL="514350" indent="-514350">
              <a:buSzPct val="95000"/>
              <a:buFont typeface="+mj-lt"/>
              <a:buAutoNum type="arabicPeriod"/>
            </a:pPr>
            <a:r>
              <a:rPr lang="en-US" dirty="0"/>
              <a:t>What is the attacker's IP address?</a:t>
            </a:r>
          </a:p>
          <a:p>
            <a:pPr marL="514350" indent="-514350">
              <a:buSzPct val="95000"/>
              <a:buFont typeface="+mj-lt"/>
              <a:buAutoNum type="arabicPeriod"/>
            </a:pPr>
            <a:r>
              <a:rPr lang="en-US" dirty="0"/>
              <a:t>What tool was used to perform system enumeration?</a:t>
            </a:r>
          </a:p>
          <a:p>
            <a:pPr marL="514350" indent="-514350">
              <a:buSzPct val="95000"/>
              <a:buFont typeface="+mj-lt"/>
              <a:buAutoNum type="arabicPeriod"/>
            </a:pPr>
            <a:r>
              <a:rPr lang="en-US" dirty="0"/>
              <a:t>What is the name of the binary and </a:t>
            </a:r>
            <a:r>
              <a:rPr lang="en-US" dirty="0" err="1"/>
              <a:t>pid</a:t>
            </a:r>
            <a:r>
              <a:rPr lang="en-US" dirty="0"/>
              <a:t> used to gain root?</a:t>
            </a:r>
          </a:p>
          <a:p>
            <a:pPr marL="514350" indent="-514350">
              <a:buSzPct val="95000"/>
              <a:buFont typeface="+mj-lt"/>
              <a:buAutoNum type="arabicPeriod"/>
            </a:pPr>
            <a:r>
              <a:rPr lang="en-US" dirty="0"/>
              <a:t>What CVE was exploited to gain root access? (Do your research!)</a:t>
            </a:r>
          </a:p>
          <a:p>
            <a:pPr marL="514350" indent="-514350">
              <a:buSzPct val="95000"/>
              <a:buFont typeface="+mj-lt"/>
              <a:buAutoNum type="arabicPeriod"/>
            </a:pPr>
            <a:r>
              <a:rPr lang="en-US" dirty="0"/>
              <a:t>What type of vulnerability is this?</a:t>
            </a:r>
          </a:p>
          <a:p>
            <a:pPr marL="514350" indent="-514350">
              <a:buSzPct val="95000"/>
              <a:buFont typeface="+mj-lt"/>
              <a:buAutoNum type="arabicPeriod"/>
            </a:pPr>
            <a:r>
              <a:rPr lang="en-US" dirty="0"/>
              <a:t>What file was exfiltrated once root was gained?</a:t>
            </a:r>
          </a:p>
        </p:txBody>
      </p:sp>
    </p:spTree>
    <p:extLst>
      <p:ext uri="{BB962C8B-B14F-4D97-AF65-F5344CB8AC3E}">
        <p14:creationId xmlns:p14="http://schemas.microsoft.com/office/powerpoint/2010/main" val="21158979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E61C2-F54B-38C2-865D-13095564EDEC}"/>
              </a:ext>
            </a:extLst>
          </p:cNvPr>
          <p:cNvSpPr>
            <a:spLocks noGrp="1"/>
          </p:cNvSpPr>
          <p:nvPr>
            <p:ph type="title"/>
          </p:nvPr>
        </p:nvSpPr>
        <p:spPr/>
        <p:txBody>
          <a:bodyPr/>
          <a:lstStyle/>
          <a:p>
            <a:r>
              <a:rPr lang="en-GB" dirty="0"/>
              <a:t>Lab - </a:t>
            </a:r>
            <a:r>
              <a:rPr lang="en-GB" dirty="0" err="1"/>
              <a:t>Analyzing</a:t>
            </a:r>
            <a:r>
              <a:rPr lang="en-GB" dirty="0"/>
              <a:t> Linux </a:t>
            </a:r>
            <a:r>
              <a:rPr lang="en-GB" dirty="0" err="1"/>
              <a:t>Auditd</a:t>
            </a:r>
            <a:r>
              <a:rPr lang="en-GB" dirty="0"/>
              <a:t> Log</a:t>
            </a:r>
            <a:endParaRPr lang="en-ID" dirty="0"/>
          </a:p>
        </p:txBody>
      </p:sp>
      <p:sp>
        <p:nvSpPr>
          <p:cNvPr id="3" name="Content Placeholder 2">
            <a:extLst>
              <a:ext uri="{FF2B5EF4-FFF2-40B4-BE49-F238E27FC236}">
                <a16:creationId xmlns:a16="http://schemas.microsoft.com/office/drawing/2014/main" id="{CB9A2BB6-6511-0C19-1B0C-A99267892631}"/>
              </a:ext>
            </a:extLst>
          </p:cNvPr>
          <p:cNvSpPr>
            <a:spLocks noGrp="1"/>
          </p:cNvSpPr>
          <p:nvPr>
            <p:ph idx="1"/>
          </p:nvPr>
        </p:nvSpPr>
        <p:spPr/>
        <p:txBody>
          <a:bodyPr/>
          <a:lstStyle/>
          <a:p>
            <a:pPr marL="0" lvl="0" indent="0">
              <a:lnSpc>
                <a:spcPct val="150000"/>
              </a:lnSpc>
              <a:spcBef>
                <a:spcPts val="0"/>
              </a:spcBef>
              <a:buClr>
                <a:schemeClr val="dk1"/>
              </a:buClr>
              <a:buSzPts val="2800"/>
              <a:buNone/>
            </a:pPr>
            <a:r>
              <a:rPr lang="en-GB" b="1" dirty="0">
                <a:solidFill>
                  <a:schemeClr val="dk1"/>
                </a:solidFill>
                <a:ea typeface="Georgia"/>
                <a:cs typeface="Georgia"/>
                <a:sym typeface="Georgia"/>
              </a:rPr>
              <a:t>Writeup File will be uploaded in </a:t>
            </a:r>
            <a:r>
              <a:rPr lang="en-GB" b="1" dirty="0" err="1">
                <a:solidFill>
                  <a:schemeClr val="dk1"/>
                </a:solidFill>
                <a:ea typeface="Georgia"/>
                <a:cs typeface="Georgia"/>
                <a:sym typeface="Georgia"/>
              </a:rPr>
              <a:t>Gdrive</a:t>
            </a:r>
            <a:r>
              <a:rPr lang="en-GB" b="1" dirty="0">
                <a:solidFill>
                  <a:schemeClr val="dk1"/>
                </a:solidFill>
                <a:ea typeface="Georgia"/>
                <a:cs typeface="Georgia"/>
                <a:sym typeface="Georgia"/>
              </a:rPr>
              <a:t> :</a:t>
            </a:r>
            <a:endParaRPr lang="en-GB" sz="1400" dirty="0">
              <a:solidFill>
                <a:srgbClr val="000000"/>
              </a:solidFill>
              <a:ea typeface="Arial"/>
              <a:cs typeface="Arial"/>
              <a:sym typeface="Arial"/>
            </a:endParaRPr>
          </a:p>
          <a:p>
            <a:pPr marL="0" lvl="0" indent="0">
              <a:lnSpc>
                <a:spcPct val="150000"/>
              </a:lnSpc>
              <a:buClr>
                <a:schemeClr val="dk1"/>
              </a:buClr>
              <a:buSzPts val="2800"/>
              <a:buNone/>
            </a:pPr>
            <a:r>
              <a:rPr lang="en-GB" b="1" dirty="0">
                <a:solidFill>
                  <a:schemeClr val="dk1"/>
                </a:solidFill>
                <a:ea typeface="Georgia"/>
                <a:cs typeface="Georgia"/>
                <a:sym typeface="Georgia"/>
              </a:rPr>
              <a:t>Lab 4 Writeup – </a:t>
            </a:r>
            <a:r>
              <a:rPr lang="en-GB" b="1" dirty="0" err="1">
                <a:solidFill>
                  <a:schemeClr val="dk1"/>
                </a:solidFill>
                <a:ea typeface="Georgia"/>
                <a:cs typeface="Georgia"/>
                <a:sym typeface="Georgia"/>
              </a:rPr>
              <a:t>Analyzing</a:t>
            </a:r>
            <a:r>
              <a:rPr lang="en-GB" b="1" dirty="0">
                <a:solidFill>
                  <a:schemeClr val="dk1"/>
                </a:solidFill>
                <a:ea typeface="Georgia"/>
                <a:cs typeface="Georgia"/>
                <a:sym typeface="Georgia"/>
              </a:rPr>
              <a:t> Linux </a:t>
            </a:r>
            <a:r>
              <a:rPr lang="en-GB" b="1" dirty="0" err="1">
                <a:solidFill>
                  <a:schemeClr val="dk1"/>
                </a:solidFill>
                <a:ea typeface="Georgia"/>
                <a:cs typeface="Georgia"/>
                <a:sym typeface="Georgia"/>
              </a:rPr>
              <a:t>Auditd</a:t>
            </a:r>
            <a:r>
              <a:rPr lang="en-GB" b="1" dirty="0">
                <a:solidFill>
                  <a:schemeClr val="dk1"/>
                </a:solidFill>
                <a:ea typeface="Georgia"/>
                <a:cs typeface="Georgia"/>
                <a:sym typeface="Georgia"/>
              </a:rPr>
              <a:t> Log.docx</a:t>
            </a:r>
            <a:endParaRPr lang="en-GB" dirty="0">
              <a:solidFill>
                <a:schemeClr val="dk1"/>
              </a:solidFill>
              <a:ea typeface="Georgia"/>
              <a:cs typeface="Georgia"/>
              <a:sym typeface="Georgia"/>
            </a:endParaRPr>
          </a:p>
          <a:p>
            <a:endParaRPr lang="en-US" dirty="0"/>
          </a:p>
          <a:p>
            <a:endParaRPr lang="en-US" dirty="0"/>
          </a:p>
          <a:p>
            <a:endParaRPr lang="en-US" dirty="0"/>
          </a:p>
          <a:p>
            <a:endParaRPr lang="en-ID" dirty="0"/>
          </a:p>
        </p:txBody>
      </p:sp>
    </p:spTree>
    <p:extLst>
      <p:ext uri="{BB962C8B-B14F-4D97-AF65-F5344CB8AC3E}">
        <p14:creationId xmlns:p14="http://schemas.microsoft.com/office/powerpoint/2010/main" val="23431242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2D6305-DC1C-939A-DF25-26D3607E8294}"/>
              </a:ext>
            </a:extLst>
          </p:cNvPr>
          <p:cNvSpPr>
            <a:spLocks noGrp="1"/>
          </p:cNvSpPr>
          <p:nvPr>
            <p:ph type="title"/>
          </p:nvPr>
        </p:nvSpPr>
        <p:spPr/>
        <p:txBody>
          <a:bodyPr/>
          <a:lstStyle/>
          <a:p>
            <a:r>
              <a:rPr lang="en-GB" b="1" dirty="0"/>
              <a:t>Practical Lab : Windows DFIR Analysis</a:t>
            </a:r>
            <a:endParaRPr lang="en-ID" b="1" dirty="0"/>
          </a:p>
        </p:txBody>
      </p:sp>
      <p:sp>
        <p:nvSpPr>
          <p:cNvPr id="5" name="Text Placeholder 4">
            <a:extLst>
              <a:ext uri="{FF2B5EF4-FFF2-40B4-BE49-F238E27FC236}">
                <a16:creationId xmlns:a16="http://schemas.microsoft.com/office/drawing/2014/main" id="{13260E9D-B73A-8CC2-706E-08418E65A480}"/>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27982360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B326D6-7D50-0526-9830-E34797880D60}"/>
              </a:ext>
            </a:extLst>
          </p:cNvPr>
          <p:cNvSpPr>
            <a:spLocks noGrp="1"/>
          </p:cNvSpPr>
          <p:nvPr>
            <p:ph type="title"/>
          </p:nvPr>
        </p:nvSpPr>
        <p:spPr/>
        <p:txBody>
          <a:bodyPr/>
          <a:lstStyle/>
          <a:p>
            <a:pPr algn="ctr"/>
            <a:r>
              <a:rPr lang="en-US" b="1" dirty="0"/>
              <a:t>Hayabusa – Yamato Security</a:t>
            </a:r>
            <a:endParaRPr lang="en-ID" b="1" dirty="0"/>
          </a:p>
        </p:txBody>
      </p:sp>
      <p:sp>
        <p:nvSpPr>
          <p:cNvPr id="5" name="Text Placeholder 4">
            <a:extLst>
              <a:ext uri="{FF2B5EF4-FFF2-40B4-BE49-F238E27FC236}">
                <a16:creationId xmlns:a16="http://schemas.microsoft.com/office/drawing/2014/main" id="{0326D47A-FAFE-CE0B-09DB-F2B7885E7AF5}"/>
              </a:ext>
            </a:extLst>
          </p:cNvPr>
          <p:cNvSpPr>
            <a:spLocks noGrp="1"/>
          </p:cNvSpPr>
          <p:nvPr>
            <p:ph type="body" idx="1"/>
          </p:nvPr>
        </p:nvSpPr>
        <p:spPr/>
        <p:txBody>
          <a:bodyPr/>
          <a:lstStyle/>
          <a:p>
            <a:pPr algn="ctr"/>
            <a:r>
              <a:rPr lang="en-US" dirty="0">
                <a:solidFill>
                  <a:schemeClr val="tx1"/>
                </a:solidFill>
              </a:rPr>
              <a:t>Sigma-based Threat Hunting and Fast Forensics Timeline Generator for Windows Event Logs.</a:t>
            </a:r>
          </a:p>
          <a:p>
            <a:pPr algn="ctr"/>
            <a:endParaRPr lang="en-ID" dirty="0">
              <a:solidFill>
                <a:schemeClr val="tx1"/>
              </a:solidFill>
            </a:endParaRPr>
          </a:p>
        </p:txBody>
      </p:sp>
    </p:spTree>
    <p:extLst>
      <p:ext uri="{BB962C8B-B14F-4D97-AF65-F5344CB8AC3E}">
        <p14:creationId xmlns:p14="http://schemas.microsoft.com/office/powerpoint/2010/main" val="26055810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A5EAC-5CF7-2F78-8106-7D1A2CD6BB3F}"/>
              </a:ext>
            </a:extLst>
          </p:cNvPr>
          <p:cNvSpPr>
            <a:spLocks noGrp="1"/>
          </p:cNvSpPr>
          <p:nvPr>
            <p:ph type="title"/>
          </p:nvPr>
        </p:nvSpPr>
        <p:spPr/>
        <p:txBody>
          <a:bodyPr/>
          <a:lstStyle/>
          <a:p>
            <a:r>
              <a:rPr lang="en-US" dirty="0"/>
              <a:t>Hayabusa – Overview</a:t>
            </a:r>
            <a:endParaRPr lang="en-ID" dirty="0"/>
          </a:p>
        </p:txBody>
      </p:sp>
      <p:sp>
        <p:nvSpPr>
          <p:cNvPr id="3" name="Content Placeholder 2">
            <a:extLst>
              <a:ext uri="{FF2B5EF4-FFF2-40B4-BE49-F238E27FC236}">
                <a16:creationId xmlns:a16="http://schemas.microsoft.com/office/drawing/2014/main" id="{D01EE3C9-C5CD-A0D8-5BA3-771650FDAB8D}"/>
              </a:ext>
            </a:extLst>
          </p:cNvPr>
          <p:cNvSpPr>
            <a:spLocks noGrp="1"/>
          </p:cNvSpPr>
          <p:nvPr>
            <p:ph idx="1"/>
          </p:nvPr>
        </p:nvSpPr>
        <p:spPr/>
        <p:txBody>
          <a:bodyPr/>
          <a:lstStyle/>
          <a:p>
            <a:r>
              <a:rPr lang="en-US" dirty="0"/>
              <a:t>Cross-Platform support: </a:t>
            </a:r>
            <a:r>
              <a:rPr lang="en-US" b="1" dirty="0"/>
              <a:t>Windows, Linux, MacOS</a:t>
            </a:r>
          </a:p>
          <a:p>
            <a:r>
              <a:rPr lang="en-US" dirty="0"/>
              <a:t>Easy to analyze Windows Event Logs</a:t>
            </a:r>
          </a:p>
          <a:p>
            <a:r>
              <a:rPr lang="en-US" dirty="0"/>
              <a:t>Supported by Sigma Rules for analysis</a:t>
            </a:r>
          </a:p>
          <a:p>
            <a:r>
              <a:rPr lang="en-US" dirty="0"/>
              <a:t>Free and open source</a:t>
            </a:r>
          </a:p>
          <a:p>
            <a:pPr lvl="1"/>
            <a:r>
              <a:rPr lang="en-US" sz="2800" dirty="0"/>
              <a:t>Project page: </a:t>
            </a:r>
            <a:r>
              <a:rPr lang="en-US" sz="2800" dirty="0">
                <a:hlinkClick r:id="rId2"/>
              </a:rPr>
              <a:t>https://github.com/Yamato-Security/hayabusa</a:t>
            </a:r>
            <a:r>
              <a:rPr lang="en-US" sz="2800" dirty="0"/>
              <a:t> </a:t>
            </a:r>
          </a:p>
          <a:p>
            <a:endParaRPr lang="en-US" dirty="0"/>
          </a:p>
          <a:p>
            <a:endParaRPr lang="en-ID" dirty="0"/>
          </a:p>
        </p:txBody>
      </p:sp>
    </p:spTree>
    <p:extLst>
      <p:ext uri="{BB962C8B-B14F-4D97-AF65-F5344CB8AC3E}">
        <p14:creationId xmlns:p14="http://schemas.microsoft.com/office/powerpoint/2010/main" val="33889566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B1E31-46EE-E0CA-9673-F9D346EC9A42}"/>
              </a:ext>
            </a:extLst>
          </p:cNvPr>
          <p:cNvSpPr>
            <a:spLocks noGrp="1"/>
          </p:cNvSpPr>
          <p:nvPr>
            <p:ph type="title"/>
          </p:nvPr>
        </p:nvSpPr>
        <p:spPr/>
        <p:txBody>
          <a:bodyPr/>
          <a:lstStyle/>
          <a:p>
            <a:r>
              <a:rPr lang="en-US" dirty="0"/>
              <a:t>Hayabusa – Features</a:t>
            </a:r>
            <a:endParaRPr lang="en-ID" dirty="0"/>
          </a:p>
        </p:txBody>
      </p:sp>
      <p:sp>
        <p:nvSpPr>
          <p:cNvPr id="3" name="Content Placeholder 2">
            <a:extLst>
              <a:ext uri="{FF2B5EF4-FFF2-40B4-BE49-F238E27FC236}">
                <a16:creationId xmlns:a16="http://schemas.microsoft.com/office/drawing/2014/main" id="{6B829307-1324-5CEC-ED9D-562657E84E3E}"/>
              </a:ext>
            </a:extLst>
          </p:cNvPr>
          <p:cNvSpPr>
            <a:spLocks noGrp="1"/>
          </p:cNvSpPr>
          <p:nvPr>
            <p:ph idx="1"/>
          </p:nvPr>
        </p:nvSpPr>
        <p:spPr/>
        <p:txBody>
          <a:bodyPr>
            <a:normAutofit lnSpcReduction="10000"/>
          </a:bodyPr>
          <a:lstStyle/>
          <a:p>
            <a:r>
              <a:rPr lang="en-ID" dirty="0"/>
              <a:t>Cross-Platform support: </a:t>
            </a:r>
            <a:r>
              <a:rPr lang="en-ID" b="1" dirty="0"/>
              <a:t>Windows, Linux, MacOS</a:t>
            </a:r>
          </a:p>
          <a:p>
            <a:r>
              <a:rPr lang="en-ID" dirty="0"/>
              <a:t>MITRE ATT&amp;CK mapping of tactics.</a:t>
            </a:r>
          </a:p>
          <a:p>
            <a:r>
              <a:rPr lang="en-ID" dirty="0"/>
              <a:t>Sigma rule support to convert sigma rules to Hayabusa rules.</a:t>
            </a:r>
          </a:p>
          <a:p>
            <a:r>
              <a:rPr lang="en-ID" dirty="0"/>
              <a:t>Successful and failed logon summary.</a:t>
            </a:r>
          </a:p>
          <a:p>
            <a:r>
              <a:rPr lang="en-ID" dirty="0"/>
              <a:t>Daily Sigma rule updates.</a:t>
            </a:r>
          </a:p>
          <a:p>
            <a:r>
              <a:rPr lang="en-ID" dirty="0"/>
              <a:t>Etc.</a:t>
            </a:r>
          </a:p>
          <a:p>
            <a:endParaRPr lang="en-ID" dirty="0"/>
          </a:p>
          <a:p>
            <a:r>
              <a:rPr lang="en-ID" dirty="0"/>
              <a:t>For more information about Hayabusa:</a:t>
            </a:r>
          </a:p>
          <a:p>
            <a:pPr lvl="1"/>
            <a:r>
              <a:rPr lang="en-ID" sz="2800" dirty="0">
                <a:hlinkClick r:id="rId2"/>
              </a:rPr>
              <a:t>https://github.com/Yamato-Security/hayabusa</a:t>
            </a:r>
            <a:r>
              <a:rPr lang="en-ID" sz="2800" dirty="0"/>
              <a:t> </a:t>
            </a:r>
          </a:p>
          <a:p>
            <a:endParaRPr lang="en-ID" dirty="0"/>
          </a:p>
        </p:txBody>
      </p:sp>
    </p:spTree>
    <p:extLst>
      <p:ext uri="{BB962C8B-B14F-4D97-AF65-F5344CB8AC3E}">
        <p14:creationId xmlns:p14="http://schemas.microsoft.com/office/powerpoint/2010/main" val="36507788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183A5-C6E7-E6A8-5CAD-E31C1AD182C5}"/>
              </a:ext>
            </a:extLst>
          </p:cNvPr>
          <p:cNvSpPr>
            <a:spLocks noGrp="1"/>
          </p:cNvSpPr>
          <p:nvPr>
            <p:ph type="title"/>
          </p:nvPr>
        </p:nvSpPr>
        <p:spPr/>
        <p:txBody>
          <a:bodyPr/>
          <a:lstStyle/>
          <a:p>
            <a:r>
              <a:rPr lang="en-US" dirty="0"/>
              <a:t>Hayabusa – How to Use</a:t>
            </a:r>
            <a:endParaRPr lang="en-ID" dirty="0"/>
          </a:p>
        </p:txBody>
      </p:sp>
      <p:sp>
        <p:nvSpPr>
          <p:cNvPr id="3" name="Content Placeholder 2">
            <a:extLst>
              <a:ext uri="{FF2B5EF4-FFF2-40B4-BE49-F238E27FC236}">
                <a16:creationId xmlns:a16="http://schemas.microsoft.com/office/drawing/2014/main" id="{FEFB2109-F6C0-6B44-CFDB-8E42C72201C9}"/>
              </a:ext>
            </a:extLst>
          </p:cNvPr>
          <p:cNvSpPr>
            <a:spLocks noGrp="1"/>
          </p:cNvSpPr>
          <p:nvPr>
            <p:ph idx="1"/>
          </p:nvPr>
        </p:nvSpPr>
        <p:spPr>
          <a:xfrm>
            <a:off x="838200" y="1825625"/>
            <a:ext cx="4631871" cy="4351338"/>
          </a:xfrm>
        </p:spPr>
        <p:txBody>
          <a:bodyPr>
            <a:normAutofit fontScale="92500" lnSpcReduction="10000"/>
          </a:bodyPr>
          <a:lstStyle/>
          <a:p>
            <a:r>
              <a:rPr lang="en-US" dirty="0"/>
              <a:t>Download on the </a:t>
            </a:r>
            <a:r>
              <a:rPr lang="en-US" dirty="0" err="1"/>
              <a:t>Github</a:t>
            </a:r>
            <a:r>
              <a:rPr lang="en-US" dirty="0"/>
              <a:t> Link</a:t>
            </a:r>
          </a:p>
          <a:p>
            <a:r>
              <a:rPr lang="en-US" dirty="0"/>
              <a:t>Choose according to the platform used</a:t>
            </a:r>
          </a:p>
          <a:p>
            <a:r>
              <a:rPr lang="en-US" dirty="0"/>
              <a:t>Extract the file in the folder provided</a:t>
            </a:r>
          </a:p>
          <a:p>
            <a:pPr marL="0" indent="0">
              <a:buNone/>
            </a:pPr>
            <a:endParaRPr lang="en-US" dirty="0"/>
          </a:p>
          <a:p>
            <a:r>
              <a:rPr lang="en-US" dirty="0"/>
              <a:t>For more information about Hayabusa:</a:t>
            </a:r>
          </a:p>
          <a:p>
            <a:r>
              <a:rPr lang="en-US" dirty="0">
                <a:hlinkClick r:id="rId2"/>
              </a:rPr>
              <a:t>https://github.com/Yamato-Security/hayabusa</a:t>
            </a:r>
            <a:r>
              <a:rPr lang="en-US" dirty="0"/>
              <a:t> </a:t>
            </a:r>
          </a:p>
          <a:p>
            <a:endParaRPr lang="en-ID" dirty="0"/>
          </a:p>
          <a:p>
            <a:endParaRPr lang="en-ID" dirty="0"/>
          </a:p>
        </p:txBody>
      </p:sp>
      <p:pic>
        <p:nvPicPr>
          <p:cNvPr id="4" name="Picture 3">
            <a:extLst>
              <a:ext uri="{FF2B5EF4-FFF2-40B4-BE49-F238E27FC236}">
                <a16:creationId xmlns:a16="http://schemas.microsoft.com/office/drawing/2014/main" id="{EA070153-E955-96FD-DC2F-BF054F3C0E07}"/>
              </a:ext>
            </a:extLst>
          </p:cNvPr>
          <p:cNvPicPr>
            <a:picLocks noChangeAspect="1"/>
          </p:cNvPicPr>
          <p:nvPr/>
        </p:nvPicPr>
        <p:blipFill>
          <a:blip r:embed="rId3"/>
          <a:stretch>
            <a:fillRect/>
          </a:stretch>
        </p:blipFill>
        <p:spPr>
          <a:xfrm>
            <a:off x="5470071" y="1930400"/>
            <a:ext cx="6566446" cy="2997200"/>
          </a:xfrm>
          <a:prstGeom prst="rect">
            <a:avLst/>
          </a:prstGeom>
        </p:spPr>
      </p:pic>
    </p:spTree>
    <p:extLst>
      <p:ext uri="{BB962C8B-B14F-4D97-AF65-F5344CB8AC3E}">
        <p14:creationId xmlns:p14="http://schemas.microsoft.com/office/powerpoint/2010/main" val="20121187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2FA622-0D9F-4612-CA27-5D4758F63584}"/>
              </a:ext>
            </a:extLst>
          </p:cNvPr>
          <p:cNvSpPr>
            <a:spLocks noGrp="1"/>
          </p:cNvSpPr>
          <p:nvPr>
            <p:ph type="title"/>
          </p:nvPr>
        </p:nvSpPr>
        <p:spPr/>
        <p:txBody>
          <a:bodyPr/>
          <a:lstStyle/>
          <a:p>
            <a:pPr algn="ctr"/>
            <a:r>
              <a:rPr lang="en-US" b="1" dirty="0"/>
              <a:t>Hayabusa – Yamato Security</a:t>
            </a:r>
            <a:endParaRPr lang="en-ID" b="1" dirty="0"/>
          </a:p>
        </p:txBody>
      </p:sp>
      <p:sp>
        <p:nvSpPr>
          <p:cNvPr id="5" name="Text Placeholder 4">
            <a:extLst>
              <a:ext uri="{FF2B5EF4-FFF2-40B4-BE49-F238E27FC236}">
                <a16:creationId xmlns:a16="http://schemas.microsoft.com/office/drawing/2014/main" id="{8F58562D-9C4F-CA8E-B4AA-28513BC3CDF0}"/>
              </a:ext>
            </a:extLst>
          </p:cNvPr>
          <p:cNvSpPr>
            <a:spLocks noGrp="1"/>
          </p:cNvSpPr>
          <p:nvPr>
            <p:ph type="body" idx="1"/>
          </p:nvPr>
        </p:nvSpPr>
        <p:spPr/>
        <p:txBody>
          <a:bodyPr/>
          <a:lstStyle/>
          <a:p>
            <a:pPr algn="ctr"/>
            <a:r>
              <a:rPr lang="en-US" dirty="0">
                <a:solidFill>
                  <a:schemeClr val="tx1"/>
                </a:solidFill>
              </a:rPr>
              <a:t>Study Case – Analyze Windows Event Logs</a:t>
            </a:r>
          </a:p>
          <a:p>
            <a:pPr algn="ctr"/>
            <a:endParaRPr lang="en-ID" dirty="0">
              <a:solidFill>
                <a:schemeClr val="tx1"/>
              </a:solidFill>
            </a:endParaRPr>
          </a:p>
        </p:txBody>
      </p:sp>
    </p:spTree>
    <p:extLst>
      <p:ext uri="{BB962C8B-B14F-4D97-AF65-F5344CB8AC3E}">
        <p14:creationId xmlns:p14="http://schemas.microsoft.com/office/powerpoint/2010/main" val="35248183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9B7A9-75D7-2617-306C-B2948C7CC60C}"/>
              </a:ext>
            </a:extLst>
          </p:cNvPr>
          <p:cNvSpPr>
            <a:spLocks noGrp="1"/>
          </p:cNvSpPr>
          <p:nvPr>
            <p:ph type="title"/>
          </p:nvPr>
        </p:nvSpPr>
        <p:spPr/>
        <p:txBody>
          <a:bodyPr/>
          <a:lstStyle/>
          <a:p>
            <a:r>
              <a:rPr lang="en-US" dirty="0">
                <a:cs typeface="Segoe UI Light" panose="020B0502040204020203" pitchFamily="34" charset="0"/>
              </a:rPr>
              <a:t>Hayabusa – Startup </a:t>
            </a:r>
            <a:endParaRPr lang="en-ID" dirty="0"/>
          </a:p>
        </p:txBody>
      </p:sp>
      <p:sp>
        <p:nvSpPr>
          <p:cNvPr id="3" name="Content Placeholder 2">
            <a:extLst>
              <a:ext uri="{FF2B5EF4-FFF2-40B4-BE49-F238E27FC236}">
                <a16:creationId xmlns:a16="http://schemas.microsoft.com/office/drawing/2014/main" id="{FA358889-8ED3-A7E5-AF77-5E6756FB2525}"/>
              </a:ext>
            </a:extLst>
          </p:cNvPr>
          <p:cNvSpPr>
            <a:spLocks noGrp="1"/>
          </p:cNvSpPr>
          <p:nvPr>
            <p:ph idx="1"/>
          </p:nvPr>
        </p:nvSpPr>
        <p:spPr>
          <a:xfrm>
            <a:off x="838200" y="1825625"/>
            <a:ext cx="4499456" cy="4351338"/>
          </a:xfrm>
        </p:spPr>
        <p:txBody>
          <a:bodyPr/>
          <a:lstStyle/>
          <a:p>
            <a:r>
              <a:rPr lang="en-US" dirty="0"/>
              <a:t>Initial display when using Hayabusa. There is a command menu to run the tools.</a:t>
            </a:r>
          </a:p>
          <a:p>
            <a:endParaRPr lang="en-ID" dirty="0"/>
          </a:p>
        </p:txBody>
      </p:sp>
      <p:pic>
        <p:nvPicPr>
          <p:cNvPr id="4" name="Picture 3">
            <a:extLst>
              <a:ext uri="{FF2B5EF4-FFF2-40B4-BE49-F238E27FC236}">
                <a16:creationId xmlns:a16="http://schemas.microsoft.com/office/drawing/2014/main" id="{0E7AA548-A4A1-D8E1-F236-FF9EC75DC006}"/>
              </a:ext>
            </a:extLst>
          </p:cNvPr>
          <p:cNvPicPr>
            <a:picLocks noChangeAspect="1"/>
          </p:cNvPicPr>
          <p:nvPr/>
        </p:nvPicPr>
        <p:blipFill>
          <a:blip r:embed="rId2"/>
          <a:stretch>
            <a:fillRect/>
          </a:stretch>
        </p:blipFill>
        <p:spPr>
          <a:xfrm>
            <a:off x="5337656" y="1496426"/>
            <a:ext cx="6016144" cy="4680537"/>
          </a:xfrm>
          <a:prstGeom prst="rect">
            <a:avLst/>
          </a:prstGeom>
        </p:spPr>
      </p:pic>
    </p:spTree>
    <p:extLst>
      <p:ext uri="{BB962C8B-B14F-4D97-AF65-F5344CB8AC3E}">
        <p14:creationId xmlns:p14="http://schemas.microsoft.com/office/powerpoint/2010/main" val="39286324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CB437-F6E7-DB3F-AB0A-393FDCB12C33}"/>
              </a:ext>
            </a:extLst>
          </p:cNvPr>
          <p:cNvSpPr>
            <a:spLocks noGrp="1"/>
          </p:cNvSpPr>
          <p:nvPr>
            <p:ph type="title"/>
          </p:nvPr>
        </p:nvSpPr>
        <p:spPr/>
        <p:txBody>
          <a:bodyPr/>
          <a:lstStyle/>
          <a:p>
            <a:r>
              <a:rPr lang="en-US" sz="3200" dirty="0">
                <a:cs typeface="Segoe UI Light" panose="020B0502040204020203" pitchFamily="34" charset="0"/>
              </a:rPr>
              <a:t>Hayabusa – </a:t>
            </a:r>
            <a:br>
              <a:rPr lang="en-US" sz="3200" dirty="0">
                <a:cs typeface="Segoe UI Light" panose="020B0502040204020203" pitchFamily="34" charset="0"/>
              </a:rPr>
            </a:br>
            <a:r>
              <a:rPr lang="en-US" sz="3200" dirty="0">
                <a:cs typeface="Segoe UI Light" panose="020B0502040204020203" pitchFamily="34" charset="0"/>
              </a:rPr>
              <a:t>Command for Analyze Windows Event Logs</a:t>
            </a:r>
            <a:endParaRPr lang="en-ID" dirty="0"/>
          </a:p>
        </p:txBody>
      </p:sp>
      <p:sp>
        <p:nvSpPr>
          <p:cNvPr id="3" name="Content Placeholder 2">
            <a:extLst>
              <a:ext uri="{FF2B5EF4-FFF2-40B4-BE49-F238E27FC236}">
                <a16:creationId xmlns:a16="http://schemas.microsoft.com/office/drawing/2014/main" id="{982CD6A5-08DE-C82C-71A2-D3C8CD6CA1BC}"/>
              </a:ext>
            </a:extLst>
          </p:cNvPr>
          <p:cNvSpPr>
            <a:spLocks noGrp="1"/>
          </p:cNvSpPr>
          <p:nvPr>
            <p:ph idx="1"/>
          </p:nvPr>
        </p:nvSpPr>
        <p:spPr/>
        <p:txBody>
          <a:bodyPr/>
          <a:lstStyle/>
          <a:p>
            <a:r>
              <a:rPr lang="en-US" dirty="0"/>
              <a:t>Hayabusa.exe csv-timeline –f “file event logs”</a:t>
            </a:r>
          </a:p>
          <a:p>
            <a:r>
              <a:rPr lang="en-US" dirty="0"/>
              <a:t>This command is used to analyze a Windows Event Logs</a:t>
            </a:r>
          </a:p>
          <a:p>
            <a:endParaRPr lang="en-US" dirty="0"/>
          </a:p>
          <a:p>
            <a:endParaRPr lang="en-ID" dirty="0"/>
          </a:p>
          <a:p>
            <a:endParaRPr lang="en-ID" dirty="0"/>
          </a:p>
        </p:txBody>
      </p:sp>
      <p:pic>
        <p:nvPicPr>
          <p:cNvPr id="4" name="Picture 3">
            <a:extLst>
              <a:ext uri="{FF2B5EF4-FFF2-40B4-BE49-F238E27FC236}">
                <a16:creationId xmlns:a16="http://schemas.microsoft.com/office/drawing/2014/main" id="{78A1908F-D0E0-A670-8767-7F52872069EA}"/>
              </a:ext>
            </a:extLst>
          </p:cNvPr>
          <p:cNvPicPr>
            <a:picLocks noChangeAspect="1"/>
          </p:cNvPicPr>
          <p:nvPr/>
        </p:nvPicPr>
        <p:blipFill>
          <a:blip r:embed="rId2"/>
          <a:stretch>
            <a:fillRect/>
          </a:stretch>
        </p:blipFill>
        <p:spPr>
          <a:xfrm>
            <a:off x="2096611" y="2942695"/>
            <a:ext cx="7998778" cy="3234268"/>
          </a:xfrm>
          <a:prstGeom prst="rect">
            <a:avLst/>
          </a:prstGeom>
        </p:spPr>
      </p:pic>
    </p:spTree>
    <p:extLst>
      <p:ext uri="{BB962C8B-B14F-4D97-AF65-F5344CB8AC3E}">
        <p14:creationId xmlns:p14="http://schemas.microsoft.com/office/powerpoint/2010/main" val="16862080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257DC-F2BD-3DF5-F8E7-64474B973BAF}"/>
              </a:ext>
            </a:extLst>
          </p:cNvPr>
          <p:cNvSpPr>
            <a:spLocks noGrp="1"/>
          </p:cNvSpPr>
          <p:nvPr>
            <p:ph type="title"/>
          </p:nvPr>
        </p:nvSpPr>
        <p:spPr/>
        <p:txBody>
          <a:bodyPr/>
          <a:lstStyle/>
          <a:p>
            <a:r>
              <a:rPr lang="en-US" dirty="0">
                <a:cs typeface="Segoe UI Light" panose="020B0502040204020203" pitchFamily="34" charset="0"/>
              </a:rPr>
              <a:t>Hayabusa – Timeline Terminal Output</a:t>
            </a:r>
            <a:endParaRPr lang="en-ID" dirty="0"/>
          </a:p>
        </p:txBody>
      </p:sp>
      <p:pic>
        <p:nvPicPr>
          <p:cNvPr id="6" name="Content Placeholder 5">
            <a:extLst>
              <a:ext uri="{FF2B5EF4-FFF2-40B4-BE49-F238E27FC236}">
                <a16:creationId xmlns:a16="http://schemas.microsoft.com/office/drawing/2014/main" id="{0D1821E2-DC1B-3BD3-B0D7-596E43547670}"/>
              </a:ext>
            </a:extLst>
          </p:cNvPr>
          <p:cNvPicPr>
            <a:picLocks noGrp="1" noChangeAspect="1"/>
          </p:cNvPicPr>
          <p:nvPr>
            <p:ph idx="1"/>
          </p:nvPr>
        </p:nvPicPr>
        <p:blipFill>
          <a:blip r:embed="rId2"/>
          <a:stretch>
            <a:fillRect/>
          </a:stretch>
        </p:blipFill>
        <p:spPr>
          <a:xfrm>
            <a:off x="838200" y="2755660"/>
            <a:ext cx="10515600" cy="2491268"/>
          </a:xfrm>
          <a:prstGeom prst="rect">
            <a:avLst/>
          </a:prstGeom>
        </p:spPr>
      </p:pic>
    </p:spTree>
    <p:extLst>
      <p:ext uri="{BB962C8B-B14F-4D97-AF65-F5344CB8AC3E}">
        <p14:creationId xmlns:p14="http://schemas.microsoft.com/office/powerpoint/2010/main" val="9358028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5428-FF4D-4D2E-77D3-5265AEA05F81}"/>
              </a:ext>
            </a:extLst>
          </p:cNvPr>
          <p:cNvSpPr>
            <a:spLocks noGrp="1"/>
          </p:cNvSpPr>
          <p:nvPr>
            <p:ph type="title"/>
          </p:nvPr>
        </p:nvSpPr>
        <p:spPr/>
        <p:txBody>
          <a:bodyPr/>
          <a:lstStyle/>
          <a:p>
            <a:r>
              <a:rPr lang="en-US" dirty="0">
                <a:cs typeface="Segoe UI Light" panose="020B0502040204020203" pitchFamily="34" charset="0"/>
              </a:rPr>
              <a:t>Hayabusa – Keyword Search Results</a:t>
            </a:r>
            <a:endParaRPr lang="en-ID" dirty="0"/>
          </a:p>
        </p:txBody>
      </p:sp>
      <p:pic>
        <p:nvPicPr>
          <p:cNvPr id="4" name="Content Placeholder 5">
            <a:extLst>
              <a:ext uri="{FF2B5EF4-FFF2-40B4-BE49-F238E27FC236}">
                <a16:creationId xmlns:a16="http://schemas.microsoft.com/office/drawing/2014/main" id="{E1EE6319-82F6-E2AD-0AEC-BD695EEDE472}"/>
              </a:ext>
            </a:extLst>
          </p:cNvPr>
          <p:cNvPicPr>
            <a:picLocks noGrp="1" noChangeAspect="1"/>
          </p:cNvPicPr>
          <p:nvPr>
            <p:ph idx="1"/>
          </p:nvPr>
        </p:nvPicPr>
        <p:blipFill>
          <a:blip r:embed="rId2"/>
          <a:stretch>
            <a:fillRect/>
          </a:stretch>
        </p:blipFill>
        <p:spPr>
          <a:xfrm>
            <a:off x="838200" y="2572423"/>
            <a:ext cx="10515600" cy="2857742"/>
          </a:xfrm>
          <a:prstGeom prst="rect">
            <a:avLst/>
          </a:prstGeom>
        </p:spPr>
      </p:pic>
    </p:spTree>
    <p:extLst>
      <p:ext uri="{BB962C8B-B14F-4D97-AF65-F5344CB8AC3E}">
        <p14:creationId xmlns:p14="http://schemas.microsoft.com/office/powerpoint/2010/main" val="16488327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01B52-F049-CF79-B9FB-24D24F4692CD}"/>
              </a:ext>
            </a:extLst>
          </p:cNvPr>
          <p:cNvSpPr>
            <a:spLocks noGrp="1"/>
          </p:cNvSpPr>
          <p:nvPr>
            <p:ph type="title"/>
          </p:nvPr>
        </p:nvSpPr>
        <p:spPr/>
        <p:txBody>
          <a:bodyPr/>
          <a:lstStyle/>
          <a:p>
            <a:r>
              <a:rPr lang="en-US" dirty="0">
                <a:cs typeface="Segoe UI Light" panose="020B0502040204020203" pitchFamily="34" charset="0"/>
              </a:rPr>
              <a:t>Hayabusa – Result Summary</a:t>
            </a:r>
            <a:endParaRPr lang="en-ID" dirty="0"/>
          </a:p>
        </p:txBody>
      </p:sp>
      <p:sp>
        <p:nvSpPr>
          <p:cNvPr id="3" name="Content Placeholder 2">
            <a:extLst>
              <a:ext uri="{FF2B5EF4-FFF2-40B4-BE49-F238E27FC236}">
                <a16:creationId xmlns:a16="http://schemas.microsoft.com/office/drawing/2014/main" id="{0D1E8602-7926-7AE7-E589-53156FE4B359}"/>
              </a:ext>
            </a:extLst>
          </p:cNvPr>
          <p:cNvSpPr>
            <a:spLocks noGrp="1"/>
          </p:cNvSpPr>
          <p:nvPr>
            <p:ph idx="1"/>
          </p:nvPr>
        </p:nvSpPr>
        <p:spPr>
          <a:xfrm>
            <a:off x="838200" y="1825625"/>
            <a:ext cx="4910048" cy="4351338"/>
          </a:xfrm>
        </p:spPr>
        <p:txBody>
          <a:bodyPr/>
          <a:lstStyle/>
          <a:p>
            <a:r>
              <a:rPr lang="en-US" dirty="0"/>
              <a:t>This is the display of the results of the Windows Event Logs analysis.</a:t>
            </a:r>
          </a:p>
          <a:p>
            <a:endParaRPr lang="en-ID" dirty="0"/>
          </a:p>
        </p:txBody>
      </p:sp>
      <p:pic>
        <p:nvPicPr>
          <p:cNvPr id="4" name="Picture 3">
            <a:extLst>
              <a:ext uri="{FF2B5EF4-FFF2-40B4-BE49-F238E27FC236}">
                <a16:creationId xmlns:a16="http://schemas.microsoft.com/office/drawing/2014/main" id="{E55DEF5A-5765-C040-CC7E-4993BAC1C5FF}"/>
              </a:ext>
            </a:extLst>
          </p:cNvPr>
          <p:cNvPicPr>
            <a:picLocks noChangeAspect="1"/>
          </p:cNvPicPr>
          <p:nvPr/>
        </p:nvPicPr>
        <p:blipFill>
          <a:blip r:embed="rId2"/>
          <a:stretch>
            <a:fillRect/>
          </a:stretch>
        </p:blipFill>
        <p:spPr>
          <a:xfrm>
            <a:off x="5748248" y="1517939"/>
            <a:ext cx="5605552" cy="4659024"/>
          </a:xfrm>
          <a:prstGeom prst="rect">
            <a:avLst/>
          </a:prstGeom>
        </p:spPr>
      </p:pic>
    </p:spTree>
    <p:extLst>
      <p:ext uri="{BB962C8B-B14F-4D97-AF65-F5344CB8AC3E}">
        <p14:creationId xmlns:p14="http://schemas.microsoft.com/office/powerpoint/2010/main" val="36113905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BB758-5DFF-B3E7-2D3E-1F5AAA05C8DC}"/>
              </a:ext>
            </a:extLst>
          </p:cNvPr>
          <p:cNvSpPr>
            <a:spLocks noGrp="1"/>
          </p:cNvSpPr>
          <p:nvPr>
            <p:ph type="title"/>
          </p:nvPr>
        </p:nvSpPr>
        <p:spPr/>
        <p:txBody>
          <a:bodyPr/>
          <a:lstStyle/>
          <a:p>
            <a:r>
              <a:rPr lang="en-US" sz="3200" dirty="0">
                <a:cs typeface="Segoe UI Light" panose="020B0502040204020203" pitchFamily="34" charset="0"/>
              </a:rPr>
              <a:t>Hayabusa – </a:t>
            </a:r>
            <a:br>
              <a:rPr lang="en-US" sz="3200" dirty="0">
                <a:cs typeface="Segoe UI Light" panose="020B0502040204020203" pitchFamily="34" charset="0"/>
              </a:rPr>
            </a:br>
            <a:r>
              <a:rPr lang="en-US" sz="3200" dirty="0">
                <a:cs typeface="Segoe UI Light" panose="020B0502040204020203" pitchFamily="34" charset="0"/>
              </a:rPr>
              <a:t>Command for Mass Analyze Windows Event Logs</a:t>
            </a:r>
            <a:endParaRPr lang="en-ID" dirty="0"/>
          </a:p>
        </p:txBody>
      </p:sp>
      <p:sp>
        <p:nvSpPr>
          <p:cNvPr id="3" name="Content Placeholder 2">
            <a:extLst>
              <a:ext uri="{FF2B5EF4-FFF2-40B4-BE49-F238E27FC236}">
                <a16:creationId xmlns:a16="http://schemas.microsoft.com/office/drawing/2014/main" id="{0CE9B563-CE3A-AE87-139F-3FBD085C2DF5}"/>
              </a:ext>
            </a:extLst>
          </p:cNvPr>
          <p:cNvSpPr>
            <a:spLocks noGrp="1"/>
          </p:cNvSpPr>
          <p:nvPr>
            <p:ph idx="1"/>
          </p:nvPr>
        </p:nvSpPr>
        <p:spPr/>
        <p:txBody>
          <a:bodyPr/>
          <a:lstStyle/>
          <a:p>
            <a:r>
              <a:rPr lang="en-US" dirty="0"/>
              <a:t>Hayabusa.exe csv-timeline -d “folder event logs”</a:t>
            </a:r>
          </a:p>
          <a:p>
            <a:r>
              <a:rPr lang="en-US" dirty="0"/>
              <a:t>This command is used to analyze a Windows Event Log folders</a:t>
            </a:r>
          </a:p>
          <a:p>
            <a:endParaRPr lang="en-ID" dirty="0"/>
          </a:p>
        </p:txBody>
      </p:sp>
      <p:pic>
        <p:nvPicPr>
          <p:cNvPr id="4" name="Picture 3">
            <a:extLst>
              <a:ext uri="{FF2B5EF4-FFF2-40B4-BE49-F238E27FC236}">
                <a16:creationId xmlns:a16="http://schemas.microsoft.com/office/drawing/2014/main" id="{18B448FC-36F3-6987-9612-0CC55C38A6B1}"/>
              </a:ext>
            </a:extLst>
          </p:cNvPr>
          <p:cNvPicPr>
            <a:picLocks noChangeAspect="1"/>
          </p:cNvPicPr>
          <p:nvPr/>
        </p:nvPicPr>
        <p:blipFill>
          <a:blip r:embed="rId2"/>
          <a:stretch>
            <a:fillRect/>
          </a:stretch>
        </p:blipFill>
        <p:spPr>
          <a:xfrm>
            <a:off x="2456184" y="2842617"/>
            <a:ext cx="7279631" cy="3469283"/>
          </a:xfrm>
          <a:prstGeom prst="rect">
            <a:avLst/>
          </a:prstGeom>
        </p:spPr>
      </p:pic>
    </p:spTree>
    <p:extLst>
      <p:ext uri="{BB962C8B-B14F-4D97-AF65-F5344CB8AC3E}">
        <p14:creationId xmlns:p14="http://schemas.microsoft.com/office/powerpoint/2010/main" val="20270093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DEF3D-06D6-8371-900A-B12647C972B0}"/>
              </a:ext>
            </a:extLst>
          </p:cNvPr>
          <p:cNvSpPr>
            <a:spLocks noGrp="1"/>
          </p:cNvSpPr>
          <p:nvPr>
            <p:ph type="title"/>
          </p:nvPr>
        </p:nvSpPr>
        <p:spPr/>
        <p:txBody>
          <a:bodyPr/>
          <a:lstStyle/>
          <a:p>
            <a:r>
              <a:rPr lang="en-US" dirty="0">
                <a:cs typeface="Segoe UI Light" panose="020B0502040204020203" pitchFamily="34" charset="0"/>
              </a:rPr>
              <a:t>Hayabusa – Result Summary</a:t>
            </a:r>
            <a:endParaRPr lang="en-ID" dirty="0"/>
          </a:p>
        </p:txBody>
      </p:sp>
      <p:sp>
        <p:nvSpPr>
          <p:cNvPr id="3" name="Content Placeholder 2">
            <a:extLst>
              <a:ext uri="{FF2B5EF4-FFF2-40B4-BE49-F238E27FC236}">
                <a16:creationId xmlns:a16="http://schemas.microsoft.com/office/drawing/2014/main" id="{6D89E0E2-C96F-6AA7-B2D1-4A7DA606FA25}"/>
              </a:ext>
            </a:extLst>
          </p:cNvPr>
          <p:cNvSpPr>
            <a:spLocks noGrp="1"/>
          </p:cNvSpPr>
          <p:nvPr>
            <p:ph idx="1"/>
          </p:nvPr>
        </p:nvSpPr>
        <p:spPr>
          <a:xfrm>
            <a:off x="838200" y="1825625"/>
            <a:ext cx="3799114" cy="4351338"/>
          </a:xfrm>
        </p:spPr>
        <p:txBody>
          <a:bodyPr/>
          <a:lstStyle/>
          <a:p>
            <a:r>
              <a:rPr lang="en-US" dirty="0"/>
              <a:t>This is the display of the results of the Windows Event Logs analysis.</a:t>
            </a:r>
          </a:p>
          <a:p>
            <a:pPr marL="0" indent="0">
              <a:buNone/>
            </a:pPr>
            <a:endParaRPr lang="en-US" dirty="0"/>
          </a:p>
          <a:p>
            <a:endParaRPr lang="en-ID" dirty="0"/>
          </a:p>
        </p:txBody>
      </p:sp>
      <p:pic>
        <p:nvPicPr>
          <p:cNvPr id="4" name="Picture 3">
            <a:extLst>
              <a:ext uri="{FF2B5EF4-FFF2-40B4-BE49-F238E27FC236}">
                <a16:creationId xmlns:a16="http://schemas.microsoft.com/office/drawing/2014/main" id="{E959BEF6-3012-798D-885D-728B32F01933}"/>
              </a:ext>
            </a:extLst>
          </p:cNvPr>
          <p:cNvPicPr>
            <a:picLocks noChangeAspect="1"/>
          </p:cNvPicPr>
          <p:nvPr/>
        </p:nvPicPr>
        <p:blipFill>
          <a:blip r:embed="rId2"/>
          <a:stretch>
            <a:fillRect/>
          </a:stretch>
        </p:blipFill>
        <p:spPr>
          <a:xfrm>
            <a:off x="4911436" y="1557449"/>
            <a:ext cx="6442364" cy="4724400"/>
          </a:xfrm>
          <a:prstGeom prst="rect">
            <a:avLst/>
          </a:prstGeom>
        </p:spPr>
      </p:pic>
    </p:spTree>
    <p:extLst>
      <p:ext uri="{BB962C8B-B14F-4D97-AF65-F5344CB8AC3E}">
        <p14:creationId xmlns:p14="http://schemas.microsoft.com/office/powerpoint/2010/main" val="8206897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E26CC-6848-2C2F-CFEF-C15891A8DDE1}"/>
              </a:ext>
            </a:extLst>
          </p:cNvPr>
          <p:cNvSpPr>
            <a:spLocks noGrp="1"/>
          </p:cNvSpPr>
          <p:nvPr>
            <p:ph type="title"/>
          </p:nvPr>
        </p:nvSpPr>
        <p:spPr/>
        <p:txBody>
          <a:bodyPr/>
          <a:lstStyle/>
          <a:p>
            <a:r>
              <a:rPr lang="en-US" dirty="0">
                <a:cs typeface="Segoe UI Light" panose="020B0502040204020203" pitchFamily="34" charset="0"/>
              </a:rPr>
              <a:t>Hayabusa – </a:t>
            </a:r>
            <a:br>
              <a:rPr lang="en-US" dirty="0">
                <a:cs typeface="Segoe UI Light" panose="020B0502040204020203" pitchFamily="34" charset="0"/>
              </a:rPr>
            </a:br>
            <a:r>
              <a:rPr lang="en-US" dirty="0">
                <a:cs typeface="Segoe UI Light" panose="020B0502040204020203" pitchFamily="34" charset="0"/>
              </a:rPr>
              <a:t>Result Summary using Timeline Explorer</a:t>
            </a:r>
            <a:endParaRPr lang="en-ID" dirty="0"/>
          </a:p>
        </p:txBody>
      </p:sp>
      <p:sp>
        <p:nvSpPr>
          <p:cNvPr id="3" name="Content Placeholder 2">
            <a:extLst>
              <a:ext uri="{FF2B5EF4-FFF2-40B4-BE49-F238E27FC236}">
                <a16:creationId xmlns:a16="http://schemas.microsoft.com/office/drawing/2014/main" id="{A4902EA5-5814-7481-3454-2456E31FD802}"/>
              </a:ext>
            </a:extLst>
          </p:cNvPr>
          <p:cNvSpPr>
            <a:spLocks noGrp="1"/>
          </p:cNvSpPr>
          <p:nvPr>
            <p:ph idx="1"/>
          </p:nvPr>
        </p:nvSpPr>
        <p:spPr/>
        <p:txBody>
          <a:bodyPr/>
          <a:lstStyle/>
          <a:p>
            <a:r>
              <a:rPr lang="en-ID" dirty="0"/>
              <a:t>Hayabusa.exe csv-timeline -d “folder event logs” -o C:\Users\megio\OneDrive\Desktop\Tool\Hayabusa\output-csv\Credential-Access.csv</a:t>
            </a:r>
          </a:p>
          <a:p>
            <a:endParaRPr lang="en-ID" dirty="0"/>
          </a:p>
        </p:txBody>
      </p:sp>
      <p:pic>
        <p:nvPicPr>
          <p:cNvPr id="4" name="Picture 3">
            <a:extLst>
              <a:ext uri="{FF2B5EF4-FFF2-40B4-BE49-F238E27FC236}">
                <a16:creationId xmlns:a16="http://schemas.microsoft.com/office/drawing/2014/main" id="{BFBEE4D8-E31F-7474-521D-0A63F14483FA}"/>
              </a:ext>
            </a:extLst>
          </p:cNvPr>
          <p:cNvPicPr>
            <a:picLocks noChangeAspect="1"/>
          </p:cNvPicPr>
          <p:nvPr/>
        </p:nvPicPr>
        <p:blipFill>
          <a:blip r:embed="rId2"/>
          <a:stretch>
            <a:fillRect/>
          </a:stretch>
        </p:blipFill>
        <p:spPr>
          <a:xfrm>
            <a:off x="2138577" y="3163137"/>
            <a:ext cx="7914846" cy="2777066"/>
          </a:xfrm>
          <a:prstGeom prst="rect">
            <a:avLst/>
          </a:prstGeom>
        </p:spPr>
      </p:pic>
    </p:spTree>
    <p:extLst>
      <p:ext uri="{BB962C8B-B14F-4D97-AF65-F5344CB8AC3E}">
        <p14:creationId xmlns:p14="http://schemas.microsoft.com/office/powerpoint/2010/main" val="5634608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D7B28-3C87-EE79-7251-41DA1503C3B5}"/>
              </a:ext>
            </a:extLst>
          </p:cNvPr>
          <p:cNvSpPr>
            <a:spLocks noGrp="1"/>
          </p:cNvSpPr>
          <p:nvPr>
            <p:ph type="title"/>
          </p:nvPr>
        </p:nvSpPr>
        <p:spPr/>
        <p:txBody>
          <a:bodyPr/>
          <a:lstStyle/>
          <a:p>
            <a:r>
              <a:rPr lang="en-US" dirty="0">
                <a:cs typeface="Segoe UI Light" panose="020B0502040204020203" pitchFamily="34" charset="0"/>
              </a:rPr>
              <a:t>Hayabusa – Result Summary</a:t>
            </a:r>
            <a:endParaRPr lang="en-ID" dirty="0"/>
          </a:p>
        </p:txBody>
      </p:sp>
      <p:sp>
        <p:nvSpPr>
          <p:cNvPr id="3" name="Content Placeholder 2">
            <a:extLst>
              <a:ext uri="{FF2B5EF4-FFF2-40B4-BE49-F238E27FC236}">
                <a16:creationId xmlns:a16="http://schemas.microsoft.com/office/drawing/2014/main" id="{CE20633A-BA7B-E2B6-F74C-E089C307847A}"/>
              </a:ext>
            </a:extLst>
          </p:cNvPr>
          <p:cNvSpPr>
            <a:spLocks noGrp="1"/>
          </p:cNvSpPr>
          <p:nvPr>
            <p:ph idx="1"/>
          </p:nvPr>
        </p:nvSpPr>
        <p:spPr>
          <a:xfrm>
            <a:off x="838200" y="1825625"/>
            <a:ext cx="3276600" cy="4351338"/>
          </a:xfrm>
        </p:spPr>
        <p:txBody>
          <a:bodyPr/>
          <a:lstStyle/>
          <a:p>
            <a:r>
              <a:rPr lang="en-US" dirty="0"/>
              <a:t>This is the display of the results of the Windows Event Logs using Timeline Explorer.</a:t>
            </a:r>
          </a:p>
          <a:p>
            <a:endParaRPr lang="en-ID" dirty="0"/>
          </a:p>
        </p:txBody>
      </p:sp>
      <p:pic>
        <p:nvPicPr>
          <p:cNvPr id="4" name="Picture 3">
            <a:extLst>
              <a:ext uri="{FF2B5EF4-FFF2-40B4-BE49-F238E27FC236}">
                <a16:creationId xmlns:a16="http://schemas.microsoft.com/office/drawing/2014/main" id="{EF37F615-26CE-9C11-BB31-95733737E7E2}"/>
              </a:ext>
            </a:extLst>
          </p:cNvPr>
          <p:cNvPicPr>
            <a:picLocks noChangeAspect="1"/>
          </p:cNvPicPr>
          <p:nvPr/>
        </p:nvPicPr>
        <p:blipFill>
          <a:blip r:embed="rId2"/>
          <a:stretch>
            <a:fillRect/>
          </a:stretch>
        </p:blipFill>
        <p:spPr>
          <a:xfrm>
            <a:off x="4114800" y="2028879"/>
            <a:ext cx="7444840" cy="3944830"/>
          </a:xfrm>
          <a:prstGeom prst="rect">
            <a:avLst/>
          </a:prstGeom>
        </p:spPr>
      </p:pic>
    </p:spTree>
    <p:extLst>
      <p:ext uri="{BB962C8B-B14F-4D97-AF65-F5344CB8AC3E}">
        <p14:creationId xmlns:p14="http://schemas.microsoft.com/office/powerpoint/2010/main" val="13128916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5D8995-3C2C-6750-0633-2AEEBE557AA7}"/>
              </a:ext>
            </a:extLst>
          </p:cNvPr>
          <p:cNvSpPr>
            <a:spLocks noGrp="1"/>
          </p:cNvSpPr>
          <p:nvPr>
            <p:ph type="title"/>
          </p:nvPr>
        </p:nvSpPr>
        <p:spPr/>
        <p:txBody>
          <a:bodyPr/>
          <a:lstStyle/>
          <a:p>
            <a:pPr algn="ctr"/>
            <a:r>
              <a:rPr lang="en-US" b="1" dirty="0"/>
              <a:t>Chainsaw – </a:t>
            </a:r>
            <a:r>
              <a:rPr lang="en-US" b="1" dirty="0" err="1"/>
              <a:t>WithSecureLabs</a:t>
            </a:r>
            <a:r>
              <a:rPr lang="en-US" b="1" dirty="0"/>
              <a:t> </a:t>
            </a:r>
            <a:endParaRPr lang="en-ID" b="1" dirty="0"/>
          </a:p>
        </p:txBody>
      </p:sp>
      <p:sp>
        <p:nvSpPr>
          <p:cNvPr id="5" name="Text Placeholder 4">
            <a:extLst>
              <a:ext uri="{FF2B5EF4-FFF2-40B4-BE49-F238E27FC236}">
                <a16:creationId xmlns:a16="http://schemas.microsoft.com/office/drawing/2014/main" id="{531446AC-7EC2-0B1C-BE00-03089E1D9A9B}"/>
              </a:ext>
            </a:extLst>
          </p:cNvPr>
          <p:cNvSpPr>
            <a:spLocks noGrp="1"/>
          </p:cNvSpPr>
          <p:nvPr>
            <p:ph type="body" idx="1"/>
          </p:nvPr>
        </p:nvSpPr>
        <p:spPr>
          <a:xfrm>
            <a:off x="848179" y="4589463"/>
            <a:ext cx="10515600" cy="1500187"/>
          </a:xfrm>
        </p:spPr>
        <p:txBody>
          <a:bodyPr/>
          <a:lstStyle/>
          <a:p>
            <a:pPr algn="ctr"/>
            <a:r>
              <a:rPr lang="en-US" dirty="0">
                <a:solidFill>
                  <a:schemeClr val="tx1"/>
                </a:solidFill>
              </a:rPr>
              <a:t>Rapidly Search and Hunt through Windows Forensic Artefacts</a:t>
            </a:r>
          </a:p>
          <a:p>
            <a:pPr algn="ctr"/>
            <a:endParaRPr lang="en-ID" dirty="0">
              <a:solidFill>
                <a:schemeClr val="tx1"/>
              </a:solidFill>
            </a:endParaRPr>
          </a:p>
        </p:txBody>
      </p:sp>
    </p:spTree>
    <p:extLst>
      <p:ext uri="{BB962C8B-B14F-4D97-AF65-F5344CB8AC3E}">
        <p14:creationId xmlns:p14="http://schemas.microsoft.com/office/powerpoint/2010/main" val="8033187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476EC-4D62-F988-085B-6AF049326E87}"/>
              </a:ext>
            </a:extLst>
          </p:cNvPr>
          <p:cNvSpPr>
            <a:spLocks noGrp="1"/>
          </p:cNvSpPr>
          <p:nvPr>
            <p:ph type="title"/>
          </p:nvPr>
        </p:nvSpPr>
        <p:spPr/>
        <p:txBody>
          <a:bodyPr/>
          <a:lstStyle/>
          <a:p>
            <a:r>
              <a:rPr lang="en-US" dirty="0"/>
              <a:t>Chainsaw – Overview</a:t>
            </a:r>
            <a:endParaRPr lang="en-ID" dirty="0"/>
          </a:p>
        </p:txBody>
      </p:sp>
      <p:sp>
        <p:nvSpPr>
          <p:cNvPr id="3" name="Content Placeholder 2">
            <a:extLst>
              <a:ext uri="{FF2B5EF4-FFF2-40B4-BE49-F238E27FC236}">
                <a16:creationId xmlns:a16="http://schemas.microsoft.com/office/drawing/2014/main" id="{F378BC51-F7AE-39B7-A9C4-380F4BE94378}"/>
              </a:ext>
            </a:extLst>
          </p:cNvPr>
          <p:cNvSpPr>
            <a:spLocks noGrp="1"/>
          </p:cNvSpPr>
          <p:nvPr>
            <p:ph idx="1"/>
          </p:nvPr>
        </p:nvSpPr>
        <p:spPr/>
        <p:txBody>
          <a:bodyPr/>
          <a:lstStyle/>
          <a:p>
            <a:r>
              <a:rPr lang="en-US" dirty="0"/>
              <a:t>Cross-Platform support: </a:t>
            </a:r>
            <a:r>
              <a:rPr lang="en-US" b="1" dirty="0"/>
              <a:t>Windows, Linux, MacOS</a:t>
            </a:r>
          </a:p>
          <a:p>
            <a:r>
              <a:rPr lang="en-US" dirty="0"/>
              <a:t>Easy to analyze Windows Event Logs</a:t>
            </a:r>
          </a:p>
          <a:p>
            <a:r>
              <a:rPr lang="en-US" dirty="0"/>
              <a:t>Supported by Sigma Rules for analysis</a:t>
            </a:r>
          </a:p>
          <a:p>
            <a:r>
              <a:rPr lang="en-US" dirty="0"/>
              <a:t>Free and open source</a:t>
            </a:r>
          </a:p>
          <a:p>
            <a:pPr lvl="1"/>
            <a:r>
              <a:rPr lang="en-US" sz="2800" dirty="0"/>
              <a:t>Project page: </a:t>
            </a:r>
            <a:r>
              <a:rPr lang="en-US" sz="2800" dirty="0">
                <a:hlinkClick r:id="rId2"/>
              </a:rPr>
              <a:t>https://github.com/WithSecureLabs/chainsaw</a:t>
            </a:r>
            <a:r>
              <a:rPr lang="en-US" sz="2800" dirty="0"/>
              <a:t> </a:t>
            </a:r>
          </a:p>
          <a:p>
            <a:endParaRPr lang="en-US" dirty="0"/>
          </a:p>
          <a:p>
            <a:endParaRPr lang="en-ID" dirty="0"/>
          </a:p>
          <a:p>
            <a:endParaRPr lang="en-ID" dirty="0"/>
          </a:p>
        </p:txBody>
      </p:sp>
    </p:spTree>
    <p:extLst>
      <p:ext uri="{BB962C8B-B14F-4D97-AF65-F5344CB8AC3E}">
        <p14:creationId xmlns:p14="http://schemas.microsoft.com/office/powerpoint/2010/main" val="4935032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A7A68-C231-60E2-94DB-12F8534E75F8}"/>
              </a:ext>
            </a:extLst>
          </p:cNvPr>
          <p:cNvSpPr>
            <a:spLocks noGrp="1"/>
          </p:cNvSpPr>
          <p:nvPr>
            <p:ph type="title"/>
          </p:nvPr>
        </p:nvSpPr>
        <p:spPr/>
        <p:txBody>
          <a:bodyPr/>
          <a:lstStyle/>
          <a:p>
            <a:r>
              <a:rPr lang="en-US" dirty="0"/>
              <a:t>Chainsaw – Features</a:t>
            </a:r>
            <a:endParaRPr lang="en-ID" dirty="0"/>
          </a:p>
        </p:txBody>
      </p:sp>
      <p:sp>
        <p:nvSpPr>
          <p:cNvPr id="3" name="Content Placeholder 2">
            <a:extLst>
              <a:ext uri="{FF2B5EF4-FFF2-40B4-BE49-F238E27FC236}">
                <a16:creationId xmlns:a16="http://schemas.microsoft.com/office/drawing/2014/main" id="{1C296C6A-EAF4-88DC-7E83-8F36D490E4E3}"/>
              </a:ext>
            </a:extLst>
          </p:cNvPr>
          <p:cNvSpPr>
            <a:spLocks noGrp="1"/>
          </p:cNvSpPr>
          <p:nvPr>
            <p:ph idx="1"/>
          </p:nvPr>
        </p:nvSpPr>
        <p:spPr/>
        <p:txBody>
          <a:bodyPr>
            <a:normAutofit fontScale="92500" lnSpcReduction="20000"/>
          </a:bodyPr>
          <a:lstStyle/>
          <a:p>
            <a:r>
              <a:rPr lang="en-US" dirty="0"/>
              <a:t>Hunt for threats using Sigma detection rules and custom Chainsaw Detection rules.</a:t>
            </a:r>
          </a:p>
          <a:p>
            <a:r>
              <a:rPr lang="en-US" dirty="0"/>
              <a:t>Can be run on </a:t>
            </a:r>
            <a:r>
              <a:rPr lang="en-US" b="1" dirty="0"/>
              <a:t>MacOS, Linux and Windows.</a:t>
            </a:r>
          </a:p>
          <a:p>
            <a:r>
              <a:rPr lang="en-US" dirty="0"/>
              <a:t>Create execution timelines by </a:t>
            </a:r>
            <a:r>
              <a:rPr lang="en-US" dirty="0" err="1"/>
              <a:t>analysing</a:t>
            </a:r>
            <a:r>
              <a:rPr lang="en-US" dirty="0"/>
              <a:t> </a:t>
            </a:r>
            <a:r>
              <a:rPr lang="en-US" dirty="0" err="1"/>
              <a:t>Shimcache</a:t>
            </a:r>
            <a:r>
              <a:rPr lang="en-US" dirty="0"/>
              <a:t> artefacts and enriching them with </a:t>
            </a:r>
            <a:r>
              <a:rPr lang="en-US" dirty="0" err="1"/>
              <a:t>Amcache</a:t>
            </a:r>
            <a:r>
              <a:rPr lang="en-US" dirty="0"/>
              <a:t> data.</a:t>
            </a:r>
          </a:p>
          <a:p>
            <a:r>
              <a:rPr lang="en-US" dirty="0"/>
              <a:t>Lightning fast, writing in rust, wrapping the EVTX Parser library.</a:t>
            </a:r>
          </a:p>
          <a:p>
            <a:r>
              <a:rPr lang="en-US" dirty="0"/>
              <a:t>Analyze the SRUM database and provide insights about it.</a:t>
            </a:r>
          </a:p>
          <a:p>
            <a:r>
              <a:rPr lang="en-US" dirty="0"/>
              <a:t>Etc.</a:t>
            </a:r>
          </a:p>
          <a:p>
            <a:endParaRPr lang="en-US" dirty="0"/>
          </a:p>
          <a:p>
            <a:r>
              <a:rPr lang="en-US" dirty="0"/>
              <a:t>For more information about Chainsaw:</a:t>
            </a:r>
          </a:p>
          <a:p>
            <a:pPr lvl="1"/>
            <a:r>
              <a:rPr lang="en-US" sz="2800" dirty="0">
                <a:hlinkClick r:id="rId2"/>
              </a:rPr>
              <a:t>https://github.com/WithSecureLabs/chainsaw</a:t>
            </a:r>
            <a:r>
              <a:rPr lang="en-US" sz="2800" dirty="0"/>
              <a:t> </a:t>
            </a:r>
          </a:p>
        </p:txBody>
      </p:sp>
    </p:spTree>
    <p:extLst>
      <p:ext uri="{BB962C8B-B14F-4D97-AF65-F5344CB8AC3E}">
        <p14:creationId xmlns:p14="http://schemas.microsoft.com/office/powerpoint/2010/main" val="53364100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6576B-3CF6-FD65-7AEF-EE0E5D5506B4}"/>
              </a:ext>
            </a:extLst>
          </p:cNvPr>
          <p:cNvSpPr>
            <a:spLocks noGrp="1"/>
          </p:cNvSpPr>
          <p:nvPr>
            <p:ph type="title"/>
          </p:nvPr>
        </p:nvSpPr>
        <p:spPr/>
        <p:txBody>
          <a:bodyPr/>
          <a:lstStyle/>
          <a:p>
            <a:r>
              <a:rPr lang="en-US" dirty="0"/>
              <a:t>Chainsaw – How to Use</a:t>
            </a:r>
            <a:endParaRPr lang="en-ID" dirty="0"/>
          </a:p>
        </p:txBody>
      </p:sp>
      <p:sp>
        <p:nvSpPr>
          <p:cNvPr id="3" name="Content Placeholder 2">
            <a:extLst>
              <a:ext uri="{FF2B5EF4-FFF2-40B4-BE49-F238E27FC236}">
                <a16:creationId xmlns:a16="http://schemas.microsoft.com/office/drawing/2014/main" id="{667B4BBA-5942-714C-5BEB-9D973E87480C}"/>
              </a:ext>
            </a:extLst>
          </p:cNvPr>
          <p:cNvSpPr>
            <a:spLocks noGrp="1"/>
          </p:cNvSpPr>
          <p:nvPr>
            <p:ph idx="1"/>
          </p:nvPr>
        </p:nvSpPr>
        <p:spPr>
          <a:xfrm>
            <a:off x="838200" y="1825625"/>
            <a:ext cx="4403271" cy="4351338"/>
          </a:xfrm>
        </p:spPr>
        <p:txBody>
          <a:bodyPr>
            <a:normAutofit fontScale="92500" lnSpcReduction="20000"/>
          </a:bodyPr>
          <a:lstStyle/>
          <a:p>
            <a:r>
              <a:rPr lang="en-US" dirty="0"/>
              <a:t>Download on the </a:t>
            </a:r>
            <a:r>
              <a:rPr lang="en-US" dirty="0" err="1"/>
              <a:t>Github</a:t>
            </a:r>
            <a:r>
              <a:rPr lang="en-US" dirty="0"/>
              <a:t> Link</a:t>
            </a:r>
          </a:p>
          <a:p>
            <a:r>
              <a:rPr lang="en-US" dirty="0"/>
              <a:t>Choose according to the platform used</a:t>
            </a:r>
          </a:p>
          <a:p>
            <a:r>
              <a:rPr lang="en-US" dirty="0"/>
              <a:t>Extract the file in the folder provided</a:t>
            </a:r>
          </a:p>
          <a:p>
            <a:pPr marL="0" indent="0">
              <a:buNone/>
            </a:pPr>
            <a:endParaRPr lang="en-US" dirty="0"/>
          </a:p>
          <a:p>
            <a:r>
              <a:rPr lang="en-US" dirty="0"/>
              <a:t>For more information about Hayabusa:</a:t>
            </a:r>
          </a:p>
          <a:p>
            <a:r>
              <a:rPr lang="en-US" dirty="0">
                <a:hlinkClick r:id="rId2"/>
              </a:rPr>
              <a:t>https://github.com/WithSecureLabs/chainsaw/releases</a:t>
            </a:r>
            <a:r>
              <a:rPr lang="en-US" dirty="0"/>
              <a:t>  </a:t>
            </a:r>
          </a:p>
          <a:p>
            <a:endParaRPr lang="en-ID" dirty="0"/>
          </a:p>
          <a:p>
            <a:endParaRPr lang="en-ID" dirty="0"/>
          </a:p>
        </p:txBody>
      </p:sp>
      <p:pic>
        <p:nvPicPr>
          <p:cNvPr id="4" name="Picture 3">
            <a:extLst>
              <a:ext uri="{FF2B5EF4-FFF2-40B4-BE49-F238E27FC236}">
                <a16:creationId xmlns:a16="http://schemas.microsoft.com/office/drawing/2014/main" id="{95343A00-962F-B490-B64A-CD8F08E1C7C9}"/>
              </a:ext>
            </a:extLst>
          </p:cNvPr>
          <p:cNvPicPr>
            <a:picLocks noChangeAspect="1"/>
          </p:cNvPicPr>
          <p:nvPr/>
        </p:nvPicPr>
        <p:blipFill>
          <a:blip r:embed="rId3"/>
          <a:stretch>
            <a:fillRect/>
          </a:stretch>
        </p:blipFill>
        <p:spPr>
          <a:xfrm>
            <a:off x="5371632" y="2025375"/>
            <a:ext cx="5982168" cy="3420534"/>
          </a:xfrm>
          <a:prstGeom prst="rect">
            <a:avLst/>
          </a:prstGeom>
        </p:spPr>
      </p:pic>
    </p:spTree>
    <p:extLst>
      <p:ext uri="{BB962C8B-B14F-4D97-AF65-F5344CB8AC3E}">
        <p14:creationId xmlns:p14="http://schemas.microsoft.com/office/powerpoint/2010/main" val="215570495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667F47-84E6-F390-7CFC-BA9C85E0EA09}"/>
              </a:ext>
            </a:extLst>
          </p:cNvPr>
          <p:cNvSpPr>
            <a:spLocks noGrp="1"/>
          </p:cNvSpPr>
          <p:nvPr>
            <p:ph type="title"/>
          </p:nvPr>
        </p:nvSpPr>
        <p:spPr/>
        <p:txBody>
          <a:bodyPr/>
          <a:lstStyle/>
          <a:p>
            <a:pPr algn="ctr"/>
            <a:r>
              <a:rPr lang="en-US" b="1" dirty="0"/>
              <a:t>Chainsaw – </a:t>
            </a:r>
            <a:r>
              <a:rPr lang="en-US" b="1" dirty="0" err="1"/>
              <a:t>WithSecureLabs</a:t>
            </a:r>
            <a:r>
              <a:rPr lang="en-US" b="1" dirty="0"/>
              <a:t> </a:t>
            </a:r>
            <a:endParaRPr lang="en-ID" b="1" dirty="0"/>
          </a:p>
        </p:txBody>
      </p:sp>
      <p:sp>
        <p:nvSpPr>
          <p:cNvPr id="5" name="Text Placeholder 4">
            <a:extLst>
              <a:ext uri="{FF2B5EF4-FFF2-40B4-BE49-F238E27FC236}">
                <a16:creationId xmlns:a16="http://schemas.microsoft.com/office/drawing/2014/main" id="{71E4040D-5276-28DA-9AD2-7A18AD39DAE8}"/>
              </a:ext>
            </a:extLst>
          </p:cNvPr>
          <p:cNvSpPr>
            <a:spLocks noGrp="1"/>
          </p:cNvSpPr>
          <p:nvPr>
            <p:ph type="body" idx="1"/>
          </p:nvPr>
        </p:nvSpPr>
        <p:spPr/>
        <p:txBody>
          <a:bodyPr/>
          <a:lstStyle/>
          <a:p>
            <a:pPr algn="ctr"/>
            <a:r>
              <a:rPr lang="en-US" dirty="0">
                <a:solidFill>
                  <a:schemeClr val="tx1"/>
                </a:solidFill>
              </a:rPr>
              <a:t>Study Case – Analyze Windows Event Logs</a:t>
            </a:r>
          </a:p>
          <a:p>
            <a:pPr algn="ctr"/>
            <a:endParaRPr lang="en-ID" dirty="0">
              <a:solidFill>
                <a:schemeClr val="tx1"/>
              </a:solidFill>
            </a:endParaRPr>
          </a:p>
        </p:txBody>
      </p:sp>
    </p:spTree>
    <p:extLst>
      <p:ext uri="{BB962C8B-B14F-4D97-AF65-F5344CB8AC3E}">
        <p14:creationId xmlns:p14="http://schemas.microsoft.com/office/powerpoint/2010/main" val="18744185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4E557-9186-42D6-5F90-58BE01E98D2C}"/>
              </a:ext>
            </a:extLst>
          </p:cNvPr>
          <p:cNvSpPr>
            <a:spLocks noGrp="1"/>
          </p:cNvSpPr>
          <p:nvPr>
            <p:ph type="title"/>
          </p:nvPr>
        </p:nvSpPr>
        <p:spPr/>
        <p:txBody>
          <a:bodyPr/>
          <a:lstStyle/>
          <a:p>
            <a:r>
              <a:rPr lang="en-US" dirty="0">
                <a:cs typeface="Segoe UI Light" panose="020B0502040204020203" pitchFamily="34" charset="0"/>
              </a:rPr>
              <a:t>Chainsaw – Startup </a:t>
            </a:r>
            <a:endParaRPr lang="en-ID" dirty="0"/>
          </a:p>
        </p:txBody>
      </p:sp>
      <p:sp>
        <p:nvSpPr>
          <p:cNvPr id="3" name="Content Placeholder 2">
            <a:extLst>
              <a:ext uri="{FF2B5EF4-FFF2-40B4-BE49-F238E27FC236}">
                <a16:creationId xmlns:a16="http://schemas.microsoft.com/office/drawing/2014/main" id="{BB7F7E15-D502-376C-5360-5B76C9FD5067}"/>
              </a:ext>
            </a:extLst>
          </p:cNvPr>
          <p:cNvSpPr>
            <a:spLocks noGrp="1"/>
          </p:cNvSpPr>
          <p:nvPr>
            <p:ph idx="1"/>
          </p:nvPr>
        </p:nvSpPr>
        <p:spPr>
          <a:xfrm>
            <a:off x="838200" y="1825625"/>
            <a:ext cx="4093029" cy="4351338"/>
          </a:xfrm>
        </p:spPr>
        <p:txBody>
          <a:bodyPr/>
          <a:lstStyle/>
          <a:p>
            <a:r>
              <a:rPr lang="en-US" dirty="0"/>
              <a:t>Initial display when using Chainsaw. There is a command menu to run the tools.</a:t>
            </a:r>
          </a:p>
          <a:p>
            <a:endParaRPr lang="en-ID" dirty="0"/>
          </a:p>
        </p:txBody>
      </p:sp>
      <p:pic>
        <p:nvPicPr>
          <p:cNvPr id="4" name="Picture 3">
            <a:extLst>
              <a:ext uri="{FF2B5EF4-FFF2-40B4-BE49-F238E27FC236}">
                <a16:creationId xmlns:a16="http://schemas.microsoft.com/office/drawing/2014/main" id="{D2CC0AAA-5FF7-22B7-5AC5-D8B23BD5D02E}"/>
              </a:ext>
            </a:extLst>
          </p:cNvPr>
          <p:cNvPicPr>
            <a:picLocks noChangeAspect="1"/>
          </p:cNvPicPr>
          <p:nvPr/>
        </p:nvPicPr>
        <p:blipFill>
          <a:blip r:embed="rId2"/>
          <a:stretch>
            <a:fillRect/>
          </a:stretch>
        </p:blipFill>
        <p:spPr>
          <a:xfrm>
            <a:off x="5168718" y="1935426"/>
            <a:ext cx="6185082" cy="4131736"/>
          </a:xfrm>
          <a:prstGeom prst="rect">
            <a:avLst/>
          </a:prstGeom>
        </p:spPr>
      </p:pic>
    </p:spTree>
    <p:extLst>
      <p:ext uri="{BB962C8B-B14F-4D97-AF65-F5344CB8AC3E}">
        <p14:creationId xmlns:p14="http://schemas.microsoft.com/office/powerpoint/2010/main" val="31014123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8377E-7B11-169F-B770-2E8EC130A69E}"/>
              </a:ext>
            </a:extLst>
          </p:cNvPr>
          <p:cNvSpPr>
            <a:spLocks noGrp="1"/>
          </p:cNvSpPr>
          <p:nvPr>
            <p:ph type="title"/>
          </p:nvPr>
        </p:nvSpPr>
        <p:spPr/>
        <p:txBody>
          <a:bodyPr/>
          <a:lstStyle/>
          <a:p>
            <a:r>
              <a:rPr lang="en-US" sz="3200" dirty="0"/>
              <a:t>Chainsaw – </a:t>
            </a:r>
            <a:br>
              <a:rPr lang="en-US" sz="3200" dirty="0"/>
            </a:br>
            <a:r>
              <a:rPr lang="en-US" sz="3200" dirty="0"/>
              <a:t>Command for Analyze Windows Event Logs</a:t>
            </a:r>
            <a:endParaRPr lang="en-ID" dirty="0"/>
          </a:p>
        </p:txBody>
      </p:sp>
      <p:sp>
        <p:nvSpPr>
          <p:cNvPr id="3" name="Content Placeholder 2">
            <a:extLst>
              <a:ext uri="{FF2B5EF4-FFF2-40B4-BE49-F238E27FC236}">
                <a16:creationId xmlns:a16="http://schemas.microsoft.com/office/drawing/2014/main" id="{76E23E00-6388-22F2-D32B-D5CF4A1027D5}"/>
              </a:ext>
            </a:extLst>
          </p:cNvPr>
          <p:cNvSpPr>
            <a:spLocks noGrp="1"/>
          </p:cNvSpPr>
          <p:nvPr>
            <p:ph idx="1"/>
          </p:nvPr>
        </p:nvSpPr>
        <p:spPr>
          <a:xfrm>
            <a:off x="838200" y="4490357"/>
            <a:ext cx="10515600" cy="1686606"/>
          </a:xfrm>
        </p:spPr>
        <p:txBody>
          <a:bodyPr>
            <a:normAutofit fontScale="92500" lnSpcReduction="20000"/>
          </a:bodyPr>
          <a:lstStyle/>
          <a:p>
            <a:pPr marL="285750" indent="-285750"/>
            <a:r>
              <a:rPr lang="en-ID" b="1" dirty="0"/>
              <a:t>chainsaw.exe hunt C:\Users\megio\OneDrive\Desktop\Tool\chainsaw\EVTX-ATTACK-SAMPLES -s sigma/ --mapping mappings/sigma-event-logs-</a:t>
            </a:r>
            <a:r>
              <a:rPr lang="en-ID" b="1" dirty="0" err="1"/>
              <a:t>all.yml</a:t>
            </a:r>
            <a:r>
              <a:rPr lang="en-ID" b="1" dirty="0"/>
              <a:t> -r rules/</a:t>
            </a:r>
          </a:p>
          <a:p>
            <a:pPr marL="285750" indent="-285750"/>
            <a:r>
              <a:rPr lang="en-ID" dirty="0"/>
              <a:t>This command is used to </a:t>
            </a:r>
            <a:r>
              <a:rPr lang="en-ID" dirty="0" err="1"/>
              <a:t>analyze</a:t>
            </a:r>
            <a:r>
              <a:rPr lang="en-ID" dirty="0"/>
              <a:t> the entire Windows Event Logs.</a:t>
            </a:r>
          </a:p>
          <a:p>
            <a:endParaRPr lang="en-ID" dirty="0"/>
          </a:p>
        </p:txBody>
      </p:sp>
      <p:pic>
        <p:nvPicPr>
          <p:cNvPr id="4" name="Content Placeholder 5">
            <a:extLst>
              <a:ext uri="{FF2B5EF4-FFF2-40B4-BE49-F238E27FC236}">
                <a16:creationId xmlns:a16="http://schemas.microsoft.com/office/drawing/2014/main" id="{BDFA5267-EA97-5B98-CE6A-FDF89643FC7A}"/>
              </a:ext>
            </a:extLst>
          </p:cNvPr>
          <p:cNvPicPr>
            <a:picLocks noChangeAspect="1"/>
          </p:cNvPicPr>
          <p:nvPr/>
        </p:nvPicPr>
        <p:blipFill>
          <a:blip r:embed="rId2"/>
          <a:stretch>
            <a:fillRect/>
          </a:stretch>
        </p:blipFill>
        <p:spPr>
          <a:xfrm>
            <a:off x="1990152" y="1818757"/>
            <a:ext cx="8211696" cy="2543530"/>
          </a:xfrm>
          <a:prstGeom prst="rect">
            <a:avLst/>
          </a:prstGeom>
        </p:spPr>
      </p:pic>
    </p:spTree>
    <p:extLst>
      <p:ext uri="{BB962C8B-B14F-4D97-AF65-F5344CB8AC3E}">
        <p14:creationId xmlns:p14="http://schemas.microsoft.com/office/powerpoint/2010/main" val="2399243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9E915-1956-E7D3-D307-2F88D36992C7}"/>
              </a:ext>
            </a:extLst>
          </p:cNvPr>
          <p:cNvSpPr>
            <a:spLocks noGrp="1"/>
          </p:cNvSpPr>
          <p:nvPr>
            <p:ph type="title"/>
          </p:nvPr>
        </p:nvSpPr>
        <p:spPr/>
        <p:txBody>
          <a:bodyPr/>
          <a:lstStyle/>
          <a:p>
            <a:r>
              <a:rPr lang="en-US" dirty="0">
                <a:cs typeface="Segoe UI Light" panose="020B0502040204020203" pitchFamily="34" charset="0"/>
              </a:rPr>
              <a:t>Chainsaw – Result Summary</a:t>
            </a:r>
            <a:endParaRPr lang="en-ID" dirty="0"/>
          </a:p>
        </p:txBody>
      </p:sp>
      <p:sp>
        <p:nvSpPr>
          <p:cNvPr id="3" name="Content Placeholder 2">
            <a:extLst>
              <a:ext uri="{FF2B5EF4-FFF2-40B4-BE49-F238E27FC236}">
                <a16:creationId xmlns:a16="http://schemas.microsoft.com/office/drawing/2014/main" id="{95C09B37-D3EC-5615-F3D0-F85F88061B22}"/>
              </a:ext>
            </a:extLst>
          </p:cNvPr>
          <p:cNvSpPr>
            <a:spLocks noGrp="1"/>
          </p:cNvSpPr>
          <p:nvPr>
            <p:ph idx="1"/>
          </p:nvPr>
        </p:nvSpPr>
        <p:spPr/>
        <p:txBody>
          <a:bodyPr/>
          <a:lstStyle/>
          <a:p>
            <a:r>
              <a:rPr lang="en-US" dirty="0"/>
              <a:t>This is the display of the results of the Windows Event Logs analysis.</a:t>
            </a:r>
          </a:p>
          <a:p>
            <a:endParaRPr lang="en-ID" dirty="0"/>
          </a:p>
        </p:txBody>
      </p:sp>
      <p:pic>
        <p:nvPicPr>
          <p:cNvPr id="4" name="Picture 3">
            <a:extLst>
              <a:ext uri="{FF2B5EF4-FFF2-40B4-BE49-F238E27FC236}">
                <a16:creationId xmlns:a16="http://schemas.microsoft.com/office/drawing/2014/main" id="{47DE538C-86BC-DA09-22A7-C8A6128AA16D}"/>
              </a:ext>
            </a:extLst>
          </p:cNvPr>
          <p:cNvPicPr>
            <a:picLocks noChangeAspect="1"/>
          </p:cNvPicPr>
          <p:nvPr/>
        </p:nvPicPr>
        <p:blipFill>
          <a:blip r:embed="rId2"/>
          <a:stretch>
            <a:fillRect/>
          </a:stretch>
        </p:blipFill>
        <p:spPr>
          <a:xfrm>
            <a:off x="2661434" y="2318040"/>
            <a:ext cx="7620246" cy="3993860"/>
          </a:xfrm>
          <a:prstGeom prst="rect">
            <a:avLst/>
          </a:prstGeom>
        </p:spPr>
      </p:pic>
    </p:spTree>
    <p:extLst>
      <p:ext uri="{BB962C8B-B14F-4D97-AF65-F5344CB8AC3E}">
        <p14:creationId xmlns:p14="http://schemas.microsoft.com/office/powerpoint/2010/main" val="25802226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96245F-CE2D-32A6-E2DA-5EF2237E59E3}"/>
              </a:ext>
            </a:extLst>
          </p:cNvPr>
          <p:cNvSpPr>
            <a:spLocks noGrp="1"/>
          </p:cNvSpPr>
          <p:nvPr>
            <p:ph type="title"/>
          </p:nvPr>
        </p:nvSpPr>
        <p:spPr/>
        <p:txBody>
          <a:bodyPr/>
          <a:lstStyle/>
          <a:p>
            <a:pPr algn="ctr"/>
            <a:r>
              <a:rPr lang="en-US" b="1" dirty="0"/>
              <a:t>Chainsaw – </a:t>
            </a:r>
            <a:r>
              <a:rPr lang="en-US" b="1" dirty="0" err="1"/>
              <a:t>WithSecureLabs</a:t>
            </a:r>
            <a:r>
              <a:rPr lang="en-US" b="1" dirty="0"/>
              <a:t> </a:t>
            </a:r>
            <a:endParaRPr lang="en-ID" b="1" dirty="0"/>
          </a:p>
        </p:txBody>
      </p:sp>
      <p:sp>
        <p:nvSpPr>
          <p:cNvPr id="5" name="Text Placeholder 4">
            <a:extLst>
              <a:ext uri="{FF2B5EF4-FFF2-40B4-BE49-F238E27FC236}">
                <a16:creationId xmlns:a16="http://schemas.microsoft.com/office/drawing/2014/main" id="{994D102A-225D-89E0-CEBD-66A6BB96C026}"/>
              </a:ext>
            </a:extLst>
          </p:cNvPr>
          <p:cNvSpPr>
            <a:spLocks noGrp="1"/>
          </p:cNvSpPr>
          <p:nvPr>
            <p:ph type="body" idx="1"/>
          </p:nvPr>
        </p:nvSpPr>
        <p:spPr/>
        <p:txBody>
          <a:bodyPr/>
          <a:lstStyle/>
          <a:p>
            <a:pPr algn="ctr"/>
            <a:r>
              <a:rPr lang="en-US" dirty="0">
                <a:solidFill>
                  <a:schemeClr val="tx1"/>
                </a:solidFill>
              </a:rPr>
              <a:t>Study Case – Analyze </a:t>
            </a:r>
            <a:r>
              <a:rPr lang="en-US" dirty="0" err="1">
                <a:solidFill>
                  <a:schemeClr val="tx1"/>
                </a:solidFill>
              </a:rPr>
              <a:t>ShimCache</a:t>
            </a:r>
            <a:endParaRPr lang="en-US" dirty="0">
              <a:solidFill>
                <a:schemeClr val="tx1"/>
              </a:solidFill>
            </a:endParaRPr>
          </a:p>
          <a:p>
            <a:pPr algn="ctr"/>
            <a:endParaRPr lang="en-ID" dirty="0">
              <a:solidFill>
                <a:schemeClr val="tx1"/>
              </a:solidFill>
            </a:endParaRPr>
          </a:p>
        </p:txBody>
      </p:sp>
    </p:spTree>
    <p:extLst>
      <p:ext uri="{BB962C8B-B14F-4D97-AF65-F5344CB8AC3E}">
        <p14:creationId xmlns:p14="http://schemas.microsoft.com/office/powerpoint/2010/main" val="32360215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14BE9-F1E9-FFFD-45B0-58918683E230}"/>
              </a:ext>
            </a:extLst>
          </p:cNvPr>
          <p:cNvSpPr>
            <a:spLocks noGrp="1"/>
          </p:cNvSpPr>
          <p:nvPr>
            <p:ph type="title"/>
          </p:nvPr>
        </p:nvSpPr>
        <p:spPr/>
        <p:txBody>
          <a:bodyPr/>
          <a:lstStyle/>
          <a:p>
            <a:r>
              <a:rPr lang="en-US" dirty="0"/>
              <a:t>Chainsaw – </a:t>
            </a:r>
            <a:br>
              <a:rPr lang="en-US" dirty="0"/>
            </a:br>
            <a:r>
              <a:rPr lang="en-US" dirty="0"/>
              <a:t>Command for Analyze </a:t>
            </a:r>
            <a:r>
              <a:rPr lang="en-US" dirty="0" err="1"/>
              <a:t>Shimcache</a:t>
            </a:r>
            <a:r>
              <a:rPr lang="en-US" dirty="0"/>
              <a:t> Artifact</a:t>
            </a:r>
            <a:endParaRPr lang="en-ID" dirty="0"/>
          </a:p>
        </p:txBody>
      </p:sp>
      <p:sp>
        <p:nvSpPr>
          <p:cNvPr id="3" name="Content Placeholder 2">
            <a:extLst>
              <a:ext uri="{FF2B5EF4-FFF2-40B4-BE49-F238E27FC236}">
                <a16:creationId xmlns:a16="http://schemas.microsoft.com/office/drawing/2014/main" id="{2E92AE8E-465C-078C-DCC7-207212171191}"/>
              </a:ext>
            </a:extLst>
          </p:cNvPr>
          <p:cNvSpPr>
            <a:spLocks noGrp="1"/>
          </p:cNvSpPr>
          <p:nvPr>
            <p:ph idx="1"/>
          </p:nvPr>
        </p:nvSpPr>
        <p:spPr>
          <a:xfrm>
            <a:off x="838200" y="3428999"/>
            <a:ext cx="10515600" cy="2747963"/>
          </a:xfrm>
        </p:spPr>
        <p:txBody>
          <a:bodyPr>
            <a:normAutofit fontScale="92500" lnSpcReduction="20000"/>
          </a:bodyPr>
          <a:lstStyle/>
          <a:p>
            <a:r>
              <a:rPr lang="en-ID" b="1" dirty="0"/>
              <a:t>chainsaw.exe analyse </a:t>
            </a:r>
            <a:r>
              <a:rPr lang="en-ID" b="1" dirty="0" err="1"/>
              <a:t>shimcache</a:t>
            </a:r>
            <a:r>
              <a:rPr lang="en-ID" b="1" dirty="0"/>
              <a:t> C:\Users\megio\OneDrive\Desktop\Tool\chainsaw\samples\SYSTEM --</a:t>
            </a:r>
            <a:r>
              <a:rPr lang="en-ID" b="1" dirty="0" err="1"/>
              <a:t>regexfile</a:t>
            </a:r>
            <a:r>
              <a:rPr lang="en-ID" b="1" dirty="0"/>
              <a:t> C:\Users\megio\OneDrive\Desktop\Tool\chainsaw\analysis\shimcache_patterns.txt --</a:t>
            </a:r>
            <a:r>
              <a:rPr lang="en-ID" b="1" dirty="0" err="1"/>
              <a:t>amcache</a:t>
            </a:r>
            <a:r>
              <a:rPr lang="en-ID" b="1" dirty="0"/>
              <a:t> C:\Users\megio\OneDrive\Desktop\Tool\chainsaw\samples\Amcache.hve</a:t>
            </a:r>
          </a:p>
          <a:p>
            <a:r>
              <a:rPr lang="en-ID" dirty="0"/>
              <a:t>This command is used to </a:t>
            </a:r>
            <a:r>
              <a:rPr lang="en-ID" dirty="0" err="1"/>
              <a:t>analyze</a:t>
            </a:r>
            <a:r>
              <a:rPr lang="en-ID" dirty="0"/>
              <a:t> the </a:t>
            </a:r>
            <a:r>
              <a:rPr lang="en-ID" dirty="0" err="1"/>
              <a:t>Shimcache</a:t>
            </a:r>
            <a:r>
              <a:rPr lang="en-ID" dirty="0"/>
              <a:t> artifact.</a:t>
            </a:r>
          </a:p>
          <a:p>
            <a:endParaRPr lang="en-ID" dirty="0"/>
          </a:p>
          <a:p>
            <a:endParaRPr lang="en-ID" dirty="0"/>
          </a:p>
        </p:txBody>
      </p:sp>
      <p:pic>
        <p:nvPicPr>
          <p:cNvPr id="4" name="Picture 3">
            <a:extLst>
              <a:ext uri="{FF2B5EF4-FFF2-40B4-BE49-F238E27FC236}">
                <a16:creationId xmlns:a16="http://schemas.microsoft.com/office/drawing/2014/main" id="{3B3823F9-2C53-0A2D-E7F2-41BE39FE7593}"/>
              </a:ext>
            </a:extLst>
          </p:cNvPr>
          <p:cNvPicPr>
            <a:picLocks noChangeAspect="1"/>
          </p:cNvPicPr>
          <p:nvPr/>
        </p:nvPicPr>
        <p:blipFill>
          <a:blip r:embed="rId2"/>
          <a:stretch>
            <a:fillRect/>
          </a:stretch>
        </p:blipFill>
        <p:spPr>
          <a:xfrm>
            <a:off x="674778" y="1901030"/>
            <a:ext cx="10842444" cy="1375798"/>
          </a:xfrm>
          <a:prstGeom prst="rect">
            <a:avLst/>
          </a:prstGeom>
        </p:spPr>
      </p:pic>
    </p:spTree>
    <p:extLst>
      <p:ext uri="{BB962C8B-B14F-4D97-AF65-F5344CB8AC3E}">
        <p14:creationId xmlns:p14="http://schemas.microsoft.com/office/powerpoint/2010/main" val="10854342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F87D-4C85-8789-0988-91DA27FC6323}"/>
              </a:ext>
            </a:extLst>
          </p:cNvPr>
          <p:cNvSpPr>
            <a:spLocks noGrp="1"/>
          </p:cNvSpPr>
          <p:nvPr>
            <p:ph type="title"/>
          </p:nvPr>
        </p:nvSpPr>
        <p:spPr/>
        <p:txBody>
          <a:bodyPr/>
          <a:lstStyle/>
          <a:p>
            <a:r>
              <a:rPr lang="en-US" dirty="0">
                <a:cs typeface="Segoe UI Light" panose="020B0502040204020203" pitchFamily="34" charset="0"/>
              </a:rPr>
              <a:t>Chainsaw – Result Summary</a:t>
            </a:r>
            <a:endParaRPr lang="en-ID" dirty="0"/>
          </a:p>
        </p:txBody>
      </p:sp>
      <p:sp>
        <p:nvSpPr>
          <p:cNvPr id="3" name="Content Placeholder 2">
            <a:extLst>
              <a:ext uri="{FF2B5EF4-FFF2-40B4-BE49-F238E27FC236}">
                <a16:creationId xmlns:a16="http://schemas.microsoft.com/office/drawing/2014/main" id="{B8464E0B-DAC6-A3B1-E644-CAE6F3DDC99B}"/>
              </a:ext>
            </a:extLst>
          </p:cNvPr>
          <p:cNvSpPr>
            <a:spLocks noGrp="1"/>
          </p:cNvSpPr>
          <p:nvPr>
            <p:ph idx="1"/>
          </p:nvPr>
        </p:nvSpPr>
        <p:spPr>
          <a:xfrm>
            <a:off x="838200" y="1825625"/>
            <a:ext cx="3271106" cy="4351338"/>
          </a:xfrm>
        </p:spPr>
        <p:txBody>
          <a:bodyPr/>
          <a:lstStyle/>
          <a:p>
            <a:r>
              <a:rPr lang="en-US" dirty="0"/>
              <a:t>This is the display of the results of the </a:t>
            </a:r>
            <a:r>
              <a:rPr lang="en-US" dirty="0" err="1"/>
              <a:t>Shimcache</a:t>
            </a:r>
            <a:r>
              <a:rPr lang="en-US" dirty="0"/>
              <a:t> analysis.</a:t>
            </a:r>
          </a:p>
          <a:p>
            <a:endParaRPr lang="en-US" dirty="0"/>
          </a:p>
          <a:p>
            <a:endParaRPr lang="en-ID" dirty="0"/>
          </a:p>
          <a:p>
            <a:endParaRPr lang="en-ID" dirty="0"/>
          </a:p>
        </p:txBody>
      </p:sp>
      <p:pic>
        <p:nvPicPr>
          <p:cNvPr id="4" name="Picture 3">
            <a:extLst>
              <a:ext uri="{FF2B5EF4-FFF2-40B4-BE49-F238E27FC236}">
                <a16:creationId xmlns:a16="http://schemas.microsoft.com/office/drawing/2014/main" id="{8BD0D587-948F-90A7-1876-C6A227894DDC}"/>
              </a:ext>
            </a:extLst>
          </p:cNvPr>
          <p:cNvPicPr>
            <a:picLocks noChangeAspect="1"/>
          </p:cNvPicPr>
          <p:nvPr/>
        </p:nvPicPr>
        <p:blipFill>
          <a:blip r:embed="rId2"/>
          <a:stretch>
            <a:fillRect/>
          </a:stretch>
        </p:blipFill>
        <p:spPr>
          <a:xfrm>
            <a:off x="4337906" y="1723761"/>
            <a:ext cx="7244494" cy="4555066"/>
          </a:xfrm>
          <a:prstGeom prst="rect">
            <a:avLst/>
          </a:prstGeom>
        </p:spPr>
      </p:pic>
    </p:spTree>
    <p:extLst>
      <p:ext uri="{BB962C8B-B14F-4D97-AF65-F5344CB8AC3E}">
        <p14:creationId xmlns:p14="http://schemas.microsoft.com/office/powerpoint/2010/main" val="177416342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46A1C3-F095-4FC2-F06C-68A98FB1CB4D}"/>
              </a:ext>
            </a:extLst>
          </p:cNvPr>
          <p:cNvSpPr>
            <a:spLocks noGrp="1"/>
          </p:cNvSpPr>
          <p:nvPr>
            <p:ph type="title"/>
          </p:nvPr>
        </p:nvSpPr>
        <p:spPr/>
        <p:txBody>
          <a:bodyPr/>
          <a:lstStyle/>
          <a:p>
            <a:r>
              <a:rPr lang="en-GB" b="1" dirty="0"/>
              <a:t>Thor Cloud Lite : On Demand Cloud Compromise Assessment Tools</a:t>
            </a:r>
            <a:endParaRPr lang="en-ID" b="1" dirty="0"/>
          </a:p>
        </p:txBody>
      </p:sp>
      <p:sp>
        <p:nvSpPr>
          <p:cNvPr id="5" name="Text Placeholder 4">
            <a:extLst>
              <a:ext uri="{FF2B5EF4-FFF2-40B4-BE49-F238E27FC236}">
                <a16:creationId xmlns:a16="http://schemas.microsoft.com/office/drawing/2014/main" id="{CF296CA8-6CAE-097F-28E6-E35AB68DDBF3}"/>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14002752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367DB-527E-432C-11B3-A1BA0A86131E}"/>
              </a:ext>
            </a:extLst>
          </p:cNvPr>
          <p:cNvSpPr>
            <a:spLocks noGrp="1"/>
          </p:cNvSpPr>
          <p:nvPr>
            <p:ph type="title"/>
          </p:nvPr>
        </p:nvSpPr>
        <p:spPr/>
        <p:txBody>
          <a:bodyPr/>
          <a:lstStyle/>
          <a:p>
            <a:r>
              <a:rPr lang="en-GB" dirty="0"/>
              <a:t>Thor Cloud Lite</a:t>
            </a:r>
            <a:endParaRPr lang="en-ID" dirty="0"/>
          </a:p>
        </p:txBody>
      </p:sp>
      <p:sp>
        <p:nvSpPr>
          <p:cNvPr id="3" name="Content Placeholder 2">
            <a:extLst>
              <a:ext uri="{FF2B5EF4-FFF2-40B4-BE49-F238E27FC236}">
                <a16:creationId xmlns:a16="http://schemas.microsoft.com/office/drawing/2014/main" id="{FE32283A-E1F3-315B-995E-FBE414E4FB69}"/>
              </a:ext>
            </a:extLst>
          </p:cNvPr>
          <p:cNvSpPr>
            <a:spLocks noGrp="1"/>
          </p:cNvSpPr>
          <p:nvPr>
            <p:ph idx="1"/>
          </p:nvPr>
        </p:nvSpPr>
        <p:spPr>
          <a:xfrm>
            <a:off x="838200" y="1825625"/>
            <a:ext cx="3439350" cy="4351338"/>
          </a:xfrm>
        </p:spPr>
        <p:txBody>
          <a:bodyPr>
            <a:normAutofit lnSpcReduction="10000"/>
          </a:bodyPr>
          <a:lstStyle/>
          <a:p>
            <a:r>
              <a:rPr lang="en-US" dirty="0"/>
              <a:t>Free IOC and YARA Scanner</a:t>
            </a:r>
          </a:p>
          <a:p>
            <a:r>
              <a:rPr lang="en-ID" dirty="0"/>
              <a:t>Lightweight Deployment</a:t>
            </a:r>
          </a:p>
          <a:p>
            <a:r>
              <a:rPr lang="en-ID" dirty="0"/>
              <a:t>Centralized Cloud Management</a:t>
            </a:r>
          </a:p>
          <a:p>
            <a:r>
              <a:rPr lang="en-US" dirty="0"/>
              <a:t>No On-Premises Server or Agents</a:t>
            </a:r>
          </a:p>
          <a:p>
            <a:r>
              <a:rPr lang="en-US" dirty="0"/>
              <a:t>Custom IOC and YARA Signature</a:t>
            </a:r>
          </a:p>
          <a:p>
            <a:endParaRPr lang="en-ID" dirty="0"/>
          </a:p>
        </p:txBody>
      </p:sp>
      <p:pic>
        <p:nvPicPr>
          <p:cNvPr id="4" name="Picture 3">
            <a:extLst>
              <a:ext uri="{FF2B5EF4-FFF2-40B4-BE49-F238E27FC236}">
                <a16:creationId xmlns:a16="http://schemas.microsoft.com/office/drawing/2014/main" id="{876E0400-4490-F7F0-01F2-7A5085EBA6D9}"/>
              </a:ext>
            </a:extLst>
          </p:cNvPr>
          <p:cNvPicPr>
            <a:picLocks noChangeAspect="1"/>
          </p:cNvPicPr>
          <p:nvPr/>
        </p:nvPicPr>
        <p:blipFill>
          <a:blip r:embed="rId2"/>
          <a:stretch>
            <a:fillRect/>
          </a:stretch>
        </p:blipFill>
        <p:spPr>
          <a:xfrm>
            <a:off x="4277550" y="1900062"/>
            <a:ext cx="7488676" cy="3057876"/>
          </a:xfrm>
          <a:prstGeom prst="rect">
            <a:avLst/>
          </a:prstGeom>
        </p:spPr>
      </p:pic>
    </p:spTree>
    <p:extLst>
      <p:ext uri="{BB962C8B-B14F-4D97-AF65-F5344CB8AC3E}">
        <p14:creationId xmlns:p14="http://schemas.microsoft.com/office/powerpoint/2010/main" val="78182462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BFE03-E857-576F-657B-969625982BD6}"/>
              </a:ext>
            </a:extLst>
          </p:cNvPr>
          <p:cNvSpPr>
            <a:spLocks noGrp="1"/>
          </p:cNvSpPr>
          <p:nvPr>
            <p:ph type="title"/>
          </p:nvPr>
        </p:nvSpPr>
        <p:spPr/>
        <p:txBody>
          <a:bodyPr/>
          <a:lstStyle/>
          <a:p>
            <a:r>
              <a:rPr lang="en-GB" dirty="0"/>
              <a:t>Thor Cloud Lite</a:t>
            </a:r>
            <a:endParaRPr lang="en-ID" dirty="0"/>
          </a:p>
        </p:txBody>
      </p:sp>
      <p:sp>
        <p:nvSpPr>
          <p:cNvPr id="3" name="Content Placeholder 2">
            <a:extLst>
              <a:ext uri="{FF2B5EF4-FFF2-40B4-BE49-F238E27FC236}">
                <a16:creationId xmlns:a16="http://schemas.microsoft.com/office/drawing/2014/main" id="{01228560-0047-36C0-5688-8FC52480DEB4}"/>
              </a:ext>
            </a:extLst>
          </p:cNvPr>
          <p:cNvSpPr>
            <a:spLocks noGrp="1"/>
          </p:cNvSpPr>
          <p:nvPr>
            <p:ph idx="1"/>
          </p:nvPr>
        </p:nvSpPr>
        <p:spPr>
          <a:xfrm>
            <a:off x="838200" y="1825625"/>
            <a:ext cx="4925786" cy="4351338"/>
          </a:xfrm>
        </p:spPr>
        <p:txBody>
          <a:bodyPr>
            <a:normAutofit/>
          </a:bodyPr>
          <a:lstStyle/>
          <a:p>
            <a:r>
              <a:rPr lang="en-US" sz="2400" dirty="0"/>
              <a:t>Create New Campaign at the dashboard</a:t>
            </a:r>
          </a:p>
          <a:p>
            <a:r>
              <a:rPr lang="en-US" sz="2400" dirty="0"/>
              <a:t>Fill the detail of the campaign</a:t>
            </a:r>
          </a:p>
          <a:p>
            <a:r>
              <a:rPr lang="en-US" sz="2400" dirty="0"/>
              <a:t>Download and run the launcher</a:t>
            </a:r>
          </a:p>
          <a:p>
            <a:r>
              <a:rPr lang="en-US" sz="2400" dirty="0"/>
              <a:t>Wait for the scan process finished</a:t>
            </a:r>
          </a:p>
          <a:p>
            <a:endParaRPr lang="en-ID" sz="2400" dirty="0"/>
          </a:p>
        </p:txBody>
      </p:sp>
      <p:pic>
        <p:nvPicPr>
          <p:cNvPr id="4" name="Picture 3" descr="A screenshot of a computer&#10;&#10;Description automatically generated">
            <a:extLst>
              <a:ext uri="{FF2B5EF4-FFF2-40B4-BE49-F238E27FC236}">
                <a16:creationId xmlns:a16="http://schemas.microsoft.com/office/drawing/2014/main" id="{C0DED696-F0BE-CA75-264E-94F5492B76F3}"/>
              </a:ext>
            </a:extLst>
          </p:cNvPr>
          <p:cNvPicPr>
            <a:picLocks noChangeAspect="1"/>
          </p:cNvPicPr>
          <p:nvPr/>
        </p:nvPicPr>
        <p:blipFill rotWithShape="1">
          <a:blip r:embed="rId2"/>
          <a:srcRect r="62678"/>
          <a:stretch/>
        </p:blipFill>
        <p:spPr>
          <a:xfrm>
            <a:off x="5756964" y="1825625"/>
            <a:ext cx="2495226" cy="2743706"/>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6D39F17E-46B0-ACF3-4508-94817CFCD95F}"/>
              </a:ext>
            </a:extLst>
          </p:cNvPr>
          <p:cNvPicPr>
            <a:picLocks noChangeAspect="1"/>
          </p:cNvPicPr>
          <p:nvPr/>
        </p:nvPicPr>
        <p:blipFill>
          <a:blip r:embed="rId3"/>
          <a:stretch>
            <a:fillRect/>
          </a:stretch>
        </p:blipFill>
        <p:spPr>
          <a:xfrm>
            <a:off x="8252190" y="1825625"/>
            <a:ext cx="3551153" cy="2117432"/>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885F52B0-65C4-EAF3-2890-7A3CA2B171A7}"/>
              </a:ext>
            </a:extLst>
          </p:cNvPr>
          <p:cNvPicPr>
            <a:picLocks noChangeAspect="1"/>
          </p:cNvPicPr>
          <p:nvPr/>
        </p:nvPicPr>
        <p:blipFill>
          <a:blip r:embed="rId4"/>
          <a:stretch>
            <a:fillRect/>
          </a:stretch>
        </p:blipFill>
        <p:spPr>
          <a:xfrm>
            <a:off x="1032528" y="4315013"/>
            <a:ext cx="4537129" cy="1861950"/>
          </a:xfrm>
          <a:prstGeom prst="rect">
            <a:avLst/>
          </a:prstGeom>
        </p:spPr>
      </p:pic>
    </p:spTree>
    <p:extLst>
      <p:ext uri="{BB962C8B-B14F-4D97-AF65-F5344CB8AC3E}">
        <p14:creationId xmlns:p14="http://schemas.microsoft.com/office/powerpoint/2010/main" val="129238754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8C223-B22D-E0C2-3E72-48C6E7701BEE}"/>
              </a:ext>
            </a:extLst>
          </p:cNvPr>
          <p:cNvSpPr>
            <a:spLocks noGrp="1"/>
          </p:cNvSpPr>
          <p:nvPr>
            <p:ph type="title"/>
          </p:nvPr>
        </p:nvSpPr>
        <p:spPr/>
        <p:txBody>
          <a:bodyPr/>
          <a:lstStyle/>
          <a:p>
            <a:r>
              <a:rPr lang="en-GB" dirty="0"/>
              <a:t>Thor Cloud Lite</a:t>
            </a:r>
            <a:endParaRPr lang="en-ID" dirty="0"/>
          </a:p>
        </p:txBody>
      </p:sp>
      <p:sp>
        <p:nvSpPr>
          <p:cNvPr id="3" name="Content Placeholder 2">
            <a:extLst>
              <a:ext uri="{FF2B5EF4-FFF2-40B4-BE49-F238E27FC236}">
                <a16:creationId xmlns:a16="http://schemas.microsoft.com/office/drawing/2014/main" id="{7318D1FA-972B-2B54-2212-6B1A4789F132}"/>
              </a:ext>
            </a:extLst>
          </p:cNvPr>
          <p:cNvSpPr>
            <a:spLocks noGrp="1"/>
          </p:cNvSpPr>
          <p:nvPr>
            <p:ph idx="1"/>
          </p:nvPr>
        </p:nvSpPr>
        <p:spPr>
          <a:xfrm>
            <a:off x="838200" y="1825625"/>
            <a:ext cx="3420363" cy="4351338"/>
          </a:xfrm>
        </p:spPr>
        <p:txBody>
          <a:bodyPr/>
          <a:lstStyle/>
          <a:p>
            <a:r>
              <a:rPr lang="en-US" dirty="0"/>
              <a:t>Result will show up in the campaign page</a:t>
            </a:r>
          </a:p>
          <a:p>
            <a:r>
              <a:rPr lang="en-US" dirty="0"/>
              <a:t>You can check the details of the scan results by displaying the HTML report</a:t>
            </a:r>
          </a:p>
          <a:p>
            <a:endParaRPr lang="en-ID" dirty="0"/>
          </a:p>
        </p:txBody>
      </p:sp>
      <p:pic>
        <p:nvPicPr>
          <p:cNvPr id="4" name="Picture 3" descr="A screenshot of a computer&#10;&#10;Description automatically generated">
            <a:extLst>
              <a:ext uri="{FF2B5EF4-FFF2-40B4-BE49-F238E27FC236}">
                <a16:creationId xmlns:a16="http://schemas.microsoft.com/office/drawing/2014/main" id="{D87A61A1-3C06-E0E0-FDAC-DCB27C1632BB}"/>
              </a:ext>
            </a:extLst>
          </p:cNvPr>
          <p:cNvPicPr>
            <a:picLocks noChangeAspect="1"/>
          </p:cNvPicPr>
          <p:nvPr/>
        </p:nvPicPr>
        <p:blipFill rotWithShape="1">
          <a:blip r:embed="rId2"/>
          <a:srcRect b="29404"/>
          <a:stretch/>
        </p:blipFill>
        <p:spPr>
          <a:xfrm>
            <a:off x="4258563" y="1965830"/>
            <a:ext cx="7229057" cy="2168024"/>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CB773E8D-D89F-60C8-7E3A-3F9A0D0DF0F8}"/>
              </a:ext>
            </a:extLst>
          </p:cNvPr>
          <p:cNvPicPr>
            <a:picLocks noChangeAspect="1"/>
          </p:cNvPicPr>
          <p:nvPr/>
        </p:nvPicPr>
        <p:blipFill>
          <a:blip r:embed="rId3"/>
          <a:stretch>
            <a:fillRect/>
          </a:stretch>
        </p:blipFill>
        <p:spPr>
          <a:xfrm>
            <a:off x="4186555" y="4217221"/>
            <a:ext cx="7608123" cy="1331422"/>
          </a:xfrm>
          <a:prstGeom prst="rect">
            <a:avLst/>
          </a:prstGeom>
        </p:spPr>
      </p:pic>
    </p:spTree>
    <p:extLst>
      <p:ext uri="{BB962C8B-B14F-4D97-AF65-F5344CB8AC3E}">
        <p14:creationId xmlns:p14="http://schemas.microsoft.com/office/powerpoint/2010/main" val="4096542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26D77C-AFD2-3621-7C09-099535D39034}"/>
              </a:ext>
            </a:extLst>
          </p:cNvPr>
          <p:cNvSpPr>
            <a:spLocks noGrp="1"/>
          </p:cNvSpPr>
          <p:nvPr>
            <p:ph type="ctrTitle"/>
          </p:nvPr>
        </p:nvSpPr>
        <p:spPr>
          <a:xfrm>
            <a:off x="1524000" y="1860299"/>
            <a:ext cx="9144000" cy="2387600"/>
          </a:xfrm>
        </p:spPr>
        <p:txBody>
          <a:bodyPr/>
          <a:lstStyle/>
          <a:p>
            <a:r>
              <a:rPr lang="en-US" b="1" dirty="0">
                <a:solidFill>
                  <a:schemeClr val="bg1"/>
                </a:solidFill>
              </a:rPr>
              <a:t>THANK YOU</a:t>
            </a:r>
            <a:endParaRPr lang="en-ID" b="1" dirty="0">
              <a:solidFill>
                <a:schemeClr val="bg1"/>
              </a:solidFill>
            </a:endParaRPr>
          </a:p>
        </p:txBody>
      </p:sp>
    </p:spTree>
    <p:extLst>
      <p:ext uri="{BB962C8B-B14F-4D97-AF65-F5344CB8AC3E}">
        <p14:creationId xmlns:p14="http://schemas.microsoft.com/office/powerpoint/2010/main" val="35826641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90667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TotalTime>
  <Words>3681</Words>
  <Application>Microsoft Office PowerPoint</Application>
  <PresentationFormat>Widescreen</PresentationFormat>
  <Paragraphs>310</Paragraphs>
  <Slides>96</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96</vt:i4>
      </vt:variant>
    </vt:vector>
  </HeadingPairs>
  <TitlesOfParts>
    <vt:vector size="107" baseType="lpstr">
      <vt:lpstr>Arial</vt:lpstr>
      <vt:lpstr>Calibri</vt:lpstr>
      <vt:lpstr>Georgia</vt:lpstr>
      <vt:lpstr>Helvetica</vt:lpstr>
      <vt:lpstr>Monaco</vt:lpstr>
      <vt:lpstr>Montserrat</vt:lpstr>
      <vt:lpstr>Montserrat ExtraBold</vt:lpstr>
      <vt:lpstr>Segoe UI</vt:lpstr>
      <vt:lpstr>Segoe UI Light</vt:lpstr>
      <vt:lpstr>Office Theme</vt:lpstr>
      <vt:lpstr>Custom Design</vt:lpstr>
      <vt:lpstr>Lab Exercise Incident Response </vt:lpstr>
      <vt:lpstr>Analyzing DDOS Packet using Wireshark</vt:lpstr>
      <vt:lpstr>Wireshark Settings First!</vt:lpstr>
      <vt:lpstr>Wireshark Settings First!</vt:lpstr>
      <vt:lpstr>Wireshark Settings First!</vt:lpstr>
      <vt:lpstr>Wireshark Settings First!</vt:lpstr>
      <vt:lpstr>Wireshark Settings First!</vt:lpstr>
      <vt:lpstr>Wireshark Settings First!</vt:lpstr>
      <vt:lpstr>Wireshark Settings First!</vt:lpstr>
      <vt:lpstr>Wireshark Settings First!</vt:lpstr>
      <vt:lpstr>Wireshark Settings First! </vt:lpstr>
      <vt:lpstr>Wireshark Settings First!</vt:lpstr>
      <vt:lpstr>Wireshark Settings First!</vt:lpstr>
      <vt:lpstr>ACK-SYN Flood</vt:lpstr>
      <vt:lpstr>ACK-SYN Flood</vt:lpstr>
      <vt:lpstr>ACK-SYN Flood</vt:lpstr>
      <vt:lpstr>ACK-SYN Flood</vt:lpstr>
      <vt:lpstr>HTTP Flood</vt:lpstr>
      <vt:lpstr>HTTP Flood</vt:lpstr>
      <vt:lpstr>HTTP Flood</vt:lpstr>
      <vt:lpstr>HTTP Flood</vt:lpstr>
      <vt:lpstr>HTTP Flood</vt:lpstr>
      <vt:lpstr>UDP Flood</vt:lpstr>
      <vt:lpstr>UDP Flood</vt:lpstr>
      <vt:lpstr>UDP Flood</vt:lpstr>
      <vt:lpstr>UDP Flood</vt:lpstr>
      <vt:lpstr>UDP Flood</vt:lpstr>
      <vt:lpstr>Analyzing DDOS using BRIM</vt:lpstr>
      <vt:lpstr>Analyzing DDOS using BRIM</vt:lpstr>
      <vt:lpstr>Analyzing DDOS using BRIM</vt:lpstr>
      <vt:lpstr>Analyzing DDOS using BRIM</vt:lpstr>
      <vt:lpstr>Analyzing DDOS using BRIM</vt:lpstr>
      <vt:lpstr>Analyzing DDOS using BRIM</vt:lpstr>
      <vt:lpstr>Analyzing DDOS using BRIM</vt:lpstr>
      <vt:lpstr>Analyzing DDOS using BRIM</vt:lpstr>
      <vt:lpstr>Analyzing DDOS using BRIM</vt:lpstr>
      <vt:lpstr>Analyzing DDOS using BRIM</vt:lpstr>
      <vt:lpstr>Analyzing DDOS using BRIM</vt:lpstr>
      <vt:lpstr>Practical Lab : Linux DFIR Analysis</vt:lpstr>
      <vt:lpstr>Linux Triage IR Tool</vt:lpstr>
      <vt:lpstr>Unix-like Artifacts Collector &lt;/UAC&gt;</vt:lpstr>
      <vt:lpstr>UAC (Unix-like Artifacts Collector)</vt:lpstr>
      <vt:lpstr>Behind the Scenes</vt:lpstr>
      <vt:lpstr>Running UAC ( Case on ESXi )</vt:lpstr>
      <vt:lpstr>Artifact Collected</vt:lpstr>
      <vt:lpstr>Acquisition Log</vt:lpstr>
      <vt:lpstr>Output File</vt:lpstr>
      <vt:lpstr>uac.log</vt:lpstr>
      <vt:lpstr>uac.log</vt:lpstr>
      <vt:lpstr>Let’s Investigating! </vt:lpstr>
      <vt:lpstr>.ash_history</vt:lpstr>
      <vt:lpstr>Auth.log</vt:lpstr>
      <vt:lpstr>Hidden Files</vt:lpstr>
      <vt:lpstr>Activity Network Connection</vt:lpstr>
      <vt:lpstr>Hash Executables ( MD5 )</vt:lpstr>
      <vt:lpstr>System Process List</vt:lpstr>
      <vt:lpstr>Lab : Analyzing Linux Bash History</vt:lpstr>
      <vt:lpstr>Lab - Analyzing Linux Bash History</vt:lpstr>
      <vt:lpstr>Lab - Analyzing Linux Bash History</vt:lpstr>
      <vt:lpstr>Lab : Analyzing Linux Auditd Log</vt:lpstr>
      <vt:lpstr>Lab - Analyzing Linux Auditd Log</vt:lpstr>
      <vt:lpstr>Lab - Analyzing Linux Auditd Log</vt:lpstr>
      <vt:lpstr>Lab - Analyzing Linux Auditd Log</vt:lpstr>
      <vt:lpstr>Lab - Analyzing Linux Auditd Log</vt:lpstr>
      <vt:lpstr>Practical Lab : Windows DFIR Analysis</vt:lpstr>
      <vt:lpstr>Hayabusa – Yamato Security</vt:lpstr>
      <vt:lpstr>Hayabusa – Overview</vt:lpstr>
      <vt:lpstr>Hayabusa – Features</vt:lpstr>
      <vt:lpstr>Hayabusa – How to Use</vt:lpstr>
      <vt:lpstr>Hayabusa – Yamato Security</vt:lpstr>
      <vt:lpstr>Hayabusa – Startup </vt:lpstr>
      <vt:lpstr>Hayabusa –  Command for Analyze Windows Event Logs</vt:lpstr>
      <vt:lpstr>Hayabusa – Timeline Terminal Output</vt:lpstr>
      <vt:lpstr>Hayabusa – Keyword Search Results</vt:lpstr>
      <vt:lpstr>Hayabusa – Result Summary</vt:lpstr>
      <vt:lpstr>Hayabusa –  Command for Mass Analyze Windows Event Logs</vt:lpstr>
      <vt:lpstr>Hayabusa – Result Summary</vt:lpstr>
      <vt:lpstr>Hayabusa –  Result Summary using Timeline Explorer</vt:lpstr>
      <vt:lpstr>Hayabusa – Result Summary</vt:lpstr>
      <vt:lpstr>Chainsaw – WithSecureLabs </vt:lpstr>
      <vt:lpstr>Chainsaw – Overview</vt:lpstr>
      <vt:lpstr>Chainsaw – Features</vt:lpstr>
      <vt:lpstr>Chainsaw – How to Use</vt:lpstr>
      <vt:lpstr>Chainsaw – WithSecureLabs </vt:lpstr>
      <vt:lpstr>Chainsaw – Startup </vt:lpstr>
      <vt:lpstr>Chainsaw –  Command for Analyze Windows Event Logs</vt:lpstr>
      <vt:lpstr>Chainsaw – Result Summary</vt:lpstr>
      <vt:lpstr>Chainsaw – WithSecureLabs </vt:lpstr>
      <vt:lpstr>Chainsaw –  Command for Analyze Shimcache Artifact</vt:lpstr>
      <vt:lpstr>Chainsaw – Result Summary</vt:lpstr>
      <vt:lpstr>Thor Cloud Lite : On Demand Cloud Compromise Assessment Tools</vt:lpstr>
      <vt:lpstr>Thor Cloud Lite</vt:lpstr>
      <vt:lpstr>Thor Cloud Lite</vt:lpstr>
      <vt:lpstr>Thor Cloud Lite</vt:lpstr>
      <vt:lpstr>THANK YOU</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Digit Oktavianto</dc:creator>
  <cp:lastModifiedBy>Digit Oktavianto</cp:lastModifiedBy>
  <cp:revision>4</cp:revision>
  <dcterms:created xsi:type="dcterms:W3CDTF">2026-04-14T13:38:53Z</dcterms:created>
  <dcterms:modified xsi:type="dcterms:W3CDTF">2026-04-15T01:24:54Z</dcterms:modified>
</cp:coreProperties>
</file>